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970"/>
          </a:solidFill>
          <a:ln>
            <a:noFill/>
          </a:ln>
        </p:spPr>
        <p:txBody>
          <a:bodyPr rtlCol="0" anchor="ctr"/>
          <a:lstStyle/>
          <a:p>
            <a:pPr algn="ctr"/>
          </a:p>
        </p:txBody>
      </p:sp>
      <p:sp>
        <p:nvSpPr>
          <p:cNvPr id="3" name="Rectangle 2"/>
          <p:cNvSpPr/>
          <p:nvPr/>
        </p:nvSpPr>
        <p:spPr>
          <a:xfrm>
            <a:off x="0" y="0"/>
            <a:ext cx="12191695" cy="101600"/>
          </a:xfrm>
          <a:prstGeom prst="rect">
            <a:avLst/>
          </a:prstGeom>
          <a:solidFill>
            <a:srgbClr val="00BAF2"/>
          </a:solidFill>
          <a:ln>
            <a:noFill/>
          </a:ln>
        </p:spPr>
        <p:txBody>
          <a:bodyPr rtlCol="0" anchor="ctr"/>
          <a:lstStyle/>
          <a:p>
            <a:pPr algn="ctr"/>
          </a:p>
        </p:txBody>
      </p:sp>
      <p:sp>
        <p:nvSpPr>
          <p:cNvPr id="4" name="Rounded Rectangle 3"/>
          <p:cNvSpPr/>
          <p:nvPr/>
        </p:nvSpPr>
        <p:spPr>
          <a:xfrm>
            <a:off x="566928" y="777240"/>
            <a:ext cx="6812280" cy="365760"/>
          </a:xfrm>
          <a:prstGeom prst="roundRect">
            <a:avLst>
              <a:gd name="adj" fmla="val 50000"/>
            </a:avLst>
          </a:prstGeom>
          <a:solidFill>
            <a:srgbClr val="00BAF2"/>
          </a:solidFill>
          <a:ln>
            <a:noFill/>
          </a:ln>
        </p:spPr>
        <p:txBody>
          <a:bodyPr rtlCol="0" anchor="ctr"/>
          <a:lstStyle/>
          <a:p>
            <a:pPr algn="ctr"/>
          </a:p>
        </p:txBody>
      </p:sp>
      <p:sp>
        <p:nvSpPr>
          <p:cNvPr id="5" name="TextBox 4"/>
          <p:cNvSpPr txBox="1"/>
          <p:nvPr/>
        </p:nvSpPr>
        <p:spPr>
          <a:xfrm>
            <a:off x="566928" y="777240"/>
            <a:ext cx="6812280" cy="365760"/>
          </a:xfrm>
          <a:prstGeom prst="rect">
            <a:avLst/>
          </a:prstGeom>
          <a:noFill/>
        </p:spPr>
        <p:txBody>
          <a:bodyPr wrap="square" lIns="0" rIns="0" tIns="0" bIns="0" anchor="ctr">
            <a:spAutoFit/>
          </a:bodyPr>
          <a:lstStyle/>
          <a:p>
            <a:pPr algn="ctr">
              <a:lnSpc>
                <a:spcPct val="100000"/>
              </a:lnSpc>
              <a:spcBef>
                <a:spcPts val="0"/>
              </a:spcBef>
              <a:spcAft>
                <a:spcPts val="0"/>
              </a:spcAft>
            </a:pPr>
            <a:r>
              <a:rPr sz="1200" b="1">
                <a:solidFill>
                  <a:srgbClr val="002970"/>
                </a:solidFill>
                <a:latin typeface="Arial"/>
              </a:rPr>
              <a:t>This idea was selected in the top 10 at the Paytm Build for India AI Hackathon, Mumbai</a:t>
            </a:r>
          </a:p>
        </p:txBody>
      </p:sp>
      <p:sp>
        <p:nvSpPr>
          <p:cNvPr id="6" name="TextBox 5"/>
          <p:cNvSpPr txBox="1"/>
          <p:nvPr/>
        </p:nvSpPr>
        <p:spPr>
          <a:xfrm>
            <a:off x="566928" y="1325880"/>
            <a:ext cx="6400800" cy="4206240"/>
          </a:xfrm>
          <a:prstGeom prst="rect">
            <a:avLst/>
          </a:prstGeom>
          <a:noFill/>
        </p:spPr>
        <p:txBody>
          <a:bodyPr wrap="square" lIns="0" rIns="0" tIns="0" bIns="0" anchor="t">
            <a:spAutoFit/>
          </a:bodyPr>
          <a:lstStyle/>
          <a:p>
            <a:pPr>
              <a:lnSpc>
                <a:spcPct val="95000"/>
              </a:lnSpc>
              <a:spcBef>
                <a:spcPts val="0"/>
              </a:spcBef>
              <a:spcAft>
                <a:spcPts val="0"/>
              </a:spcAft>
            </a:pPr>
            <a:r>
              <a:rPr sz="7000" b="1">
                <a:solidFill>
                  <a:srgbClr val="FFFFFF"/>
                </a:solidFill>
                <a:latin typeface="Arial"/>
              </a:rPr>
              <a:t>BAHI</a:t>
            </a:r>
          </a:p>
          <a:p>
            <a:pPr>
              <a:lnSpc>
                <a:spcPct val="110000"/>
              </a:lnSpc>
              <a:spcBef>
                <a:spcPts val="1000"/>
              </a:spcBef>
              <a:spcAft>
                <a:spcPts val="0"/>
              </a:spcAft>
            </a:pPr>
            <a:r>
              <a:rPr sz="2800" b="1">
                <a:solidFill>
                  <a:srgbClr val="FFFFFF"/>
                </a:solidFill>
                <a:latin typeface="Arial"/>
              </a:rPr>
              <a:t>The khata both sides can see.</a:t>
            </a:r>
          </a:p>
          <a:p>
            <a:pPr>
              <a:lnSpc>
                <a:spcPct val="140000"/>
              </a:lnSpc>
              <a:spcBef>
                <a:spcPts val="1800"/>
              </a:spcBef>
              <a:spcAft>
                <a:spcPts val="0"/>
              </a:spcAft>
            </a:pPr>
            <a:r>
              <a:rPr sz="1500" b="0">
                <a:solidFill>
                  <a:srgbClr val="C9D8EE"/>
                </a:solidFill>
                <a:latin typeface="Arial"/>
              </a:rPr>
              <a:t>The customer scans the shop’s udhaar QR, or asks for udhaar on her own phone. The shopkeeper tells his AI munshi the amount, and nothing is written until both sides say yes. Every night, plain code decides who actually needs a reminder.</a:t>
            </a:r>
          </a:p>
        </p:txBody>
      </p:sp>
      <p:sp>
        <p:nvSpPr>
          <p:cNvPr id="7" name="Rectangle 6"/>
          <p:cNvSpPr/>
          <p:nvPr/>
        </p:nvSpPr>
        <p:spPr>
          <a:xfrm>
            <a:off x="566928" y="5074920"/>
            <a:ext cx="457200" cy="38100"/>
          </a:xfrm>
          <a:prstGeom prst="rect">
            <a:avLst/>
          </a:prstGeom>
          <a:solidFill>
            <a:srgbClr val="00BAF2"/>
          </a:solidFill>
          <a:ln>
            <a:noFill/>
          </a:ln>
        </p:spPr>
        <p:txBody>
          <a:bodyPr rtlCol="0" anchor="ctr"/>
          <a:lstStyle/>
          <a:p>
            <a:pPr algn="ctr"/>
          </a:p>
        </p:txBody>
      </p:sp>
      <p:sp>
        <p:nvSpPr>
          <p:cNvPr id="8" name="TextBox 7"/>
          <p:cNvSpPr txBox="1"/>
          <p:nvPr/>
        </p:nvSpPr>
        <p:spPr>
          <a:xfrm>
            <a:off x="566928" y="5257800"/>
            <a:ext cx="6675120" cy="731520"/>
          </a:xfrm>
          <a:prstGeom prst="rect">
            <a:avLst/>
          </a:prstGeom>
          <a:noFill/>
        </p:spPr>
        <p:txBody>
          <a:bodyPr wrap="square" lIns="0" rIns="0" tIns="0" bIns="0" anchor="t">
            <a:spAutoFit/>
          </a:bodyPr>
          <a:lstStyle/>
          <a:p>
            <a:pPr>
              <a:lnSpc>
                <a:spcPct val="130000"/>
              </a:lnSpc>
              <a:spcBef>
                <a:spcPts val="0"/>
              </a:spcBef>
              <a:spcAft>
                <a:spcPts val="0"/>
              </a:spcAft>
            </a:pPr>
            <a:r>
              <a:rPr sz="1200" b="0">
                <a:solidFill>
                  <a:srgbClr val="FFFFFF"/>
                </a:solidFill>
                <a:latin typeface="Arial"/>
              </a:rPr>
              <a:t>Paytm Build for India AI Hackathon  ·  Mumbai, 3 October 2026</a:t>
            </a:r>
          </a:p>
          <a:p>
            <a:pPr>
              <a:lnSpc>
                <a:spcPct val="130000"/>
              </a:lnSpc>
              <a:spcBef>
                <a:spcPts val="400"/>
              </a:spcBef>
              <a:spcAft>
                <a:spcPts val="0"/>
              </a:spcAft>
            </a:pPr>
            <a:r>
              <a:rPr sz="1200" b="0">
                <a:solidFill>
                  <a:srgbClr val="FFFFFF"/>
                </a:solidFill>
                <a:latin typeface="Arial"/>
              </a:rPr>
              <a:t>Track 2: AI-Powered Financial Journeys</a:t>
            </a:r>
          </a:p>
          <a:p>
            <a:pPr>
              <a:lnSpc>
                <a:spcPct val="130000"/>
              </a:lnSpc>
              <a:spcBef>
                <a:spcPts val="1000"/>
              </a:spcBef>
              <a:spcAft>
                <a:spcPts val="0"/>
              </a:spcAft>
            </a:pPr>
            <a:r>
              <a:rPr sz="1200" b="0">
                <a:solidFill>
                  <a:srgbClr val="8FA4C6"/>
                </a:solidFill>
                <a:latin typeface="Arial"/>
              </a:rPr>
              <a:t>Team Hustlers  ·  picked by the Paytm panel as a top 10 project</a:t>
            </a:r>
          </a:p>
        </p:txBody>
      </p:sp>
      <p:sp>
        <p:nvSpPr>
          <p:cNvPr id="9" name="Rounded Rectangle 8"/>
          <p:cNvSpPr/>
          <p:nvPr/>
        </p:nvSpPr>
        <p:spPr>
          <a:xfrm>
            <a:off x="7551420" y="876300"/>
            <a:ext cx="2087880" cy="404797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0" name="Picture 9" descr="m-popup.png"/>
          <p:cNvPicPr>
            <a:picLocks noChangeAspect="1"/>
          </p:cNvPicPr>
          <p:nvPr/>
        </p:nvPicPr>
        <p:blipFill>
          <a:blip r:embed="rId2"/>
          <a:stretch>
            <a:fillRect/>
          </a:stretch>
        </p:blipFill>
        <p:spPr>
          <a:xfrm>
            <a:off x="7589520" y="914400"/>
            <a:ext cx="2011680" cy="3971778"/>
          </a:xfrm>
          <a:prstGeom prst="rect">
            <a:avLst/>
          </a:prstGeom>
        </p:spPr>
      </p:pic>
      <p:sp>
        <p:nvSpPr>
          <p:cNvPr id="11" name="Rounded Rectangle 10"/>
          <p:cNvSpPr/>
          <p:nvPr/>
        </p:nvSpPr>
        <p:spPr>
          <a:xfrm>
            <a:off x="9791700" y="876300"/>
            <a:ext cx="2087880" cy="404797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2" name="Picture 11" descr="c-chat.png"/>
          <p:cNvPicPr>
            <a:picLocks noChangeAspect="1"/>
          </p:cNvPicPr>
          <p:nvPr/>
        </p:nvPicPr>
        <p:blipFill>
          <a:blip r:embed="rId3"/>
          <a:stretch>
            <a:fillRect/>
          </a:stretch>
        </p:blipFill>
        <p:spPr>
          <a:xfrm>
            <a:off x="9829800" y="914400"/>
            <a:ext cx="2011680" cy="3971778"/>
          </a:xfrm>
          <a:prstGeom prst="rect">
            <a:avLst/>
          </a:prstGeom>
        </p:spPr>
      </p:pic>
      <p:sp>
        <p:nvSpPr>
          <p:cNvPr id="13" name="TextBox 12"/>
          <p:cNvSpPr txBox="1"/>
          <p:nvPr/>
        </p:nvSpPr>
        <p:spPr>
          <a:xfrm>
            <a:off x="7589520" y="5138928"/>
            <a:ext cx="4251960" cy="274320"/>
          </a:xfrm>
          <a:prstGeom prst="rect">
            <a:avLst/>
          </a:prstGeom>
          <a:noFill/>
        </p:spPr>
        <p:txBody>
          <a:bodyPr wrap="square" lIns="0" rIns="0" tIns="0" bIns="0" anchor="t">
            <a:spAutoFit/>
          </a:bodyPr>
          <a:lstStyle/>
          <a:p>
            <a:pPr algn="ctr">
              <a:lnSpc>
                <a:spcPct val="130000"/>
              </a:lnSpc>
              <a:spcBef>
                <a:spcPts val="0"/>
              </a:spcBef>
              <a:spcAft>
                <a:spcPts val="0"/>
              </a:spcAft>
            </a:pPr>
            <a:r>
              <a:rPr sz="1000" b="0">
                <a:solidFill>
                  <a:srgbClr val="8FA4C6"/>
                </a:solidFill>
                <a:latin typeface="Arial"/>
              </a:rPr>
              <a:t>Shopkeeper  ·  Customer  ·  our working app, demo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WHAT PAYTM GETS</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More revenue from merchants and customers Paytm already has.</a:t>
            </a:r>
          </a:p>
        </p:txBody>
      </p:sp>
      <p:sp>
        <p:nvSpPr>
          <p:cNvPr id="5" name="Rounded Rectangle 4"/>
          <p:cNvSpPr/>
          <p:nvPr/>
        </p:nvSpPr>
        <p:spPr>
          <a:xfrm>
            <a:off x="566928" y="1645920"/>
            <a:ext cx="3749039" cy="4498848"/>
          </a:xfrm>
          <a:prstGeom prst="roundRect">
            <a:avLst>
              <a:gd name="adj" fmla="val 6000"/>
            </a:avLst>
          </a:prstGeom>
          <a:solidFill>
            <a:srgbClr val="002970"/>
          </a:solidFill>
          <a:ln>
            <a:noFill/>
          </a:ln>
        </p:spPr>
        <p:txBody>
          <a:bodyPr rtlCol="0" anchor="ctr"/>
          <a:lstStyle/>
          <a:p>
            <a:pPr algn="ctr"/>
          </a:p>
        </p:txBody>
      </p:sp>
      <p:sp>
        <p:nvSpPr>
          <p:cNvPr id="6" name="TextBox 5"/>
          <p:cNvSpPr txBox="1"/>
          <p:nvPr/>
        </p:nvSpPr>
        <p:spPr>
          <a:xfrm>
            <a:off x="886968" y="2011680"/>
            <a:ext cx="3108959" cy="3840480"/>
          </a:xfrm>
          <a:prstGeom prst="rect">
            <a:avLst/>
          </a:prstGeom>
          <a:noFill/>
        </p:spPr>
        <p:txBody>
          <a:bodyPr wrap="square" lIns="0" rIns="0" tIns="0" bIns="0" anchor="t">
            <a:spAutoFit/>
          </a:bodyPr>
          <a:lstStyle/>
          <a:p>
            <a:pPr>
              <a:lnSpc>
                <a:spcPct val="100000"/>
              </a:lnSpc>
              <a:spcBef>
                <a:spcPts val="0"/>
              </a:spcBef>
              <a:spcAft>
                <a:spcPts val="0"/>
              </a:spcAft>
            </a:pPr>
            <a:r>
              <a:rPr sz="6000" b="1">
                <a:solidFill>
                  <a:srgbClr val="FFFFFF"/>
                </a:solidFill>
                <a:latin typeface="Arial"/>
              </a:rPr>
              <a:t>₹9</a:t>
            </a:r>
          </a:p>
          <a:p>
            <a:pPr>
              <a:lnSpc>
                <a:spcPct val="130000"/>
              </a:lnSpc>
              <a:spcBef>
                <a:spcPts val="1200"/>
              </a:spcBef>
              <a:spcAft>
                <a:spcPts val="0"/>
              </a:spcAft>
            </a:pPr>
            <a:r>
              <a:rPr sz="1600" b="1">
                <a:solidFill>
                  <a:srgbClr val="FFFFFF"/>
                </a:solidFill>
                <a:latin typeface="Arial"/>
              </a:rPr>
              <a:t>a month, added to the Soundbox plan the merchant already pays.</a:t>
            </a:r>
          </a:p>
          <a:p>
            <a:pPr>
              <a:lnSpc>
                <a:spcPct val="140000"/>
              </a:lnSpc>
              <a:spcBef>
                <a:spcPts val="1400"/>
              </a:spcBef>
              <a:spcAft>
                <a:spcPts val="0"/>
              </a:spcAft>
            </a:pPr>
            <a:r>
              <a:rPr sz="1300" b="0">
                <a:solidFill>
                  <a:srgbClr val="C9D8EE"/>
                </a:solidFill>
                <a:latin typeface="Arial"/>
              </a:rPr>
              <a:t>The customer pays nothing. There is no new device to ship and no new app to install.</a:t>
            </a:r>
          </a:p>
        </p:txBody>
      </p:sp>
      <p:sp>
        <p:nvSpPr>
          <p:cNvPr id="7" name="TextBox 6"/>
          <p:cNvSpPr txBox="1"/>
          <p:nvPr/>
        </p:nvSpPr>
        <p:spPr>
          <a:xfrm>
            <a:off x="886968" y="5458968"/>
            <a:ext cx="3108959" cy="548640"/>
          </a:xfrm>
          <a:prstGeom prst="rect">
            <a:avLst/>
          </a:prstGeom>
          <a:noFill/>
        </p:spPr>
        <p:txBody>
          <a:bodyPr wrap="square" lIns="0" rIns="0" tIns="0" bIns="0" anchor="t">
            <a:spAutoFit/>
          </a:bodyPr>
          <a:lstStyle/>
          <a:p>
            <a:pPr>
              <a:lnSpc>
                <a:spcPct val="130000"/>
              </a:lnSpc>
              <a:spcBef>
                <a:spcPts val="0"/>
              </a:spcBef>
              <a:spcAft>
                <a:spcPts val="0"/>
              </a:spcAft>
            </a:pPr>
            <a:r>
              <a:rPr sz="1000" b="0">
                <a:solidFill>
                  <a:srgbClr val="8FA4C6"/>
                </a:solidFill>
                <a:latin typeface="Arial"/>
              </a:rPr>
              <a:t>Our proposed price. The numbers behind it are on slide 14.</a:t>
            </a:r>
          </a:p>
        </p:txBody>
      </p:sp>
      <p:sp>
        <p:nvSpPr>
          <p:cNvPr id="8" name="Rounded Rectangle 7"/>
          <p:cNvSpPr/>
          <p:nvPr/>
        </p:nvSpPr>
        <p:spPr>
          <a:xfrm>
            <a:off x="4590287" y="1645920"/>
            <a:ext cx="7034480" cy="1426464"/>
          </a:xfrm>
          <a:prstGeom prst="roundRect">
            <a:avLst>
              <a:gd name="adj" fmla="val 6000"/>
            </a:avLst>
          </a:prstGeom>
          <a:solidFill>
            <a:srgbClr val="FFFFFF"/>
          </a:solidFill>
          <a:ln>
            <a:noFill/>
          </a:ln>
        </p:spPr>
        <p:txBody>
          <a:bodyPr rtlCol="0" anchor="ctr"/>
          <a:lstStyle/>
          <a:p>
            <a:pPr algn="ctr"/>
          </a:p>
        </p:txBody>
      </p:sp>
      <p:sp>
        <p:nvSpPr>
          <p:cNvPr id="9" name="Oval 8"/>
          <p:cNvSpPr/>
          <p:nvPr/>
        </p:nvSpPr>
        <p:spPr>
          <a:xfrm>
            <a:off x="4864607" y="2167128"/>
            <a:ext cx="384048" cy="384048"/>
          </a:xfrm>
          <a:prstGeom prst="ellipse">
            <a:avLst/>
          </a:prstGeom>
          <a:solidFill>
            <a:srgbClr val="002970"/>
          </a:solidFill>
          <a:ln>
            <a:noFill/>
          </a:ln>
        </p:spPr>
        <p:txBody>
          <a:bodyPr rtlCol="0" anchor="ctr"/>
          <a:lstStyle/>
          <a:p>
            <a:pPr algn="ctr"/>
          </a:p>
        </p:txBody>
      </p:sp>
      <p:sp>
        <p:nvSpPr>
          <p:cNvPr id="10" name="TextBox 9"/>
          <p:cNvSpPr txBox="1"/>
          <p:nvPr/>
        </p:nvSpPr>
        <p:spPr>
          <a:xfrm>
            <a:off x="4864607" y="2167128"/>
            <a:ext cx="384048" cy="384048"/>
          </a:xfrm>
          <a:prstGeom prst="rect">
            <a:avLst/>
          </a:prstGeom>
          <a:noFill/>
        </p:spPr>
        <p:txBody>
          <a:bodyPr wrap="square" lIns="0" rIns="0" tIns="0" bIns="0" anchor="ctr">
            <a:spAutoFit/>
          </a:bodyPr>
          <a:lstStyle/>
          <a:p>
            <a:pPr algn="ctr">
              <a:lnSpc>
                <a:spcPct val="100000"/>
              </a:lnSpc>
              <a:spcBef>
                <a:spcPts val="0"/>
              </a:spcBef>
              <a:spcAft>
                <a:spcPts val="0"/>
              </a:spcAft>
            </a:pPr>
            <a:r>
              <a:rPr sz="1400" b="1">
                <a:solidFill>
                  <a:srgbClr val="FFFFFF"/>
                </a:solidFill>
                <a:latin typeface="Arial"/>
              </a:rPr>
              <a:t>1</a:t>
            </a:r>
          </a:p>
        </p:txBody>
      </p:sp>
      <p:sp>
        <p:nvSpPr>
          <p:cNvPr id="11" name="TextBox 10"/>
          <p:cNvSpPr txBox="1"/>
          <p:nvPr/>
        </p:nvSpPr>
        <p:spPr>
          <a:xfrm>
            <a:off x="5458967" y="1645920"/>
            <a:ext cx="5891480" cy="1426464"/>
          </a:xfrm>
          <a:prstGeom prst="rect">
            <a:avLst/>
          </a:prstGeom>
          <a:noFill/>
        </p:spPr>
        <p:txBody>
          <a:bodyPr wrap="square" lIns="0" rIns="0" tIns="0" bIns="0" anchor="ctr">
            <a:spAutoFit/>
          </a:bodyPr>
          <a:lstStyle/>
          <a:p>
            <a:pPr>
              <a:lnSpc>
                <a:spcPct val="115000"/>
              </a:lnSpc>
              <a:spcBef>
                <a:spcPts val="0"/>
              </a:spcBef>
              <a:spcAft>
                <a:spcPts val="0"/>
              </a:spcAft>
            </a:pPr>
            <a:r>
              <a:rPr sz="1600" b="1">
                <a:solidFill>
                  <a:srgbClr val="002970"/>
                </a:solidFill>
                <a:latin typeface="Arial"/>
              </a:rPr>
              <a:t>Customer acquisition is already done</a:t>
            </a:r>
          </a:p>
          <a:p>
            <a:pPr>
              <a:lnSpc>
                <a:spcPct val="135000"/>
              </a:lnSpc>
              <a:spcBef>
                <a:spcPts val="500"/>
              </a:spcBef>
              <a:spcAft>
                <a:spcPts val="0"/>
              </a:spcAft>
            </a:pPr>
            <a:r>
              <a:rPr sz="1250" b="0">
                <a:solidFill>
                  <a:srgbClr val="5B6675"/>
                </a:solidFill>
                <a:latin typeface="Arial"/>
              </a:rPr>
              <a:t>1.57 Cr storefronts run a Paytm Soundbox, and their customers pay with Paytm. BAHI is sold to people Paytm has already won.</a:t>
            </a:r>
          </a:p>
        </p:txBody>
      </p:sp>
      <p:sp>
        <p:nvSpPr>
          <p:cNvPr id="12" name="Rounded Rectangle 11"/>
          <p:cNvSpPr/>
          <p:nvPr/>
        </p:nvSpPr>
        <p:spPr>
          <a:xfrm>
            <a:off x="4590287" y="3182112"/>
            <a:ext cx="7034480" cy="1426464"/>
          </a:xfrm>
          <a:prstGeom prst="roundRect">
            <a:avLst>
              <a:gd name="adj" fmla="val 6000"/>
            </a:avLst>
          </a:prstGeom>
          <a:solidFill>
            <a:srgbClr val="FFFFFF"/>
          </a:solidFill>
          <a:ln>
            <a:noFill/>
          </a:ln>
        </p:spPr>
        <p:txBody>
          <a:bodyPr rtlCol="0" anchor="ctr"/>
          <a:lstStyle/>
          <a:p>
            <a:pPr algn="ctr"/>
          </a:p>
        </p:txBody>
      </p:sp>
      <p:sp>
        <p:nvSpPr>
          <p:cNvPr id="13" name="Oval 12"/>
          <p:cNvSpPr/>
          <p:nvPr/>
        </p:nvSpPr>
        <p:spPr>
          <a:xfrm>
            <a:off x="4864607" y="3703320"/>
            <a:ext cx="384048" cy="384048"/>
          </a:xfrm>
          <a:prstGeom prst="ellipse">
            <a:avLst/>
          </a:prstGeom>
          <a:solidFill>
            <a:srgbClr val="002970"/>
          </a:solidFill>
          <a:ln>
            <a:noFill/>
          </a:ln>
        </p:spPr>
        <p:txBody>
          <a:bodyPr rtlCol="0" anchor="ctr"/>
          <a:lstStyle/>
          <a:p>
            <a:pPr algn="ctr"/>
          </a:p>
        </p:txBody>
      </p:sp>
      <p:sp>
        <p:nvSpPr>
          <p:cNvPr id="14" name="TextBox 13"/>
          <p:cNvSpPr txBox="1"/>
          <p:nvPr/>
        </p:nvSpPr>
        <p:spPr>
          <a:xfrm>
            <a:off x="4864607" y="3703320"/>
            <a:ext cx="384048" cy="384048"/>
          </a:xfrm>
          <a:prstGeom prst="rect">
            <a:avLst/>
          </a:prstGeom>
          <a:noFill/>
        </p:spPr>
        <p:txBody>
          <a:bodyPr wrap="square" lIns="0" rIns="0" tIns="0" bIns="0" anchor="ctr">
            <a:spAutoFit/>
          </a:bodyPr>
          <a:lstStyle/>
          <a:p>
            <a:pPr algn="ctr">
              <a:lnSpc>
                <a:spcPct val="100000"/>
              </a:lnSpc>
              <a:spcBef>
                <a:spcPts val="0"/>
              </a:spcBef>
              <a:spcAft>
                <a:spcPts val="0"/>
              </a:spcAft>
            </a:pPr>
            <a:r>
              <a:rPr sz="1400" b="1">
                <a:solidFill>
                  <a:srgbClr val="FFFFFF"/>
                </a:solidFill>
                <a:latin typeface="Arial"/>
              </a:rPr>
              <a:t>2</a:t>
            </a:r>
          </a:p>
        </p:txBody>
      </p:sp>
      <p:sp>
        <p:nvSpPr>
          <p:cNvPr id="15" name="TextBox 14"/>
          <p:cNvSpPr txBox="1"/>
          <p:nvPr/>
        </p:nvSpPr>
        <p:spPr>
          <a:xfrm>
            <a:off x="5458967" y="3182112"/>
            <a:ext cx="5891480" cy="1426464"/>
          </a:xfrm>
          <a:prstGeom prst="rect">
            <a:avLst/>
          </a:prstGeom>
          <a:noFill/>
        </p:spPr>
        <p:txBody>
          <a:bodyPr wrap="square" lIns="0" rIns="0" tIns="0" bIns="0" anchor="ctr">
            <a:spAutoFit/>
          </a:bodyPr>
          <a:lstStyle/>
          <a:p>
            <a:pPr>
              <a:lnSpc>
                <a:spcPct val="115000"/>
              </a:lnSpc>
              <a:spcBef>
                <a:spcPts val="0"/>
              </a:spcBef>
              <a:spcAft>
                <a:spcPts val="0"/>
              </a:spcAft>
            </a:pPr>
            <a:r>
              <a:rPr sz="1600" b="1">
                <a:solidFill>
                  <a:srgbClr val="002970"/>
                </a:solidFill>
                <a:latin typeface="Arial"/>
              </a:rPr>
              <a:t>Paytm Business Khata, made two-sided</a:t>
            </a:r>
          </a:p>
          <a:p>
            <a:pPr>
              <a:lnSpc>
                <a:spcPct val="135000"/>
              </a:lnSpc>
              <a:spcBef>
                <a:spcPts val="500"/>
              </a:spcBef>
              <a:spcAft>
                <a:spcPts val="0"/>
              </a:spcAft>
            </a:pPr>
            <a:r>
              <a:rPr sz="1250" b="0">
                <a:solidFill>
                  <a:srgbClr val="5B6675"/>
                </a:solidFill>
                <a:latin typeface="Arial"/>
              </a:rPr>
              <a:t>Business Khata already keeps the shop’s udhaar. BAHI adds the customer’s own copy, the AI munshi and the Soundbox voice.</a:t>
            </a:r>
          </a:p>
        </p:txBody>
      </p:sp>
      <p:sp>
        <p:nvSpPr>
          <p:cNvPr id="16" name="Rounded Rectangle 15"/>
          <p:cNvSpPr/>
          <p:nvPr/>
        </p:nvSpPr>
        <p:spPr>
          <a:xfrm>
            <a:off x="4590287" y="4718304"/>
            <a:ext cx="7034480" cy="1426464"/>
          </a:xfrm>
          <a:prstGeom prst="roundRect">
            <a:avLst>
              <a:gd name="adj" fmla="val 6000"/>
            </a:avLst>
          </a:prstGeom>
          <a:solidFill>
            <a:srgbClr val="FFFFFF"/>
          </a:solidFill>
          <a:ln>
            <a:noFill/>
          </a:ln>
        </p:spPr>
        <p:txBody>
          <a:bodyPr rtlCol="0" anchor="ctr"/>
          <a:lstStyle/>
          <a:p>
            <a:pPr algn="ctr"/>
          </a:p>
        </p:txBody>
      </p:sp>
      <p:sp>
        <p:nvSpPr>
          <p:cNvPr id="17" name="Oval 16"/>
          <p:cNvSpPr/>
          <p:nvPr/>
        </p:nvSpPr>
        <p:spPr>
          <a:xfrm>
            <a:off x="4864607" y="5239512"/>
            <a:ext cx="384048" cy="384048"/>
          </a:xfrm>
          <a:prstGeom prst="ellipse">
            <a:avLst/>
          </a:prstGeom>
          <a:solidFill>
            <a:srgbClr val="002970"/>
          </a:solidFill>
          <a:ln>
            <a:noFill/>
          </a:ln>
        </p:spPr>
        <p:txBody>
          <a:bodyPr rtlCol="0" anchor="ctr"/>
          <a:lstStyle/>
          <a:p>
            <a:pPr algn="ctr"/>
          </a:p>
        </p:txBody>
      </p:sp>
      <p:sp>
        <p:nvSpPr>
          <p:cNvPr id="18" name="TextBox 17"/>
          <p:cNvSpPr txBox="1"/>
          <p:nvPr/>
        </p:nvSpPr>
        <p:spPr>
          <a:xfrm>
            <a:off x="4864607" y="5239512"/>
            <a:ext cx="384048" cy="384048"/>
          </a:xfrm>
          <a:prstGeom prst="rect">
            <a:avLst/>
          </a:prstGeom>
          <a:noFill/>
        </p:spPr>
        <p:txBody>
          <a:bodyPr wrap="square" lIns="0" rIns="0" tIns="0" bIns="0" anchor="ctr">
            <a:spAutoFit/>
          </a:bodyPr>
          <a:lstStyle/>
          <a:p>
            <a:pPr algn="ctr">
              <a:lnSpc>
                <a:spcPct val="100000"/>
              </a:lnSpc>
              <a:spcBef>
                <a:spcPts val="0"/>
              </a:spcBef>
              <a:spcAft>
                <a:spcPts val="0"/>
              </a:spcAft>
            </a:pPr>
            <a:r>
              <a:rPr sz="1400" b="1">
                <a:solidFill>
                  <a:srgbClr val="FFFFFF"/>
                </a:solidFill>
                <a:latin typeface="Arial"/>
              </a:rPr>
              <a:t>3</a:t>
            </a:r>
          </a:p>
        </p:txBody>
      </p:sp>
      <p:sp>
        <p:nvSpPr>
          <p:cNvPr id="19" name="TextBox 18"/>
          <p:cNvSpPr txBox="1"/>
          <p:nvPr/>
        </p:nvSpPr>
        <p:spPr>
          <a:xfrm>
            <a:off x="5458967" y="4718304"/>
            <a:ext cx="5891480" cy="1426464"/>
          </a:xfrm>
          <a:prstGeom prst="rect">
            <a:avLst/>
          </a:prstGeom>
          <a:noFill/>
        </p:spPr>
        <p:txBody>
          <a:bodyPr wrap="square" lIns="0" rIns="0" tIns="0" bIns="0" anchor="ctr">
            <a:spAutoFit/>
          </a:bodyPr>
          <a:lstStyle/>
          <a:p>
            <a:pPr>
              <a:lnSpc>
                <a:spcPct val="115000"/>
              </a:lnSpc>
              <a:spcBef>
                <a:spcPts val="0"/>
              </a:spcBef>
              <a:spcAft>
                <a:spcPts val="0"/>
              </a:spcAft>
            </a:pPr>
            <a:r>
              <a:rPr sz="1600" b="1">
                <a:solidFill>
                  <a:srgbClr val="002970"/>
                </a:solidFill>
                <a:latin typeface="Arial"/>
              </a:rPr>
              <a:t>Udhaar moves from cash to Paytm UPI</a:t>
            </a:r>
          </a:p>
          <a:p>
            <a:pPr>
              <a:lnSpc>
                <a:spcPct val="135000"/>
              </a:lnSpc>
              <a:spcBef>
                <a:spcPts val="500"/>
              </a:spcBef>
              <a:spcAft>
                <a:spcPts val="0"/>
              </a:spcAft>
            </a:pPr>
            <a:r>
              <a:rPr sz="1250" b="0">
                <a:solidFill>
                  <a:srgbClr val="5B6675"/>
                </a:solidFill>
                <a:latin typeface="Arial"/>
              </a:rPr>
              <a:t>Every repayment is a tap in the customer’s chat with the shop, paid by Paytm UPI.</a:t>
            </a:r>
          </a:p>
        </p:txBody>
      </p:sp>
      <p:sp>
        <p:nvSpPr>
          <p:cNvPr id="20" name="TextBox 19"/>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Sources: Paytm Q1 FY27 earnings release (1.57 Cr Soundbox storefronts); business.paytm.com/business-khata, checked 23 Sep 2026.</a:t>
            </a:r>
          </a:p>
        </p:txBody>
      </p:sp>
      <p:sp>
        <p:nvSpPr>
          <p:cNvPr id="21" name="TextBox 20"/>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THE PROBLEM</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The udhaar book has one author. The customer never sees it.</a:t>
            </a:r>
          </a:p>
        </p:txBody>
      </p:sp>
      <p:sp>
        <p:nvSpPr>
          <p:cNvPr id="5" name="Rounded Rectangle 4"/>
          <p:cNvSpPr/>
          <p:nvPr/>
        </p:nvSpPr>
        <p:spPr>
          <a:xfrm>
            <a:off x="566928" y="1645920"/>
            <a:ext cx="11057839" cy="1874519"/>
          </a:xfrm>
          <a:prstGeom prst="roundRect">
            <a:avLst>
              <a:gd name="adj" fmla="val 6000"/>
            </a:avLst>
          </a:prstGeom>
          <a:solidFill>
            <a:srgbClr val="FFFFFF"/>
          </a:solidFill>
          <a:ln>
            <a:noFill/>
          </a:ln>
        </p:spPr>
        <p:txBody>
          <a:bodyPr rtlCol="0" anchor="ctr"/>
          <a:lstStyle/>
          <a:p>
            <a:pPr algn="ctr"/>
          </a:p>
        </p:txBody>
      </p:sp>
      <p:sp>
        <p:nvSpPr>
          <p:cNvPr id="6" name="Rounded Rectangle 5"/>
          <p:cNvSpPr/>
          <p:nvPr/>
        </p:nvSpPr>
        <p:spPr>
          <a:xfrm>
            <a:off x="978408" y="2011680"/>
            <a:ext cx="2468880" cy="1143000"/>
          </a:xfrm>
          <a:prstGeom prst="roundRect">
            <a:avLst>
              <a:gd name="adj" fmla="val 12000"/>
            </a:avLst>
          </a:prstGeom>
          <a:solidFill>
            <a:srgbClr val="EAF6FC"/>
          </a:solidFill>
          <a:ln>
            <a:noFill/>
          </a:ln>
        </p:spPr>
        <p:txBody>
          <a:bodyPr rtlCol="0" anchor="ctr"/>
          <a:lstStyle/>
          <a:p>
            <a:pPr algn="ctr"/>
          </a:p>
        </p:txBody>
      </p:sp>
      <p:sp>
        <p:nvSpPr>
          <p:cNvPr id="7" name="TextBox 6"/>
          <p:cNvSpPr txBox="1"/>
          <p:nvPr/>
        </p:nvSpPr>
        <p:spPr>
          <a:xfrm>
            <a:off x="1088136" y="2011680"/>
            <a:ext cx="2249424" cy="114300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002970"/>
                </a:solidFill>
                <a:latin typeface="Arial"/>
              </a:rPr>
              <a:t>Shopkeeper</a:t>
            </a:r>
          </a:p>
          <a:p>
            <a:pPr algn="ctr">
              <a:lnSpc>
                <a:spcPct val="120000"/>
              </a:lnSpc>
              <a:spcBef>
                <a:spcPts val="300"/>
              </a:spcBef>
              <a:spcAft>
                <a:spcPts val="0"/>
              </a:spcAft>
            </a:pPr>
            <a:r>
              <a:rPr sz="1200" b="0">
                <a:solidFill>
                  <a:srgbClr val="5B6675"/>
                </a:solidFill>
                <a:latin typeface="Arial"/>
              </a:rPr>
              <a:t>writes every entry</a:t>
            </a:r>
          </a:p>
        </p:txBody>
      </p:sp>
      <p:sp>
        <p:nvSpPr>
          <p:cNvPr id="8" name="Rounded Rectangle 7"/>
          <p:cNvSpPr/>
          <p:nvPr/>
        </p:nvSpPr>
        <p:spPr>
          <a:xfrm>
            <a:off x="4855464" y="2011680"/>
            <a:ext cx="2468880" cy="1143000"/>
          </a:xfrm>
          <a:prstGeom prst="roundRect">
            <a:avLst>
              <a:gd name="adj" fmla="val 12000"/>
            </a:avLst>
          </a:prstGeom>
          <a:solidFill>
            <a:srgbClr val="EAF6FC"/>
          </a:solidFill>
          <a:ln>
            <a:noFill/>
          </a:ln>
        </p:spPr>
        <p:txBody>
          <a:bodyPr rtlCol="0" anchor="ctr"/>
          <a:lstStyle/>
          <a:p>
            <a:pPr algn="ctr"/>
          </a:p>
        </p:txBody>
      </p:sp>
      <p:sp>
        <p:nvSpPr>
          <p:cNvPr id="9" name="TextBox 8"/>
          <p:cNvSpPr txBox="1"/>
          <p:nvPr/>
        </p:nvSpPr>
        <p:spPr>
          <a:xfrm>
            <a:off x="4965192" y="2011680"/>
            <a:ext cx="2249424" cy="114300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002970"/>
                </a:solidFill>
                <a:latin typeface="Arial"/>
              </a:rPr>
              <a:t>The udhaar book</a:t>
            </a:r>
          </a:p>
          <a:p>
            <a:pPr algn="ctr">
              <a:lnSpc>
                <a:spcPct val="120000"/>
              </a:lnSpc>
              <a:spcBef>
                <a:spcPts val="300"/>
              </a:spcBef>
              <a:spcAft>
                <a:spcPts val="0"/>
              </a:spcAft>
            </a:pPr>
            <a:r>
              <a:rPr sz="1200" b="0">
                <a:solidFill>
                  <a:srgbClr val="5B6675"/>
                </a:solidFill>
                <a:latin typeface="Arial"/>
              </a:rPr>
              <a:t>a notebook, or a ledger app</a:t>
            </a:r>
          </a:p>
        </p:txBody>
      </p:sp>
      <p:sp>
        <p:nvSpPr>
          <p:cNvPr id="10" name="Rounded Rectangle 9"/>
          <p:cNvSpPr/>
          <p:nvPr/>
        </p:nvSpPr>
        <p:spPr>
          <a:xfrm>
            <a:off x="8741664" y="2011680"/>
            <a:ext cx="2468880" cy="1143000"/>
          </a:xfrm>
          <a:prstGeom prst="roundRect">
            <a:avLst>
              <a:gd name="adj" fmla="val 12000"/>
            </a:avLst>
          </a:prstGeom>
          <a:solidFill>
            <a:srgbClr val="FFFFFF"/>
          </a:solidFill>
          <a:ln w="15875">
            <a:solidFill>
              <a:srgbClr val="8B95A5"/>
            </a:solidFill>
            <a:prstDash val="dash"/>
          </a:ln>
        </p:spPr>
        <p:txBody>
          <a:bodyPr rtlCol="0" anchor="ctr"/>
          <a:lstStyle/>
          <a:p>
            <a:pPr algn="ctr"/>
          </a:p>
        </p:txBody>
      </p:sp>
      <p:sp>
        <p:nvSpPr>
          <p:cNvPr id="11" name="TextBox 10"/>
          <p:cNvSpPr txBox="1"/>
          <p:nvPr/>
        </p:nvSpPr>
        <p:spPr>
          <a:xfrm>
            <a:off x="8851392" y="2011680"/>
            <a:ext cx="2249424" cy="1143000"/>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B6675"/>
                </a:solidFill>
                <a:latin typeface="Arial"/>
              </a:rPr>
              <a:t>Customer</a:t>
            </a:r>
          </a:p>
          <a:p>
            <a:pPr algn="ctr">
              <a:lnSpc>
                <a:spcPct val="120000"/>
              </a:lnSpc>
              <a:spcBef>
                <a:spcPts val="300"/>
              </a:spcBef>
              <a:spcAft>
                <a:spcPts val="0"/>
              </a:spcAft>
            </a:pPr>
            <a:r>
              <a:rPr sz="1200" b="0">
                <a:solidFill>
                  <a:srgbClr val="5B6675"/>
                </a:solidFill>
                <a:latin typeface="Arial"/>
              </a:rPr>
              <a:t>no copy  ·  no total  ·  no proof</a:t>
            </a:r>
          </a:p>
        </p:txBody>
      </p:sp>
      <p:cxnSp>
        <p:nvCxnSpPr>
          <p:cNvPr id="12" name="Connector 11"/>
          <p:cNvCxnSpPr/>
          <p:nvPr/>
        </p:nvCxnSpPr>
        <p:spPr>
          <a:xfrm>
            <a:off x="3538728" y="2583180"/>
            <a:ext cx="1225296" cy="0"/>
          </a:xfrm>
          <a:prstGeom prst="line">
            <a:avLst/>
          </a:prstGeom>
          <a:ln w="25400">
            <a:solidFill>
              <a:srgbClr val="002970"/>
            </a:solidFill>
            <a:tailEnd type="triangle" w="med" len="med"/>
          </a:ln>
        </p:spPr>
      </p:cxnSp>
      <p:cxnSp>
        <p:nvCxnSpPr>
          <p:cNvPr id="13" name="Connector 12"/>
          <p:cNvCxnSpPr/>
          <p:nvPr/>
        </p:nvCxnSpPr>
        <p:spPr>
          <a:xfrm>
            <a:off x="7415784" y="2583180"/>
            <a:ext cx="1234440" cy="0"/>
          </a:xfrm>
          <a:prstGeom prst="line">
            <a:avLst/>
          </a:prstGeom>
          <a:ln w="25400">
            <a:solidFill>
              <a:srgbClr val="8B95A5"/>
            </a:solidFill>
            <a:prstDash val="dash"/>
            <a:tailEnd type="triangle" w="med" len="med"/>
          </a:ln>
        </p:spPr>
      </p:cxnSp>
      <p:sp>
        <p:nvSpPr>
          <p:cNvPr id="14" name="TextBox 13"/>
          <p:cNvSpPr txBox="1"/>
          <p:nvPr/>
        </p:nvSpPr>
        <p:spPr>
          <a:xfrm>
            <a:off x="3447288" y="2253996"/>
            <a:ext cx="1408176" cy="274320"/>
          </a:xfrm>
          <a:prstGeom prst="rect">
            <a:avLst/>
          </a:prstGeom>
          <a:noFill/>
        </p:spPr>
        <p:txBody>
          <a:bodyPr wrap="square" lIns="0" rIns="0" tIns="0" bIns="0" anchor="t">
            <a:spAutoFit/>
          </a:bodyPr>
          <a:lstStyle/>
          <a:p>
            <a:pPr algn="ctr">
              <a:lnSpc>
                <a:spcPct val="130000"/>
              </a:lnSpc>
              <a:spcBef>
                <a:spcPts val="0"/>
              </a:spcBef>
              <a:spcAft>
                <a:spcPts val="0"/>
              </a:spcAft>
            </a:pPr>
            <a:r>
              <a:rPr sz="1100" b="1">
                <a:solidFill>
                  <a:srgbClr val="002970"/>
                </a:solidFill>
                <a:latin typeface="Arial"/>
              </a:rPr>
              <a:t>writes</a:t>
            </a:r>
          </a:p>
        </p:txBody>
      </p:sp>
      <p:sp>
        <p:nvSpPr>
          <p:cNvPr id="15" name="TextBox 14"/>
          <p:cNvSpPr txBox="1"/>
          <p:nvPr/>
        </p:nvSpPr>
        <p:spPr>
          <a:xfrm>
            <a:off x="7324344" y="2253996"/>
            <a:ext cx="1417320" cy="274320"/>
          </a:xfrm>
          <a:prstGeom prst="rect">
            <a:avLst/>
          </a:prstGeom>
          <a:noFill/>
        </p:spPr>
        <p:txBody>
          <a:bodyPr wrap="square" lIns="0" rIns="0" tIns="0" bIns="0" anchor="t">
            <a:spAutoFit/>
          </a:bodyPr>
          <a:lstStyle/>
          <a:p>
            <a:pPr algn="ctr">
              <a:lnSpc>
                <a:spcPct val="130000"/>
              </a:lnSpc>
              <a:spcBef>
                <a:spcPts val="0"/>
              </a:spcBef>
              <a:spcAft>
                <a:spcPts val="0"/>
              </a:spcAft>
            </a:pPr>
            <a:r>
              <a:rPr sz="1100" b="0">
                <a:solidFill>
                  <a:srgbClr val="5B6675"/>
                </a:solidFill>
                <a:latin typeface="Arial"/>
              </a:rPr>
              <a:t>an SMS, at best</a:t>
            </a:r>
          </a:p>
        </p:txBody>
      </p:sp>
      <p:sp>
        <p:nvSpPr>
          <p:cNvPr id="16" name="Rectangle 15"/>
          <p:cNvSpPr/>
          <p:nvPr/>
        </p:nvSpPr>
        <p:spPr>
          <a:xfrm>
            <a:off x="566928" y="3913632"/>
            <a:ext cx="365760" cy="38100"/>
          </a:xfrm>
          <a:prstGeom prst="rect">
            <a:avLst/>
          </a:prstGeom>
          <a:solidFill>
            <a:srgbClr val="00BAF2"/>
          </a:solidFill>
          <a:ln>
            <a:noFill/>
          </a:ln>
        </p:spPr>
        <p:txBody>
          <a:bodyPr rtlCol="0" anchor="ctr"/>
          <a:lstStyle/>
          <a:p>
            <a:pPr algn="ctr"/>
          </a:p>
        </p:txBody>
      </p:sp>
      <p:sp>
        <p:nvSpPr>
          <p:cNvPr id="17" name="TextBox 16"/>
          <p:cNvSpPr txBox="1"/>
          <p:nvPr/>
        </p:nvSpPr>
        <p:spPr>
          <a:xfrm>
            <a:off x="566928" y="4069080"/>
            <a:ext cx="3442106" cy="201168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He can’t see patterns</a:t>
            </a:r>
          </a:p>
          <a:p>
            <a:pPr>
              <a:lnSpc>
                <a:spcPct val="140000"/>
              </a:lnSpc>
              <a:spcBef>
                <a:spcPts val="800"/>
              </a:spcBef>
              <a:spcAft>
                <a:spcPts val="0"/>
              </a:spcAft>
            </a:pPr>
            <a:r>
              <a:rPr sz="1300" b="0">
                <a:solidFill>
                  <a:srgbClr val="5B6675"/>
                </a:solidFill>
                <a:latin typeface="Arial"/>
              </a:rPr>
              <a:t>Someone who always pays on day 9 and someone quietly drifting away look the same in a notebook. So everyone is chased the same way.</a:t>
            </a:r>
          </a:p>
        </p:txBody>
      </p:sp>
      <p:sp>
        <p:nvSpPr>
          <p:cNvPr id="18" name="Rectangle 17"/>
          <p:cNvSpPr/>
          <p:nvPr/>
        </p:nvSpPr>
        <p:spPr>
          <a:xfrm>
            <a:off x="4374794" y="3913632"/>
            <a:ext cx="365760" cy="38100"/>
          </a:xfrm>
          <a:prstGeom prst="rect">
            <a:avLst/>
          </a:prstGeom>
          <a:solidFill>
            <a:srgbClr val="00BAF2"/>
          </a:solidFill>
          <a:ln>
            <a:noFill/>
          </a:ln>
        </p:spPr>
        <p:txBody>
          <a:bodyPr rtlCol="0" anchor="ctr"/>
          <a:lstStyle/>
          <a:p>
            <a:pPr algn="ctr"/>
          </a:p>
        </p:txBody>
      </p:sp>
      <p:sp>
        <p:nvSpPr>
          <p:cNvPr id="19" name="TextBox 18"/>
          <p:cNvSpPr txBox="1"/>
          <p:nvPr/>
        </p:nvSpPr>
        <p:spPr>
          <a:xfrm>
            <a:off x="4374794" y="4069080"/>
            <a:ext cx="3442106" cy="201168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The customer has no record</a:t>
            </a:r>
          </a:p>
          <a:p>
            <a:pPr>
              <a:lnSpc>
                <a:spcPct val="140000"/>
              </a:lnSpc>
              <a:spcBef>
                <a:spcPts val="800"/>
              </a:spcBef>
              <a:spcAft>
                <a:spcPts val="0"/>
              </a:spcAft>
            </a:pPr>
            <a:r>
              <a:rPr sz="1300" b="0">
                <a:solidFill>
                  <a:srgbClr val="5B6675"/>
                </a:solidFill>
                <a:latin typeface="Arial"/>
              </a:rPr>
              <a:t>He can’t see what he owes across shops. If the book says ₹500 and he remembers ₹300, he has nothing to show.</a:t>
            </a:r>
          </a:p>
        </p:txBody>
      </p:sp>
      <p:sp>
        <p:nvSpPr>
          <p:cNvPr id="20" name="Rectangle 19"/>
          <p:cNvSpPr/>
          <p:nvPr/>
        </p:nvSpPr>
        <p:spPr>
          <a:xfrm>
            <a:off x="8182660" y="3913632"/>
            <a:ext cx="365760" cy="38100"/>
          </a:xfrm>
          <a:prstGeom prst="rect">
            <a:avLst/>
          </a:prstGeom>
          <a:solidFill>
            <a:srgbClr val="00BAF2"/>
          </a:solidFill>
          <a:ln>
            <a:noFill/>
          </a:ln>
        </p:spPr>
        <p:txBody>
          <a:bodyPr rtlCol="0" anchor="ctr"/>
          <a:lstStyle/>
          <a:p>
            <a:pPr algn="ctr"/>
          </a:p>
        </p:txBody>
      </p:sp>
      <p:sp>
        <p:nvSpPr>
          <p:cNvPr id="21" name="TextBox 20"/>
          <p:cNvSpPr txBox="1"/>
          <p:nvPr/>
        </p:nvSpPr>
        <p:spPr>
          <a:xfrm>
            <a:off x="8182660" y="4069080"/>
            <a:ext cx="3442106" cy="201168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Apps went digital on one side only</a:t>
            </a:r>
          </a:p>
          <a:p>
            <a:pPr>
              <a:lnSpc>
                <a:spcPct val="140000"/>
              </a:lnSpc>
              <a:spcBef>
                <a:spcPts val="800"/>
              </a:spcBef>
              <a:spcAft>
                <a:spcPts val="0"/>
              </a:spcAft>
            </a:pPr>
            <a:r>
              <a:rPr sz="1300" b="0">
                <a:solidFill>
                  <a:srgbClr val="5B6675"/>
                </a:solidFill>
                <a:latin typeface="Arial"/>
              </a:rPr>
              <a:t>Khatabook alone has 5 Cr+ downloads. Its customers still get only an SMS — no app of their own, and no say in the entry.</a:t>
            </a:r>
          </a:p>
        </p:txBody>
      </p:sp>
      <p:sp>
        <p:nvSpPr>
          <p:cNvPr id="22" name="TextBox 21"/>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Source: Khatabook on Google Play (5 Cr+ downloads) and khatabook.com, checked 23 Sep 2026.</a:t>
            </a:r>
          </a:p>
        </p:txBody>
      </p:sp>
      <p:sp>
        <p:nvSpPr>
          <p:cNvPr id="23" name="TextBox 22"/>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THE SOLUTION</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One entry, agreed by both sides, inside the Paytm they already use.</a:t>
            </a:r>
          </a:p>
        </p:txBody>
      </p:sp>
      <p:sp>
        <p:nvSpPr>
          <p:cNvPr id="5" name="Rounded Rectangle 4"/>
          <p:cNvSpPr/>
          <p:nvPr/>
        </p:nvSpPr>
        <p:spPr>
          <a:xfrm>
            <a:off x="820795" y="1443228"/>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c-ask.png"/>
          <p:cNvPicPr>
            <a:picLocks noChangeAspect="1"/>
          </p:cNvPicPr>
          <p:nvPr/>
        </p:nvPicPr>
        <p:blipFill>
          <a:blip r:embed="rId2"/>
          <a:stretch>
            <a:fillRect/>
          </a:stretch>
        </p:blipFill>
        <p:spPr>
          <a:xfrm>
            <a:off x="858895" y="1481328"/>
            <a:ext cx="1481328" cy="2924673"/>
          </a:xfrm>
          <a:prstGeom prst="rect">
            <a:avLst/>
          </a:prstGeom>
        </p:spPr>
      </p:pic>
      <p:sp>
        <p:nvSpPr>
          <p:cNvPr id="7" name="Oval 6"/>
          <p:cNvSpPr/>
          <p:nvPr/>
        </p:nvSpPr>
        <p:spPr>
          <a:xfrm>
            <a:off x="603504" y="4572000"/>
            <a:ext cx="292608" cy="292608"/>
          </a:xfrm>
          <a:prstGeom prst="ellipse">
            <a:avLst/>
          </a:prstGeom>
          <a:solidFill>
            <a:srgbClr val="002970"/>
          </a:solidFill>
          <a:ln>
            <a:noFill/>
          </a:ln>
        </p:spPr>
        <p:txBody>
          <a:bodyPr rtlCol="0" anchor="ctr"/>
          <a:lstStyle/>
          <a:p>
            <a:pPr algn="ctr"/>
          </a:p>
        </p:txBody>
      </p:sp>
      <p:sp>
        <p:nvSpPr>
          <p:cNvPr id="8" name="TextBox 7"/>
          <p:cNvSpPr txBox="1"/>
          <p:nvPr/>
        </p:nvSpPr>
        <p:spPr>
          <a:xfrm>
            <a:off x="603504" y="4572000"/>
            <a:ext cx="292608" cy="292608"/>
          </a:xfrm>
          <a:prstGeom prst="rect">
            <a:avLst/>
          </a:prstGeom>
          <a:noFill/>
        </p:spPr>
        <p:txBody>
          <a:bodyPr wrap="square" lIns="0" rIns="0" tIns="0" bIns="0" anchor="ctr">
            <a:spAutoFit/>
          </a:bodyPr>
          <a:lstStyle/>
          <a:p>
            <a:pPr algn="ctr">
              <a:lnSpc>
                <a:spcPct val="100000"/>
              </a:lnSpc>
              <a:spcBef>
                <a:spcPts val="0"/>
              </a:spcBef>
              <a:spcAft>
                <a:spcPts val="0"/>
              </a:spcAft>
            </a:pPr>
            <a:r>
              <a:rPr sz="1100" b="1">
                <a:solidFill>
                  <a:srgbClr val="FFFFFF"/>
                </a:solidFill>
                <a:latin typeface="Arial"/>
              </a:rPr>
              <a:t>1</a:t>
            </a:r>
          </a:p>
        </p:txBody>
      </p:sp>
      <p:sp>
        <p:nvSpPr>
          <p:cNvPr id="9" name="TextBox 8"/>
          <p:cNvSpPr txBox="1"/>
          <p:nvPr/>
        </p:nvSpPr>
        <p:spPr>
          <a:xfrm>
            <a:off x="969264" y="4572000"/>
            <a:ext cx="1662927" cy="1463040"/>
          </a:xfrm>
          <a:prstGeom prst="rect">
            <a:avLst/>
          </a:prstGeom>
          <a:noFill/>
        </p:spPr>
        <p:txBody>
          <a:bodyPr wrap="square" lIns="0" rIns="0" tIns="0" bIns="0" anchor="t">
            <a:spAutoFit/>
          </a:bodyPr>
          <a:lstStyle/>
          <a:p>
            <a:pPr>
              <a:lnSpc>
                <a:spcPct val="110000"/>
              </a:lnSpc>
              <a:spcBef>
                <a:spcPts val="0"/>
              </a:spcBef>
              <a:spcAft>
                <a:spcPts val="0"/>
              </a:spcAft>
            </a:pPr>
            <a:r>
              <a:rPr sz="1300" b="1">
                <a:solidFill>
                  <a:srgbClr val="002970"/>
                </a:solidFill>
                <a:latin typeface="Arial"/>
              </a:rPr>
              <a:t>She scans, and can ask</a:t>
            </a:r>
          </a:p>
          <a:p>
            <a:pPr>
              <a:lnSpc>
                <a:spcPct val="130000"/>
              </a:lnSpc>
              <a:spcBef>
                <a:spcPts val="400"/>
              </a:spcBef>
              <a:spcAft>
                <a:spcPts val="0"/>
              </a:spcAft>
            </a:pPr>
            <a:r>
              <a:rPr sz="1150" b="0">
                <a:solidFill>
                  <a:srgbClr val="5B6675"/>
                </a:solidFill>
                <a:latin typeface="Arial"/>
              </a:rPr>
              <a:t>A separate udhaar QR. She may say how much, and what for.</a:t>
            </a:r>
          </a:p>
        </p:txBody>
      </p:sp>
      <p:sp>
        <p:nvSpPr>
          <p:cNvPr id="10" name="Rounded Rectangle 9"/>
          <p:cNvSpPr/>
          <p:nvPr/>
        </p:nvSpPr>
        <p:spPr>
          <a:xfrm>
            <a:off x="3068938" y="1443228"/>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1" name="Picture 10" descr="m-popup.png"/>
          <p:cNvPicPr>
            <a:picLocks noChangeAspect="1"/>
          </p:cNvPicPr>
          <p:nvPr/>
        </p:nvPicPr>
        <p:blipFill>
          <a:blip r:embed="rId3"/>
          <a:stretch>
            <a:fillRect/>
          </a:stretch>
        </p:blipFill>
        <p:spPr>
          <a:xfrm>
            <a:off x="3107038" y="1481328"/>
            <a:ext cx="1481328" cy="2924673"/>
          </a:xfrm>
          <a:prstGeom prst="rect">
            <a:avLst/>
          </a:prstGeom>
        </p:spPr>
      </p:pic>
      <p:sp>
        <p:nvSpPr>
          <p:cNvPr id="12" name="Oval 11"/>
          <p:cNvSpPr/>
          <p:nvPr/>
        </p:nvSpPr>
        <p:spPr>
          <a:xfrm>
            <a:off x="2851647" y="4572000"/>
            <a:ext cx="292608" cy="292608"/>
          </a:xfrm>
          <a:prstGeom prst="ellipse">
            <a:avLst/>
          </a:prstGeom>
          <a:solidFill>
            <a:srgbClr val="002970"/>
          </a:solidFill>
          <a:ln>
            <a:noFill/>
          </a:ln>
        </p:spPr>
        <p:txBody>
          <a:bodyPr rtlCol="0" anchor="ctr"/>
          <a:lstStyle/>
          <a:p>
            <a:pPr algn="ctr"/>
          </a:p>
        </p:txBody>
      </p:sp>
      <p:sp>
        <p:nvSpPr>
          <p:cNvPr id="13" name="TextBox 12"/>
          <p:cNvSpPr txBox="1"/>
          <p:nvPr/>
        </p:nvSpPr>
        <p:spPr>
          <a:xfrm>
            <a:off x="2851647" y="4572000"/>
            <a:ext cx="292608" cy="292608"/>
          </a:xfrm>
          <a:prstGeom prst="rect">
            <a:avLst/>
          </a:prstGeom>
          <a:noFill/>
        </p:spPr>
        <p:txBody>
          <a:bodyPr wrap="square" lIns="0" rIns="0" tIns="0" bIns="0" anchor="ctr">
            <a:spAutoFit/>
          </a:bodyPr>
          <a:lstStyle/>
          <a:p>
            <a:pPr algn="ctr">
              <a:lnSpc>
                <a:spcPct val="100000"/>
              </a:lnSpc>
              <a:spcBef>
                <a:spcPts val="0"/>
              </a:spcBef>
              <a:spcAft>
                <a:spcPts val="0"/>
              </a:spcAft>
            </a:pPr>
            <a:r>
              <a:rPr sz="1100" b="1">
                <a:solidFill>
                  <a:srgbClr val="FFFFFF"/>
                </a:solidFill>
                <a:latin typeface="Arial"/>
              </a:rPr>
              <a:t>2</a:t>
            </a:r>
          </a:p>
        </p:txBody>
      </p:sp>
      <p:sp>
        <p:nvSpPr>
          <p:cNvPr id="14" name="TextBox 13"/>
          <p:cNvSpPr txBox="1"/>
          <p:nvPr/>
        </p:nvSpPr>
        <p:spPr>
          <a:xfrm>
            <a:off x="3217407" y="4572000"/>
            <a:ext cx="1662927" cy="1463040"/>
          </a:xfrm>
          <a:prstGeom prst="rect">
            <a:avLst/>
          </a:prstGeom>
          <a:noFill/>
        </p:spPr>
        <p:txBody>
          <a:bodyPr wrap="square" lIns="0" rIns="0" tIns="0" bIns="0" anchor="t">
            <a:spAutoFit/>
          </a:bodyPr>
          <a:lstStyle/>
          <a:p>
            <a:pPr>
              <a:lnSpc>
                <a:spcPct val="110000"/>
              </a:lnSpc>
              <a:spcBef>
                <a:spcPts val="0"/>
              </a:spcBef>
              <a:spcAft>
                <a:spcPts val="0"/>
              </a:spcAft>
            </a:pPr>
            <a:r>
              <a:rPr sz="1300" b="1">
                <a:solidFill>
                  <a:srgbClr val="002970"/>
                </a:solidFill>
                <a:latin typeface="Arial"/>
              </a:rPr>
              <a:t>The shop says yes</a:t>
            </a:r>
          </a:p>
          <a:p>
            <a:pPr>
              <a:lnSpc>
                <a:spcPct val="130000"/>
              </a:lnSpc>
              <a:spcBef>
                <a:spcPts val="400"/>
              </a:spcBef>
              <a:spcAft>
                <a:spcPts val="0"/>
              </a:spcAft>
            </a:pPr>
            <a:r>
              <a:rPr sz="1150" b="0">
                <a:solidFill>
                  <a:srgbClr val="5B6675"/>
                </a:solidFill>
                <a:latin typeface="Arial"/>
              </a:rPr>
              <a:t>Or says the amount to the munshi. Nothing is written before his yes.</a:t>
            </a:r>
          </a:p>
        </p:txBody>
      </p:sp>
      <p:sp>
        <p:nvSpPr>
          <p:cNvPr id="15" name="Rounded Rectangle 14"/>
          <p:cNvSpPr/>
          <p:nvPr/>
        </p:nvSpPr>
        <p:spPr>
          <a:xfrm>
            <a:off x="5317081" y="1443228"/>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6" name="Picture 15" descr="c-agreed.png"/>
          <p:cNvPicPr>
            <a:picLocks noChangeAspect="1"/>
          </p:cNvPicPr>
          <p:nvPr/>
        </p:nvPicPr>
        <p:blipFill>
          <a:blip r:embed="rId4"/>
          <a:stretch>
            <a:fillRect/>
          </a:stretch>
        </p:blipFill>
        <p:spPr>
          <a:xfrm>
            <a:off x="5355181" y="1481328"/>
            <a:ext cx="1481328" cy="2924673"/>
          </a:xfrm>
          <a:prstGeom prst="rect">
            <a:avLst/>
          </a:prstGeom>
        </p:spPr>
      </p:pic>
      <p:sp>
        <p:nvSpPr>
          <p:cNvPr id="17" name="Oval 16"/>
          <p:cNvSpPr/>
          <p:nvPr/>
        </p:nvSpPr>
        <p:spPr>
          <a:xfrm>
            <a:off x="5099790" y="4572000"/>
            <a:ext cx="292608" cy="292608"/>
          </a:xfrm>
          <a:prstGeom prst="ellipse">
            <a:avLst/>
          </a:prstGeom>
          <a:solidFill>
            <a:srgbClr val="002970"/>
          </a:solidFill>
          <a:ln>
            <a:noFill/>
          </a:ln>
        </p:spPr>
        <p:txBody>
          <a:bodyPr rtlCol="0" anchor="ctr"/>
          <a:lstStyle/>
          <a:p>
            <a:pPr algn="ctr"/>
          </a:p>
        </p:txBody>
      </p:sp>
      <p:sp>
        <p:nvSpPr>
          <p:cNvPr id="18" name="TextBox 17"/>
          <p:cNvSpPr txBox="1"/>
          <p:nvPr/>
        </p:nvSpPr>
        <p:spPr>
          <a:xfrm>
            <a:off x="5099790" y="4572000"/>
            <a:ext cx="292608" cy="292608"/>
          </a:xfrm>
          <a:prstGeom prst="rect">
            <a:avLst/>
          </a:prstGeom>
          <a:noFill/>
        </p:spPr>
        <p:txBody>
          <a:bodyPr wrap="square" lIns="0" rIns="0" tIns="0" bIns="0" anchor="ctr">
            <a:spAutoFit/>
          </a:bodyPr>
          <a:lstStyle/>
          <a:p>
            <a:pPr algn="ctr">
              <a:lnSpc>
                <a:spcPct val="100000"/>
              </a:lnSpc>
              <a:spcBef>
                <a:spcPts val="0"/>
              </a:spcBef>
              <a:spcAft>
                <a:spcPts val="0"/>
              </a:spcAft>
            </a:pPr>
            <a:r>
              <a:rPr sz="1100" b="1">
                <a:solidFill>
                  <a:srgbClr val="FFFFFF"/>
                </a:solidFill>
                <a:latin typeface="Arial"/>
              </a:rPr>
              <a:t>3</a:t>
            </a:r>
          </a:p>
        </p:txBody>
      </p:sp>
      <p:sp>
        <p:nvSpPr>
          <p:cNvPr id="19" name="TextBox 18"/>
          <p:cNvSpPr txBox="1"/>
          <p:nvPr/>
        </p:nvSpPr>
        <p:spPr>
          <a:xfrm>
            <a:off x="5465550" y="4572000"/>
            <a:ext cx="1662927" cy="1463040"/>
          </a:xfrm>
          <a:prstGeom prst="rect">
            <a:avLst/>
          </a:prstGeom>
          <a:noFill/>
        </p:spPr>
        <p:txBody>
          <a:bodyPr wrap="square" lIns="0" rIns="0" tIns="0" bIns="0" anchor="t">
            <a:spAutoFit/>
          </a:bodyPr>
          <a:lstStyle/>
          <a:p>
            <a:pPr>
              <a:lnSpc>
                <a:spcPct val="110000"/>
              </a:lnSpc>
              <a:spcBef>
                <a:spcPts val="0"/>
              </a:spcBef>
              <a:spcAft>
                <a:spcPts val="0"/>
              </a:spcAft>
            </a:pPr>
            <a:r>
              <a:rPr sz="1300" b="1">
                <a:solidFill>
                  <a:srgbClr val="002970"/>
                </a:solidFill>
                <a:latin typeface="Arial"/>
              </a:rPr>
              <a:t>In both books</a:t>
            </a:r>
          </a:p>
          <a:p>
            <a:pPr>
              <a:lnSpc>
                <a:spcPct val="130000"/>
              </a:lnSpc>
              <a:spcBef>
                <a:spcPts val="400"/>
              </a:spcBef>
              <a:spcAft>
                <a:spcPts val="0"/>
              </a:spcAft>
            </a:pPr>
            <a:r>
              <a:rPr sz="1150" b="0">
                <a:solidFill>
                  <a:srgbClr val="5B6675"/>
                </a:solidFill>
                <a:latin typeface="Arial"/>
              </a:rPr>
              <a:t>Her ask was her yes. Otherwise: “Yes, I owe ₹200” on her phone.</a:t>
            </a:r>
          </a:p>
        </p:txBody>
      </p:sp>
      <p:sp>
        <p:nvSpPr>
          <p:cNvPr id="20" name="Rounded Rectangle 19"/>
          <p:cNvSpPr/>
          <p:nvPr/>
        </p:nvSpPr>
        <p:spPr>
          <a:xfrm>
            <a:off x="7565224" y="1443228"/>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21" name="Picture 20" descr="c-chat.png"/>
          <p:cNvPicPr>
            <a:picLocks noChangeAspect="1"/>
          </p:cNvPicPr>
          <p:nvPr/>
        </p:nvPicPr>
        <p:blipFill>
          <a:blip r:embed="rId5"/>
          <a:stretch>
            <a:fillRect/>
          </a:stretch>
        </p:blipFill>
        <p:spPr>
          <a:xfrm>
            <a:off x="7603324" y="1481328"/>
            <a:ext cx="1481328" cy="2924673"/>
          </a:xfrm>
          <a:prstGeom prst="rect">
            <a:avLst/>
          </a:prstGeom>
        </p:spPr>
      </p:pic>
      <p:sp>
        <p:nvSpPr>
          <p:cNvPr id="22" name="Oval 21"/>
          <p:cNvSpPr/>
          <p:nvPr/>
        </p:nvSpPr>
        <p:spPr>
          <a:xfrm>
            <a:off x="7347933" y="4572000"/>
            <a:ext cx="292608" cy="292608"/>
          </a:xfrm>
          <a:prstGeom prst="ellipse">
            <a:avLst/>
          </a:prstGeom>
          <a:solidFill>
            <a:srgbClr val="002970"/>
          </a:solidFill>
          <a:ln>
            <a:noFill/>
          </a:ln>
        </p:spPr>
        <p:txBody>
          <a:bodyPr rtlCol="0" anchor="ctr"/>
          <a:lstStyle/>
          <a:p>
            <a:pPr algn="ctr"/>
          </a:p>
        </p:txBody>
      </p:sp>
      <p:sp>
        <p:nvSpPr>
          <p:cNvPr id="23" name="TextBox 22"/>
          <p:cNvSpPr txBox="1"/>
          <p:nvPr/>
        </p:nvSpPr>
        <p:spPr>
          <a:xfrm>
            <a:off x="7347933" y="4572000"/>
            <a:ext cx="292608" cy="292608"/>
          </a:xfrm>
          <a:prstGeom prst="rect">
            <a:avLst/>
          </a:prstGeom>
          <a:noFill/>
        </p:spPr>
        <p:txBody>
          <a:bodyPr wrap="square" lIns="0" rIns="0" tIns="0" bIns="0" anchor="ctr">
            <a:spAutoFit/>
          </a:bodyPr>
          <a:lstStyle/>
          <a:p>
            <a:pPr algn="ctr">
              <a:lnSpc>
                <a:spcPct val="100000"/>
              </a:lnSpc>
              <a:spcBef>
                <a:spcPts val="0"/>
              </a:spcBef>
              <a:spcAft>
                <a:spcPts val="0"/>
              </a:spcAft>
            </a:pPr>
            <a:r>
              <a:rPr sz="1100" b="1">
                <a:solidFill>
                  <a:srgbClr val="FFFFFF"/>
                </a:solidFill>
                <a:latin typeface="Arial"/>
              </a:rPr>
              <a:t>4</a:t>
            </a:r>
          </a:p>
        </p:txBody>
      </p:sp>
      <p:sp>
        <p:nvSpPr>
          <p:cNvPr id="24" name="TextBox 23"/>
          <p:cNvSpPr txBox="1"/>
          <p:nvPr/>
        </p:nvSpPr>
        <p:spPr>
          <a:xfrm>
            <a:off x="7713693" y="4572000"/>
            <a:ext cx="1662927" cy="1463040"/>
          </a:xfrm>
          <a:prstGeom prst="rect">
            <a:avLst/>
          </a:prstGeom>
          <a:noFill/>
        </p:spPr>
        <p:txBody>
          <a:bodyPr wrap="square" lIns="0" rIns="0" tIns="0" bIns="0" anchor="t">
            <a:spAutoFit/>
          </a:bodyPr>
          <a:lstStyle/>
          <a:p>
            <a:pPr>
              <a:lnSpc>
                <a:spcPct val="110000"/>
              </a:lnSpc>
              <a:spcBef>
                <a:spcPts val="0"/>
              </a:spcBef>
              <a:spcAft>
                <a:spcPts val="0"/>
              </a:spcAft>
            </a:pPr>
            <a:r>
              <a:rPr sz="1300" b="1">
                <a:solidFill>
                  <a:srgbClr val="002970"/>
                </a:solidFill>
                <a:latin typeface="Arial"/>
              </a:rPr>
              <a:t>A chat like a passbook</a:t>
            </a:r>
          </a:p>
          <a:p>
            <a:pPr>
              <a:lnSpc>
                <a:spcPct val="130000"/>
              </a:lnSpc>
              <a:spcBef>
                <a:spcPts val="400"/>
              </a:spcBef>
              <a:spcAft>
                <a:spcPts val="0"/>
              </a:spcAft>
            </a:pPr>
            <a:r>
              <a:rPr sz="1150" b="0">
                <a:solidFill>
                  <a:srgbClr val="5B6675"/>
                </a:solidFill>
                <a:latin typeface="Arial"/>
              </a:rPr>
              <a:t>Every udhaar and payment shows the total before and after it.</a:t>
            </a:r>
          </a:p>
        </p:txBody>
      </p:sp>
      <p:sp>
        <p:nvSpPr>
          <p:cNvPr id="25" name="Rounded Rectangle 24"/>
          <p:cNvSpPr/>
          <p:nvPr/>
        </p:nvSpPr>
        <p:spPr>
          <a:xfrm>
            <a:off x="9813367" y="1443228"/>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26" name="Picture 25" descr="m-tonight.png"/>
          <p:cNvPicPr>
            <a:picLocks noChangeAspect="1"/>
          </p:cNvPicPr>
          <p:nvPr/>
        </p:nvPicPr>
        <p:blipFill>
          <a:blip r:embed="rId6"/>
          <a:stretch>
            <a:fillRect/>
          </a:stretch>
        </p:blipFill>
        <p:spPr>
          <a:xfrm>
            <a:off x="9851467" y="1481328"/>
            <a:ext cx="1481328" cy="2924673"/>
          </a:xfrm>
          <a:prstGeom prst="rect">
            <a:avLst/>
          </a:prstGeom>
        </p:spPr>
      </p:pic>
      <p:sp>
        <p:nvSpPr>
          <p:cNvPr id="27" name="Oval 26"/>
          <p:cNvSpPr/>
          <p:nvPr/>
        </p:nvSpPr>
        <p:spPr>
          <a:xfrm>
            <a:off x="9596076" y="4572000"/>
            <a:ext cx="292608" cy="292608"/>
          </a:xfrm>
          <a:prstGeom prst="ellipse">
            <a:avLst/>
          </a:prstGeom>
          <a:solidFill>
            <a:srgbClr val="002970"/>
          </a:solidFill>
          <a:ln>
            <a:noFill/>
          </a:ln>
        </p:spPr>
        <p:txBody>
          <a:bodyPr rtlCol="0" anchor="ctr"/>
          <a:lstStyle/>
          <a:p>
            <a:pPr algn="ctr"/>
          </a:p>
        </p:txBody>
      </p:sp>
      <p:sp>
        <p:nvSpPr>
          <p:cNvPr id="28" name="TextBox 27"/>
          <p:cNvSpPr txBox="1"/>
          <p:nvPr/>
        </p:nvSpPr>
        <p:spPr>
          <a:xfrm>
            <a:off x="9596076" y="4572000"/>
            <a:ext cx="292608" cy="292608"/>
          </a:xfrm>
          <a:prstGeom prst="rect">
            <a:avLst/>
          </a:prstGeom>
          <a:noFill/>
        </p:spPr>
        <p:txBody>
          <a:bodyPr wrap="square" lIns="0" rIns="0" tIns="0" bIns="0" anchor="ctr">
            <a:spAutoFit/>
          </a:bodyPr>
          <a:lstStyle/>
          <a:p>
            <a:pPr algn="ctr">
              <a:lnSpc>
                <a:spcPct val="100000"/>
              </a:lnSpc>
              <a:spcBef>
                <a:spcPts val="0"/>
              </a:spcBef>
              <a:spcAft>
                <a:spcPts val="0"/>
              </a:spcAft>
            </a:pPr>
            <a:r>
              <a:rPr sz="1100" b="1">
                <a:solidFill>
                  <a:srgbClr val="FFFFFF"/>
                </a:solidFill>
                <a:latin typeface="Arial"/>
              </a:rPr>
              <a:t>5</a:t>
            </a:r>
          </a:p>
        </p:txBody>
      </p:sp>
      <p:sp>
        <p:nvSpPr>
          <p:cNvPr id="29" name="TextBox 28"/>
          <p:cNvSpPr txBox="1"/>
          <p:nvPr/>
        </p:nvSpPr>
        <p:spPr>
          <a:xfrm>
            <a:off x="9961836" y="4572000"/>
            <a:ext cx="1662927" cy="1463040"/>
          </a:xfrm>
          <a:prstGeom prst="rect">
            <a:avLst/>
          </a:prstGeom>
          <a:noFill/>
        </p:spPr>
        <p:txBody>
          <a:bodyPr wrap="square" lIns="0" rIns="0" tIns="0" bIns="0" anchor="t">
            <a:spAutoFit/>
          </a:bodyPr>
          <a:lstStyle/>
          <a:p>
            <a:pPr>
              <a:lnSpc>
                <a:spcPct val="110000"/>
              </a:lnSpc>
              <a:spcBef>
                <a:spcPts val="0"/>
              </a:spcBef>
              <a:spcAft>
                <a:spcPts val="0"/>
              </a:spcAft>
            </a:pPr>
            <a:r>
              <a:rPr sz="1300" b="1">
                <a:solidFill>
                  <a:srgbClr val="002970"/>
                </a:solidFill>
                <a:latin typeface="Arial"/>
              </a:rPr>
              <a:t>Code picks who hears</a:t>
            </a:r>
          </a:p>
          <a:p>
            <a:pPr>
              <a:lnSpc>
                <a:spcPct val="130000"/>
              </a:lnSpc>
              <a:spcBef>
                <a:spcPts val="400"/>
              </a:spcBef>
              <a:spcAft>
                <a:spcPts val="0"/>
              </a:spcAft>
            </a:pPr>
            <a:r>
              <a:rPr sz="1150" b="0">
                <a:solidFill>
                  <a:srgbClr val="5B6675"/>
                </a:solidFill>
                <a:latin typeface="Arial"/>
              </a:rPr>
              <a:t>Only people past their own longest gap. Everyone else is held, with why.</a:t>
            </a:r>
          </a:p>
        </p:txBody>
      </p:sp>
      <p:sp>
        <p:nvSpPr>
          <p:cNvPr id="30" name="TextBox 29"/>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Screens captured from our working app. Names and amounts are demo data.</a:t>
            </a:r>
          </a:p>
        </p:txBody>
      </p:sp>
      <p:sp>
        <p:nvSpPr>
          <p:cNvPr id="31" name="TextBox 30"/>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THE SOLUTION / PAID IN CASH</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Paid in cash? He says so, and that udhaar is gone.</a:t>
            </a:r>
          </a:p>
        </p:txBody>
      </p:sp>
      <p:sp>
        <p:nvSpPr>
          <p:cNvPr id="5" name="Rounded Rectangle 4"/>
          <p:cNvSpPr/>
          <p:nvPr/>
        </p:nvSpPr>
        <p:spPr>
          <a:xfrm>
            <a:off x="574548"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m-cash-card.png"/>
          <p:cNvPicPr>
            <a:picLocks noChangeAspect="1"/>
          </p:cNvPicPr>
          <p:nvPr/>
        </p:nvPicPr>
        <p:blipFill>
          <a:blip r:embed="rId2"/>
          <a:stretch>
            <a:fillRect/>
          </a:stretch>
        </p:blipFill>
        <p:spPr>
          <a:xfrm>
            <a:off x="612648" y="1481328"/>
            <a:ext cx="1572768" cy="3105208"/>
          </a:xfrm>
          <a:prstGeom prst="rect">
            <a:avLst/>
          </a:prstGeom>
        </p:spPr>
      </p:pic>
      <p:sp>
        <p:nvSpPr>
          <p:cNvPr id="7" name="Oval 6"/>
          <p:cNvSpPr/>
          <p:nvPr/>
        </p:nvSpPr>
        <p:spPr>
          <a:xfrm>
            <a:off x="2505456" y="1554480"/>
            <a:ext cx="365760" cy="365760"/>
          </a:xfrm>
          <a:prstGeom prst="ellipse">
            <a:avLst/>
          </a:prstGeom>
          <a:solidFill>
            <a:srgbClr val="002970"/>
          </a:solidFill>
          <a:ln>
            <a:noFill/>
          </a:ln>
        </p:spPr>
        <p:txBody>
          <a:bodyPr rtlCol="0" anchor="ctr"/>
          <a:lstStyle/>
          <a:p>
            <a:pPr algn="ctr"/>
          </a:p>
        </p:txBody>
      </p:sp>
      <p:sp>
        <p:nvSpPr>
          <p:cNvPr id="8" name="TextBox 7"/>
          <p:cNvSpPr txBox="1"/>
          <p:nvPr/>
        </p:nvSpPr>
        <p:spPr>
          <a:xfrm>
            <a:off x="2505456"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1</a:t>
            </a:r>
          </a:p>
        </p:txBody>
      </p:sp>
      <p:sp>
        <p:nvSpPr>
          <p:cNvPr id="9" name="TextBox 8"/>
          <p:cNvSpPr txBox="1"/>
          <p:nvPr/>
        </p:nvSpPr>
        <p:spPr>
          <a:xfrm>
            <a:off x="2505456"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He says it</a:t>
            </a:r>
          </a:p>
          <a:p>
            <a:pPr>
              <a:lnSpc>
                <a:spcPct val="140000"/>
              </a:lnSpc>
              <a:spcBef>
                <a:spcPts val="800"/>
              </a:spcBef>
              <a:spcAft>
                <a:spcPts val="0"/>
              </a:spcAft>
            </a:pPr>
            <a:r>
              <a:rPr sz="1250" b="0">
                <a:solidFill>
                  <a:srgbClr val="5B6675"/>
                </a:solidFill>
                <a:latin typeface="Arial"/>
              </a:rPr>
              <a:t>“Sharma ne 200 cash diye.” The munshi finds Sharma and puts up a जमा card for ₹200.</a:t>
            </a:r>
          </a:p>
        </p:txBody>
      </p:sp>
      <p:sp>
        <p:nvSpPr>
          <p:cNvPr id="10" name="Rounded Rectangle 9"/>
          <p:cNvSpPr/>
          <p:nvPr/>
        </p:nvSpPr>
        <p:spPr>
          <a:xfrm>
            <a:off x="4382414"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1" name="Picture 10" descr="m-cash-done.png"/>
          <p:cNvPicPr>
            <a:picLocks noChangeAspect="1"/>
          </p:cNvPicPr>
          <p:nvPr/>
        </p:nvPicPr>
        <p:blipFill>
          <a:blip r:embed="rId3"/>
          <a:stretch>
            <a:fillRect/>
          </a:stretch>
        </p:blipFill>
        <p:spPr>
          <a:xfrm>
            <a:off x="4420514" y="1481328"/>
            <a:ext cx="1572768" cy="3105208"/>
          </a:xfrm>
          <a:prstGeom prst="rect">
            <a:avLst/>
          </a:prstGeom>
        </p:spPr>
      </p:pic>
      <p:sp>
        <p:nvSpPr>
          <p:cNvPr id="12" name="Oval 11"/>
          <p:cNvSpPr/>
          <p:nvPr/>
        </p:nvSpPr>
        <p:spPr>
          <a:xfrm>
            <a:off x="6313322" y="1554480"/>
            <a:ext cx="365760" cy="365760"/>
          </a:xfrm>
          <a:prstGeom prst="ellipse">
            <a:avLst/>
          </a:prstGeom>
          <a:solidFill>
            <a:srgbClr val="002970"/>
          </a:solidFill>
          <a:ln>
            <a:noFill/>
          </a:ln>
        </p:spPr>
        <p:txBody>
          <a:bodyPr rtlCol="0" anchor="ctr"/>
          <a:lstStyle/>
          <a:p>
            <a:pPr algn="ctr"/>
          </a:p>
        </p:txBody>
      </p:sp>
      <p:sp>
        <p:nvSpPr>
          <p:cNvPr id="13" name="TextBox 12"/>
          <p:cNvSpPr txBox="1"/>
          <p:nvPr/>
        </p:nvSpPr>
        <p:spPr>
          <a:xfrm>
            <a:off x="6313322"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2</a:t>
            </a:r>
          </a:p>
        </p:txBody>
      </p:sp>
      <p:sp>
        <p:nvSpPr>
          <p:cNvPr id="14" name="TextBox 13"/>
          <p:cNvSpPr txBox="1"/>
          <p:nvPr/>
        </p:nvSpPr>
        <p:spPr>
          <a:xfrm>
            <a:off x="6313322"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His yes writes it</a:t>
            </a:r>
          </a:p>
          <a:p>
            <a:pPr>
              <a:lnSpc>
                <a:spcPct val="140000"/>
              </a:lnSpc>
              <a:spcBef>
                <a:spcPts val="800"/>
              </a:spcBef>
              <a:spcAft>
                <a:spcPts val="0"/>
              </a:spcAft>
            </a:pPr>
            <a:r>
              <a:rPr sz="1250" b="0">
                <a:solidFill>
                  <a:srgbClr val="5B6675"/>
                </a:solidFill>
                <a:latin typeface="Arial"/>
              </a:rPr>
              <a:t>The cash clears Sharma’s oldest open udhaar first. The munshi says it is written and sent.</a:t>
            </a:r>
          </a:p>
        </p:txBody>
      </p:sp>
      <p:sp>
        <p:nvSpPr>
          <p:cNvPr id="15" name="Rounded Rectangle 14"/>
          <p:cNvSpPr/>
          <p:nvPr/>
        </p:nvSpPr>
        <p:spPr>
          <a:xfrm>
            <a:off x="8190280"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6" name="Picture 15" descr="c-cash-chat.png"/>
          <p:cNvPicPr>
            <a:picLocks noChangeAspect="1"/>
          </p:cNvPicPr>
          <p:nvPr/>
        </p:nvPicPr>
        <p:blipFill>
          <a:blip r:embed="rId4"/>
          <a:stretch>
            <a:fillRect/>
          </a:stretch>
        </p:blipFill>
        <p:spPr>
          <a:xfrm>
            <a:off x="8228380" y="1481328"/>
            <a:ext cx="1572768" cy="3105208"/>
          </a:xfrm>
          <a:prstGeom prst="rect">
            <a:avLst/>
          </a:prstGeom>
        </p:spPr>
      </p:pic>
      <p:sp>
        <p:nvSpPr>
          <p:cNvPr id="17" name="Oval 16"/>
          <p:cNvSpPr/>
          <p:nvPr/>
        </p:nvSpPr>
        <p:spPr>
          <a:xfrm>
            <a:off x="10121188" y="1554480"/>
            <a:ext cx="365760" cy="365760"/>
          </a:xfrm>
          <a:prstGeom prst="ellipse">
            <a:avLst/>
          </a:prstGeom>
          <a:solidFill>
            <a:srgbClr val="002970"/>
          </a:solidFill>
          <a:ln>
            <a:noFill/>
          </a:ln>
        </p:spPr>
        <p:txBody>
          <a:bodyPr rtlCol="0" anchor="ctr"/>
          <a:lstStyle/>
          <a:p>
            <a:pPr algn="ctr"/>
          </a:p>
        </p:txBody>
      </p:sp>
      <p:sp>
        <p:nvSpPr>
          <p:cNvPr id="18" name="TextBox 17"/>
          <p:cNvSpPr txBox="1"/>
          <p:nvPr/>
        </p:nvSpPr>
        <p:spPr>
          <a:xfrm>
            <a:off x="10121188"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3</a:t>
            </a:r>
          </a:p>
        </p:txBody>
      </p:sp>
      <p:sp>
        <p:nvSpPr>
          <p:cNvPr id="19" name="TextBox 18"/>
          <p:cNvSpPr txBox="1"/>
          <p:nvPr/>
        </p:nvSpPr>
        <p:spPr>
          <a:xfrm>
            <a:off x="10121188"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Gone on both sides</a:t>
            </a:r>
          </a:p>
          <a:p>
            <a:pPr>
              <a:lnSpc>
                <a:spcPct val="140000"/>
              </a:lnSpc>
              <a:spcBef>
                <a:spcPts val="800"/>
              </a:spcBef>
              <a:spcAft>
                <a:spcPts val="0"/>
              </a:spcAft>
            </a:pPr>
            <a:r>
              <a:rPr sz="1250" b="0">
                <a:solidFill>
                  <a:srgbClr val="5B6675"/>
                </a:solidFill>
                <a:latin typeface="Arial"/>
              </a:rPr>
              <a:t>Sharma’s own chat shows “Paid in cash”, and his udhaar goes from ₹200 to nothing left.</a:t>
            </a:r>
          </a:p>
        </p:txBody>
      </p:sp>
      <p:sp>
        <p:nvSpPr>
          <p:cNvPr id="20" name="TextBox 19"/>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Screens from our working app, with the munshi live on Sarvam. Only money the customer handed over is जमा; a mistake is taken back, never cleared with a जमा.</a:t>
            </a:r>
          </a:p>
        </p:txBody>
      </p:sp>
      <p:sp>
        <p:nvSpPr>
          <p:cNvPr id="21" name="TextBox 20"/>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THE SOLUTION / MORE THAT A NOTEBOOK CAN’T DO</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Nicknames, customers with no phone, and paying without cash.</a:t>
            </a:r>
          </a:p>
        </p:txBody>
      </p:sp>
      <p:sp>
        <p:nvSpPr>
          <p:cNvPr id="5" name="Rounded Rectangle 4"/>
          <p:cNvSpPr/>
          <p:nvPr/>
        </p:nvSpPr>
        <p:spPr>
          <a:xfrm>
            <a:off x="574548"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m-nickname.png"/>
          <p:cNvPicPr>
            <a:picLocks noChangeAspect="1"/>
          </p:cNvPicPr>
          <p:nvPr/>
        </p:nvPicPr>
        <p:blipFill>
          <a:blip r:embed="rId2"/>
          <a:stretch>
            <a:fillRect/>
          </a:stretch>
        </p:blipFill>
        <p:spPr>
          <a:xfrm>
            <a:off x="612648" y="1481328"/>
            <a:ext cx="1572768" cy="3105208"/>
          </a:xfrm>
          <a:prstGeom prst="rect">
            <a:avLst/>
          </a:prstGeom>
        </p:spPr>
      </p:pic>
      <p:sp>
        <p:nvSpPr>
          <p:cNvPr id="7" name="Oval 6"/>
          <p:cNvSpPr/>
          <p:nvPr/>
        </p:nvSpPr>
        <p:spPr>
          <a:xfrm>
            <a:off x="2505456" y="1554480"/>
            <a:ext cx="365760" cy="365760"/>
          </a:xfrm>
          <a:prstGeom prst="ellipse">
            <a:avLst/>
          </a:prstGeom>
          <a:solidFill>
            <a:srgbClr val="002970"/>
          </a:solidFill>
          <a:ln>
            <a:noFill/>
          </a:ln>
        </p:spPr>
        <p:txBody>
          <a:bodyPr rtlCol="0" anchor="ctr"/>
          <a:lstStyle/>
          <a:p>
            <a:pPr algn="ctr"/>
          </a:p>
        </p:txBody>
      </p:sp>
      <p:sp>
        <p:nvSpPr>
          <p:cNvPr id="8" name="TextBox 7"/>
          <p:cNvSpPr txBox="1"/>
          <p:nvPr/>
        </p:nvSpPr>
        <p:spPr>
          <a:xfrm>
            <a:off x="2505456"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1</a:t>
            </a:r>
          </a:p>
        </p:txBody>
      </p:sp>
      <p:sp>
        <p:nvSpPr>
          <p:cNvPr id="9" name="TextBox 8"/>
          <p:cNvSpPr txBox="1"/>
          <p:nvPr/>
        </p:nvSpPr>
        <p:spPr>
          <a:xfrm>
            <a:off x="2505456"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Nicknames</a:t>
            </a:r>
          </a:p>
          <a:p>
            <a:pPr>
              <a:lnSpc>
                <a:spcPct val="140000"/>
              </a:lnSpc>
              <a:spcBef>
                <a:spcPts val="800"/>
              </a:spcBef>
              <a:spcAft>
                <a:spcPts val="0"/>
              </a:spcAft>
            </a:pPr>
            <a:r>
              <a:rPr sz="1250" b="0">
                <a:solidFill>
                  <a:srgbClr val="5B6675"/>
                </a:solidFill>
                <a:latin typeface="Arial"/>
              </a:rPr>
              <a:t>He says “Golu”. The munshi asks who that is, and remembers. Next time, “Golu” finds Sharma straight away.</a:t>
            </a:r>
          </a:p>
        </p:txBody>
      </p:sp>
      <p:sp>
        <p:nvSpPr>
          <p:cNvPr id="10" name="Rounded Rectangle 9"/>
          <p:cNvSpPr/>
          <p:nvPr/>
        </p:nvSpPr>
        <p:spPr>
          <a:xfrm>
            <a:off x="4382414"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1" name="Picture 10" descr="m-nameonly.png"/>
          <p:cNvPicPr>
            <a:picLocks noChangeAspect="1"/>
          </p:cNvPicPr>
          <p:nvPr/>
        </p:nvPicPr>
        <p:blipFill>
          <a:blip r:embed="rId3"/>
          <a:stretch>
            <a:fillRect/>
          </a:stretch>
        </p:blipFill>
        <p:spPr>
          <a:xfrm>
            <a:off x="4420514" y="1481328"/>
            <a:ext cx="1572768" cy="3105208"/>
          </a:xfrm>
          <a:prstGeom prst="rect">
            <a:avLst/>
          </a:prstGeom>
        </p:spPr>
      </p:pic>
      <p:sp>
        <p:nvSpPr>
          <p:cNvPr id="12" name="Oval 11"/>
          <p:cNvSpPr/>
          <p:nvPr/>
        </p:nvSpPr>
        <p:spPr>
          <a:xfrm>
            <a:off x="6313322" y="1554480"/>
            <a:ext cx="365760" cy="365760"/>
          </a:xfrm>
          <a:prstGeom prst="ellipse">
            <a:avLst/>
          </a:prstGeom>
          <a:solidFill>
            <a:srgbClr val="002970"/>
          </a:solidFill>
          <a:ln>
            <a:noFill/>
          </a:ln>
        </p:spPr>
        <p:txBody>
          <a:bodyPr rtlCol="0" anchor="ctr"/>
          <a:lstStyle/>
          <a:p>
            <a:pPr algn="ctr"/>
          </a:p>
        </p:txBody>
      </p:sp>
      <p:sp>
        <p:nvSpPr>
          <p:cNvPr id="13" name="TextBox 12"/>
          <p:cNvSpPr txBox="1"/>
          <p:nvPr/>
        </p:nvSpPr>
        <p:spPr>
          <a:xfrm>
            <a:off x="6313322"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2</a:t>
            </a:r>
          </a:p>
        </p:txBody>
      </p:sp>
      <p:sp>
        <p:nvSpPr>
          <p:cNvPr id="14" name="TextBox 13"/>
          <p:cNvSpPr txBox="1"/>
          <p:nvPr/>
        </p:nvSpPr>
        <p:spPr>
          <a:xfrm>
            <a:off x="6313322"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No phone needed</a:t>
            </a:r>
          </a:p>
          <a:p>
            <a:pPr>
              <a:lnSpc>
                <a:spcPct val="140000"/>
              </a:lnSpc>
              <a:spcBef>
                <a:spcPts val="800"/>
              </a:spcBef>
              <a:spcAft>
                <a:spcPts val="0"/>
              </a:spcAft>
            </a:pPr>
            <a:r>
              <a:rPr sz="1250" b="0">
                <a:solidFill>
                  <a:srgbClr val="5B6675"/>
                </a:solidFill>
                <a:latin typeface="Arial"/>
              </a:rPr>
              <a:t>A customer with no phone is kept by name, like the notebook. Add their number later and every open entry goes to them for a yes.</a:t>
            </a:r>
          </a:p>
        </p:txBody>
      </p:sp>
      <p:sp>
        <p:nvSpPr>
          <p:cNvPr id="15" name="Rounded Rectangle 14"/>
          <p:cNvSpPr/>
          <p:nvPr/>
        </p:nvSpPr>
        <p:spPr>
          <a:xfrm>
            <a:off x="8190280"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6" name="Picture 15" descr="c-pay.png"/>
          <p:cNvPicPr>
            <a:picLocks noChangeAspect="1"/>
          </p:cNvPicPr>
          <p:nvPr/>
        </p:nvPicPr>
        <p:blipFill>
          <a:blip r:embed="rId4"/>
          <a:stretch>
            <a:fillRect/>
          </a:stretch>
        </p:blipFill>
        <p:spPr>
          <a:xfrm>
            <a:off x="8228380" y="1481328"/>
            <a:ext cx="1572768" cy="3105208"/>
          </a:xfrm>
          <a:prstGeom prst="rect">
            <a:avLst/>
          </a:prstGeom>
        </p:spPr>
      </p:pic>
      <p:sp>
        <p:nvSpPr>
          <p:cNvPr id="17" name="Oval 16"/>
          <p:cNvSpPr/>
          <p:nvPr/>
        </p:nvSpPr>
        <p:spPr>
          <a:xfrm>
            <a:off x="10121188" y="1554480"/>
            <a:ext cx="365760" cy="365760"/>
          </a:xfrm>
          <a:prstGeom prst="ellipse">
            <a:avLst/>
          </a:prstGeom>
          <a:solidFill>
            <a:srgbClr val="002970"/>
          </a:solidFill>
          <a:ln>
            <a:noFill/>
          </a:ln>
        </p:spPr>
        <p:txBody>
          <a:bodyPr rtlCol="0" anchor="ctr"/>
          <a:lstStyle/>
          <a:p>
            <a:pPr algn="ctr"/>
          </a:p>
        </p:txBody>
      </p:sp>
      <p:sp>
        <p:nvSpPr>
          <p:cNvPr id="18" name="TextBox 17"/>
          <p:cNvSpPr txBox="1"/>
          <p:nvPr/>
        </p:nvSpPr>
        <p:spPr>
          <a:xfrm>
            <a:off x="10121188"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3</a:t>
            </a:r>
          </a:p>
        </p:txBody>
      </p:sp>
      <p:sp>
        <p:nvSpPr>
          <p:cNvPr id="19" name="TextBox 18"/>
          <p:cNvSpPr txBox="1"/>
          <p:nvPr/>
        </p:nvSpPr>
        <p:spPr>
          <a:xfrm>
            <a:off x="10121188"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Cashless</a:t>
            </a:r>
          </a:p>
          <a:p>
            <a:pPr>
              <a:lnSpc>
                <a:spcPct val="140000"/>
              </a:lnSpc>
              <a:spcBef>
                <a:spcPts val="800"/>
              </a:spcBef>
              <a:spcAft>
                <a:spcPts val="0"/>
              </a:spcAft>
            </a:pPr>
            <a:r>
              <a:rPr sz="1250" b="0">
                <a:solidFill>
                  <a:srgbClr val="5B6675"/>
                </a:solidFill>
                <a:latin typeface="Arial"/>
              </a:rPr>
              <a:t>The customer pays from her chat by UPI, all of it or part. The shop is told what is left.</a:t>
            </a:r>
          </a:p>
        </p:txBody>
      </p:sp>
      <p:sp>
        <p:nvSpPr>
          <p:cNvPr id="20" name="TextBox 19"/>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Screens captured from our working app. Names and amounts are demo data.</a:t>
            </a:r>
          </a:p>
        </p:txBody>
      </p:sp>
      <p:sp>
        <p:nvSpPr>
          <p:cNvPr id="21" name="TextBox 20"/>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THE SOLUTION / THE COUNTER</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Scan the udhaar QR, and you’re at the counter, first in line.</a:t>
            </a:r>
          </a:p>
        </p:txBody>
      </p:sp>
      <p:sp>
        <p:nvSpPr>
          <p:cNvPr id="5" name="Rounded Rectangle 4"/>
          <p:cNvSpPr/>
          <p:nvPr/>
        </p:nvSpPr>
        <p:spPr>
          <a:xfrm>
            <a:off x="574548"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c-counter.png"/>
          <p:cNvPicPr>
            <a:picLocks noChangeAspect="1"/>
          </p:cNvPicPr>
          <p:nvPr/>
        </p:nvPicPr>
        <p:blipFill>
          <a:blip r:embed="rId2"/>
          <a:stretch>
            <a:fillRect/>
          </a:stretch>
        </p:blipFill>
        <p:spPr>
          <a:xfrm>
            <a:off x="612648" y="1481328"/>
            <a:ext cx="1572768" cy="3105208"/>
          </a:xfrm>
          <a:prstGeom prst="rect">
            <a:avLst/>
          </a:prstGeom>
        </p:spPr>
      </p:pic>
      <p:sp>
        <p:nvSpPr>
          <p:cNvPr id="7" name="Oval 6"/>
          <p:cNvSpPr/>
          <p:nvPr/>
        </p:nvSpPr>
        <p:spPr>
          <a:xfrm>
            <a:off x="2505456" y="1554480"/>
            <a:ext cx="365760" cy="365760"/>
          </a:xfrm>
          <a:prstGeom prst="ellipse">
            <a:avLst/>
          </a:prstGeom>
          <a:solidFill>
            <a:srgbClr val="002970"/>
          </a:solidFill>
          <a:ln>
            <a:noFill/>
          </a:ln>
        </p:spPr>
        <p:txBody>
          <a:bodyPr rtlCol="0" anchor="ctr"/>
          <a:lstStyle/>
          <a:p>
            <a:pPr algn="ctr"/>
          </a:p>
        </p:txBody>
      </p:sp>
      <p:sp>
        <p:nvSpPr>
          <p:cNvPr id="8" name="TextBox 7"/>
          <p:cNvSpPr txBox="1"/>
          <p:nvPr/>
        </p:nvSpPr>
        <p:spPr>
          <a:xfrm>
            <a:off x="2505456"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1</a:t>
            </a:r>
          </a:p>
        </p:txBody>
      </p:sp>
      <p:sp>
        <p:nvSpPr>
          <p:cNvPr id="9" name="TextBox 8"/>
          <p:cNvSpPr txBox="1"/>
          <p:nvPr/>
        </p:nvSpPr>
        <p:spPr>
          <a:xfrm>
            <a:off x="2505456"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She scans</a:t>
            </a:r>
          </a:p>
          <a:p>
            <a:pPr>
              <a:lnSpc>
                <a:spcPct val="140000"/>
              </a:lnSpc>
              <a:spcBef>
                <a:spcPts val="800"/>
              </a:spcBef>
              <a:spcAft>
                <a:spcPts val="0"/>
              </a:spcAft>
            </a:pPr>
            <a:r>
              <a:rPr sz="1250" b="0">
                <a:solidFill>
                  <a:srgbClr val="5B6675"/>
                </a:solidFill>
                <a:latin typeface="Arial"/>
              </a:rPr>
              <a:t>The udhaar QR puts her on the shop’s counter list for three minutes. Her phone tells her the shop can see her.</a:t>
            </a:r>
          </a:p>
        </p:txBody>
      </p:sp>
      <p:sp>
        <p:nvSpPr>
          <p:cNvPr id="10" name="Rounded Rectangle 9"/>
          <p:cNvSpPr/>
          <p:nvPr/>
        </p:nvSpPr>
        <p:spPr>
          <a:xfrm>
            <a:off x="4382414"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1" name="Picture 10" descr="m-counter.png"/>
          <p:cNvPicPr>
            <a:picLocks noChangeAspect="1"/>
          </p:cNvPicPr>
          <p:nvPr/>
        </p:nvPicPr>
        <p:blipFill>
          <a:blip r:embed="rId3"/>
          <a:stretch>
            <a:fillRect/>
          </a:stretch>
        </p:blipFill>
        <p:spPr>
          <a:xfrm>
            <a:off x="4420514" y="1481328"/>
            <a:ext cx="1572768" cy="3105208"/>
          </a:xfrm>
          <a:prstGeom prst="rect">
            <a:avLst/>
          </a:prstGeom>
        </p:spPr>
      </p:pic>
      <p:sp>
        <p:nvSpPr>
          <p:cNvPr id="12" name="Oval 11"/>
          <p:cNvSpPr/>
          <p:nvPr/>
        </p:nvSpPr>
        <p:spPr>
          <a:xfrm>
            <a:off x="6313322" y="1554480"/>
            <a:ext cx="365760" cy="365760"/>
          </a:xfrm>
          <a:prstGeom prst="ellipse">
            <a:avLst/>
          </a:prstGeom>
          <a:solidFill>
            <a:srgbClr val="002970"/>
          </a:solidFill>
          <a:ln>
            <a:noFill/>
          </a:ln>
        </p:spPr>
        <p:txBody>
          <a:bodyPr rtlCol="0" anchor="ctr"/>
          <a:lstStyle/>
          <a:p>
            <a:pPr algn="ctr"/>
          </a:p>
        </p:txBody>
      </p:sp>
      <p:sp>
        <p:nvSpPr>
          <p:cNvPr id="13" name="TextBox 12"/>
          <p:cNvSpPr txBox="1"/>
          <p:nvPr/>
        </p:nvSpPr>
        <p:spPr>
          <a:xfrm>
            <a:off x="6313322"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2</a:t>
            </a:r>
          </a:p>
        </p:txBody>
      </p:sp>
      <p:sp>
        <p:nvSpPr>
          <p:cNvPr id="14" name="TextBox 13"/>
          <p:cNvSpPr txBox="1"/>
          <p:nvPr/>
        </p:nvSpPr>
        <p:spPr>
          <a:xfrm>
            <a:off x="6313322"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Top of his screen</a:t>
            </a:r>
          </a:p>
          <a:p>
            <a:pPr>
              <a:lnSpc>
                <a:spcPct val="140000"/>
              </a:lnSpc>
              <a:spcBef>
                <a:spcPts val="800"/>
              </a:spcBef>
              <a:spcAft>
                <a:spcPts val="0"/>
              </a:spcAft>
            </a:pPr>
            <a:r>
              <a:rPr sz="1250" b="0">
                <a:solidFill>
                  <a:srgbClr val="5B6675"/>
                </a:solidFill>
                <a:latin typeface="Arial"/>
              </a:rPr>
              <a:t>People at the counter come first. With one there, she is already picked: he says or types ₹200 and sends.</a:t>
            </a:r>
          </a:p>
        </p:txBody>
      </p:sp>
      <p:sp>
        <p:nvSpPr>
          <p:cNvPr id="15" name="Rounded Rectangle 14"/>
          <p:cNvSpPr/>
          <p:nvPr/>
        </p:nvSpPr>
        <p:spPr>
          <a:xfrm>
            <a:off x="8190280" y="1443228"/>
            <a:ext cx="1648968" cy="3181408"/>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6" name="Picture 15" descr="c-counter-yes.png"/>
          <p:cNvPicPr>
            <a:picLocks noChangeAspect="1"/>
          </p:cNvPicPr>
          <p:nvPr/>
        </p:nvPicPr>
        <p:blipFill>
          <a:blip r:embed="rId4"/>
          <a:stretch>
            <a:fillRect/>
          </a:stretch>
        </p:blipFill>
        <p:spPr>
          <a:xfrm>
            <a:off x="8228380" y="1481328"/>
            <a:ext cx="1572768" cy="3105208"/>
          </a:xfrm>
          <a:prstGeom prst="rect">
            <a:avLst/>
          </a:prstGeom>
        </p:spPr>
      </p:pic>
      <p:sp>
        <p:nvSpPr>
          <p:cNvPr id="17" name="Oval 16"/>
          <p:cNvSpPr/>
          <p:nvPr/>
        </p:nvSpPr>
        <p:spPr>
          <a:xfrm>
            <a:off x="10121188" y="1554480"/>
            <a:ext cx="365760" cy="365760"/>
          </a:xfrm>
          <a:prstGeom prst="ellipse">
            <a:avLst/>
          </a:prstGeom>
          <a:solidFill>
            <a:srgbClr val="002970"/>
          </a:solidFill>
          <a:ln>
            <a:noFill/>
          </a:ln>
        </p:spPr>
        <p:txBody>
          <a:bodyPr rtlCol="0" anchor="ctr"/>
          <a:lstStyle/>
          <a:p>
            <a:pPr algn="ctr"/>
          </a:p>
        </p:txBody>
      </p:sp>
      <p:sp>
        <p:nvSpPr>
          <p:cNvPr id="18" name="TextBox 17"/>
          <p:cNvSpPr txBox="1"/>
          <p:nvPr/>
        </p:nvSpPr>
        <p:spPr>
          <a:xfrm>
            <a:off x="10121188" y="1554480"/>
            <a:ext cx="365760"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a:solidFill>
                  <a:srgbClr val="FFFFFF"/>
                </a:solidFill>
                <a:latin typeface="Arial"/>
              </a:rPr>
              <a:t>3</a:t>
            </a:r>
          </a:p>
        </p:txBody>
      </p:sp>
      <p:sp>
        <p:nvSpPr>
          <p:cNvPr id="19" name="TextBox 18"/>
          <p:cNvSpPr txBox="1"/>
          <p:nvPr/>
        </p:nvSpPr>
        <p:spPr>
          <a:xfrm>
            <a:off x="10121188" y="2103120"/>
            <a:ext cx="1503578" cy="3291840"/>
          </a:xfrm>
          <a:prstGeom prst="rect">
            <a:avLst/>
          </a:prstGeom>
          <a:noFill/>
        </p:spPr>
        <p:txBody>
          <a:bodyPr wrap="square" lIns="0" rIns="0" tIns="0" bIns="0" anchor="t">
            <a:spAutoFit/>
          </a:bodyPr>
          <a:lstStyle/>
          <a:p>
            <a:pPr>
              <a:lnSpc>
                <a:spcPct val="115000"/>
              </a:lnSpc>
              <a:spcBef>
                <a:spcPts val="0"/>
              </a:spcBef>
              <a:spcAft>
                <a:spcPts val="0"/>
              </a:spcAft>
            </a:pPr>
            <a:r>
              <a:rPr sz="1600" b="1">
                <a:solidFill>
                  <a:srgbClr val="002970"/>
                </a:solidFill>
                <a:latin typeface="Arial"/>
              </a:rPr>
              <a:t>Her yes, on the spot</a:t>
            </a:r>
          </a:p>
          <a:p>
            <a:pPr>
              <a:lnSpc>
                <a:spcPct val="140000"/>
              </a:lnSpc>
              <a:spcBef>
                <a:spcPts val="800"/>
              </a:spcBef>
              <a:spcAft>
                <a:spcPts val="0"/>
              </a:spcAft>
            </a:pPr>
            <a:r>
              <a:rPr sz="1250" b="0">
                <a:solidFill>
                  <a:srgbClr val="5B6675"/>
                </a:solidFill>
                <a:latin typeface="Arial"/>
              </a:rPr>
              <a:t>Her phone asks “Yes, I owe ₹200” at once, before she leaves the counter.</a:t>
            </a:r>
          </a:p>
        </p:txBody>
      </p:sp>
      <p:sp>
        <p:nvSpPr>
          <p:cNvPr id="20" name="TextBox 19"/>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When he says a name, people at the counter are checked first: “Ganesh ko do sau” goes to the Ganesh standing there. With two or more there, nobody is picked until he taps one.</a:t>
            </a:r>
          </a:p>
        </p:txBody>
      </p:sp>
      <p:sp>
        <p:nvSpPr>
          <p:cNvPr id="21" name="TextBox 20"/>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AI IN BAHI</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Five jobs for AI: hear, understand, speak, remember, predict.</a:t>
            </a:r>
          </a:p>
        </p:txBody>
      </p:sp>
      <p:sp>
        <p:nvSpPr>
          <p:cNvPr id="5" name="TextBox 4"/>
          <p:cNvSpPr txBox="1"/>
          <p:nvPr/>
        </p:nvSpPr>
        <p:spPr>
          <a:xfrm>
            <a:off x="566928" y="1600200"/>
            <a:ext cx="160020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THE JOB</a:t>
            </a:r>
          </a:p>
        </p:txBody>
      </p:sp>
      <p:sp>
        <p:nvSpPr>
          <p:cNvPr id="6" name="TextBox 5"/>
          <p:cNvSpPr txBox="1"/>
          <p:nvPr/>
        </p:nvSpPr>
        <p:spPr>
          <a:xfrm>
            <a:off x="2167128" y="1600200"/>
            <a:ext cx="224028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MODEL</a:t>
            </a:r>
          </a:p>
        </p:txBody>
      </p:sp>
      <p:sp>
        <p:nvSpPr>
          <p:cNvPr id="7" name="TextBox 6"/>
          <p:cNvSpPr txBox="1"/>
          <p:nvPr/>
        </p:nvSpPr>
        <p:spPr>
          <a:xfrm>
            <a:off x="4407408" y="1600200"/>
            <a:ext cx="434340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WHAT IT DOES</a:t>
            </a:r>
          </a:p>
        </p:txBody>
      </p:sp>
      <p:sp>
        <p:nvSpPr>
          <p:cNvPr id="8" name="TextBox 7"/>
          <p:cNvSpPr txBox="1"/>
          <p:nvPr/>
        </p:nvSpPr>
        <p:spPr>
          <a:xfrm>
            <a:off x="8750808" y="1600200"/>
            <a:ext cx="2871216"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WHERE YOU SEE IT</a:t>
            </a:r>
          </a:p>
        </p:txBody>
      </p:sp>
      <p:sp>
        <p:nvSpPr>
          <p:cNvPr id="9" name="Rectangle 8"/>
          <p:cNvSpPr/>
          <p:nvPr/>
        </p:nvSpPr>
        <p:spPr>
          <a:xfrm>
            <a:off x="566928" y="1892808"/>
            <a:ext cx="11057839" cy="19050"/>
          </a:xfrm>
          <a:prstGeom prst="rect">
            <a:avLst/>
          </a:prstGeom>
          <a:solidFill>
            <a:srgbClr val="00BAF2"/>
          </a:solidFill>
          <a:ln>
            <a:noFill/>
          </a:ln>
        </p:spPr>
        <p:txBody>
          <a:bodyPr rtlCol="0" anchor="ctr"/>
          <a:lstStyle/>
          <a:p>
            <a:pPr algn="ctr"/>
          </a:p>
        </p:txBody>
      </p:sp>
      <p:sp>
        <p:nvSpPr>
          <p:cNvPr id="10" name="Rounded Rectangle 9"/>
          <p:cNvSpPr/>
          <p:nvPr/>
        </p:nvSpPr>
        <p:spPr>
          <a:xfrm>
            <a:off x="493776" y="1984248"/>
            <a:ext cx="11204143" cy="731520"/>
          </a:xfrm>
          <a:prstGeom prst="roundRect">
            <a:avLst>
              <a:gd name="adj" fmla="val 12000"/>
            </a:avLst>
          </a:prstGeom>
          <a:solidFill>
            <a:srgbClr val="FFFFFF"/>
          </a:solidFill>
          <a:ln>
            <a:noFill/>
          </a:ln>
        </p:spPr>
        <p:txBody>
          <a:bodyPr rtlCol="0" anchor="ctr"/>
          <a:lstStyle/>
          <a:p>
            <a:pPr algn="ctr"/>
          </a:p>
        </p:txBody>
      </p:sp>
      <p:sp>
        <p:nvSpPr>
          <p:cNvPr id="11" name="TextBox 10"/>
          <p:cNvSpPr txBox="1"/>
          <p:nvPr/>
        </p:nvSpPr>
        <p:spPr>
          <a:xfrm>
            <a:off x="658368" y="1947672"/>
            <a:ext cx="1371600" cy="804672"/>
          </a:xfrm>
          <a:prstGeom prst="rect">
            <a:avLst/>
          </a:prstGeom>
          <a:noFill/>
        </p:spPr>
        <p:txBody>
          <a:bodyPr wrap="square" lIns="0" rIns="0" tIns="0" bIns="0" anchor="ctr">
            <a:spAutoFit/>
          </a:bodyPr>
          <a:lstStyle/>
          <a:p>
            <a:pPr>
              <a:lnSpc>
                <a:spcPct val="130000"/>
              </a:lnSpc>
              <a:spcBef>
                <a:spcPts val="0"/>
              </a:spcBef>
              <a:spcAft>
                <a:spcPts val="0"/>
              </a:spcAft>
            </a:pPr>
            <a:r>
              <a:rPr sz="1600" b="1">
                <a:solidFill>
                  <a:srgbClr val="002970"/>
                </a:solidFill>
                <a:latin typeface="Arial"/>
              </a:rPr>
              <a:t>Hear</a:t>
            </a:r>
          </a:p>
        </p:txBody>
      </p:sp>
      <p:sp>
        <p:nvSpPr>
          <p:cNvPr id="12" name="TextBox 11"/>
          <p:cNvSpPr txBox="1"/>
          <p:nvPr/>
        </p:nvSpPr>
        <p:spPr>
          <a:xfrm>
            <a:off x="2258568" y="1947672"/>
            <a:ext cx="2011680" cy="804672"/>
          </a:xfrm>
          <a:prstGeom prst="rect">
            <a:avLst/>
          </a:prstGeom>
          <a:noFill/>
        </p:spPr>
        <p:txBody>
          <a:bodyPr wrap="square" lIns="0" rIns="0" tIns="0" bIns="0" anchor="ctr">
            <a:spAutoFit/>
          </a:bodyPr>
          <a:lstStyle/>
          <a:p>
            <a:pPr>
              <a:lnSpc>
                <a:spcPct val="120000"/>
              </a:lnSpc>
              <a:spcBef>
                <a:spcPts val="0"/>
              </a:spcBef>
              <a:spcAft>
                <a:spcPts val="0"/>
              </a:spcAft>
            </a:pPr>
            <a:r>
              <a:rPr sz="1250" b="1">
                <a:solidFill>
                  <a:srgbClr val="002970"/>
                </a:solidFill>
                <a:latin typeface="Arial"/>
              </a:rPr>
              <a:t>Sarvam Saaras v4</a:t>
            </a:r>
          </a:p>
        </p:txBody>
      </p:sp>
      <p:sp>
        <p:nvSpPr>
          <p:cNvPr id="13" name="TextBox 12"/>
          <p:cNvSpPr txBox="1"/>
          <p:nvPr/>
        </p:nvSpPr>
        <p:spPr>
          <a:xfrm>
            <a:off x="4498848" y="1947672"/>
            <a:ext cx="4114800" cy="804672"/>
          </a:xfrm>
          <a:prstGeom prst="rect">
            <a:avLst/>
          </a:prstGeom>
          <a:noFill/>
        </p:spPr>
        <p:txBody>
          <a:bodyPr wrap="square" lIns="0" rIns="0" tIns="0" bIns="0" anchor="ctr">
            <a:spAutoFit/>
          </a:bodyPr>
          <a:lstStyle/>
          <a:p>
            <a:pPr>
              <a:lnSpc>
                <a:spcPct val="130000"/>
              </a:lnSpc>
              <a:spcBef>
                <a:spcPts val="0"/>
              </a:spcBef>
              <a:spcAft>
                <a:spcPts val="0"/>
              </a:spcAft>
            </a:pPr>
            <a:r>
              <a:rPr sz="1200" b="0">
                <a:solidFill>
                  <a:srgbClr val="1C1C1C"/>
                </a:solidFill>
                <a:latin typeface="Arial"/>
              </a:rPr>
              <a:t>Speech to text in whatever language is spoken, with the shop’s customer names as hints.</a:t>
            </a:r>
          </a:p>
        </p:txBody>
      </p:sp>
      <p:sp>
        <p:nvSpPr>
          <p:cNvPr id="14" name="TextBox 13"/>
          <p:cNvSpPr txBox="1"/>
          <p:nvPr/>
        </p:nvSpPr>
        <p:spPr>
          <a:xfrm>
            <a:off x="8842248" y="1947672"/>
            <a:ext cx="2642616" cy="804672"/>
          </a:xfrm>
          <a:prstGeom prst="rect">
            <a:avLst/>
          </a:prstGeom>
          <a:noFill/>
        </p:spPr>
        <p:txBody>
          <a:bodyPr wrap="square" lIns="0" rIns="0" tIns="0" bIns="0" anchor="ctr">
            <a:spAutoFit/>
          </a:bodyPr>
          <a:lstStyle/>
          <a:p>
            <a:pPr>
              <a:lnSpc>
                <a:spcPct val="130000"/>
              </a:lnSpc>
              <a:spcBef>
                <a:spcPts val="0"/>
              </a:spcBef>
              <a:spcAft>
                <a:spcPts val="0"/>
              </a:spcAft>
            </a:pPr>
            <a:r>
              <a:rPr sz="1150" b="0">
                <a:solidFill>
                  <a:srgbClr val="5B6675"/>
                </a:solidFill>
                <a:latin typeface="Arial"/>
              </a:rPr>
              <a:t>Add udhaar by voice, the munshi</a:t>
            </a:r>
          </a:p>
        </p:txBody>
      </p:sp>
      <p:sp>
        <p:nvSpPr>
          <p:cNvPr id="15" name="Rounded Rectangle 14"/>
          <p:cNvSpPr/>
          <p:nvPr/>
        </p:nvSpPr>
        <p:spPr>
          <a:xfrm>
            <a:off x="493776" y="2788920"/>
            <a:ext cx="11204143" cy="731520"/>
          </a:xfrm>
          <a:prstGeom prst="roundRect">
            <a:avLst>
              <a:gd name="adj" fmla="val 12000"/>
            </a:avLst>
          </a:prstGeom>
          <a:solidFill>
            <a:srgbClr val="FFFFFF"/>
          </a:solidFill>
          <a:ln>
            <a:noFill/>
          </a:ln>
        </p:spPr>
        <p:txBody>
          <a:bodyPr rtlCol="0" anchor="ctr"/>
          <a:lstStyle/>
          <a:p>
            <a:pPr algn="ctr"/>
          </a:p>
        </p:txBody>
      </p:sp>
      <p:sp>
        <p:nvSpPr>
          <p:cNvPr id="16" name="TextBox 15"/>
          <p:cNvSpPr txBox="1"/>
          <p:nvPr/>
        </p:nvSpPr>
        <p:spPr>
          <a:xfrm>
            <a:off x="658368" y="2752344"/>
            <a:ext cx="1371600" cy="804672"/>
          </a:xfrm>
          <a:prstGeom prst="rect">
            <a:avLst/>
          </a:prstGeom>
          <a:noFill/>
        </p:spPr>
        <p:txBody>
          <a:bodyPr wrap="square" lIns="0" rIns="0" tIns="0" bIns="0" anchor="ctr">
            <a:spAutoFit/>
          </a:bodyPr>
          <a:lstStyle/>
          <a:p>
            <a:pPr>
              <a:lnSpc>
                <a:spcPct val="130000"/>
              </a:lnSpc>
              <a:spcBef>
                <a:spcPts val="0"/>
              </a:spcBef>
              <a:spcAft>
                <a:spcPts val="0"/>
              </a:spcAft>
            </a:pPr>
            <a:r>
              <a:rPr sz="1600" b="1">
                <a:solidFill>
                  <a:srgbClr val="002970"/>
                </a:solidFill>
                <a:latin typeface="Arial"/>
              </a:rPr>
              <a:t>Understand</a:t>
            </a:r>
          </a:p>
        </p:txBody>
      </p:sp>
      <p:sp>
        <p:nvSpPr>
          <p:cNvPr id="17" name="TextBox 16"/>
          <p:cNvSpPr txBox="1"/>
          <p:nvPr/>
        </p:nvSpPr>
        <p:spPr>
          <a:xfrm>
            <a:off x="2258568" y="2752344"/>
            <a:ext cx="2011680" cy="804672"/>
          </a:xfrm>
          <a:prstGeom prst="rect">
            <a:avLst/>
          </a:prstGeom>
          <a:noFill/>
        </p:spPr>
        <p:txBody>
          <a:bodyPr wrap="square" lIns="0" rIns="0" tIns="0" bIns="0" anchor="ctr">
            <a:spAutoFit/>
          </a:bodyPr>
          <a:lstStyle/>
          <a:p>
            <a:pPr>
              <a:lnSpc>
                <a:spcPct val="120000"/>
              </a:lnSpc>
              <a:spcBef>
                <a:spcPts val="0"/>
              </a:spcBef>
              <a:spcAft>
                <a:spcPts val="0"/>
              </a:spcAft>
            </a:pPr>
            <a:r>
              <a:rPr sz="1250" b="1">
                <a:solidFill>
                  <a:srgbClr val="002970"/>
                </a:solidFill>
                <a:latin typeface="Arial"/>
              </a:rPr>
              <a:t>Sarvam-105B</a:t>
            </a:r>
          </a:p>
        </p:txBody>
      </p:sp>
      <p:sp>
        <p:nvSpPr>
          <p:cNvPr id="18" name="TextBox 17"/>
          <p:cNvSpPr txBox="1"/>
          <p:nvPr/>
        </p:nvSpPr>
        <p:spPr>
          <a:xfrm>
            <a:off x="4498848" y="2752344"/>
            <a:ext cx="4114800" cy="804672"/>
          </a:xfrm>
          <a:prstGeom prst="rect">
            <a:avLst/>
          </a:prstGeom>
          <a:noFill/>
        </p:spPr>
        <p:txBody>
          <a:bodyPr wrap="square" lIns="0" rIns="0" tIns="0" bIns="0" anchor="ctr">
            <a:spAutoFit/>
          </a:bodyPr>
          <a:lstStyle/>
          <a:p>
            <a:pPr>
              <a:lnSpc>
                <a:spcPct val="130000"/>
              </a:lnSpc>
              <a:spcBef>
                <a:spcPts val="0"/>
              </a:spcBef>
              <a:spcAft>
                <a:spcPts val="0"/>
              </a:spcAft>
            </a:pPr>
            <a:r>
              <a:rPr sz="1200" b="0">
                <a:solidFill>
                  <a:srgbClr val="1C1C1C"/>
                </a:solidFill>
                <a:latin typeface="Arial"/>
              </a:rPr>
              <a:t>The munshi: works out what he meant and calls our tools to find a customer, put an entry on a card or look something up.</a:t>
            </a:r>
          </a:p>
        </p:txBody>
      </p:sp>
      <p:sp>
        <p:nvSpPr>
          <p:cNvPr id="19" name="TextBox 18"/>
          <p:cNvSpPr txBox="1"/>
          <p:nvPr/>
        </p:nvSpPr>
        <p:spPr>
          <a:xfrm>
            <a:off x="8842248" y="2752344"/>
            <a:ext cx="2642616" cy="804672"/>
          </a:xfrm>
          <a:prstGeom prst="rect">
            <a:avLst/>
          </a:prstGeom>
          <a:noFill/>
        </p:spPr>
        <p:txBody>
          <a:bodyPr wrap="square" lIns="0" rIns="0" tIns="0" bIns="0" anchor="ctr">
            <a:spAutoFit/>
          </a:bodyPr>
          <a:lstStyle/>
          <a:p>
            <a:pPr>
              <a:lnSpc>
                <a:spcPct val="130000"/>
              </a:lnSpc>
              <a:spcBef>
                <a:spcPts val="0"/>
              </a:spcBef>
              <a:spcAft>
                <a:spcPts val="0"/>
              </a:spcAft>
            </a:pPr>
            <a:r>
              <a:rPr sz="1150" b="0">
                <a:solidFill>
                  <a:srgbClr val="5B6675"/>
                </a:solidFill>
                <a:latin typeface="Arial"/>
              </a:rPr>
              <a:t>Paytm Assistant, voice entries</a:t>
            </a:r>
          </a:p>
        </p:txBody>
      </p:sp>
      <p:sp>
        <p:nvSpPr>
          <p:cNvPr id="20" name="Rounded Rectangle 19"/>
          <p:cNvSpPr/>
          <p:nvPr/>
        </p:nvSpPr>
        <p:spPr>
          <a:xfrm>
            <a:off x="493776" y="3593592"/>
            <a:ext cx="11204143" cy="731520"/>
          </a:xfrm>
          <a:prstGeom prst="roundRect">
            <a:avLst>
              <a:gd name="adj" fmla="val 12000"/>
            </a:avLst>
          </a:prstGeom>
          <a:solidFill>
            <a:srgbClr val="FFFFFF"/>
          </a:solidFill>
          <a:ln>
            <a:noFill/>
          </a:ln>
        </p:spPr>
        <p:txBody>
          <a:bodyPr rtlCol="0" anchor="ctr"/>
          <a:lstStyle/>
          <a:p>
            <a:pPr algn="ctr"/>
          </a:p>
        </p:txBody>
      </p:sp>
      <p:sp>
        <p:nvSpPr>
          <p:cNvPr id="21" name="TextBox 20"/>
          <p:cNvSpPr txBox="1"/>
          <p:nvPr/>
        </p:nvSpPr>
        <p:spPr>
          <a:xfrm>
            <a:off x="658368" y="3557016"/>
            <a:ext cx="1371600" cy="804672"/>
          </a:xfrm>
          <a:prstGeom prst="rect">
            <a:avLst/>
          </a:prstGeom>
          <a:noFill/>
        </p:spPr>
        <p:txBody>
          <a:bodyPr wrap="square" lIns="0" rIns="0" tIns="0" bIns="0" anchor="ctr">
            <a:spAutoFit/>
          </a:bodyPr>
          <a:lstStyle/>
          <a:p>
            <a:pPr>
              <a:lnSpc>
                <a:spcPct val="130000"/>
              </a:lnSpc>
              <a:spcBef>
                <a:spcPts val="0"/>
              </a:spcBef>
              <a:spcAft>
                <a:spcPts val="0"/>
              </a:spcAft>
            </a:pPr>
            <a:r>
              <a:rPr sz="1600" b="1">
                <a:solidFill>
                  <a:srgbClr val="002970"/>
                </a:solidFill>
                <a:latin typeface="Arial"/>
              </a:rPr>
              <a:t>Speak</a:t>
            </a:r>
          </a:p>
        </p:txBody>
      </p:sp>
      <p:sp>
        <p:nvSpPr>
          <p:cNvPr id="22" name="TextBox 21"/>
          <p:cNvSpPr txBox="1"/>
          <p:nvPr/>
        </p:nvSpPr>
        <p:spPr>
          <a:xfrm>
            <a:off x="2258568" y="3557016"/>
            <a:ext cx="2011680" cy="804672"/>
          </a:xfrm>
          <a:prstGeom prst="rect">
            <a:avLst/>
          </a:prstGeom>
          <a:noFill/>
        </p:spPr>
        <p:txBody>
          <a:bodyPr wrap="square" lIns="0" rIns="0" tIns="0" bIns="0" anchor="ctr">
            <a:spAutoFit/>
          </a:bodyPr>
          <a:lstStyle/>
          <a:p>
            <a:pPr>
              <a:lnSpc>
                <a:spcPct val="120000"/>
              </a:lnSpc>
              <a:spcBef>
                <a:spcPts val="0"/>
              </a:spcBef>
              <a:spcAft>
                <a:spcPts val="0"/>
              </a:spcAft>
            </a:pPr>
            <a:r>
              <a:rPr sz="1250" b="1">
                <a:solidFill>
                  <a:srgbClr val="002970"/>
                </a:solidFill>
                <a:latin typeface="Arial"/>
              </a:rPr>
              <a:t>Sarvam Bulbul v3</a:t>
            </a:r>
          </a:p>
        </p:txBody>
      </p:sp>
      <p:sp>
        <p:nvSpPr>
          <p:cNvPr id="23" name="TextBox 22"/>
          <p:cNvSpPr txBox="1"/>
          <p:nvPr/>
        </p:nvSpPr>
        <p:spPr>
          <a:xfrm>
            <a:off x="4498848" y="3557016"/>
            <a:ext cx="4114800" cy="804672"/>
          </a:xfrm>
          <a:prstGeom prst="rect">
            <a:avLst/>
          </a:prstGeom>
          <a:noFill/>
        </p:spPr>
        <p:txBody>
          <a:bodyPr wrap="square" lIns="0" rIns="0" tIns="0" bIns="0" anchor="ctr">
            <a:spAutoFit/>
          </a:bodyPr>
          <a:lstStyle/>
          <a:p>
            <a:pPr>
              <a:lnSpc>
                <a:spcPct val="130000"/>
              </a:lnSpc>
              <a:spcBef>
                <a:spcPts val="0"/>
              </a:spcBef>
              <a:spcAft>
                <a:spcPts val="0"/>
              </a:spcAft>
            </a:pPr>
            <a:r>
              <a:rPr sz="1200" b="0">
                <a:solidFill>
                  <a:srgbClr val="1C1C1C"/>
                </a:solidFill>
                <a:latin typeface="Arial"/>
              </a:rPr>
              <a:t>Says amounts on the Soundbox and reads the munshi’s replies aloud.</a:t>
            </a:r>
          </a:p>
        </p:txBody>
      </p:sp>
      <p:sp>
        <p:nvSpPr>
          <p:cNvPr id="24" name="TextBox 23"/>
          <p:cNvSpPr txBox="1"/>
          <p:nvPr/>
        </p:nvSpPr>
        <p:spPr>
          <a:xfrm>
            <a:off x="8842248" y="3557016"/>
            <a:ext cx="2642616" cy="804672"/>
          </a:xfrm>
          <a:prstGeom prst="rect">
            <a:avLst/>
          </a:prstGeom>
          <a:noFill/>
        </p:spPr>
        <p:txBody>
          <a:bodyPr wrap="square" lIns="0" rIns="0" tIns="0" bIns="0" anchor="ctr">
            <a:spAutoFit/>
          </a:bodyPr>
          <a:lstStyle/>
          <a:p>
            <a:pPr>
              <a:lnSpc>
                <a:spcPct val="130000"/>
              </a:lnSpc>
              <a:spcBef>
                <a:spcPts val="0"/>
              </a:spcBef>
              <a:spcAft>
                <a:spcPts val="0"/>
              </a:spcAft>
            </a:pPr>
            <a:r>
              <a:rPr sz="1150" b="0">
                <a:solidFill>
                  <a:srgbClr val="5B6675"/>
                </a:solidFill>
                <a:latin typeface="Arial"/>
              </a:rPr>
              <a:t>Soundbox, Assistant</a:t>
            </a:r>
          </a:p>
        </p:txBody>
      </p:sp>
      <p:sp>
        <p:nvSpPr>
          <p:cNvPr id="25" name="Rounded Rectangle 24"/>
          <p:cNvSpPr/>
          <p:nvPr/>
        </p:nvSpPr>
        <p:spPr>
          <a:xfrm>
            <a:off x="493776" y="4398264"/>
            <a:ext cx="11204143" cy="731520"/>
          </a:xfrm>
          <a:prstGeom prst="roundRect">
            <a:avLst>
              <a:gd name="adj" fmla="val 12000"/>
            </a:avLst>
          </a:prstGeom>
          <a:solidFill>
            <a:srgbClr val="FFFFFF"/>
          </a:solidFill>
          <a:ln>
            <a:noFill/>
          </a:ln>
        </p:spPr>
        <p:txBody>
          <a:bodyPr rtlCol="0" anchor="ctr"/>
          <a:lstStyle/>
          <a:p>
            <a:pPr algn="ctr"/>
          </a:p>
        </p:txBody>
      </p:sp>
      <p:sp>
        <p:nvSpPr>
          <p:cNvPr id="26" name="TextBox 25"/>
          <p:cNvSpPr txBox="1"/>
          <p:nvPr/>
        </p:nvSpPr>
        <p:spPr>
          <a:xfrm>
            <a:off x="658368" y="4361688"/>
            <a:ext cx="1371600" cy="804672"/>
          </a:xfrm>
          <a:prstGeom prst="rect">
            <a:avLst/>
          </a:prstGeom>
          <a:noFill/>
        </p:spPr>
        <p:txBody>
          <a:bodyPr wrap="square" lIns="0" rIns="0" tIns="0" bIns="0" anchor="ctr">
            <a:spAutoFit/>
          </a:bodyPr>
          <a:lstStyle/>
          <a:p>
            <a:pPr>
              <a:lnSpc>
                <a:spcPct val="130000"/>
              </a:lnSpc>
              <a:spcBef>
                <a:spcPts val="0"/>
              </a:spcBef>
              <a:spcAft>
                <a:spcPts val="0"/>
              </a:spcAft>
            </a:pPr>
            <a:r>
              <a:rPr sz="1600" b="1">
                <a:solidFill>
                  <a:srgbClr val="002970"/>
                </a:solidFill>
                <a:latin typeface="Arial"/>
              </a:rPr>
              <a:t>Remember</a:t>
            </a:r>
          </a:p>
        </p:txBody>
      </p:sp>
      <p:sp>
        <p:nvSpPr>
          <p:cNvPr id="27" name="TextBox 26"/>
          <p:cNvSpPr txBox="1"/>
          <p:nvPr/>
        </p:nvSpPr>
        <p:spPr>
          <a:xfrm>
            <a:off x="2258568" y="4361688"/>
            <a:ext cx="2011680" cy="804672"/>
          </a:xfrm>
          <a:prstGeom prst="rect">
            <a:avLst/>
          </a:prstGeom>
          <a:noFill/>
        </p:spPr>
        <p:txBody>
          <a:bodyPr wrap="square" lIns="0" rIns="0" tIns="0" bIns="0" anchor="ctr">
            <a:spAutoFit/>
          </a:bodyPr>
          <a:lstStyle/>
          <a:p>
            <a:pPr>
              <a:lnSpc>
                <a:spcPct val="120000"/>
              </a:lnSpc>
              <a:spcBef>
                <a:spcPts val="0"/>
              </a:spcBef>
              <a:spcAft>
                <a:spcPts val="0"/>
              </a:spcAft>
            </a:pPr>
            <a:r>
              <a:rPr sz="1250" b="1">
                <a:solidFill>
                  <a:srgbClr val="002970"/>
                </a:solidFill>
                <a:latin typeface="Arial"/>
              </a:rPr>
              <a:t>Cognee + pgvector</a:t>
            </a:r>
          </a:p>
        </p:txBody>
      </p:sp>
      <p:sp>
        <p:nvSpPr>
          <p:cNvPr id="28" name="TextBox 27"/>
          <p:cNvSpPr txBox="1"/>
          <p:nvPr/>
        </p:nvSpPr>
        <p:spPr>
          <a:xfrm>
            <a:off x="4498848" y="4361688"/>
            <a:ext cx="4114800" cy="804672"/>
          </a:xfrm>
          <a:prstGeom prst="rect">
            <a:avLst/>
          </a:prstGeom>
          <a:noFill/>
        </p:spPr>
        <p:txBody>
          <a:bodyPr wrap="square" lIns="0" rIns="0" tIns="0" bIns="0" anchor="ctr">
            <a:spAutoFit/>
          </a:bodyPr>
          <a:lstStyle/>
          <a:p>
            <a:pPr>
              <a:lnSpc>
                <a:spcPct val="130000"/>
              </a:lnSpc>
              <a:spcBef>
                <a:spcPts val="0"/>
              </a:spcBef>
              <a:spcAft>
                <a:spcPts val="0"/>
              </a:spcAft>
            </a:pPr>
            <a:r>
              <a:rPr sz="1200" b="0">
                <a:solidFill>
                  <a:srgbClr val="1C1C1C"/>
                </a:solidFill>
                <a:latin typeface="Arial"/>
              </a:rPr>
              <a:t>Turns notes, promises and nicknames into a knowledge graph per shop, and recalls them by meaning.</a:t>
            </a:r>
          </a:p>
        </p:txBody>
      </p:sp>
      <p:sp>
        <p:nvSpPr>
          <p:cNvPr id="29" name="TextBox 28"/>
          <p:cNvSpPr txBox="1"/>
          <p:nvPr/>
        </p:nvSpPr>
        <p:spPr>
          <a:xfrm>
            <a:off x="8842248" y="4361688"/>
            <a:ext cx="2642616" cy="804672"/>
          </a:xfrm>
          <a:prstGeom prst="rect">
            <a:avLst/>
          </a:prstGeom>
          <a:noFill/>
        </p:spPr>
        <p:txBody>
          <a:bodyPr wrap="square" lIns="0" rIns="0" tIns="0" bIns="0" anchor="ctr">
            <a:spAutoFit/>
          </a:bodyPr>
          <a:lstStyle/>
          <a:p>
            <a:pPr>
              <a:lnSpc>
                <a:spcPct val="130000"/>
              </a:lnSpc>
              <a:spcBef>
                <a:spcPts val="0"/>
              </a:spcBef>
              <a:spcAft>
                <a:spcPts val="0"/>
              </a:spcAft>
            </a:pPr>
            <a:r>
              <a:rPr sz="1150" b="0">
                <a:solidFill>
                  <a:srgbClr val="5B6675"/>
                </a:solidFill>
                <a:latin typeface="Arial"/>
              </a:rPr>
              <a:t>“Salary on the 7th”, “Pappu is Prakash”</a:t>
            </a:r>
          </a:p>
        </p:txBody>
      </p:sp>
      <p:sp>
        <p:nvSpPr>
          <p:cNvPr id="30" name="Rounded Rectangle 29"/>
          <p:cNvSpPr/>
          <p:nvPr/>
        </p:nvSpPr>
        <p:spPr>
          <a:xfrm>
            <a:off x="493776" y="5202936"/>
            <a:ext cx="11204143" cy="731520"/>
          </a:xfrm>
          <a:prstGeom prst="roundRect">
            <a:avLst>
              <a:gd name="adj" fmla="val 12000"/>
            </a:avLst>
          </a:prstGeom>
          <a:solidFill>
            <a:srgbClr val="FFFFFF"/>
          </a:solidFill>
          <a:ln>
            <a:noFill/>
          </a:ln>
        </p:spPr>
        <p:txBody>
          <a:bodyPr rtlCol="0" anchor="ctr"/>
          <a:lstStyle/>
          <a:p>
            <a:pPr algn="ctr"/>
          </a:p>
        </p:txBody>
      </p:sp>
      <p:sp>
        <p:nvSpPr>
          <p:cNvPr id="31" name="TextBox 30"/>
          <p:cNvSpPr txBox="1"/>
          <p:nvPr/>
        </p:nvSpPr>
        <p:spPr>
          <a:xfrm>
            <a:off x="658368" y="5166360"/>
            <a:ext cx="1371600" cy="804672"/>
          </a:xfrm>
          <a:prstGeom prst="rect">
            <a:avLst/>
          </a:prstGeom>
          <a:noFill/>
        </p:spPr>
        <p:txBody>
          <a:bodyPr wrap="square" lIns="0" rIns="0" tIns="0" bIns="0" anchor="ctr">
            <a:spAutoFit/>
          </a:bodyPr>
          <a:lstStyle/>
          <a:p>
            <a:pPr>
              <a:lnSpc>
                <a:spcPct val="130000"/>
              </a:lnSpc>
              <a:spcBef>
                <a:spcPts val="0"/>
              </a:spcBef>
              <a:spcAft>
                <a:spcPts val="0"/>
              </a:spcAft>
            </a:pPr>
            <a:r>
              <a:rPr sz="1600" b="1">
                <a:solidFill>
                  <a:srgbClr val="002970"/>
                </a:solidFill>
                <a:latin typeface="Arial"/>
              </a:rPr>
              <a:t>Predict</a:t>
            </a:r>
          </a:p>
        </p:txBody>
      </p:sp>
      <p:sp>
        <p:nvSpPr>
          <p:cNvPr id="32" name="TextBox 31"/>
          <p:cNvSpPr txBox="1"/>
          <p:nvPr/>
        </p:nvSpPr>
        <p:spPr>
          <a:xfrm>
            <a:off x="2258568" y="5166360"/>
            <a:ext cx="2011680" cy="804672"/>
          </a:xfrm>
          <a:prstGeom prst="rect">
            <a:avLst/>
          </a:prstGeom>
          <a:noFill/>
        </p:spPr>
        <p:txBody>
          <a:bodyPr wrap="square" lIns="0" rIns="0" tIns="0" bIns="0" anchor="ctr">
            <a:spAutoFit/>
          </a:bodyPr>
          <a:lstStyle/>
          <a:p>
            <a:pPr>
              <a:lnSpc>
                <a:spcPct val="120000"/>
              </a:lnSpc>
              <a:spcBef>
                <a:spcPts val="0"/>
              </a:spcBef>
              <a:spcAft>
                <a:spcPts val="0"/>
              </a:spcAft>
            </a:pPr>
            <a:r>
              <a:rPr sz="1250" b="1">
                <a:solidFill>
                  <a:srgbClr val="002970"/>
                </a:solidFill>
                <a:latin typeface="Arial"/>
              </a:rPr>
              <a:t>Pattern engine + Sarvam-105B</a:t>
            </a:r>
          </a:p>
        </p:txBody>
      </p:sp>
      <p:sp>
        <p:nvSpPr>
          <p:cNvPr id="33" name="TextBox 32"/>
          <p:cNvSpPr txBox="1"/>
          <p:nvPr/>
        </p:nvSpPr>
        <p:spPr>
          <a:xfrm>
            <a:off x="4498848" y="5166360"/>
            <a:ext cx="4114800" cy="804672"/>
          </a:xfrm>
          <a:prstGeom prst="rect">
            <a:avLst/>
          </a:prstGeom>
          <a:noFill/>
        </p:spPr>
        <p:txBody>
          <a:bodyPr wrap="square" lIns="0" rIns="0" tIns="0" bIns="0" anchor="ctr">
            <a:spAutoFit/>
          </a:bodyPr>
          <a:lstStyle/>
          <a:p>
            <a:pPr>
              <a:lnSpc>
                <a:spcPct val="130000"/>
              </a:lnSpc>
              <a:spcBef>
                <a:spcPts val="0"/>
              </a:spcBef>
              <a:spcAft>
                <a:spcPts val="0"/>
              </a:spcAft>
            </a:pPr>
            <a:r>
              <a:rPr sz="1200" b="0">
                <a:solidFill>
                  <a:srgbClr val="1C1C1C"/>
                </a:solidFill>
                <a:latin typeface="Arial"/>
              </a:rPr>
              <a:t>When each customer will likely pay, and who is drifting. The munshi says it as a guess.</a:t>
            </a:r>
          </a:p>
        </p:txBody>
      </p:sp>
      <p:sp>
        <p:nvSpPr>
          <p:cNvPr id="34" name="TextBox 33"/>
          <p:cNvSpPr txBox="1"/>
          <p:nvPr/>
        </p:nvSpPr>
        <p:spPr>
          <a:xfrm>
            <a:off x="8842248" y="5166360"/>
            <a:ext cx="2642616" cy="804672"/>
          </a:xfrm>
          <a:prstGeom prst="rect">
            <a:avLst/>
          </a:prstGeom>
          <a:noFill/>
        </p:spPr>
        <p:txBody>
          <a:bodyPr wrap="square" lIns="0" rIns="0" tIns="0" bIns="0" anchor="ctr">
            <a:spAutoFit/>
          </a:bodyPr>
          <a:lstStyle/>
          <a:p>
            <a:pPr>
              <a:lnSpc>
                <a:spcPct val="130000"/>
              </a:lnSpc>
              <a:spcBef>
                <a:spcPts val="0"/>
              </a:spcBef>
              <a:spcAft>
                <a:spcPts val="0"/>
              </a:spcAft>
            </a:pPr>
            <a:r>
              <a:rPr sz="1150" b="0">
                <a:solidFill>
                  <a:srgbClr val="5B6675"/>
                </a:solidFill>
                <a:latin typeface="Arial"/>
              </a:rPr>
              <a:t>Customer card, Tomorrow, “इस हफ़्ते कौन देगा?”</a:t>
            </a:r>
          </a:p>
        </p:txBody>
      </p:sp>
      <p:sp>
        <p:nvSpPr>
          <p:cNvPr id="35" name="TextBox 34"/>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Prediction is arithmetic on the customer’s own ledger, so every figure can be checked by hand; no model ever produces a number. Cognee runs in our local build and is off in the hosted demo.</a:t>
            </a:r>
          </a:p>
        </p:txBody>
      </p:sp>
      <p:sp>
        <p:nvSpPr>
          <p:cNvPr id="36" name="TextBox 35"/>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AI IN BAHI / THE MUNSHI</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An AI munshi that does the work, and never writes without a yes.</a:t>
            </a:r>
          </a:p>
        </p:txBody>
      </p:sp>
      <p:sp>
        <p:nvSpPr>
          <p:cNvPr id="5" name="Rounded Rectangle 4"/>
          <p:cNvSpPr/>
          <p:nvPr/>
        </p:nvSpPr>
        <p:spPr>
          <a:xfrm>
            <a:off x="574548" y="1607820"/>
            <a:ext cx="1950719" cy="37771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m-assistant.png"/>
          <p:cNvPicPr>
            <a:picLocks noChangeAspect="1"/>
          </p:cNvPicPr>
          <p:nvPr/>
        </p:nvPicPr>
        <p:blipFill>
          <a:blip r:embed="rId2"/>
          <a:stretch>
            <a:fillRect/>
          </a:stretch>
        </p:blipFill>
        <p:spPr>
          <a:xfrm>
            <a:off x="612648" y="1645920"/>
            <a:ext cx="1874519" cy="3700973"/>
          </a:xfrm>
          <a:prstGeom prst="rect">
            <a:avLst/>
          </a:prstGeom>
        </p:spPr>
      </p:pic>
      <p:sp>
        <p:nvSpPr>
          <p:cNvPr id="7" name="Rounded Rectangle 6"/>
          <p:cNvSpPr/>
          <p:nvPr/>
        </p:nvSpPr>
        <p:spPr>
          <a:xfrm>
            <a:off x="2723387" y="1607820"/>
            <a:ext cx="1950719" cy="37771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8" name="Picture 7" descr="m-chat.png"/>
          <p:cNvPicPr>
            <a:picLocks noChangeAspect="1"/>
          </p:cNvPicPr>
          <p:nvPr/>
        </p:nvPicPr>
        <p:blipFill>
          <a:blip r:embed="rId3"/>
          <a:stretch>
            <a:fillRect/>
          </a:stretch>
        </p:blipFill>
        <p:spPr>
          <a:xfrm>
            <a:off x="2761487" y="1645920"/>
            <a:ext cx="1874519" cy="3700973"/>
          </a:xfrm>
          <a:prstGeom prst="rect">
            <a:avLst/>
          </a:prstGeom>
        </p:spPr>
      </p:pic>
      <p:sp>
        <p:nvSpPr>
          <p:cNvPr id="9" name="Rounded Rectangle 8"/>
          <p:cNvSpPr/>
          <p:nvPr/>
        </p:nvSpPr>
        <p:spPr>
          <a:xfrm>
            <a:off x="5001766" y="1645920"/>
            <a:ext cx="6623001" cy="3017520"/>
          </a:xfrm>
          <a:prstGeom prst="roundRect">
            <a:avLst>
              <a:gd name="adj" fmla="val 6000"/>
            </a:avLst>
          </a:prstGeom>
          <a:solidFill>
            <a:srgbClr val="FFFFFF"/>
          </a:solidFill>
          <a:ln>
            <a:noFill/>
          </a:ln>
        </p:spPr>
        <p:txBody>
          <a:bodyPr rtlCol="0" anchor="ctr"/>
          <a:lstStyle/>
          <a:p>
            <a:pPr algn="ctr"/>
          </a:p>
        </p:txBody>
      </p:sp>
      <p:sp>
        <p:nvSpPr>
          <p:cNvPr id="10" name="TextBox 9"/>
          <p:cNvSpPr txBox="1"/>
          <p:nvPr/>
        </p:nvSpPr>
        <p:spPr>
          <a:xfrm>
            <a:off x="5276086" y="1874520"/>
            <a:ext cx="6074361" cy="2743200"/>
          </a:xfrm>
          <a:prstGeom prst="rect">
            <a:avLst/>
          </a:prstGeom>
          <a:noFill/>
        </p:spPr>
        <p:txBody>
          <a:bodyPr wrap="square" lIns="0" rIns="0" tIns="0" bIns="0" anchor="t">
            <a:spAutoFit/>
          </a:bodyPr>
          <a:lstStyle/>
          <a:p>
            <a:pPr>
              <a:lnSpc>
                <a:spcPct val="130000"/>
              </a:lnSpc>
              <a:spcBef>
                <a:spcPts val="0"/>
              </a:spcBef>
              <a:spcAft>
                <a:spcPts val="200"/>
              </a:spcAft>
            </a:pPr>
            <a:r>
              <a:rPr sz="1500" b="1">
                <a:solidFill>
                  <a:srgbClr val="002970"/>
                </a:solidFill>
                <a:latin typeface="Arial"/>
              </a:rPr>
              <a:t>What it does</a:t>
            </a:r>
          </a:p>
          <a:p>
            <a:pPr>
              <a:lnSpc>
                <a:spcPct val="130000"/>
              </a:lnSpc>
              <a:spcBef>
                <a:spcPts val="700"/>
              </a:spcBef>
              <a:spcAft>
                <a:spcPts val="0"/>
              </a:spcAft>
            </a:pPr>
            <a:r>
              <a:rPr sz="1250" b="1">
                <a:solidFill>
                  <a:srgbClr val="0077A8"/>
                </a:solidFill>
                <a:latin typeface="Arial"/>
              </a:rPr>
              <a:t>—  </a:t>
            </a:r>
            <a:r>
              <a:rPr sz="1250" b="0">
                <a:solidFill>
                  <a:srgbClr val="1C1C1C"/>
                </a:solidFill>
                <a:latin typeface="Arial"/>
              </a:rPr>
              <a:t>Talk or type, in Hindi, English, Marathi or a mix. Sarvam hears any of them.</a:t>
            </a:r>
          </a:p>
          <a:p>
            <a:pPr>
              <a:lnSpc>
                <a:spcPct val="130000"/>
              </a:lnSpc>
              <a:spcBef>
                <a:spcPts val="700"/>
              </a:spcBef>
              <a:spcAft>
                <a:spcPts val="0"/>
              </a:spcAft>
            </a:pPr>
            <a:r>
              <a:rPr sz="1250" b="1">
                <a:solidFill>
                  <a:srgbClr val="0077A8"/>
                </a:solidFill>
                <a:latin typeface="Arial"/>
              </a:rPr>
              <a:t>—  </a:t>
            </a:r>
            <a:r>
              <a:rPr sz="1250" b="0">
                <a:solidFill>
                  <a:srgbClr val="1C1C1C"/>
                </a:solidFill>
                <a:latin typeface="Arial"/>
              </a:rPr>
              <a:t>Finds the customer by the sound of a name, or how the shop describes them.</a:t>
            </a:r>
          </a:p>
          <a:p>
            <a:pPr>
              <a:lnSpc>
                <a:spcPct val="130000"/>
              </a:lnSpc>
              <a:spcBef>
                <a:spcPts val="700"/>
              </a:spcBef>
              <a:spcAft>
                <a:spcPts val="0"/>
              </a:spcAft>
            </a:pPr>
            <a:r>
              <a:rPr sz="1250" b="1">
                <a:solidFill>
                  <a:srgbClr val="0077A8"/>
                </a:solidFill>
                <a:latin typeface="Arial"/>
              </a:rPr>
              <a:t>—  </a:t>
            </a:r>
            <a:r>
              <a:rPr sz="1250" b="0">
                <a:solidFill>
                  <a:srgbClr val="1C1C1C"/>
                </a:solidFill>
                <a:latin typeface="Arial"/>
              </a:rPr>
              <a:t>Asks before reading names; then says only the names.</a:t>
            </a:r>
          </a:p>
          <a:p>
            <a:pPr>
              <a:lnSpc>
                <a:spcPct val="130000"/>
              </a:lnSpc>
              <a:spcBef>
                <a:spcPts val="700"/>
              </a:spcBef>
              <a:spcAft>
                <a:spcPts val="0"/>
              </a:spcAft>
            </a:pPr>
            <a:r>
              <a:rPr sz="1250" b="1">
                <a:solidFill>
                  <a:srgbClr val="0077A8"/>
                </a:solidFill>
                <a:latin typeface="Arial"/>
              </a:rPr>
              <a:t>—  </a:t>
            </a:r>
            <a:r>
              <a:rPr sz="1250" b="0">
                <a:solidFill>
                  <a:srgbClr val="1C1C1C"/>
                </a:solidFill>
                <a:latin typeface="Arial"/>
              </a:rPr>
              <a:t>Puts every change on a card: an entry, a payment, a correction, taking one back, new details, a message. Only his yes writes it.</a:t>
            </a:r>
          </a:p>
          <a:p>
            <a:pPr>
              <a:lnSpc>
                <a:spcPct val="130000"/>
              </a:lnSpc>
              <a:spcBef>
                <a:spcPts val="700"/>
              </a:spcBef>
              <a:spcAft>
                <a:spcPts val="0"/>
              </a:spcAft>
            </a:pPr>
            <a:r>
              <a:rPr sz="1250" b="1">
                <a:solidFill>
                  <a:srgbClr val="0077A8"/>
                </a:solidFill>
                <a:latin typeface="Arial"/>
              </a:rPr>
              <a:t>—  </a:t>
            </a:r>
            <a:r>
              <a:rPr sz="1250" b="0">
                <a:solidFill>
                  <a:srgbClr val="1C1C1C"/>
                </a:solidFill>
                <a:latin typeface="Arial"/>
              </a:rPr>
              <a:t>Paytm Assistant: ask anything about the book. The chat is kept.</a:t>
            </a:r>
          </a:p>
        </p:txBody>
      </p:sp>
      <p:sp>
        <p:nvSpPr>
          <p:cNvPr id="11" name="Rounded Rectangle 10"/>
          <p:cNvSpPr/>
          <p:nvPr/>
        </p:nvSpPr>
        <p:spPr>
          <a:xfrm>
            <a:off x="5001766" y="4846320"/>
            <a:ext cx="6623001" cy="1298448"/>
          </a:xfrm>
          <a:prstGeom prst="roundRect">
            <a:avLst>
              <a:gd name="adj" fmla="val 6000"/>
            </a:avLst>
          </a:prstGeom>
          <a:solidFill>
            <a:srgbClr val="002970"/>
          </a:solidFill>
          <a:ln>
            <a:noFill/>
          </a:ln>
        </p:spPr>
        <p:txBody>
          <a:bodyPr rtlCol="0" anchor="ctr"/>
          <a:lstStyle/>
          <a:p>
            <a:pPr algn="ctr"/>
          </a:p>
        </p:txBody>
      </p:sp>
      <p:sp>
        <p:nvSpPr>
          <p:cNvPr id="12" name="TextBox 11"/>
          <p:cNvSpPr txBox="1"/>
          <p:nvPr/>
        </p:nvSpPr>
        <p:spPr>
          <a:xfrm>
            <a:off x="5276086" y="5010912"/>
            <a:ext cx="6074361" cy="1188720"/>
          </a:xfrm>
          <a:prstGeom prst="rect">
            <a:avLst/>
          </a:prstGeom>
          <a:noFill/>
        </p:spPr>
        <p:txBody>
          <a:bodyPr wrap="square" lIns="0" rIns="0" tIns="0" bIns="0" anchor="t">
            <a:spAutoFit/>
          </a:bodyPr>
          <a:lstStyle/>
          <a:p>
            <a:pPr>
              <a:lnSpc>
                <a:spcPct val="130000"/>
              </a:lnSpc>
              <a:spcBef>
                <a:spcPts val="0"/>
              </a:spcBef>
              <a:spcAft>
                <a:spcPts val="0"/>
              </a:spcAft>
            </a:pPr>
            <a:r>
              <a:rPr sz="1400" b="1">
                <a:solidFill>
                  <a:srgbClr val="FFFFFF"/>
                </a:solidFill>
                <a:latin typeface="Arial"/>
              </a:rPr>
              <a:t>Its tools are our code</a:t>
            </a:r>
          </a:p>
          <a:p>
            <a:pPr>
              <a:lnSpc>
                <a:spcPct val="135000"/>
              </a:lnSpc>
              <a:spcBef>
                <a:spcPts val="600"/>
              </a:spcBef>
              <a:spcAft>
                <a:spcPts val="0"/>
              </a:spcAft>
            </a:pPr>
            <a:r>
              <a:rPr sz="1100" b="0">
                <a:solidFill>
                  <a:srgbClr val="C9D8EE"/>
                </a:solidFill>
                <a:latin typeface="Arial"/>
              </a:rPr>
              <a:t>find_customer  ·  counter  ·  customer_card  ·  propose_entry  ·  propose_correction  ·  propose_removal  ·  propose_details  ·  propose_message  ·  remember  ·  recall  ·  expected_payments  ·  tonight</a:t>
            </a:r>
          </a:p>
        </p:txBody>
      </p:sp>
      <p:sp>
        <p:nvSpPr>
          <p:cNvPr id="13" name="TextBox 12"/>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Replies shown are from our live test with Sarvam. An ordinary card goes in 3 s unless he says no; a close-sounding name, ₹5,000+ or 3× his usual waits for a clear हाँ.</a:t>
            </a:r>
          </a:p>
        </p:txBody>
      </p:sp>
      <p:sp>
        <p:nvSpPr>
          <p:cNvPr id="14" name="TextBox 13"/>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FOR THE CUSTOMER</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Her own copy of every udhaar, inside the Paytm app she already has.</a:t>
            </a:r>
          </a:p>
        </p:txBody>
      </p:sp>
      <p:sp>
        <p:nvSpPr>
          <p:cNvPr id="5" name="Rounded Rectangle 4"/>
          <p:cNvSpPr/>
          <p:nvPr/>
        </p:nvSpPr>
        <p:spPr>
          <a:xfrm>
            <a:off x="574548"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c-ask.png"/>
          <p:cNvPicPr>
            <a:picLocks noChangeAspect="1"/>
          </p:cNvPicPr>
          <p:nvPr/>
        </p:nvPicPr>
        <p:blipFill>
          <a:blip r:embed="rId2"/>
          <a:stretch>
            <a:fillRect/>
          </a:stretch>
        </p:blipFill>
        <p:spPr>
          <a:xfrm>
            <a:off x="612648" y="1645920"/>
            <a:ext cx="1481328" cy="2924673"/>
          </a:xfrm>
          <a:prstGeom prst="rect">
            <a:avLst/>
          </a:prstGeom>
        </p:spPr>
      </p:pic>
      <p:sp>
        <p:nvSpPr>
          <p:cNvPr id="7" name="Rounded Rectangle 6"/>
          <p:cNvSpPr/>
          <p:nvPr/>
        </p:nvSpPr>
        <p:spPr>
          <a:xfrm>
            <a:off x="2257044"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8" name="Picture 7" descr="c-agreed.png"/>
          <p:cNvPicPr>
            <a:picLocks noChangeAspect="1"/>
          </p:cNvPicPr>
          <p:nvPr/>
        </p:nvPicPr>
        <p:blipFill>
          <a:blip r:embed="rId3"/>
          <a:stretch>
            <a:fillRect/>
          </a:stretch>
        </p:blipFill>
        <p:spPr>
          <a:xfrm>
            <a:off x="2295144" y="1645920"/>
            <a:ext cx="1481328" cy="2924673"/>
          </a:xfrm>
          <a:prstGeom prst="rect">
            <a:avLst/>
          </a:prstGeom>
        </p:spPr>
      </p:pic>
      <p:sp>
        <p:nvSpPr>
          <p:cNvPr id="9" name="Rounded Rectangle 8"/>
          <p:cNvSpPr/>
          <p:nvPr/>
        </p:nvSpPr>
        <p:spPr>
          <a:xfrm>
            <a:off x="3939540"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0" name="Picture 9" descr="c-mybook.png"/>
          <p:cNvPicPr>
            <a:picLocks noChangeAspect="1"/>
          </p:cNvPicPr>
          <p:nvPr/>
        </p:nvPicPr>
        <p:blipFill>
          <a:blip r:embed="rId4"/>
          <a:stretch>
            <a:fillRect/>
          </a:stretch>
        </p:blipFill>
        <p:spPr>
          <a:xfrm>
            <a:off x="3977640" y="1645920"/>
            <a:ext cx="1481328" cy="2924673"/>
          </a:xfrm>
          <a:prstGeom prst="rect">
            <a:avLst/>
          </a:prstGeom>
        </p:spPr>
      </p:pic>
      <p:sp>
        <p:nvSpPr>
          <p:cNvPr id="11" name="TextBox 10"/>
          <p:cNvSpPr txBox="1"/>
          <p:nvPr/>
        </p:nvSpPr>
        <p:spPr>
          <a:xfrm>
            <a:off x="566928" y="4681728"/>
            <a:ext cx="4846320" cy="274320"/>
          </a:xfrm>
          <a:prstGeom prst="rect">
            <a:avLst/>
          </a:prstGeom>
          <a:noFill/>
        </p:spPr>
        <p:txBody>
          <a:bodyPr wrap="square" lIns="0" rIns="0" tIns="0" bIns="0" anchor="t">
            <a:spAutoFit/>
          </a:bodyPr>
          <a:lstStyle/>
          <a:p>
            <a:pPr algn="ctr">
              <a:lnSpc>
                <a:spcPct val="130000"/>
              </a:lnSpc>
              <a:spcBef>
                <a:spcPts val="0"/>
              </a:spcBef>
              <a:spcAft>
                <a:spcPts val="0"/>
              </a:spcAft>
            </a:pPr>
            <a:r>
              <a:rPr sz="1000" b="0">
                <a:solidFill>
                  <a:srgbClr val="5B6675"/>
                </a:solidFill>
                <a:latin typeface="Arial"/>
              </a:rPr>
              <a:t>Ask  ·  Agreed  ·  My udhaar</a:t>
            </a:r>
          </a:p>
        </p:txBody>
      </p:sp>
      <p:sp>
        <p:nvSpPr>
          <p:cNvPr id="12" name="Rounded Rectangle 11"/>
          <p:cNvSpPr/>
          <p:nvPr/>
        </p:nvSpPr>
        <p:spPr>
          <a:xfrm>
            <a:off x="5824728" y="1645920"/>
            <a:ext cx="5800039" cy="4498848"/>
          </a:xfrm>
          <a:prstGeom prst="roundRect">
            <a:avLst>
              <a:gd name="adj" fmla="val 6000"/>
            </a:avLst>
          </a:prstGeom>
          <a:solidFill>
            <a:srgbClr val="FFFFFF"/>
          </a:solidFill>
          <a:ln>
            <a:noFill/>
          </a:ln>
        </p:spPr>
        <p:txBody>
          <a:bodyPr rtlCol="0" anchor="ctr"/>
          <a:lstStyle/>
          <a:p>
            <a:pPr algn="ctr"/>
          </a:p>
        </p:txBody>
      </p:sp>
      <p:sp>
        <p:nvSpPr>
          <p:cNvPr id="13" name="TextBox 12"/>
          <p:cNvSpPr txBox="1"/>
          <p:nvPr/>
        </p:nvSpPr>
        <p:spPr>
          <a:xfrm>
            <a:off x="6144768" y="1920240"/>
            <a:ext cx="5159959" cy="4041648"/>
          </a:xfrm>
          <a:prstGeom prst="rect">
            <a:avLst/>
          </a:prstGeom>
          <a:noFill/>
        </p:spPr>
        <p:txBody>
          <a:bodyPr wrap="square" lIns="0" rIns="0" tIns="0" bIns="0" anchor="t">
            <a:spAutoFit/>
          </a:bodyPr>
          <a:lstStyle/>
          <a:p>
            <a:pPr>
              <a:lnSpc>
                <a:spcPct val="130000"/>
              </a:lnSpc>
              <a:spcBef>
                <a:spcPts val="0"/>
              </a:spcBef>
              <a:spcAft>
                <a:spcPts val="200"/>
              </a:spcAft>
            </a:pPr>
            <a:r>
              <a:rPr sz="1600" b="1">
                <a:solidFill>
                  <a:srgbClr val="002970"/>
                </a:solidFill>
                <a:latin typeface="Arial"/>
              </a:rPr>
              <a:t>What the customer can do</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Scan the shop’s udhaar QR. Nothing to download: it is Paytm.</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Ask for udhaar herself: how much, and what for.</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Say yes to each entry, or tap “Not mine” or “Wrong amount”.</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A chat with each shop that reads like a passbook: the total before and after every entry.</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See what she owes across every shop, and pay by UPI, all or part.</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Reminders come privately, in her language, with no due date and no interest.</a:t>
            </a:r>
          </a:p>
        </p:txBody>
      </p:sp>
      <p:sp>
        <p:nvSpPr>
          <p:cNvPr id="14" name="TextBox 13"/>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Screens captured from our working app. Names and amounts are demo data.</a:t>
            </a:r>
          </a:p>
        </p:txBody>
      </p:sp>
      <p:sp>
        <p:nvSpPr>
          <p:cNvPr id="15" name="TextBox 14"/>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FOR THE SHOPKEEPER</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He says it once. The munshi, the Soundbox and the code do the rest.</a:t>
            </a:r>
          </a:p>
        </p:txBody>
      </p:sp>
      <p:sp>
        <p:nvSpPr>
          <p:cNvPr id="5" name="Rounded Rectangle 4"/>
          <p:cNvSpPr/>
          <p:nvPr/>
        </p:nvSpPr>
        <p:spPr>
          <a:xfrm>
            <a:off x="574548"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6" name="Picture 5" descr="m-home.png"/>
          <p:cNvPicPr>
            <a:picLocks noChangeAspect="1"/>
          </p:cNvPicPr>
          <p:nvPr/>
        </p:nvPicPr>
        <p:blipFill>
          <a:blip r:embed="rId2"/>
          <a:stretch>
            <a:fillRect/>
          </a:stretch>
        </p:blipFill>
        <p:spPr>
          <a:xfrm>
            <a:off x="612648" y="1645920"/>
            <a:ext cx="1481328" cy="2924673"/>
          </a:xfrm>
          <a:prstGeom prst="rect">
            <a:avLst/>
          </a:prstGeom>
        </p:spPr>
      </p:pic>
      <p:sp>
        <p:nvSpPr>
          <p:cNvPr id="7" name="Rounded Rectangle 6"/>
          <p:cNvSpPr/>
          <p:nvPr/>
        </p:nvSpPr>
        <p:spPr>
          <a:xfrm>
            <a:off x="2257044"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8" name="Picture 7" descr="m-popup.png"/>
          <p:cNvPicPr>
            <a:picLocks noChangeAspect="1"/>
          </p:cNvPicPr>
          <p:nvPr/>
        </p:nvPicPr>
        <p:blipFill>
          <a:blip r:embed="rId3"/>
          <a:stretch>
            <a:fillRect/>
          </a:stretch>
        </p:blipFill>
        <p:spPr>
          <a:xfrm>
            <a:off x="2295144" y="1645920"/>
            <a:ext cx="1481328" cy="2924673"/>
          </a:xfrm>
          <a:prstGeom prst="rect">
            <a:avLst/>
          </a:prstGeom>
        </p:spPr>
      </p:pic>
      <p:sp>
        <p:nvSpPr>
          <p:cNvPr id="9" name="Rounded Rectangle 8"/>
          <p:cNvSpPr/>
          <p:nvPr/>
        </p:nvSpPr>
        <p:spPr>
          <a:xfrm>
            <a:off x="3939540" y="1607820"/>
            <a:ext cx="1557528" cy="3000873"/>
          </a:xfrm>
          <a:prstGeom prst="roundRect">
            <a:avLst>
              <a:gd name="adj" fmla="val 5000"/>
            </a:avLst>
          </a:prstGeom>
          <a:solidFill>
            <a:srgbClr val="FFFFFF"/>
          </a:solidFill>
          <a:ln w="12700">
            <a:solidFill>
              <a:srgbClr val="D9E4EC"/>
            </a:solidFill>
          </a:ln>
        </p:spPr>
        <p:txBody>
          <a:bodyPr rtlCol="0" anchor="ctr"/>
          <a:lstStyle/>
          <a:p>
            <a:pPr algn="ctr"/>
          </a:p>
        </p:txBody>
      </p:sp>
      <p:pic>
        <p:nvPicPr>
          <p:cNvPr id="10" name="Picture 9" descr="m-tonight.png"/>
          <p:cNvPicPr>
            <a:picLocks noChangeAspect="1"/>
          </p:cNvPicPr>
          <p:nvPr/>
        </p:nvPicPr>
        <p:blipFill>
          <a:blip r:embed="rId4"/>
          <a:stretch>
            <a:fillRect/>
          </a:stretch>
        </p:blipFill>
        <p:spPr>
          <a:xfrm>
            <a:off x="3977640" y="1645920"/>
            <a:ext cx="1481328" cy="2924673"/>
          </a:xfrm>
          <a:prstGeom prst="rect">
            <a:avLst/>
          </a:prstGeom>
        </p:spPr>
      </p:pic>
      <p:sp>
        <p:nvSpPr>
          <p:cNvPr id="11" name="TextBox 10"/>
          <p:cNvSpPr txBox="1"/>
          <p:nvPr/>
        </p:nvSpPr>
        <p:spPr>
          <a:xfrm>
            <a:off x="566928" y="4681728"/>
            <a:ext cx="4846320" cy="274320"/>
          </a:xfrm>
          <a:prstGeom prst="rect">
            <a:avLst/>
          </a:prstGeom>
          <a:noFill/>
        </p:spPr>
        <p:txBody>
          <a:bodyPr wrap="square" lIns="0" rIns="0" tIns="0" bIns="0" anchor="t">
            <a:spAutoFit/>
          </a:bodyPr>
          <a:lstStyle/>
          <a:p>
            <a:pPr algn="ctr">
              <a:lnSpc>
                <a:spcPct val="130000"/>
              </a:lnSpc>
              <a:spcBef>
                <a:spcPts val="0"/>
              </a:spcBef>
              <a:spcAft>
                <a:spcPts val="0"/>
              </a:spcAft>
            </a:pPr>
            <a:r>
              <a:rPr sz="1000" b="0">
                <a:solidFill>
                  <a:srgbClr val="5B6675"/>
                </a:solidFill>
                <a:latin typeface="Arial"/>
              </a:rPr>
              <a:t>Home  ·  A customer asks  ·  Tomorrow</a:t>
            </a:r>
          </a:p>
        </p:txBody>
      </p:sp>
      <p:sp>
        <p:nvSpPr>
          <p:cNvPr id="12" name="Rounded Rectangle 11"/>
          <p:cNvSpPr/>
          <p:nvPr/>
        </p:nvSpPr>
        <p:spPr>
          <a:xfrm>
            <a:off x="5824728" y="1645920"/>
            <a:ext cx="5800039" cy="4498848"/>
          </a:xfrm>
          <a:prstGeom prst="roundRect">
            <a:avLst>
              <a:gd name="adj" fmla="val 6000"/>
            </a:avLst>
          </a:prstGeom>
          <a:solidFill>
            <a:srgbClr val="FFFFFF"/>
          </a:solidFill>
          <a:ln>
            <a:noFill/>
          </a:ln>
        </p:spPr>
        <p:txBody>
          <a:bodyPr rtlCol="0" anchor="ctr"/>
          <a:lstStyle/>
          <a:p>
            <a:pPr algn="ctr"/>
          </a:p>
        </p:txBody>
      </p:sp>
      <p:sp>
        <p:nvSpPr>
          <p:cNvPr id="13" name="TextBox 12"/>
          <p:cNvSpPr txBox="1"/>
          <p:nvPr/>
        </p:nvSpPr>
        <p:spPr>
          <a:xfrm>
            <a:off x="6144768" y="1920240"/>
            <a:ext cx="5159959" cy="4041648"/>
          </a:xfrm>
          <a:prstGeom prst="rect">
            <a:avLst/>
          </a:prstGeom>
          <a:noFill/>
        </p:spPr>
        <p:txBody>
          <a:bodyPr wrap="square" lIns="0" rIns="0" tIns="0" bIns="0" anchor="t">
            <a:spAutoFit/>
          </a:bodyPr>
          <a:lstStyle/>
          <a:p>
            <a:pPr>
              <a:lnSpc>
                <a:spcPct val="130000"/>
              </a:lnSpc>
              <a:spcBef>
                <a:spcPts val="0"/>
              </a:spcBef>
              <a:spcAft>
                <a:spcPts val="200"/>
              </a:spcAft>
            </a:pPr>
            <a:r>
              <a:rPr sz="1600" b="1">
                <a:solidFill>
                  <a:srgbClr val="002970"/>
                </a:solidFill>
                <a:latin typeface="Arial"/>
              </a:rPr>
              <a:t>What the shopkeeper can do</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Say the amount to the munshi in any language, or tap the keypad.</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A customer’s ask pops up on his screen: Yes, No or Change amount.</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The Soundbox says the amount aloud, and never a name.</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Correct an entry or take it back, in the open.</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Ask anything: “कितना बाकी है?”, “इस हफ़्ते कौन देगा?”</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BAHI remembers promises and notes, and holds a reminder for them.</a:t>
            </a:r>
          </a:p>
          <a:p>
            <a:pPr>
              <a:lnSpc>
                <a:spcPct val="130000"/>
              </a:lnSpc>
              <a:spcBef>
                <a:spcPts val="900"/>
              </a:spcBef>
              <a:spcAft>
                <a:spcPts val="0"/>
              </a:spcAft>
            </a:pPr>
            <a:r>
              <a:rPr sz="1300" b="1">
                <a:solidFill>
                  <a:srgbClr val="0077A8"/>
                </a:solidFill>
                <a:latin typeface="Arial"/>
              </a:rPr>
              <a:t>—  </a:t>
            </a:r>
            <a:r>
              <a:rPr sz="1300" b="0">
                <a:solidFill>
                  <a:srgbClr val="1C1C1C"/>
                </a:solidFill>
                <a:latin typeface="Arial"/>
              </a:rPr>
              <a:t>Only people late by their own pattern get a reminder. He can rewrite, move, stop or pause it.</a:t>
            </a:r>
          </a:p>
        </p:txBody>
      </p:sp>
      <p:sp>
        <p:nvSpPr>
          <p:cNvPr id="14" name="TextBox 13"/>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Screens captured from our working app. Names and amounts are demo data.</a:t>
            </a:r>
          </a:p>
        </p:txBody>
      </p:sp>
      <p:sp>
        <p:nvSpPr>
          <p:cNvPr id="15" name="TextBox 14"/>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TECHNOLOGY</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AI understands the words. Plain code decides every number.</a:t>
            </a:r>
          </a:p>
        </p:txBody>
      </p:sp>
      <p:sp>
        <p:nvSpPr>
          <p:cNvPr id="5" name="TextBox 4"/>
          <p:cNvSpPr txBox="1"/>
          <p:nvPr/>
        </p:nvSpPr>
        <p:spPr>
          <a:xfrm>
            <a:off x="566928" y="157276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950" b="1" spc="120">
                <a:solidFill>
                  <a:srgbClr val="5B6675"/>
                </a:solidFill>
                <a:latin typeface="Arial"/>
              </a:rPr>
              <a:t>DURING THE DAY — RECORDING AN ENTRY</a:t>
            </a:r>
          </a:p>
        </p:txBody>
      </p:sp>
      <p:sp>
        <p:nvSpPr>
          <p:cNvPr id="6" name="Rounded Rectangle 5"/>
          <p:cNvSpPr/>
          <p:nvPr/>
        </p:nvSpPr>
        <p:spPr>
          <a:xfrm>
            <a:off x="566928" y="1938528"/>
            <a:ext cx="1831177" cy="960120"/>
          </a:xfrm>
          <a:prstGeom prst="roundRect">
            <a:avLst>
              <a:gd name="adj" fmla="val 12000"/>
            </a:avLst>
          </a:prstGeom>
          <a:solidFill>
            <a:srgbClr val="FFFFFF"/>
          </a:solidFill>
          <a:ln>
            <a:noFill/>
          </a:ln>
        </p:spPr>
        <p:txBody>
          <a:bodyPr rtlCol="0" anchor="ctr"/>
          <a:lstStyle/>
          <a:p>
            <a:pPr algn="ctr"/>
          </a:p>
        </p:txBody>
      </p:sp>
      <p:sp>
        <p:nvSpPr>
          <p:cNvPr id="7" name="TextBox 6"/>
          <p:cNvSpPr txBox="1"/>
          <p:nvPr/>
        </p:nvSpPr>
        <p:spPr>
          <a:xfrm>
            <a:off x="676656" y="1938528"/>
            <a:ext cx="1611721"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Shopkeeper speaks</a:t>
            </a:r>
          </a:p>
          <a:p>
            <a:pPr algn="ctr">
              <a:lnSpc>
                <a:spcPct val="120000"/>
              </a:lnSpc>
              <a:spcBef>
                <a:spcPts val="300"/>
              </a:spcBef>
              <a:spcAft>
                <a:spcPts val="0"/>
              </a:spcAft>
            </a:pPr>
            <a:r>
              <a:rPr sz="1100" b="0">
                <a:solidFill>
                  <a:srgbClr val="5B6675"/>
                </a:solidFill>
                <a:latin typeface="Arial"/>
              </a:rPr>
              <a:t>“Kavita ko do sau”</a:t>
            </a:r>
          </a:p>
        </p:txBody>
      </p:sp>
      <p:cxnSp>
        <p:nvCxnSpPr>
          <p:cNvPr id="8" name="Connector 7"/>
          <p:cNvCxnSpPr/>
          <p:nvPr/>
        </p:nvCxnSpPr>
        <p:spPr>
          <a:xfrm>
            <a:off x="2462113" y="2418588"/>
            <a:ext cx="347472" cy="0"/>
          </a:xfrm>
          <a:prstGeom prst="line">
            <a:avLst/>
          </a:prstGeom>
          <a:ln w="22225">
            <a:solidFill>
              <a:srgbClr val="002970"/>
            </a:solidFill>
            <a:tailEnd type="triangle" w="med" len="med"/>
          </a:ln>
        </p:spPr>
      </p:cxnSp>
      <p:sp>
        <p:nvSpPr>
          <p:cNvPr id="9" name="Rounded Rectangle 8"/>
          <p:cNvSpPr/>
          <p:nvPr/>
        </p:nvSpPr>
        <p:spPr>
          <a:xfrm>
            <a:off x="2873593" y="1938528"/>
            <a:ext cx="1831177" cy="960120"/>
          </a:xfrm>
          <a:prstGeom prst="roundRect">
            <a:avLst>
              <a:gd name="adj" fmla="val 12000"/>
            </a:avLst>
          </a:prstGeom>
          <a:solidFill>
            <a:srgbClr val="FFFFFF"/>
          </a:solidFill>
          <a:ln>
            <a:noFill/>
          </a:ln>
        </p:spPr>
        <p:txBody>
          <a:bodyPr rtlCol="0" anchor="ctr"/>
          <a:lstStyle/>
          <a:p>
            <a:pPr algn="ctr"/>
          </a:p>
        </p:txBody>
      </p:sp>
      <p:sp>
        <p:nvSpPr>
          <p:cNvPr id="10" name="TextBox 9"/>
          <p:cNvSpPr txBox="1"/>
          <p:nvPr/>
        </p:nvSpPr>
        <p:spPr>
          <a:xfrm>
            <a:off x="2983321" y="1938528"/>
            <a:ext cx="1611721"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Sarvam Saaras v4</a:t>
            </a:r>
          </a:p>
          <a:p>
            <a:pPr algn="ctr">
              <a:lnSpc>
                <a:spcPct val="120000"/>
              </a:lnSpc>
              <a:spcBef>
                <a:spcPts val="300"/>
              </a:spcBef>
              <a:spcAft>
                <a:spcPts val="0"/>
              </a:spcAft>
            </a:pPr>
            <a:r>
              <a:rPr sz="1100" b="0">
                <a:solidFill>
                  <a:srgbClr val="5B6675"/>
                </a:solidFill>
                <a:latin typeface="Arial"/>
              </a:rPr>
              <a:t>speech → text, any language</a:t>
            </a:r>
          </a:p>
        </p:txBody>
      </p:sp>
      <p:sp>
        <p:nvSpPr>
          <p:cNvPr id="11" name="Rounded Rectangle 10"/>
          <p:cNvSpPr/>
          <p:nvPr/>
        </p:nvSpPr>
        <p:spPr>
          <a:xfrm>
            <a:off x="3001609" y="1819656"/>
            <a:ext cx="420624" cy="237744"/>
          </a:xfrm>
          <a:prstGeom prst="roundRect">
            <a:avLst>
              <a:gd name="adj" fmla="val 50000"/>
            </a:avLst>
          </a:prstGeom>
          <a:solidFill>
            <a:srgbClr val="00BAF2"/>
          </a:solidFill>
          <a:ln>
            <a:noFill/>
          </a:ln>
        </p:spPr>
        <p:txBody>
          <a:bodyPr rtlCol="0" anchor="ctr"/>
          <a:lstStyle/>
          <a:p>
            <a:pPr algn="ctr"/>
          </a:p>
        </p:txBody>
      </p:sp>
      <p:sp>
        <p:nvSpPr>
          <p:cNvPr id="12" name="TextBox 11"/>
          <p:cNvSpPr txBox="1"/>
          <p:nvPr/>
        </p:nvSpPr>
        <p:spPr>
          <a:xfrm>
            <a:off x="3001609" y="1819656"/>
            <a:ext cx="42062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002970"/>
                </a:solidFill>
                <a:latin typeface="Arial"/>
              </a:rPr>
              <a:t>AI</a:t>
            </a:r>
          </a:p>
        </p:txBody>
      </p:sp>
      <p:cxnSp>
        <p:nvCxnSpPr>
          <p:cNvPr id="13" name="Connector 12"/>
          <p:cNvCxnSpPr/>
          <p:nvPr/>
        </p:nvCxnSpPr>
        <p:spPr>
          <a:xfrm>
            <a:off x="4768778" y="2418588"/>
            <a:ext cx="347472" cy="0"/>
          </a:xfrm>
          <a:prstGeom prst="line">
            <a:avLst/>
          </a:prstGeom>
          <a:ln w="22225">
            <a:solidFill>
              <a:srgbClr val="002970"/>
            </a:solidFill>
            <a:tailEnd type="triangle" w="med" len="med"/>
          </a:ln>
        </p:spPr>
      </p:cxnSp>
      <p:sp>
        <p:nvSpPr>
          <p:cNvPr id="14" name="Rounded Rectangle 13"/>
          <p:cNvSpPr/>
          <p:nvPr/>
        </p:nvSpPr>
        <p:spPr>
          <a:xfrm>
            <a:off x="5180258" y="1938528"/>
            <a:ext cx="1831177" cy="960120"/>
          </a:xfrm>
          <a:prstGeom prst="roundRect">
            <a:avLst>
              <a:gd name="adj" fmla="val 12000"/>
            </a:avLst>
          </a:prstGeom>
          <a:solidFill>
            <a:srgbClr val="FFFFFF"/>
          </a:solidFill>
          <a:ln>
            <a:noFill/>
          </a:ln>
        </p:spPr>
        <p:txBody>
          <a:bodyPr rtlCol="0" anchor="ctr"/>
          <a:lstStyle/>
          <a:p>
            <a:pPr algn="ctr"/>
          </a:p>
        </p:txBody>
      </p:sp>
      <p:sp>
        <p:nvSpPr>
          <p:cNvPr id="15" name="TextBox 14"/>
          <p:cNvSpPr txBox="1"/>
          <p:nvPr/>
        </p:nvSpPr>
        <p:spPr>
          <a:xfrm>
            <a:off x="5289986" y="1938528"/>
            <a:ext cx="1611721"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The munshi</a:t>
            </a:r>
          </a:p>
          <a:p>
            <a:pPr algn="ctr">
              <a:lnSpc>
                <a:spcPct val="120000"/>
              </a:lnSpc>
              <a:spcBef>
                <a:spcPts val="300"/>
              </a:spcBef>
              <a:spcAft>
                <a:spcPts val="0"/>
              </a:spcAft>
            </a:pPr>
            <a:r>
              <a:rPr sz="1100" b="0">
                <a:solidFill>
                  <a:srgbClr val="5B6675"/>
                </a:solidFill>
                <a:latin typeface="Arial"/>
              </a:rPr>
              <a:t>Sarvam-105B calls our tools</a:t>
            </a:r>
          </a:p>
        </p:txBody>
      </p:sp>
      <p:sp>
        <p:nvSpPr>
          <p:cNvPr id="16" name="Rounded Rectangle 15"/>
          <p:cNvSpPr/>
          <p:nvPr/>
        </p:nvSpPr>
        <p:spPr>
          <a:xfrm>
            <a:off x="5308274" y="1819656"/>
            <a:ext cx="420624" cy="237744"/>
          </a:xfrm>
          <a:prstGeom prst="roundRect">
            <a:avLst>
              <a:gd name="adj" fmla="val 50000"/>
            </a:avLst>
          </a:prstGeom>
          <a:solidFill>
            <a:srgbClr val="00BAF2"/>
          </a:solidFill>
          <a:ln>
            <a:noFill/>
          </a:ln>
        </p:spPr>
        <p:txBody>
          <a:bodyPr rtlCol="0" anchor="ctr"/>
          <a:lstStyle/>
          <a:p>
            <a:pPr algn="ctr"/>
          </a:p>
        </p:txBody>
      </p:sp>
      <p:sp>
        <p:nvSpPr>
          <p:cNvPr id="17" name="TextBox 16"/>
          <p:cNvSpPr txBox="1"/>
          <p:nvPr/>
        </p:nvSpPr>
        <p:spPr>
          <a:xfrm>
            <a:off x="5308274" y="1819656"/>
            <a:ext cx="42062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002970"/>
                </a:solidFill>
                <a:latin typeface="Arial"/>
              </a:rPr>
              <a:t>AI</a:t>
            </a:r>
          </a:p>
        </p:txBody>
      </p:sp>
      <p:cxnSp>
        <p:nvCxnSpPr>
          <p:cNvPr id="18" name="Connector 17"/>
          <p:cNvCxnSpPr/>
          <p:nvPr/>
        </p:nvCxnSpPr>
        <p:spPr>
          <a:xfrm>
            <a:off x="7075443" y="2418588"/>
            <a:ext cx="347472" cy="0"/>
          </a:xfrm>
          <a:prstGeom prst="line">
            <a:avLst/>
          </a:prstGeom>
          <a:ln w="22225">
            <a:solidFill>
              <a:srgbClr val="002970"/>
            </a:solidFill>
            <a:tailEnd type="triangle" w="med" len="med"/>
          </a:ln>
        </p:spPr>
      </p:cxnSp>
      <p:sp>
        <p:nvSpPr>
          <p:cNvPr id="19" name="Rounded Rectangle 18"/>
          <p:cNvSpPr/>
          <p:nvPr/>
        </p:nvSpPr>
        <p:spPr>
          <a:xfrm>
            <a:off x="7486923" y="1938528"/>
            <a:ext cx="1831177" cy="960120"/>
          </a:xfrm>
          <a:prstGeom prst="roundRect">
            <a:avLst>
              <a:gd name="adj" fmla="val 12000"/>
            </a:avLst>
          </a:prstGeom>
          <a:solidFill>
            <a:srgbClr val="FFFFFF"/>
          </a:solidFill>
          <a:ln>
            <a:noFill/>
          </a:ln>
        </p:spPr>
        <p:txBody>
          <a:bodyPr rtlCol="0" anchor="ctr"/>
          <a:lstStyle/>
          <a:p>
            <a:pPr algn="ctr"/>
          </a:p>
        </p:txBody>
      </p:sp>
      <p:sp>
        <p:nvSpPr>
          <p:cNvPr id="20" name="TextBox 19"/>
          <p:cNvSpPr txBox="1"/>
          <p:nvPr/>
        </p:nvSpPr>
        <p:spPr>
          <a:xfrm>
            <a:off x="7596651" y="1938528"/>
            <a:ext cx="1611721"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Our checks</a:t>
            </a:r>
          </a:p>
          <a:p>
            <a:pPr algn="ctr">
              <a:lnSpc>
                <a:spcPct val="120000"/>
              </a:lnSpc>
              <a:spcBef>
                <a:spcPts val="300"/>
              </a:spcBef>
              <a:spcAft>
                <a:spcPts val="0"/>
              </a:spcAft>
            </a:pPr>
            <a:r>
              <a:rPr sz="1100" b="0">
                <a:solidFill>
                  <a:srgbClr val="5B6675"/>
                </a:solidFill>
                <a:latin typeface="Arial"/>
              </a:rPr>
              <a:t>finds by sound; the rupees match the words</a:t>
            </a:r>
          </a:p>
        </p:txBody>
      </p:sp>
      <p:sp>
        <p:nvSpPr>
          <p:cNvPr id="21" name="Rounded Rectangle 20"/>
          <p:cNvSpPr/>
          <p:nvPr/>
        </p:nvSpPr>
        <p:spPr>
          <a:xfrm>
            <a:off x="7614939" y="1819656"/>
            <a:ext cx="603504" cy="237744"/>
          </a:xfrm>
          <a:prstGeom prst="roundRect">
            <a:avLst>
              <a:gd name="adj" fmla="val 50000"/>
            </a:avLst>
          </a:prstGeom>
          <a:solidFill>
            <a:srgbClr val="002970"/>
          </a:solidFill>
          <a:ln>
            <a:noFill/>
          </a:ln>
        </p:spPr>
        <p:txBody>
          <a:bodyPr rtlCol="0" anchor="ctr"/>
          <a:lstStyle/>
          <a:p>
            <a:pPr algn="ctr"/>
          </a:p>
        </p:txBody>
      </p:sp>
      <p:sp>
        <p:nvSpPr>
          <p:cNvPr id="22" name="TextBox 21"/>
          <p:cNvSpPr txBox="1"/>
          <p:nvPr/>
        </p:nvSpPr>
        <p:spPr>
          <a:xfrm>
            <a:off x="7614939" y="1819656"/>
            <a:ext cx="60350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FFFFFF"/>
                </a:solidFill>
                <a:latin typeface="Arial"/>
              </a:rPr>
              <a:t>CODE</a:t>
            </a:r>
          </a:p>
        </p:txBody>
      </p:sp>
      <p:cxnSp>
        <p:nvCxnSpPr>
          <p:cNvPr id="23" name="Connector 22"/>
          <p:cNvCxnSpPr/>
          <p:nvPr/>
        </p:nvCxnSpPr>
        <p:spPr>
          <a:xfrm>
            <a:off x="9382108" y="2418588"/>
            <a:ext cx="347472" cy="0"/>
          </a:xfrm>
          <a:prstGeom prst="line">
            <a:avLst/>
          </a:prstGeom>
          <a:ln w="22225">
            <a:solidFill>
              <a:srgbClr val="002970"/>
            </a:solidFill>
            <a:tailEnd type="triangle" w="med" len="med"/>
          </a:ln>
        </p:spPr>
      </p:cxnSp>
      <p:sp>
        <p:nvSpPr>
          <p:cNvPr id="24" name="Rounded Rectangle 23"/>
          <p:cNvSpPr/>
          <p:nvPr/>
        </p:nvSpPr>
        <p:spPr>
          <a:xfrm>
            <a:off x="9793588" y="1938528"/>
            <a:ext cx="1831177" cy="960120"/>
          </a:xfrm>
          <a:prstGeom prst="roundRect">
            <a:avLst>
              <a:gd name="adj" fmla="val 12000"/>
            </a:avLst>
          </a:prstGeom>
          <a:solidFill>
            <a:srgbClr val="FFFFFF"/>
          </a:solidFill>
          <a:ln>
            <a:noFill/>
          </a:ln>
        </p:spPr>
        <p:txBody>
          <a:bodyPr rtlCol="0" anchor="ctr"/>
          <a:lstStyle/>
          <a:p>
            <a:pPr algn="ctr"/>
          </a:p>
        </p:txBody>
      </p:sp>
      <p:sp>
        <p:nvSpPr>
          <p:cNvPr id="25" name="TextBox 24"/>
          <p:cNvSpPr txBox="1"/>
          <p:nvPr/>
        </p:nvSpPr>
        <p:spPr>
          <a:xfrm>
            <a:off x="9903316" y="1938528"/>
            <a:ext cx="1611721"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Two yeses</a:t>
            </a:r>
          </a:p>
          <a:p>
            <a:pPr algn="ctr">
              <a:lnSpc>
                <a:spcPct val="120000"/>
              </a:lnSpc>
              <a:spcBef>
                <a:spcPts val="300"/>
              </a:spcBef>
              <a:spcAft>
                <a:spcPts val="0"/>
              </a:spcAft>
            </a:pPr>
            <a:r>
              <a:rPr sz="1100" b="0">
                <a:solidFill>
                  <a:srgbClr val="5B6675"/>
                </a:solidFill>
                <a:latin typeface="Arial"/>
              </a:rPr>
              <a:t>his, then hers, then the ledger</a:t>
            </a:r>
          </a:p>
        </p:txBody>
      </p:sp>
      <p:sp>
        <p:nvSpPr>
          <p:cNvPr id="26" name="TextBox 25"/>
          <p:cNvSpPr txBox="1"/>
          <p:nvPr/>
        </p:nvSpPr>
        <p:spPr>
          <a:xfrm>
            <a:off x="566928" y="3246120"/>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950" b="1" spc="120">
                <a:solidFill>
                  <a:srgbClr val="5B6675"/>
                </a:solidFill>
                <a:latin typeface="Arial"/>
              </a:rPr>
              <a:t>EVERY NIGHT — DECIDING WHO HEARS FROM US</a:t>
            </a:r>
          </a:p>
        </p:txBody>
      </p:sp>
      <p:sp>
        <p:nvSpPr>
          <p:cNvPr id="27" name="Rounded Rectangle 26"/>
          <p:cNvSpPr/>
          <p:nvPr/>
        </p:nvSpPr>
        <p:spPr>
          <a:xfrm>
            <a:off x="566928" y="3611880"/>
            <a:ext cx="2407843" cy="960120"/>
          </a:xfrm>
          <a:prstGeom prst="roundRect">
            <a:avLst>
              <a:gd name="adj" fmla="val 12000"/>
            </a:avLst>
          </a:prstGeom>
          <a:solidFill>
            <a:srgbClr val="FFFFFF"/>
          </a:solidFill>
          <a:ln>
            <a:noFill/>
          </a:ln>
        </p:spPr>
        <p:txBody>
          <a:bodyPr rtlCol="0" anchor="ctr"/>
          <a:lstStyle/>
          <a:p>
            <a:pPr algn="ctr"/>
          </a:p>
        </p:txBody>
      </p:sp>
      <p:sp>
        <p:nvSpPr>
          <p:cNvPr id="28" name="TextBox 27"/>
          <p:cNvSpPr txBox="1"/>
          <p:nvPr/>
        </p:nvSpPr>
        <p:spPr>
          <a:xfrm>
            <a:off x="676656" y="3611880"/>
            <a:ext cx="2188387"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Timing engine</a:t>
            </a:r>
          </a:p>
          <a:p>
            <a:pPr algn="ctr">
              <a:lnSpc>
                <a:spcPct val="120000"/>
              </a:lnSpc>
              <a:spcBef>
                <a:spcPts val="300"/>
              </a:spcBef>
              <a:spcAft>
                <a:spcPts val="0"/>
              </a:spcAft>
            </a:pPr>
            <a:r>
              <a:rPr sz="1100" b="0">
                <a:solidFill>
                  <a:srgbClr val="5B6675"/>
                </a:solidFill>
                <a:latin typeface="Arial"/>
              </a:rPr>
              <a:t>each customer’s own longest gap</a:t>
            </a:r>
          </a:p>
        </p:txBody>
      </p:sp>
      <p:sp>
        <p:nvSpPr>
          <p:cNvPr id="29" name="Rounded Rectangle 28"/>
          <p:cNvSpPr/>
          <p:nvPr/>
        </p:nvSpPr>
        <p:spPr>
          <a:xfrm>
            <a:off x="694944" y="3493008"/>
            <a:ext cx="603504" cy="237744"/>
          </a:xfrm>
          <a:prstGeom prst="roundRect">
            <a:avLst>
              <a:gd name="adj" fmla="val 50000"/>
            </a:avLst>
          </a:prstGeom>
          <a:solidFill>
            <a:srgbClr val="002970"/>
          </a:solidFill>
          <a:ln>
            <a:noFill/>
          </a:ln>
        </p:spPr>
        <p:txBody>
          <a:bodyPr rtlCol="0" anchor="ctr"/>
          <a:lstStyle/>
          <a:p>
            <a:pPr algn="ctr"/>
          </a:p>
        </p:txBody>
      </p:sp>
      <p:sp>
        <p:nvSpPr>
          <p:cNvPr id="30" name="TextBox 29"/>
          <p:cNvSpPr txBox="1"/>
          <p:nvPr/>
        </p:nvSpPr>
        <p:spPr>
          <a:xfrm>
            <a:off x="694944" y="3493008"/>
            <a:ext cx="60350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FFFFFF"/>
                </a:solidFill>
                <a:latin typeface="Arial"/>
              </a:rPr>
              <a:t>CODE</a:t>
            </a:r>
          </a:p>
        </p:txBody>
      </p:sp>
      <p:cxnSp>
        <p:nvCxnSpPr>
          <p:cNvPr id="31" name="Connector 30"/>
          <p:cNvCxnSpPr/>
          <p:nvPr/>
        </p:nvCxnSpPr>
        <p:spPr>
          <a:xfrm>
            <a:off x="3038779" y="4091940"/>
            <a:ext cx="347472" cy="0"/>
          </a:xfrm>
          <a:prstGeom prst="line">
            <a:avLst/>
          </a:prstGeom>
          <a:ln w="22225">
            <a:solidFill>
              <a:srgbClr val="002970"/>
            </a:solidFill>
            <a:tailEnd type="triangle" w="med" len="med"/>
          </a:ln>
        </p:spPr>
      </p:cxnSp>
      <p:sp>
        <p:nvSpPr>
          <p:cNvPr id="32" name="Rounded Rectangle 31"/>
          <p:cNvSpPr/>
          <p:nvPr/>
        </p:nvSpPr>
        <p:spPr>
          <a:xfrm>
            <a:off x="3450259" y="3611880"/>
            <a:ext cx="2407843" cy="960120"/>
          </a:xfrm>
          <a:prstGeom prst="roundRect">
            <a:avLst>
              <a:gd name="adj" fmla="val 12000"/>
            </a:avLst>
          </a:prstGeom>
          <a:solidFill>
            <a:srgbClr val="FFFFFF"/>
          </a:solidFill>
          <a:ln>
            <a:noFill/>
          </a:ln>
        </p:spPr>
        <p:txBody>
          <a:bodyPr rtlCol="0" anchor="ctr"/>
          <a:lstStyle/>
          <a:p>
            <a:pPr algn="ctr"/>
          </a:p>
        </p:txBody>
      </p:sp>
      <p:sp>
        <p:nvSpPr>
          <p:cNvPr id="33" name="TextBox 32"/>
          <p:cNvSpPr txBox="1"/>
          <p:nvPr/>
        </p:nvSpPr>
        <p:spPr>
          <a:xfrm>
            <a:off x="3559987" y="3611880"/>
            <a:ext cx="2188387"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What was said</a:t>
            </a:r>
          </a:p>
          <a:p>
            <a:pPr algn="ctr">
              <a:lnSpc>
                <a:spcPct val="120000"/>
              </a:lnSpc>
              <a:spcBef>
                <a:spcPts val="300"/>
              </a:spcBef>
              <a:spcAft>
                <a:spcPts val="0"/>
              </a:spcAft>
            </a:pPr>
            <a:r>
              <a:rPr sz="1100" b="0">
                <a:solidFill>
                  <a:srgbClr val="5B6675"/>
                </a:solidFill>
                <a:latin typeface="Arial"/>
              </a:rPr>
              <a:t>a promise or a note holds it</a:t>
            </a:r>
          </a:p>
        </p:txBody>
      </p:sp>
      <p:sp>
        <p:nvSpPr>
          <p:cNvPr id="34" name="Rounded Rectangle 33"/>
          <p:cNvSpPr/>
          <p:nvPr/>
        </p:nvSpPr>
        <p:spPr>
          <a:xfrm>
            <a:off x="3578275" y="3493008"/>
            <a:ext cx="603504" cy="237744"/>
          </a:xfrm>
          <a:prstGeom prst="roundRect">
            <a:avLst>
              <a:gd name="adj" fmla="val 50000"/>
            </a:avLst>
          </a:prstGeom>
          <a:solidFill>
            <a:srgbClr val="002970"/>
          </a:solidFill>
          <a:ln>
            <a:noFill/>
          </a:ln>
        </p:spPr>
        <p:txBody>
          <a:bodyPr rtlCol="0" anchor="ctr"/>
          <a:lstStyle/>
          <a:p>
            <a:pPr algn="ctr"/>
          </a:p>
        </p:txBody>
      </p:sp>
      <p:sp>
        <p:nvSpPr>
          <p:cNvPr id="35" name="TextBox 34"/>
          <p:cNvSpPr txBox="1"/>
          <p:nvPr/>
        </p:nvSpPr>
        <p:spPr>
          <a:xfrm>
            <a:off x="3578275" y="3493008"/>
            <a:ext cx="60350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FFFFFF"/>
                </a:solidFill>
                <a:latin typeface="Arial"/>
              </a:rPr>
              <a:t>CODE</a:t>
            </a:r>
          </a:p>
        </p:txBody>
      </p:sp>
      <p:cxnSp>
        <p:nvCxnSpPr>
          <p:cNvPr id="36" name="Connector 35"/>
          <p:cNvCxnSpPr/>
          <p:nvPr/>
        </p:nvCxnSpPr>
        <p:spPr>
          <a:xfrm>
            <a:off x="5922110" y="4091940"/>
            <a:ext cx="347472" cy="0"/>
          </a:xfrm>
          <a:prstGeom prst="line">
            <a:avLst/>
          </a:prstGeom>
          <a:ln w="22225">
            <a:solidFill>
              <a:srgbClr val="002970"/>
            </a:solidFill>
            <a:tailEnd type="triangle" w="med" len="med"/>
          </a:ln>
        </p:spPr>
      </p:cxnSp>
      <p:sp>
        <p:nvSpPr>
          <p:cNvPr id="37" name="Rounded Rectangle 36"/>
          <p:cNvSpPr/>
          <p:nvPr/>
        </p:nvSpPr>
        <p:spPr>
          <a:xfrm>
            <a:off x="6333590" y="3611880"/>
            <a:ext cx="2407843" cy="960120"/>
          </a:xfrm>
          <a:prstGeom prst="roundRect">
            <a:avLst>
              <a:gd name="adj" fmla="val 12000"/>
            </a:avLst>
          </a:prstGeom>
          <a:solidFill>
            <a:srgbClr val="FFFFFF"/>
          </a:solidFill>
          <a:ln>
            <a:noFill/>
          </a:ln>
        </p:spPr>
        <p:txBody>
          <a:bodyPr rtlCol="0" anchor="ctr"/>
          <a:lstStyle/>
          <a:p>
            <a:pPr algn="ctr"/>
          </a:p>
        </p:txBody>
      </p:sp>
      <p:sp>
        <p:nvSpPr>
          <p:cNvPr id="38" name="TextBox 37"/>
          <p:cNvSpPr txBox="1"/>
          <p:nvPr/>
        </p:nvSpPr>
        <p:spPr>
          <a:xfrm>
            <a:off x="6443318" y="3611880"/>
            <a:ext cx="2188387"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The munshi writes</a:t>
            </a:r>
          </a:p>
          <a:p>
            <a:pPr algn="ctr">
              <a:lnSpc>
                <a:spcPct val="120000"/>
              </a:lnSpc>
              <a:spcBef>
                <a:spcPts val="300"/>
              </a:spcBef>
              <a:spcAft>
                <a:spcPts val="0"/>
              </a:spcAft>
            </a:pPr>
            <a:r>
              <a:rPr sz="1100" b="0">
                <a:solidFill>
                  <a:srgbClr val="5B6675"/>
                </a:solidFill>
                <a:latin typeface="Arial"/>
              </a:rPr>
              <a:t>the words, in her language</a:t>
            </a:r>
          </a:p>
        </p:txBody>
      </p:sp>
      <p:sp>
        <p:nvSpPr>
          <p:cNvPr id="39" name="Rounded Rectangle 38"/>
          <p:cNvSpPr/>
          <p:nvPr/>
        </p:nvSpPr>
        <p:spPr>
          <a:xfrm>
            <a:off x="6461606" y="3493008"/>
            <a:ext cx="420624" cy="237744"/>
          </a:xfrm>
          <a:prstGeom prst="roundRect">
            <a:avLst>
              <a:gd name="adj" fmla="val 50000"/>
            </a:avLst>
          </a:prstGeom>
          <a:solidFill>
            <a:srgbClr val="00BAF2"/>
          </a:solidFill>
          <a:ln>
            <a:noFill/>
          </a:ln>
        </p:spPr>
        <p:txBody>
          <a:bodyPr rtlCol="0" anchor="ctr"/>
          <a:lstStyle/>
          <a:p>
            <a:pPr algn="ctr"/>
          </a:p>
        </p:txBody>
      </p:sp>
      <p:sp>
        <p:nvSpPr>
          <p:cNvPr id="40" name="TextBox 39"/>
          <p:cNvSpPr txBox="1"/>
          <p:nvPr/>
        </p:nvSpPr>
        <p:spPr>
          <a:xfrm>
            <a:off x="6461606" y="3493008"/>
            <a:ext cx="42062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002970"/>
                </a:solidFill>
                <a:latin typeface="Arial"/>
              </a:rPr>
              <a:t>AI</a:t>
            </a:r>
          </a:p>
        </p:txBody>
      </p:sp>
      <p:cxnSp>
        <p:nvCxnSpPr>
          <p:cNvPr id="41" name="Connector 40"/>
          <p:cNvCxnSpPr/>
          <p:nvPr/>
        </p:nvCxnSpPr>
        <p:spPr>
          <a:xfrm>
            <a:off x="8805441" y="4091940"/>
            <a:ext cx="347472" cy="0"/>
          </a:xfrm>
          <a:prstGeom prst="line">
            <a:avLst/>
          </a:prstGeom>
          <a:ln w="22225">
            <a:solidFill>
              <a:srgbClr val="002970"/>
            </a:solidFill>
            <a:tailEnd type="triangle" w="med" len="med"/>
          </a:ln>
        </p:spPr>
      </p:cxnSp>
      <p:sp>
        <p:nvSpPr>
          <p:cNvPr id="42" name="Rounded Rectangle 41"/>
          <p:cNvSpPr/>
          <p:nvPr/>
        </p:nvSpPr>
        <p:spPr>
          <a:xfrm>
            <a:off x="9216921" y="3611880"/>
            <a:ext cx="2407843" cy="960120"/>
          </a:xfrm>
          <a:prstGeom prst="roundRect">
            <a:avLst>
              <a:gd name="adj" fmla="val 12000"/>
            </a:avLst>
          </a:prstGeom>
          <a:solidFill>
            <a:srgbClr val="FFFFFF"/>
          </a:solidFill>
          <a:ln>
            <a:noFill/>
          </a:ln>
        </p:spPr>
        <p:txBody>
          <a:bodyPr rtlCol="0" anchor="ctr"/>
          <a:lstStyle/>
          <a:p>
            <a:pPr algn="ctr"/>
          </a:p>
        </p:txBody>
      </p:sp>
      <p:sp>
        <p:nvSpPr>
          <p:cNvPr id="43" name="TextBox 42"/>
          <p:cNvSpPr txBox="1"/>
          <p:nvPr/>
        </p:nvSpPr>
        <p:spPr>
          <a:xfrm>
            <a:off x="9326649" y="3611880"/>
            <a:ext cx="2188387" cy="960120"/>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002970"/>
                </a:solidFill>
                <a:latin typeface="Arial"/>
              </a:rPr>
              <a:t>Our check</a:t>
            </a:r>
          </a:p>
          <a:p>
            <a:pPr algn="ctr">
              <a:lnSpc>
                <a:spcPct val="120000"/>
              </a:lnSpc>
              <a:spcBef>
                <a:spcPts val="300"/>
              </a:spcBef>
              <a:spcAft>
                <a:spcPts val="0"/>
              </a:spcAft>
            </a:pPr>
            <a:r>
              <a:rPr sz="1100" b="0">
                <a:solidFill>
                  <a:srgbClr val="5B6675"/>
                </a:solidFill>
                <a:latin typeface="Arial"/>
              </a:rPr>
              <a:t>the only figure is her balance</a:t>
            </a:r>
          </a:p>
        </p:txBody>
      </p:sp>
      <p:sp>
        <p:nvSpPr>
          <p:cNvPr id="44" name="Rounded Rectangle 43"/>
          <p:cNvSpPr/>
          <p:nvPr/>
        </p:nvSpPr>
        <p:spPr>
          <a:xfrm>
            <a:off x="9344937" y="3493008"/>
            <a:ext cx="603504" cy="237744"/>
          </a:xfrm>
          <a:prstGeom prst="roundRect">
            <a:avLst>
              <a:gd name="adj" fmla="val 50000"/>
            </a:avLst>
          </a:prstGeom>
          <a:solidFill>
            <a:srgbClr val="002970"/>
          </a:solidFill>
          <a:ln>
            <a:noFill/>
          </a:ln>
        </p:spPr>
        <p:txBody>
          <a:bodyPr rtlCol="0" anchor="ctr"/>
          <a:lstStyle/>
          <a:p>
            <a:pPr algn="ctr"/>
          </a:p>
        </p:txBody>
      </p:sp>
      <p:sp>
        <p:nvSpPr>
          <p:cNvPr id="45" name="TextBox 44"/>
          <p:cNvSpPr txBox="1"/>
          <p:nvPr/>
        </p:nvSpPr>
        <p:spPr>
          <a:xfrm>
            <a:off x="9344937" y="3493008"/>
            <a:ext cx="603504" cy="237744"/>
          </a:xfrm>
          <a:prstGeom prst="rect">
            <a:avLst/>
          </a:prstGeom>
          <a:noFill/>
        </p:spPr>
        <p:txBody>
          <a:bodyPr wrap="square" lIns="0" rIns="0" tIns="0" bIns="0" anchor="ctr">
            <a:spAutoFit/>
          </a:bodyPr>
          <a:lstStyle/>
          <a:p>
            <a:pPr algn="ctr">
              <a:lnSpc>
                <a:spcPct val="100000"/>
              </a:lnSpc>
              <a:spcBef>
                <a:spcPts val="0"/>
              </a:spcBef>
              <a:spcAft>
                <a:spcPts val="0"/>
              </a:spcAft>
            </a:pPr>
            <a:r>
              <a:rPr sz="900" b="1" spc="80">
                <a:solidFill>
                  <a:srgbClr val="FFFFFF"/>
                </a:solidFill>
                <a:latin typeface="Arial"/>
              </a:rPr>
              <a:t>CODE</a:t>
            </a:r>
          </a:p>
        </p:txBody>
      </p:sp>
      <p:sp>
        <p:nvSpPr>
          <p:cNvPr id="46" name="Rounded Rectangle 45"/>
          <p:cNvSpPr/>
          <p:nvPr/>
        </p:nvSpPr>
        <p:spPr>
          <a:xfrm>
            <a:off x="566928" y="4892040"/>
            <a:ext cx="11057839" cy="713232"/>
          </a:xfrm>
          <a:prstGeom prst="roundRect">
            <a:avLst>
              <a:gd name="adj" fmla="val 6000"/>
            </a:avLst>
          </a:prstGeom>
          <a:solidFill>
            <a:srgbClr val="FFFFFF"/>
          </a:solidFill>
          <a:ln>
            <a:noFill/>
          </a:ln>
        </p:spPr>
        <p:txBody>
          <a:bodyPr rtlCol="0" anchor="ctr"/>
          <a:lstStyle/>
          <a:p>
            <a:pPr algn="ctr"/>
          </a:p>
        </p:txBody>
      </p:sp>
      <p:sp>
        <p:nvSpPr>
          <p:cNvPr id="47" name="TextBox 46"/>
          <p:cNvSpPr txBox="1"/>
          <p:nvPr/>
        </p:nvSpPr>
        <p:spPr>
          <a:xfrm>
            <a:off x="795528" y="4892040"/>
            <a:ext cx="10600639" cy="713232"/>
          </a:xfrm>
          <a:prstGeom prst="rect">
            <a:avLst/>
          </a:prstGeom>
          <a:noFill/>
        </p:spPr>
        <p:txBody>
          <a:bodyPr wrap="square" lIns="0" rIns="0" tIns="0" bIns="0" anchor="ctr">
            <a:spAutoFit/>
          </a:bodyPr>
          <a:lstStyle/>
          <a:p>
            <a:pPr>
              <a:lnSpc>
                <a:spcPct val="130000"/>
              </a:lnSpc>
              <a:spcBef>
                <a:spcPts val="0"/>
              </a:spcBef>
              <a:spcAft>
                <a:spcPts val="0"/>
              </a:spcAft>
            </a:pPr>
            <a:r>
              <a:rPr sz="1300" b="1">
                <a:solidFill>
                  <a:srgbClr val="002970"/>
                </a:solidFill>
                <a:latin typeface="Arial"/>
              </a:rPr>
              <a:t>How we prove it:  </a:t>
            </a:r>
            <a:r>
              <a:rPr sz="1300" b="0">
                <a:solidFill>
                  <a:srgbClr val="1C1C1C"/>
                </a:solidFill>
                <a:latin typeface="Arial"/>
              </a:rPr>
              <a:t>a test fails the build if the core logic imports anything outside Python’s standard library. The model only ever returns words.</a:t>
            </a:r>
          </a:p>
        </p:txBody>
      </p:sp>
      <p:sp>
        <p:nvSpPr>
          <p:cNvPr id="48" name="TextBox 47"/>
          <p:cNvSpPr txBox="1"/>
          <p:nvPr/>
        </p:nvSpPr>
        <p:spPr>
          <a:xfrm>
            <a:off x="566928" y="5815584"/>
            <a:ext cx="731520" cy="274320"/>
          </a:xfrm>
          <a:prstGeom prst="rect">
            <a:avLst/>
          </a:prstGeom>
          <a:noFill/>
        </p:spPr>
        <p:txBody>
          <a:bodyPr wrap="square" lIns="0" rIns="0" tIns="0" bIns="0" anchor="ctr">
            <a:spAutoFit/>
          </a:bodyPr>
          <a:lstStyle/>
          <a:p>
            <a:pPr>
              <a:lnSpc>
                <a:spcPct val="130000"/>
              </a:lnSpc>
              <a:spcBef>
                <a:spcPts val="0"/>
              </a:spcBef>
              <a:spcAft>
                <a:spcPts val="0"/>
              </a:spcAft>
            </a:pPr>
            <a:r>
              <a:rPr sz="950" b="1" spc="120">
                <a:solidFill>
                  <a:srgbClr val="5B6675"/>
                </a:solidFill>
                <a:latin typeface="Arial"/>
              </a:rPr>
              <a:t>STACK</a:t>
            </a:r>
          </a:p>
        </p:txBody>
      </p:sp>
      <p:sp>
        <p:nvSpPr>
          <p:cNvPr id="49" name="Rounded Rectangle 48"/>
          <p:cNvSpPr/>
          <p:nvPr/>
        </p:nvSpPr>
        <p:spPr>
          <a:xfrm>
            <a:off x="1298448" y="5815584"/>
            <a:ext cx="886968" cy="274320"/>
          </a:xfrm>
          <a:prstGeom prst="roundRect">
            <a:avLst>
              <a:gd name="adj" fmla="val 50000"/>
            </a:avLst>
          </a:prstGeom>
          <a:solidFill>
            <a:srgbClr val="FFFFFF"/>
          </a:solidFill>
          <a:ln>
            <a:noFill/>
          </a:ln>
        </p:spPr>
        <p:txBody>
          <a:bodyPr rtlCol="0" anchor="ctr"/>
          <a:lstStyle/>
          <a:p>
            <a:pPr algn="ctr"/>
          </a:p>
        </p:txBody>
      </p:sp>
      <p:sp>
        <p:nvSpPr>
          <p:cNvPr id="50" name="TextBox 49"/>
          <p:cNvSpPr txBox="1"/>
          <p:nvPr/>
        </p:nvSpPr>
        <p:spPr>
          <a:xfrm>
            <a:off x="1298448" y="5815584"/>
            <a:ext cx="88696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Next.js 16</a:t>
            </a:r>
          </a:p>
        </p:txBody>
      </p:sp>
      <p:sp>
        <p:nvSpPr>
          <p:cNvPr id="51" name="Rounded Rectangle 50"/>
          <p:cNvSpPr/>
          <p:nvPr/>
        </p:nvSpPr>
        <p:spPr>
          <a:xfrm>
            <a:off x="2258568" y="5815584"/>
            <a:ext cx="749808" cy="274320"/>
          </a:xfrm>
          <a:prstGeom prst="roundRect">
            <a:avLst>
              <a:gd name="adj" fmla="val 50000"/>
            </a:avLst>
          </a:prstGeom>
          <a:solidFill>
            <a:srgbClr val="FFFFFF"/>
          </a:solidFill>
          <a:ln>
            <a:noFill/>
          </a:ln>
        </p:spPr>
        <p:txBody>
          <a:bodyPr rtlCol="0" anchor="ctr"/>
          <a:lstStyle/>
          <a:p>
            <a:pPr algn="ctr"/>
          </a:p>
        </p:txBody>
      </p:sp>
      <p:sp>
        <p:nvSpPr>
          <p:cNvPr id="52" name="TextBox 51"/>
          <p:cNvSpPr txBox="1"/>
          <p:nvPr/>
        </p:nvSpPr>
        <p:spPr>
          <a:xfrm>
            <a:off x="2258568" y="5815584"/>
            <a:ext cx="74980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React 19</a:t>
            </a:r>
          </a:p>
        </p:txBody>
      </p:sp>
      <p:sp>
        <p:nvSpPr>
          <p:cNvPr id="53" name="Rounded Rectangle 52"/>
          <p:cNvSpPr/>
          <p:nvPr/>
        </p:nvSpPr>
        <p:spPr>
          <a:xfrm>
            <a:off x="3081528" y="5815584"/>
            <a:ext cx="681228" cy="274320"/>
          </a:xfrm>
          <a:prstGeom prst="roundRect">
            <a:avLst>
              <a:gd name="adj" fmla="val 50000"/>
            </a:avLst>
          </a:prstGeom>
          <a:solidFill>
            <a:srgbClr val="FFFFFF"/>
          </a:solidFill>
          <a:ln>
            <a:noFill/>
          </a:ln>
        </p:spPr>
        <p:txBody>
          <a:bodyPr rtlCol="0" anchor="ctr"/>
          <a:lstStyle/>
          <a:p>
            <a:pPr algn="ctr"/>
          </a:p>
        </p:txBody>
      </p:sp>
      <p:sp>
        <p:nvSpPr>
          <p:cNvPr id="54" name="TextBox 53"/>
          <p:cNvSpPr txBox="1"/>
          <p:nvPr/>
        </p:nvSpPr>
        <p:spPr>
          <a:xfrm>
            <a:off x="3081528" y="5815584"/>
            <a:ext cx="68122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FastAPI</a:t>
            </a:r>
          </a:p>
        </p:txBody>
      </p:sp>
      <p:sp>
        <p:nvSpPr>
          <p:cNvPr id="55" name="Rounded Rectangle 54"/>
          <p:cNvSpPr/>
          <p:nvPr/>
        </p:nvSpPr>
        <p:spPr>
          <a:xfrm>
            <a:off x="3835908" y="5815584"/>
            <a:ext cx="955547" cy="274320"/>
          </a:xfrm>
          <a:prstGeom prst="roundRect">
            <a:avLst>
              <a:gd name="adj" fmla="val 50000"/>
            </a:avLst>
          </a:prstGeom>
          <a:solidFill>
            <a:srgbClr val="FFFFFF"/>
          </a:solidFill>
          <a:ln>
            <a:noFill/>
          </a:ln>
        </p:spPr>
        <p:txBody>
          <a:bodyPr rtlCol="0" anchor="ctr"/>
          <a:lstStyle/>
          <a:p>
            <a:pPr algn="ctr"/>
          </a:p>
        </p:txBody>
      </p:sp>
      <p:sp>
        <p:nvSpPr>
          <p:cNvPr id="56" name="TextBox 55"/>
          <p:cNvSpPr txBox="1"/>
          <p:nvPr/>
        </p:nvSpPr>
        <p:spPr>
          <a:xfrm>
            <a:off x="3835908" y="5815584"/>
            <a:ext cx="955547"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Python 3.13</a:t>
            </a:r>
          </a:p>
        </p:txBody>
      </p:sp>
      <p:sp>
        <p:nvSpPr>
          <p:cNvPr id="57" name="Rounded Rectangle 56"/>
          <p:cNvSpPr/>
          <p:nvPr/>
        </p:nvSpPr>
        <p:spPr>
          <a:xfrm>
            <a:off x="4864607" y="5815584"/>
            <a:ext cx="886968" cy="274320"/>
          </a:xfrm>
          <a:prstGeom prst="roundRect">
            <a:avLst>
              <a:gd name="adj" fmla="val 50000"/>
            </a:avLst>
          </a:prstGeom>
          <a:solidFill>
            <a:srgbClr val="FFFFFF"/>
          </a:solidFill>
          <a:ln>
            <a:noFill/>
          </a:ln>
        </p:spPr>
        <p:txBody>
          <a:bodyPr rtlCol="0" anchor="ctr"/>
          <a:lstStyle/>
          <a:p>
            <a:pPr algn="ctr"/>
          </a:p>
        </p:txBody>
      </p:sp>
      <p:sp>
        <p:nvSpPr>
          <p:cNvPr id="58" name="TextBox 57"/>
          <p:cNvSpPr txBox="1"/>
          <p:nvPr/>
        </p:nvSpPr>
        <p:spPr>
          <a:xfrm>
            <a:off x="4864607" y="5815584"/>
            <a:ext cx="88696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PostgreSQL</a:t>
            </a:r>
          </a:p>
        </p:txBody>
      </p:sp>
      <p:sp>
        <p:nvSpPr>
          <p:cNvPr id="59" name="Rounded Rectangle 58"/>
          <p:cNvSpPr/>
          <p:nvPr/>
        </p:nvSpPr>
        <p:spPr>
          <a:xfrm>
            <a:off x="5824727" y="5815584"/>
            <a:ext cx="1092708" cy="274320"/>
          </a:xfrm>
          <a:prstGeom prst="roundRect">
            <a:avLst>
              <a:gd name="adj" fmla="val 50000"/>
            </a:avLst>
          </a:prstGeom>
          <a:solidFill>
            <a:srgbClr val="FFFFFF"/>
          </a:solidFill>
          <a:ln>
            <a:noFill/>
          </a:ln>
        </p:spPr>
        <p:txBody>
          <a:bodyPr rtlCol="0" anchor="ctr"/>
          <a:lstStyle/>
          <a:p>
            <a:pPr algn="ctr"/>
          </a:p>
        </p:txBody>
      </p:sp>
      <p:sp>
        <p:nvSpPr>
          <p:cNvPr id="60" name="TextBox 59"/>
          <p:cNvSpPr txBox="1"/>
          <p:nvPr/>
        </p:nvSpPr>
        <p:spPr>
          <a:xfrm>
            <a:off x="5824727" y="5815584"/>
            <a:ext cx="109270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Sarvam Saaras</a:t>
            </a:r>
          </a:p>
        </p:txBody>
      </p:sp>
      <p:sp>
        <p:nvSpPr>
          <p:cNvPr id="61" name="Rounded Rectangle 60"/>
          <p:cNvSpPr/>
          <p:nvPr/>
        </p:nvSpPr>
        <p:spPr>
          <a:xfrm>
            <a:off x="6990587" y="5815584"/>
            <a:ext cx="955547" cy="274320"/>
          </a:xfrm>
          <a:prstGeom prst="roundRect">
            <a:avLst>
              <a:gd name="adj" fmla="val 50000"/>
            </a:avLst>
          </a:prstGeom>
          <a:solidFill>
            <a:srgbClr val="FFFFFF"/>
          </a:solidFill>
          <a:ln>
            <a:noFill/>
          </a:ln>
        </p:spPr>
        <p:txBody>
          <a:bodyPr rtlCol="0" anchor="ctr"/>
          <a:lstStyle/>
          <a:p>
            <a:pPr algn="ctr"/>
          </a:p>
        </p:txBody>
      </p:sp>
      <p:sp>
        <p:nvSpPr>
          <p:cNvPr id="62" name="TextBox 61"/>
          <p:cNvSpPr txBox="1"/>
          <p:nvPr/>
        </p:nvSpPr>
        <p:spPr>
          <a:xfrm>
            <a:off x="6990587" y="5815584"/>
            <a:ext cx="955547"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Sarvam-105B</a:t>
            </a:r>
          </a:p>
        </p:txBody>
      </p:sp>
      <p:sp>
        <p:nvSpPr>
          <p:cNvPr id="63" name="Rounded Rectangle 62"/>
          <p:cNvSpPr/>
          <p:nvPr/>
        </p:nvSpPr>
        <p:spPr>
          <a:xfrm>
            <a:off x="8019286" y="5815584"/>
            <a:ext cx="818387" cy="274320"/>
          </a:xfrm>
          <a:prstGeom prst="roundRect">
            <a:avLst>
              <a:gd name="adj" fmla="val 50000"/>
            </a:avLst>
          </a:prstGeom>
          <a:solidFill>
            <a:srgbClr val="FFFFFF"/>
          </a:solidFill>
          <a:ln>
            <a:noFill/>
          </a:ln>
        </p:spPr>
        <p:txBody>
          <a:bodyPr rtlCol="0" anchor="ctr"/>
          <a:lstStyle/>
          <a:p>
            <a:pPr algn="ctr"/>
          </a:p>
        </p:txBody>
      </p:sp>
      <p:sp>
        <p:nvSpPr>
          <p:cNvPr id="64" name="TextBox 63"/>
          <p:cNvSpPr txBox="1"/>
          <p:nvPr/>
        </p:nvSpPr>
        <p:spPr>
          <a:xfrm>
            <a:off x="8019286" y="5815584"/>
            <a:ext cx="818387"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Bulbul v3</a:t>
            </a:r>
          </a:p>
        </p:txBody>
      </p:sp>
      <p:sp>
        <p:nvSpPr>
          <p:cNvPr id="65" name="Rounded Rectangle 64"/>
          <p:cNvSpPr/>
          <p:nvPr/>
        </p:nvSpPr>
        <p:spPr>
          <a:xfrm>
            <a:off x="8910825" y="5815584"/>
            <a:ext cx="612647" cy="274320"/>
          </a:xfrm>
          <a:prstGeom prst="roundRect">
            <a:avLst>
              <a:gd name="adj" fmla="val 50000"/>
            </a:avLst>
          </a:prstGeom>
          <a:solidFill>
            <a:srgbClr val="FFFFFF"/>
          </a:solidFill>
          <a:ln>
            <a:noFill/>
          </a:ln>
        </p:spPr>
        <p:txBody>
          <a:bodyPr rtlCol="0" anchor="ctr"/>
          <a:lstStyle/>
          <a:p>
            <a:pPr algn="ctr"/>
          </a:p>
        </p:txBody>
      </p:sp>
      <p:sp>
        <p:nvSpPr>
          <p:cNvPr id="66" name="TextBox 65"/>
          <p:cNvSpPr txBox="1"/>
          <p:nvPr/>
        </p:nvSpPr>
        <p:spPr>
          <a:xfrm>
            <a:off x="8910825" y="5815584"/>
            <a:ext cx="612647"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Cognee</a:t>
            </a:r>
          </a:p>
        </p:txBody>
      </p:sp>
      <p:sp>
        <p:nvSpPr>
          <p:cNvPr id="67" name="Rounded Rectangle 66"/>
          <p:cNvSpPr/>
          <p:nvPr/>
        </p:nvSpPr>
        <p:spPr>
          <a:xfrm>
            <a:off x="9596624" y="5815584"/>
            <a:ext cx="1984248" cy="274320"/>
          </a:xfrm>
          <a:prstGeom prst="roundRect">
            <a:avLst>
              <a:gd name="adj" fmla="val 50000"/>
            </a:avLst>
          </a:prstGeom>
          <a:solidFill>
            <a:srgbClr val="FFFFFF"/>
          </a:solidFill>
          <a:ln>
            <a:noFill/>
          </a:ln>
        </p:spPr>
        <p:txBody>
          <a:bodyPr rtlCol="0" anchor="ctr"/>
          <a:lstStyle/>
          <a:p>
            <a:pPr algn="ctr"/>
          </a:p>
        </p:txBody>
      </p:sp>
      <p:sp>
        <p:nvSpPr>
          <p:cNvPr id="68" name="TextBox 67"/>
          <p:cNvSpPr txBox="1"/>
          <p:nvPr/>
        </p:nvSpPr>
        <p:spPr>
          <a:xfrm>
            <a:off x="9596624" y="5815584"/>
            <a:ext cx="1984248" cy="274320"/>
          </a:xfrm>
          <a:prstGeom prst="rect">
            <a:avLst/>
          </a:prstGeom>
          <a:noFill/>
        </p:spPr>
        <p:txBody>
          <a:bodyPr wrap="square" lIns="0" rIns="0" tIns="0" bIns="0" anchor="ctr">
            <a:spAutoFit/>
          </a:bodyPr>
          <a:lstStyle/>
          <a:p>
            <a:pPr algn="ctr">
              <a:lnSpc>
                <a:spcPct val="100000"/>
              </a:lnSpc>
              <a:spcBef>
                <a:spcPts val="0"/>
              </a:spcBef>
              <a:spcAft>
                <a:spcPts val="0"/>
              </a:spcAft>
            </a:pPr>
            <a:r>
              <a:rPr sz="950" b="1" spc="80">
                <a:solidFill>
                  <a:srgbClr val="002970"/>
                </a:solidFill>
                <a:latin typeface="Arial"/>
              </a:rPr>
              <a:t>Vercel · Render · Supabase</a:t>
            </a:r>
          </a:p>
        </p:txBody>
      </p:sp>
      <p:sp>
        <p:nvSpPr>
          <p:cNvPr id="69" name="TextBox 68"/>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UNIQUE SELLING PROPOSITION</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Every udhaar app serves the shopkeeper. We add the customer.</a:t>
            </a:r>
          </a:p>
        </p:txBody>
      </p:sp>
      <p:sp>
        <p:nvSpPr>
          <p:cNvPr id="5" name="TextBox 4"/>
          <p:cNvSpPr txBox="1"/>
          <p:nvPr/>
        </p:nvSpPr>
        <p:spPr>
          <a:xfrm>
            <a:off x="566928" y="1645920"/>
            <a:ext cx="274320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
            </a:r>
          </a:p>
        </p:txBody>
      </p:sp>
      <p:sp>
        <p:nvSpPr>
          <p:cNvPr id="6" name="TextBox 5"/>
          <p:cNvSpPr txBox="1"/>
          <p:nvPr/>
        </p:nvSpPr>
        <p:spPr>
          <a:xfrm>
            <a:off x="3310128" y="1645920"/>
            <a:ext cx="237744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DOWNLOADS</a:t>
            </a:r>
          </a:p>
        </p:txBody>
      </p:sp>
      <p:sp>
        <p:nvSpPr>
          <p:cNvPr id="7" name="TextBox 6"/>
          <p:cNvSpPr txBox="1"/>
          <p:nvPr/>
        </p:nvSpPr>
        <p:spPr>
          <a:xfrm>
            <a:off x="5687568" y="1645920"/>
            <a:ext cx="3063240"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CUSTOMER HAS AN APP</a:t>
            </a:r>
          </a:p>
        </p:txBody>
      </p:sp>
      <p:sp>
        <p:nvSpPr>
          <p:cNvPr id="8" name="TextBox 7"/>
          <p:cNvSpPr txBox="1"/>
          <p:nvPr/>
        </p:nvSpPr>
        <p:spPr>
          <a:xfrm>
            <a:off x="8750808" y="1645920"/>
            <a:ext cx="2871216" cy="274320"/>
          </a:xfrm>
          <a:prstGeom prst="rect">
            <a:avLst/>
          </a:prstGeom>
          <a:noFill/>
        </p:spPr>
        <p:txBody>
          <a:bodyPr wrap="square" lIns="0" rIns="0" tIns="0" bIns="0" anchor="t">
            <a:spAutoFit/>
          </a:bodyPr>
          <a:lstStyle/>
          <a:p>
            <a:pPr>
              <a:lnSpc>
                <a:spcPct val="130000"/>
              </a:lnSpc>
              <a:spcBef>
                <a:spcPts val="0"/>
              </a:spcBef>
              <a:spcAft>
                <a:spcPts val="0"/>
              </a:spcAft>
            </a:pPr>
            <a:r>
              <a:rPr sz="950" b="1" spc="100">
                <a:solidFill>
                  <a:srgbClr val="0077A8"/>
                </a:solidFill>
                <a:latin typeface="Arial"/>
              </a:rPr>
              <a:t>CUSTOMER CONFIRMS ENTRIES</a:t>
            </a:r>
          </a:p>
        </p:txBody>
      </p:sp>
      <p:sp>
        <p:nvSpPr>
          <p:cNvPr id="9" name="Rectangle 8"/>
          <p:cNvSpPr/>
          <p:nvPr/>
        </p:nvSpPr>
        <p:spPr>
          <a:xfrm>
            <a:off x="566928" y="1956816"/>
            <a:ext cx="11057839" cy="19050"/>
          </a:xfrm>
          <a:prstGeom prst="rect">
            <a:avLst/>
          </a:prstGeom>
          <a:solidFill>
            <a:srgbClr val="00BAF2"/>
          </a:solidFill>
          <a:ln>
            <a:noFill/>
          </a:ln>
        </p:spPr>
        <p:txBody>
          <a:bodyPr rtlCol="0" anchor="ctr"/>
          <a:lstStyle/>
          <a:p>
            <a:pPr algn="ctr"/>
          </a:p>
        </p:txBody>
      </p:sp>
      <p:sp>
        <p:nvSpPr>
          <p:cNvPr id="10" name="TextBox 9"/>
          <p:cNvSpPr txBox="1"/>
          <p:nvPr/>
        </p:nvSpPr>
        <p:spPr>
          <a:xfrm>
            <a:off x="566928" y="2029968"/>
            <a:ext cx="2651760" cy="457200"/>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1C1C1C"/>
                </a:solidFill>
                <a:latin typeface="Arial"/>
              </a:rPr>
              <a:t>Khatabook</a:t>
            </a:r>
          </a:p>
        </p:txBody>
      </p:sp>
      <p:sp>
        <p:nvSpPr>
          <p:cNvPr id="11" name="TextBox 10"/>
          <p:cNvSpPr txBox="1"/>
          <p:nvPr/>
        </p:nvSpPr>
        <p:spPr>
          <a:xfrm>
            <a:off x="3328416" y="2029968"/>
            <a:ext cx="22860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5B6675"/>
                </a:solidFill>
                <a:latin typeface="Arial"/>
              </a:rPr>
              <a:t>5 Cr+</a:t>
            </a:r>
          </a:p>
        </p:txBody>
      </p:sp>
      <p:sp>
        <p:nvSpPr>
          <p:cNvPr id="12" name="TextBox 11"/>
          <p:cNvSpPr txBox="1"/>
          <p:nvPr/>
        </p:nvSpPr>
        <p:spPr>
          <a:xfrm>
            <a:off x="5705856" y="2029968"/>
            <a:ext cx="29718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 — SMS / WhatsApp</a:t>
            </a:r>
          </a:p>
        </p:txBody>
      </p:sp>
      <p:sp>
        <p:nvSpPr>
          <p:cNvPr id="13" name="TextBox 12"/>
          <p:cNvSpPr txBox="1"/>
          <p:nvPr/>
        </p:nvSpPr>
        <p:spPr>
          <a:xfrm>
            <a:off x="8769096" y="2029968"/>
            <a:ext cx="2779776"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a:t>
            </a:r>
          </a:p>
        </p:txBody>
      </p:sp>
      <p:sp>
        <p:nvSpPr>
          <p:cNvPr id="14" name="Rectangle 13"/>
          <p:cNvSpPr/>
          <p:nvPr/>
        </p:nvSpPr>
        <p:spPr>
          <a:xfrm>
            <a:off x="566928" y="2480818"/>
            <a:ext cx="11057839" cy="9525"/>
          </a:xfrm>
          <a:prstGeom prst="rect">
            <a:avLst/>
          </a:prstGeom>
          <a:solidFill>
            <a:srgbClr val="D9E4EC"/>
          </a:solidFill>
          <a:ln>
            <a:noFill/>
          </a:ln>
        </p:spPr>
        <p:txBody>
          <a:bodyPr rtlCol="0" anchor="ctr"/>
          <a:lstStyle/>
          <a:p>
            <a:pPr algn="ctr"/>
          </a:p>
        </p:txBody>
      </p:sp>
      <p:sp>
        <p:nvSpPr>
          <p:cNvPr id="15" name="TextBox 14"/>
          <p:cNvSpPr txBox="1"/>
          <p:nvPr/>
        </p:nvSpPr>
        <p:spPr>
          <a:xfrm>
            <a:off x="566928" y="2487168"/>
            <a:ext cx="2651760" cy="457200"/>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1C1C1C"/>
                </a:solidFill>
                <a:latin typeface="Arial"/>
              </a:rPr>
              <a:t>OkCredit</a:t>
            </a:r>
          </a:p>
        </p:txBody>
      </p:sp>
      <p:sp>
        <p:nvSpPr>
          <p:cNvPr id="16" name="TextBox 15"/>
          <p:cNvSpPr txBox="1"/>
          <p:nvPr/>
        </p:nvSpPr>
        <p:spPr>
          <a:xfrm>
            <a:off x="3328416" y="2487168"/>
            <a:ext cx="22860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5B6675"/>
                </a:solidFill>
                <a:latin typeface="Arial"/>
              </a:rPr>
              <a:t>1 Cr+</a:t>
            </a:r>
          </a:p>
        </p:txBody>
      </p:sp>
      <p:sp>
        <p:nvSpPr>
          <p:cNvPr id="17" name="TextBox 16"/>
          <p:cNvSpPr txBox="1"/>
          <p:nvPr/>
        </p:nvSpPr>
        <p:spPr>
          <a:xfrm>
            <a:off x="5705856" y="2487168"/>
            <a:ext cx="29718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 — “They don’t need the app”</a:t>
            </a:r>
          </a:p>
        </p:txBody>
      </p:sp>
      <p:sp>
        <p:nvSpPr>
          <p:cNvPr id="18" name="TextBox 17"/>
          <p:cNvSpPr txBox="1"/>
          <p:nvPr/>
        </p:nvSpPr>
        <p:spPr>
          <a:xfrm>
            <a:off x="8769096" y="2487168"/>
            <a:ext cx="2779776"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a:t>
            </a:r>
          </a:p>
        </p:txBody>
      </p:sp>
      <p:sp>
        <p:nvSpPr>
          <p:cNvPr id="19" name="Rectangle 18"/>
          <p:cNvSpPr/>
          <p:nvPr/>
        </p:nvSpPr>
        <p:spPr>
          <a:xfrm>
            <a:off x="566928" y="2938018"/>
            <a:ext cx="11057839" cy="9525"/>
          </a:xfrm>
          <a:prstGeom prst="rect">
            <a:avLst/>
          </a:prstGeom>
          <a:solidFill>
            <a:srgbClr val="D9E4EC"/>
          </a:solidFill>
          <a:ln>
            <a:noFill/>
          </a:ln>
        </p:spPr>
        <p:txBody>
          <a:bodyPr rtlCol="0" anchor="ctr"/>
          <a:lstStyle/>
          <a:p>
            <a:pPr algn="ctr"/>
          </a:p>
        </p:txBody>
      </p:sp>
      <p:sp>
        <p:nvSpPr>
          <p:cNvPr id="20" name="TextBox 19"/>
          <p:cNvSpPr txBox="1"/>
          <p:nvPr/>
        </p:nvSpPr>
        <p:spPr>
          <a:xfrm>
            <a:off x="566928" y="2944368"/>
            <a:ext cx="2651760" cy="457200"/>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1C1C1C"/>
                </a:solidFill>
                <a:latin typeface="Arial"/>
              </a:rPr>
              <a:t>Paytm Business Khata</a:t>
            </a:r>
          </a:p>
        </p:txBody>
      </p:sp>
      <p:sp>
        <p:nvSpPr>
          <p:cNvPr id="21" name="TextBox 20"/>
          <p:cNvSpPr txBox="1"/>
          <p:nvPr/>
        </p:nvSpPr>
        <p:spPr>
          <a:xfrm>
            <a:off x="3328416" y="2944368"/>
            <a:ext cx="22860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5B6675"/>
                </a:solidFill>
                <a:latin typeface="Arial"/>
              </a:rPr>
              <a:t>Inside Paytm for Business</a:t>
            </a:r>
          </a:p>
        </p:txBody>
      </p:sp>
      <p:sp>
        <p:nvSpPr>
          <p:cNvPr id="22" name="TextBox 21"/>
          <p:cNvSpPr txBox="1"/>
          <p:nvPr/>
        </p:nvSpPr>
        <p:spPr>
          <a:xfrm>
            <a:off x="5705856" y="2944368"/>
            <a:ext cx="2971800"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 — SMS with a pay link</a:t>
            </a:r>
          </a:p>
        </p:txBody>
      </p:sp>
      <p:sp>
        <p:nvSpPr>
          <p:cNvPr id="23" name="TextBox 22"/>
          <p:cNvSpPr txBox="1"/>
          <p:nvPr/>
        </p:nvSpPr>
        <p:spPr>
          <a:xfrm>
            <a:off x="8769096" y="2944368"/>
            <a:ext cx="2779776" cy="457200"/>
          </a:xfrm>
          <a:prstGeom prst="rect">
            <a:avLst/>
          </a:prstGeom>
          <a:noFill/>
        </p:spPr>
        <p:txBody>
          <a:bodyPr wrap="square" lIns="0" rIns="0" tIns="0" bIns="0" anchor="ctr">
            <a:spAutoFit/>
          </a:bodyPr>
          <a:lstStyle/>
          <a:p>
            <a:pPr>
              <a:lnSpc>
                <a:spcPct val="130000"/>
              </a:lnSpc>
              <a:spcBef>
                <a:spcPts val="0"/>
              </a:spcBef>
              <a:spcAft>
                <a:spcPts val="0"/>
              </a:spcAft>
            </a:pPr>
            <a:r>
              <a:rPr sz="1250" b="0">
                <a:solidFill>
                  <a:srgbClr val="B3261E"/>
                </a:solidFill>
                <a:latin typeface="Arial"/>
              </a:rPr>
              <a:t>No</a:t>
            </a:r>
          </a:p>
        </p:txBody>
      </p:sp>
      <p:sp>
        <p:nvSpPr>
          <p:cNvPr id="24" name="Rectangle 23"/>
          <p:cNvSpPr/>
          <p:nvPr/>
        </p:nvSpPr>
        <p:spPr>
          <a:xfrm>
            <a:off x="566928" y="3395218"/>
            <a:ext cx="11057839" cy="9525"/>
          </a:xfrm>
          <a:prstGeom prst="rect">
            <a:avLst/>
          </a:prstGeom>
          <a:solidFill>
            <a:srgbClr val="D9E4EC"/>
          </a:solidFill>
          <a:ln>
            <a:noFill/>
          </a:ln>
        </p:spPr>
        <p:txBody>
          <a:bodyPr rtlCol="0" anchor="ctr"/>
          <a:lstStyle/>
          <a:p>
            <a:pPr algn="ctr"/>
          </a:p>
        </p:txBody>
      </p:sp>
      <p:sp>
        <p:nvSpPr>
          <p:cNvPr id="25" name="Rounded Rectangle 24"/>
          <p:cNvSpPr/>
          <p:nvPr/>
        </p:nvSpPr>
        <p:spPr>
          <a:xfrm>
            <a:off x="475488" y="3401568"/>
            <a:ext cx="11240719" cy="457200"/>
          </a:xfrm>
          <a:prstGeom prst="roundRect">
            <a:avLst>
              <a:gd name="adj" fmla="val 20000"/>
            </a:avLst>
          </a:prstGeom>
          <a:solidFill>
            <a:srgbClr val="FFFFFF"/>
          </a:solidFill>
          <a:ln>
            <a:noFill/>
          </a:ln>
        </p:spPr>
        <p:txBody>
          <a:bodyPr rtlCol="0" anchor="ctr"/>
          <a:lstStyle/>
          <a:p>
            <a:pPr algn="ctr"/>
          </a:p>
        </p:txBody>
      </p:sp>
      <p:sp>
        <p:nvSpPr>
          <p:cNvPr id="26" name="TextBox 25"/>
          <p:cNvSpPr txBox="1"/>
          <p:nvPr/>
        </p:nvSpPr>
        <p:spPr>
          <a:xfrm>
            <a:off x="566928" y="3401568"/>
            <a:ext cx="2651760" cy="457200"/>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002970"/>
                </a:solidFill>
                <a:latin typeface="Arial"/>
              </a:rPr>
              <a:t>BAHI</a:t>
            </a:r>
          </a:p>
        </p:txBody>
      </p:sp>
      <p:sp>
        <p:nvSpPr>
          <p:cNvPr id="27" name="TextBox 26"/>
          <p:cNvSpPr txBox="1"/>
          <p:nvPr/>
        </p:nvSpPr>
        <p:spPr>
          <a:xfrm>
            <a:off x="3328416" y="3401568"/>
            <a:ext cx="2286000" cy="457200"/>
          </a:xfrm>
          <a:prstGeom prst="rect">
            <a:avLst/>
          </a:prstGeom>
          <a:noFill/>
        </p:spPr>
        <p:txBody>
          <a:bodyPr wrap="square" lIns="0" rIns="0" tIns="0" bIns="0" anchor="ctr">
            <a:spAutoFit/>
          </a:bodyPr>
          <a:lstStyle/>
          <a:p>
            <a:pPr>
              <a:lnSpc>
                <a:spcPct val="130000"/>
              </a:lnSpc>
              <a:spcBef>
                <a:spcPts val="0"/>
              </a:spcBef>
              <a:spcAft>
                <a:spcPts val="0"/>
              </a:spcAft>
            </a:pPr>
            <a:r>
              <a:rPr sz="1250" b="1">
                <a:solidFill>
                  <a:srgbClr val="5B6675"/>
                </a:solidFill>
                <a:latin typeface="Arial"/>
              </a:rPr>
              <a:t>—</a:t>
            </a:r>
          </a:p>
        </p:txBody>
      </p:sp>
      <p:sp>
        <p:nvSpPr>
          <p:cNvPr id="28" name="TextBox 27"/>
          <p:cNvSpPr txBox="1"/>
          <p:nvPr/>
        </p:nvSpPr>
        <p:spPr>
          <a:xfrm>
            <a:off x="5705856" y="3401568"/>
            <a:ext cx="2971800" cy="457200"/>
          </a:xfrm>
          <a:prstGeom prst="rect">
            <a:avLst/>
          </a:prstGeom>
          <a:noFill/>
        </p:spPr>
        <p:txBody>
          <a:bodyPr wrap="square" lIns="0" rIns="0" tIns="0" bIns="0" anchor="ctr">
            <a:spAutoFit/>
          </a:bodyPr>
          <a:lstStyle/>
          <a:p>
            <a:pPr>
              <a:lnSpc>
                <a:spcPct val="130000"/>
              </a:lnSpc>
              <a:spcBef>
                <a:spcPts val="0"/>
              </a:spcBef>
              <a:spcAft>
                <a:spcPts val="0"/>
              </a:spcAft>
            </a:pPr>
            <a:r>
              <a:rPr sz="1250" b="1">
                <a:solidFill>
                  <a:srgbClr val="1E7E34"/>
                </a:solidFill>
                <a:latin typeface="Arial"/>
              </a:rPr>
              <a:t>Yes — inside the Paytm app</a:t>
            </a:r>
          </a:p>
        </p:txBody>
      </p:sp>
      <p:sp>
        <p:nvSpPr>
          <p:cNvPr id="29" name="TextBox 28"/>
          <p:cNvSpPr txBox="1"/>
          <p:nvPr/>
        </p:nvSpPr>
        <p:spPr>
          <a:xfrm>
            <a:off x="8769096" y="3401568"/>
            <a:ext cx="2779776" cy="457200"/>
          </a:xfrm>
          <a:prstGeom prst="rect">
            <a:avLst/>
          </a:prstGeom>
          <a:noFill/>
        </p:spPr>
        <p:txBody>
          <a:bodyPr wrap="square" lIns="0" rIns="0" tIns="0" bIns="0" anchor="ctr">
            <a:spAutoFit/>
          </a:bodyPr>
          <a:lstStyle/>
          <a:p>
            <a:pPr>
              <a:lnSpc>
                <a:spcPct val="130000"/>
              </a:lnSpc>
              <a:spcBef>
                <a:spcPts val="0"/>
              </a:spcBef>
              <a:spcAft>
                <a:spcPts val="0"/>
              </a:spcAft>
            </a:pPr>
            <a:r>
              <a:rPr sz="1250" b="1">
                <a:solidFill>
                  <a:srgbClr val="1E7E34"/>
                </a:solidFill>
                <a:latin typeface="Arial"/>
              </a:rPr>
              <a:t>Yes — one tap</a:t>
            </a:r>
          </a:p>
        </p:txBody>
      </p:sp>
      <p:sp>
        <p:nvSpPr>
          <p:cNvPr id="30" name="Rounded Rectangle 29"/>
          <p:cNvSpPr/>
          <p:nvPr/>
        </p:nvSpPr>
        <p:spPr>
          <a:xfrm>
            <a:off x="566928" y="4617720"/>
            <a:ext cx="3503066" cy="1417320"/>
          </a:xfrm>
          <a:prstGeom prst="roundRect">
            <a:avLst>
              <a:gd name="adj" fmla="val 6000"/>
            </a:avLst>
          </a:prstGeom>
          <a:solidFill>
            <a:srgbClr val="FFFFFF"/>
          </a:solidFill>
          <a:ln>
            <a:noFill/>
          </a:ln>
        </p:spPr>
        <p:txBody>
          <a:bodyPr rtlCol="0" anchor="ctr"/>
          <a:lstStyle/>
          <a:p>
            <a:pPr algn="ctr"/>
          </a:p>
        </p:txBody>
      </p:sp>
      <p:sp>
        <p:nvSpPr>
          <p:cNvPr id="31" name="Rectangle 30"/>
          <p:cNvSpPr/>
          <p:nvPr/>
        </p:nvSpPr>
        <p:spPr>
          <a:xfrm>
            <a:off x="795528" y="4828032"/>
            <a:ext cx="365760" cy="38100"/>
          </a:xfrm>
          <a:prstGeom prst="rect">
            <a:avLst/>
          </a:prstGeom>
          <a:solidFill>
            <a:srgbClr val="00BAF2"/>
          </a:solidFill>
          <a:ln>
            <a:noFill/>
          </a:ln>
        </p:spPr>
        <p:txBody>
          <a:bodyPr rtlCol="0" anchor="ctr"/>
          <a:lstStyle/>
          <a:p>
            <a:pPr algn="ctr"/>
          </a:p>
        </p:txBody>
      </p:sp>
      <p:sp>
        <p:nvSpPr>
          <p:cNvPr id="32" name="TextBox 31"/>
          <p:cNvSpPr txBox="1"/>
          <p:nvPr/>
        </p:nvSpPr>
        <p:spPr>
          <a:xfrm>
            <a:off x="795528" y="4956048"/>
            <a:ext cx="3045866" cy="1005840"/>
          </a:xfrm>
          <a:prstGeom prst="rect">
            <a:avLst/>
          </a:prstGeom>
          <a:noFill/>
        </p:spPr>
        <p:txBody>
          <a:bodyPr wrap="square" lIns="0" rIns="0" tIns="0" bIns="0" anchor="t">
            <a:spAutoFit/>
          </a:bodyPr>
          <a:lstStyle/>
          <a:p>
            <a:pPr>
              <a:lnSpc>
                <a:spcPct val="130000"/>
              </a:lnSpc>
              <a:spcBef>
                <a:spcPts val="0"/>
              </a:spcBef>
              <a:spcAft>
                <a:spcPts val="0"/>
              </a:spcAft>
            </a:pPr>
            <a:r>
              <a:rPr sz="1500" b="1">
                <a:solidFill>
                  <a:srgbClr val="002970"/>
                </a:solidFill>
                <a:latin typeface="Arial"/>
              </a:rPr>
              <a:t>Two-sided</a:t>
            </a:r>
          </a:p>
          <a:p>
            <a:pPr>
              <a:lnSpc>
                <a:spcPct val="135000"/>
              </a:lnSpc>
              <a:spcBef>
                <a:spcPts val="500"/>
              </a:spcBef>
              <a:spcAft>
                <a:spcPts val="0"/>
              </a:spcAft>
            </a:pPr>
            <a:r>
              <a:rPr sz="1250" b="0">
                <a:solidFill>
                  <a:srgbClr val="5B6675"/>
                </a:solidFill>
                <a:latin typeface="Arial"/>
              </a:rPr>
              <a:t>An entry becomes a fact only when the customer confirms it.</a:t>
            </a:r>
          </a:p>
        </p:txBody>
      </p:sp>
      <p:sp>
        <p:nvSpPr>
          <p:cNvPr id="33" name="Rounded Rectangle 32"/>
          <p:cNvSpPr/>
          <p:nvPr/>
        </p:nvSpPr>
        <p:spPr>
          <a:xfrm>
            <a:off x="4344314" y="4617720"/>
            <a:ext cx="3503066" cy="1417320"/>
          </a:xfrm>
          <a:prstGeom prst="roundRect">
            <a:avLst>
              <a:gd name="adj" fmla="val 6000"/>
            </a:avLst>
          </a:prstGeom>
          <a:solidFill>
            <a:srgbClr val="FFFFFF"/>
          </a:solidFill>
          <a:ln>
            <a:noFill/>
          </a:ln>
        </p:spPr>
        <p:txBody>
          <a:bodyPr rtlCol="0" anchor="ctr"/>
          <a:lstStyle/>
          <a:p>
            <a:pPr algn="ctr"/>
          </a:p>
        </p:txBody>
      </p:sp>
      <p:sp>
        <p:nvSpPr>
          <p:cNvPr id="34" name="Rectangle 33"/>
          <p:cNvSpPr/>
          <p:nvPr/>
        </p:nvSpPr>
        <p:spPr>
          <a:xfrm>
            <a:off x="4572914" y="4828032"/>
            <a:ext cx="365760" cy="38100"/>
          </a:xfrm>
          <a:prstGeom prst="rect">
            <a:avLst/>
          </a:prstGeom>
          <a:solidFill>
            <a:srgbClr val="00BAF2"/>
          </a:solidFill>
          <a:ln>
            <a:noFill/>
          </a:ln>
        </p:spPr>
        <p:txBody>
          <a:bodyPr rtlCol="0" anchor="ctr"/>
          <a:lstStyle/>
          <a:p>
            <a:pPr algn="ctr"/>
          </a:p>
        </p:txBody>
      </p:sp>
      <p:sp>
        <p:nvSpPr>
          <p:cNvPr id="35" name="TextBox 34"/>
          <p:cNvSpPr txBox="1"/>
          <p:nvPr/>
        </p:nvSpPr>
        <p:spPr>
          <a:xfrm>
            <a:off x="4572914" y="4956048"/>
            <a:ext cx="3045866" cy="1005840"/>
          </a:xfrm>
          <a:prstGeom prst="rect">
            <a:avLst/>
          </a:prstGeom>
          <a:noFill/>
        </p:spPr>
        <p:txBody>
          <a:bodyPr wrap="square" lIns="0" rIns="0" tIns="0" bIns="0" anchor="t">
            <a:spAutoFit/>
          </a:bodyPr>
          <a:lstStyle/>
          <a:p>
            <a:pPr>
              <a:lnSpc>
                <a:spcPct val="130000"/>
              </a:lnSpc>
              <a:spcBef>
                <a:spcPts val="0"/>
              </a:spcBef>
              <a:spcAft>
                <a:spcPts val="0"/>
              </a:spcAft>
            </a:pPr>
            <a:r>
              <a:rPr sz="1500" b="1">
                <a:solidFill>
                  <a:srgbClr val="002970"/>
                </a:solidFill>
                <a:latin typeface="Arial"/>
              </a:rPr>
              <a:t>Scan, then speak</a:t>
            </a:r>
          </a:p>
          <a:p>
            <a:pPr>
              <a:lnSpc>
                <a:spcPct val="135000"/>
              </a:lnSpc>
              <a:spcBef>
                <a:spcPts val="500"/>
              </a:spcBef>
              <a:spcAft>
                <a:spcPts val="0"/>
              </a:spcAft>
            </a:pPr>
            <a:r>
              <a:rPr sz="1250" b="0">
                <a:solidFill>
                  <a:srgbClr val="5B6675"/>
                </a:solidFill>
                <a:latin typeface="Arial"/>
              </a:rPr>
              <a:t>The QR says who, his voice says how much. Nothing to type.</a:t>
            </a:r>
          </a:p>
        </p:txBody>
      </p:sp>
      <p:sp>
        <p:nvSpPr>
          <p:cNvPr id="36" name="Rounded Rectangle 35"/>
          <p:cNvSpPr/>
          <p:nvPr/>
        </p:nvSpPr>
        <p:spPr>
          <a:xfrm>
            <a:off x="8121700" y="4617720"/>
            <a:ext cx="3503066" cy="1417320"/>
          </a:xfrm>
          <a:prstGeom prst="roundRect">
            <a:avLst>
              <a:gd name="adj" fmla="val 6000"/>
            </a:avLst>
          </a:prstGeom>
          <a:solidFill>
            <a:srgbClr val="FFFFFF"/>
          </a:solidFill>
          <a:ln>
            <a:noFill/>
          </a:ln>
        </p:spPr>
        <p:txBody>
          <a:bodyPr rtlCol="0" anchor="ctr"/>
          <a:lstStyle/>
          <a:p>
            <a:pPr algn="ctr"/>
          </a:p>
        </p:txBody>
      </p:sp>
      <p:sp>
        <p:nvSpPr>
          <p:cNvPr id="37" name="Rectangle 36"/>
          <p:cNvSpPr/>
          <p:nvPr/>
        </p:nvSpPr>
        <p:spPr>
          <a:xfrm>
            <a:off x="8350300" y="4828032"/>
            <a:ext cx="365760" cy="38100"/>
          </a:xfrm>
          <a:prstGeom prst="rect">
            <a:avLst/>
          </a:prstGeom>
          <a:solidFill>
            <a:srgbClr val="00BAF2"/>
          </a:solidFill>
          <a:ln>
            <a:noFill/>
          </a:ln>
        </p:spPr>
        <p:txBody>
          <a:bodyPr rtlCol="0" anchor="ctr"/>
          <a:lstStyle/>
          <a:p>
            <a:pPr algn="ctr"/>
          </a:p>
        </p:txBody>
      </p:sp>
      <p:sp>
        <p:nvSpPr>
          <p:cNvPr id="38" name="TextBox 37"/>
          <p:cNvSpPr txBox="1"/>
          <p:nvPr/>
        </p:nvSpPr>
        <p:spPr>
          <a:xfrm>
            <a:off x="8350300" y="4956048"/>
            <a:ext cx="3045866" cy="1005840"/>
          </a:xfrm>
          <a:prstGeom prst="rect">
            <a:avLst/>
          </a:prstGeom>
          <a:noFill/>
        </p:spPr>
        <p:txBody>
          <a:bodyPr wrap="square" lIns="0" rIns="0" tIns="0" bIns="0" anchor="t">
            <a:spAutoFit/>
          </a:bodyPr>
          <a:lstStyle/>
          <a:p>
            <a:pPr>
              <a:lnSpc>
                <a:spcPct val="130000"/>
              </a:lnSpc>
              <a:spcBef>
                <a:spcPts val="0"/>
              </a:spcBef>
              <a:spcAft>
                <a:spcPts val="0"/>
              </a:spcAft>
            </a:pPr>
            <a:r>
              <a:rPr sz="1500" b="1">
                <a:solidFill>
                  <a:srgbClr val="002970"/>
                </a:solidFill>
                <a:latin typeface="Arial"/>
              </a:rPr>
              <a:t>Timed per person</a:t>
            </a:r>
          </a:p>
          <a:p>
            <a:pPr>
              <a:lnSpc>
                <a:spcPct val="135000"/>
              </a:lnSpc>
              <a:spcBef>
                <a:spcPts val="500"/>
              </a:spcBef>
              <a:spcAft>
                <a:spcPts val="0"/>
              </a:spcAft>
            </a:pPr>
            <a:r>
              <a:rPr sz="1250" b="0">
                <a:solidFill>
                  <a:srgbClr val="5B6675"/>
                </a:solidFill>
                <a:latin typeface="Arial"/>
              </a:rPr>
              <a:t>Reminders follow each customer’s own repayment pattern.</a:t>
            </a:r>
          </a:p>
        </p:txBody>
      </p:sp>
      <p:sp>
        <p:nvSpPr>
          <p:cNvPr id="39" name="TextBox 38"/>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Sources: Google Play listings, okcredit.in, khatabook.com and business.paytm.com, checked 23 Sep 2026.</a:t>
            </a:r>
          </a:p>
        </p:txBody>
      </p:sp>
      <p:sp>
        <p:nvSpPr>
          <p:cNvPr id="40" name="TextBox 39"/>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BUSINESS MODEL</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No new hardware, and ₹9 more a month from each merchant.</a:t>
            </a:r>
          </a:p>
        </p:txBody>
      </p:sp>
      <p:sp>
        <p:nvSpPr>
          <p:cNvPr id="5" name="Rounded Rectangle 4"/>
          <p:cNvSpPr/>
          <p:nvPr/>
        </p:nvSpPr>
        <p:spPr>
          <a:xfrm>
            <a:off x="566928" y="1645920"/>
            <a:ext cx="4572000" cy="4498848"/>
          </a:xfrm>
          <a:prstGeom prst="roundRect">
            <a:avLst>
              <a:gd name="adj" fmla="val 6000"/>
            </a:avLst>
          </a:prstGeom>
          <a:solidFill>
            <a:srgbClr val="FFFFFF"/>
          </a:solidFill>
          <a:ln>
            <a:noFill/>
          </a:ln>
        </p:spPr>
        <p:txBody>
          <a:bodyPr rtlCol="0" anchor="ctr"/>
          <a:lstStyle/>
          <a:p>
            <a:pPr algn="ctr"/>
          </a:p>
        </p:txBody>
      </p:sp>
      <p:sp>
        <p:nvSpPr>
          <p:cNvPr id="6" name="TextBox 5"/>
          <p:cNvSpPr txBox="1"/>
          <p:nvPr/>
        </p:nvSpPr>
        <p:spPr>
          <a:xfrm>
            <a:off x="886968" y="1920240"/>
            <a:ext cx="3931920" cy="4041648"/>
          </a:xfrm>
          <a:prstGeom prst="rect">
            <a:avLst/>
          </a:prstGeom>
          <a:noFill/>
        </p:spPr>
        <p:txBody>
          <a:bodyPr wrap="square" lIns="0" rIns="0" tIns="0" bIns="0" anchor="t">
            <a:spAutoFit/>
          </a:bodyPr>
          <a:lstStyle/>
          <a:p>
            <a:pPr>
              <a:lnSpc>
                <a:spcPct val="130000"/>
              </a:lnSpc>
              <a:spcBef>
                <a:spcPts val="0"/>
              </a:spcBef>
              <a:spcAft>
                <a:spcPts val="200"/>
              </a:spcAft>
            </a:pPr>
            <a:r>
              <a:rPr sz="1600" b="1">
                <a:solidFill>
                  <a:srgbClr val="002970"/>
                </a:solidFill>
                <a:latin typeface="Arial"/>
              </a:rPr>
              <a:t>Easy to build and sell</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Software only. No new hardware: the Soundbox already says amounts aloud.</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Built on what Paytm has: the Paytm app, its chats, UPI, the Soundbox and Business Khata.</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Sold as an add-on line on the merchant’s existing Soundbox bill, through the Paytm for Business app and the field team.</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A standalone ledger app lost ₹116 Cr in FY24 (Khatabook). BAHI needs no app of its own and no new customers.</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We built it working, end to end, during the hackathon.</a:t>
            </a:r>
          </a:p>
        </p:txBody>
      </p:sp>
      <p:sp>
        <p:nvSpPr>
          <p:cNvPr id="7" name="Rounded Rectangle 6"/>
          <p:cNvSpPr/>
          <p:nvPr/>
        </p:nvSpPr>
        <p:spPr>
          <a:xfrm>
            <a:off x="5413248" y="1645920"/>
            <a:ext cx="6211519" cy="1417320"/>
          </a:xfrm>
          <a:prstGeom prst="roundRect">
            <a:avLst>
              <a:gd name="adj" fmla="val 6000"/>
            </a:avLst>
          </a:prstGeom>
          <a:solidFill>
            <a:srgbClr val="002970"/>
          </a:solidFill>
          <a:ln>
            <a:noFill/>
          </a:ln>
        </p:spPr>
        <p:txBody>
          <a:bodyPr rtlCol="0" anchor="ctr"/>
          <a:lstStyle/>
          <a:p>
            <a:pPr algn="ctr"/>
          </a:p>
        </p:txBody>
      </p:sp>
      <p:sp>
        <p:nvSpPr>
          <p:cNvPr id="8" name="TextBox 7"/>
          <p:cNvSpPr txBox="1"/>
          <p:nvPr/>
        </p:nvSpPr>
        <p:spPr>
          <a:xfrm>
            <a:off x="5733288" y="1645920"/>
            <a:ext cx="5571439" cy="1417320"/>
          </a:xfrm>
          <a:prstGeom prst="rect">
            <a:avLst/>
          </a:prstGeom>
          <a:noFill/>
        </p:spPr>
        <p:txBody>
          <a:bodyPr wrap="square" lIns="0" rIns="0" tIns="0" bIns="0" anchor="ctr">
            <a:spAutoFit/>
          </a:bodyPr>
          <a:lstStyle/>
          <a:p>
            <a:pPr>
              <a:lnSpc>
                <a:spcPct val="100000"/>
              </a:lnSpc>
              <a:spcBef>
                <a:spcPts val="0"/>
              </a:spcBef>
              <a:spcAft>
                <a:spcPts val="0"/>
              </a:spcAft>
            </a:pPr>
            <a:r>
              <a:rPr sz="3400" b="1">
                <a:solidFill>
                  <a:srgbClr val="FFFFFF"/>
                </a:solidFill>
                <a:latin typeface="Arial"/>
              </a:rPr>
              <a:t>₹90  →  ₹99</a:t>
            </a:r>
          </a:p>
          <a:p>
            <a:pPr>
              <a:lnSpc>
                <a:spcPct val="135000"/>
              </a:lnSpc>
              <a:spcBef>
                <a:spcPts val="800"/>
              </a:spcBef>
              <a:spcAft>
                <a:spcPts val="0"/>
              </a:spcAft>
            </a:pPr>
            <a:r>
              <a:rPr sz="1200" b="0">
                <a:solidFill>
                  <a:srgbClr val="C9D8EE"/>
                </a:solidFill>
                <a:latin typeface="Arial"/>
              </a:rPr>
              <a:t>a month from the same merchant, with no hardware delivered. Paytm’s Soundbox plan earned about ₹90 a device a month in Q4 FY24.</a:t>
            </a:r>
          </a:p>
        </p:txBody>
      </p:sp>
      <p:sp>
        <p:nvSpPr>
          <p:cNvPr id="9" name="Rounded Rectangle 8"/>
          <p:cNvSpPr/>
          <p:nvPr/>
        </p:nvSpPr>
        <p:spPr>
          <a:xfrm>
            <a:off x="5413248" y="3246120"/>
            <a:ext cx="6211519" cy="2898648"/>
          </a:xfrm>
          <a:prstGeom prst="roundRect">
            <a:avLst>
              <a:gd name="adj" fmla="val 6000"/>
            </a:avLst>
          </a:prstGeom>
          <a:solidFill>
            <a:srgbClr val="FFFFFF"/>
          </a:solidFill>
          <a:ln>
            <a:noFill/>
          </a:ln>
        </p:spPr>
        <p:txBody>
          <a:bodyPr rtlCol="0" anchor="ctr"/>
          <a:lstStyle/>
          <a:p>
            <a:pPr algn="ctr"/>
          </a:p>
        </p:txBody>
      </p:sp>
      <p:sp>
        <p:nvSpPr>
          <p:cNvPr id="10" name="TextBox 9"/>
          <p:cNvSpPr txBox="1"/>
          <p:nvPr/>
        </p:nvSpPr>
        <p:spPr>
          <a:xfrm>
            <a:off x="5733288" y="3447288"/>
            <a:ext cx="5571439" cy="548640"/>
          </a:xfrm>
          <a:prstGeom prst="rect">
            <a:avLst/>
          </a:prstGeom>
          <a:noFill/>
        </p:spPr>
        <p:txBody>
          <a:bodyPr wrap="square" lIns="0" rIns="0" tIns="0" bIns="0" anchor="t">
            <a:spAutoFit/>
          </a:bodyPr>
          <a:lstStyle/>
          <a:p>
            <a:pPr>
              <a:lnSpc>
                <a:spcPct val="130000"/>
              </a:lnSpc>
              <a:spcBef>
                <a:spcPts val="0"/>
              </a:spcBef>
              <a:spcAft>
                <a:spcPts val="0"/>
              </a:spcAft>
            </a:pPr>
            <a:r>
              <a:rPr sz="1400" b="1">
                <a:solidFill>
                  <a:srgbClr val="002970"/>
                </a:solidFill>
                <a:latin typeface="Arial"/>
              </a:rPr>
              <a:t>Our guesstimate: merchants who add BAHI</a:t>
            </a:r>
          </a:p>
          <a:p>
            <a:pPr>
              <a:lnSpc>
                <a:spcPct val="130000"/>
              </a:lnSpc>
              <a:spcBef>
                <a:spcPts val="300"/>
              </a:spcBef>
              <a:spcAft>
                <a:spcPts val="0"/>
              </a:spcAft>
            </a:pPr>
            <a:r>
              <a:rPr sz="1100" b="0">
                <a:solidFill>
                  <a:srgbClr val="5B6675"/>
                </a:solidFill>
                <a:latin typeface="Arial"/>
              </a:rPr>
              <a:t>Out of 1.24 Cr merchants paying for a Paytm device, at ₹9 a month.</a:t>
            </a:r>
          </a:p>
        </p:txBody>
      </p:sp>
      <p:sp>
        <p:nvSpPr>
          <p:cNvPr id="11" name="TextBox 10"/>
          <p:cNvSpPr txBox="1"/>
          <p:nvPr/>
        </p:nvSpPr>
        <p:spPr>
          <a:xfrm>
            <a:off x="5733288" y="4160520"/>
            <a:ext cx="1737360" cy="365760"/>
          </a:xfrm>
          <a:prstGeom prst="rect">
            <a:avLst/>
          </a:prstGeom>
          <a:noFill/>
        </p:spPr>
        <p:txBody>
          <a:bodyPr wrap="square" lIns="0" rIns="0" tIns="0" bIns="0" anchor="ctr">
            <a:spAutoFit/>
          </a:bodyPr>
          <a:lstStyle/>
          <a:p>
            <a:pPr>
              <a:lnSpc>
                <a:spcPct val="130000"/>
              </a:lnSpc>
              <a:spcBef>
                <a:spcPts val="0"/>
              </a:spcBef>
              <a:spcAft>
                <a:spcPts val="0"/>
              </a:spcAft>
            </a:pPr>
            <a:r>
              <a:rPr sz="950" b="1" spc="100">
                <a:solidFill>
                  <a:srgbClr val="0077A8"/>
                </a:solidFill>
                <a:latin typeface="Arial"/>
              </a:rPr>
              <a:t>TAKE-UP</a:t>
            </a:r>
          </a:p>
        </p:txBody>
      </p:sp>
      <p:sp>
        <p:nvSpPr>
          <p:cNvPr id="12" name="TextBox 11"/>
          <p:cNvSpPr txBox="1"/>
          <p:nvPr/>
        </p:nvSpPr>
        <p:spPr>
          <a:xfrm>
            <a:off x="7470648" y="4160520"/>
            <a:ext cx="1828800" cy="365760"/>
          </a:xfrm>
          <a:prstGeom prst="rect">
            <a:avLst/>
          </a:prstGeom>
          <a:noFill/>
        </p:spPr>
        <p:txBody>
          <a:bodyPr wrap="square" lIns="0" rIns="0" tIns="0" bIns="0" anchor="ctr">
            <a:spAutoFit/>
          </a:bodyPr>
          <a:lstStyle/>
          <a:p>
            <a:pPr>
              <a:lnSpc>
                <a:spcPct val="130000"/>
              </a:lnSpc>
              <a:spcBef>
                <a:spcPts val="0"/>
              </a:spcBef>
              <a:spcAft>
                <a:spcPts val="0"/>
              </a:spcAft>
            </a:pPr>
            <a:r>
              <a:rPr sz="950" b="1" spc="100">
                <a:solidFill>
                  <a:srgbClr val="0077A8"/>
                </a:solidFill>
                <a:latin typeface="Arial"/>
              </a:rPr>
              <a:t>MERCHANTS</a:t>
            </a:r>
          </a:p>
        </p:txBody>
      </p:sp>
      <p:sp>
        <p:nvSpPr>
          <p:cNvPr id="13" name="TextBox 12"/>
          <p:cNvSpPr txBox="1"/>
          <p:nvPr/>
        </p:nvSpPr>
        <p:spPr>
          <a:xfrm>
            <a:off x="9299448" y="4160520"/>
            <a:ext cx="2005279" cy="365760"/>
          </a:xfrm>
          <a:prstGeom prst="rect">
            <a:avLst/>
          </a:prstGeom>
          <a:noFill/>
        </p:spPr>
        <p:txBody>
          <a:bodyPr wrap="square" lIns="0" rIns="0" tIns="0" bIns="0" anchor="ctr">
            <a:spAutoFit/>
          </a:bodyPr>
          <a:lstStyle/>
          <a:p>
            <a:pPr>
              <a:lnSpc>
                <a:spcPct val="130000"/>
              </a:lnSpc>
              <a:spcBef>
                <a:spcPts val="0"/>
              </a:spcBef>
              <a:spcAft>
                <a:spcPts val="0"/>
              </a:spcAft>
            </a:pPr>
            <a:r>
              <a:rPr sz="950" b="1" spc="100">
                <a:solidFill>
                  <a:srgbClr val="0077A8"/>
                </a:solidFill>
                <a:latin typeface="Arial"/>
              </a:rPr>
              <a:t>NEW REVENUE A YEAR</a:t>
            </a:r>
          </a:p>
        </p:txBody>
      </p:sp>
      <p:sp>
        <p:nvSpPr>
          <p:cNvPr id="14" name="Rectangle 13"/>
          <p:cNvSpPr/>
          <p:nvPr/>
        </p:nvSpPr>
        <p:spPr>
          <a:xfrm>
            <a:off x="5733288" y="4477004"/>
            <a:ext cx="5571439" cy="19050"/>
          </a:xfrm>
          <a:prstGeom prst="rect">
            <a:avLst/>
          </a:prstGeom>
          <a:solidFill>
            <a:srgbClr val="00BAF2"/>
          </a:solidFill>
          <a:ln>
            <a:noFill/>
          </a:ln>
        </p:spPr>
        <p:txBody>
          <a:bodyPr rtlCol="0" anchor="ctr"/>
          <a:lstStyle/>
          <a:p>
            <a:pPr algn="ctr"/>
          </a:p>
        </p:txBody>
      </p:sp>
      <p:sp>
        <p:nvSpPr>
          <p:cNvPr id="15" name="TextBox 14"/>
          <p:cNvSpPr txBox="1"/>
          <p:nvPr/>
        </p:nvSpPr>
        <p:spPr>
          <a:xfrm>
            <a:off x="5733288" y="4489704"/>
            <a:ext cx="173736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5%</a:t>
            </a:r>
          </a:p>
        </p:txBody>
      </p:sp>
      <p:sp>
        <p:nvSpPr>
          <p:cNvPr id="16" name="TextBox 15"/>
          <p:cNvSpPr txBox="1"/>
          <p:nvPr/>
        </p:nvSpPr>
        <p:spPr>
          <a:xfrm>
            <a:off x="7470648" y="4489704"/>
            <a:ext cx="182880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6.2 lakh</a:t>
            </a:r>
          </a:p>
        </p:txBody>
      </p:sp>
      <p:sp>
        <p:nvSpPr>
          <p:cNvPr id="17" name="TextBox 16"/>
          <p:cNvSpPr txBox="1"/>
          <p:nvPr/>
        </p:nvSpPr>
        <p:spPr>
          <a:xfrm>
            <a:off x="9299448" y="4489704"/>
            <a:ext cx="2005279" cy="365760"/>
          </a:xfrm>
          <a:prstGeom prst="rect">
            <a:avLst/>
          </a:prstGeom>
          <a:noFill/>
        </p:spPr>
        <p:txBody>
          <a:bodyPr wrap="square" lIns="0" rIns="0" tIns="0" bIns="0" anchor="ctr">
            <a:spAutoFit/>
          </a:bodyPr>
          <a:lstStyle/>
          <a:p>
            <a:pPr>
              <a:lnSpc>
                <a:spcPct val="130000"/>
              </a:lnSpc>
              <a:spcBef>
                <a:spcPts val="0"/>
              </a:spcBef>
              <a:spcAft>
                <a:spcPts val="0"/>
              </a:spcAft>
            </a:pPr>
            <a:r>
              <a:rPr sz="1500" b="1">
                <a:solidFill>
                  <a:srgbClr val="002970"/>
                </a:solidFill>
                <a:latin typeface="Arial"/>
              </a:rPr>
              <a:t>₹6.7 Cr</a:t>
            </a:r>
          </a:p>
        </p:txBody>
      </p:sp>
      <p:sp>
        <p:nvSpPr>
          <p:cNvPr id="18" name="Rectangle 17"/>
          <p:cNvSpPr/>
          <p:nvPr/>
        </p:nvSpPr>
        <p:spPr>
          <a:xfrm>
            <a:off x="5733288" y="4861052"/>
            <a:ext cx="5571439" cy="9525"/>
          </a:xfrm>
          <a:prstGeom prst="rect">
            <a:avLst/>
          </a:prstGeom>
          <a:solidFill>
            <a:srgbClr val="D9E4EC"/>
          </a:solidFill>
          <a:ln>
            <a:noFill/>
          </a:ln>
        </p:spPr>
        <p:txBody>
          <a:bodyPr rtlCol="0" anchor="ctr"/>
          <a:lstStyle/>
          <a:p>
            <a:pPr algn="ctr"/>
          </a:p>
        </p:txBody>
      </p:sp>
      <p:sp>
        <p:nvSpPr>
          <p:cNvPr id="19" name="TextBox 18"/>
          <p:cNvSpPr txBox="1"/>
          <p:nvPr/>
        </p:nvSpPr>
        <p:spPr>
          <a:xfrm>
            <a:off x="5733288" y="4873752"/>
            <a:ext cx="173736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10%</a:t>
            </a:r>
          </a:p>
        </p:txBody>
      </p:sp>
      <p:sp>
        <p:nvSpPr>
          <p:cNvPr id="20" name="TextBox 19"/>
          <p:cNvSpPr txBox="1"/>
          <p:nvPr/>
        </p:nvSpPr>
        <p:spPr>
          <a:xfrm>
            <a:off x="7470648" y="4873752"/>
            <a:ext cx="182880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12.4 lakh</a:t>
            </a:r>
          </a:p>
        </p:txBody>
      </p:sp>
      <p:sp>
        <p:nvSpPr>
          <p:cNvPr id="21" name="TextBox 20"/>
          <p:cNvSpPr txBox="1"/>
          <p:nvPr/>
        </p:nvSpPr>
        <p:spPr>
          <a:xfrm>
            <a:off x="9299448" y="4873752"/>
            <a:ext cx="2005279" cy="365760"/>
          </a:xfrm>
          <a:prstGeom prst="rect">
            <a:avLst/>
          </a:prstGeom>
          <a:noFill/>
        </p:spPr>
        <p:txBody>
          <a:bodyPr wrap="square" lIns="0" rIns="0" tIns="0" bIns="0" anchor="ctr">
            <a:spAutoFit/>
          </a:bodyPr>
          <a:lstStyle/>
          <a:p>
            <a:pPr>
              <a:lnSpc>
                <a:spcPct val="130000"/>
              </a:lnSpc>
              <a:spcBef>
                <a:spcPts val="0"/>
              </a:spcBef>
              <a:spcAft>
                <a:spcPts val="0"/>
              </a:spcAft>
            </a:pPr>
            <a:r>
              <a:rPr sz="1500" b="1">
                <a:solidFill>
                  <a:srgbClr val="002970"/>
                </a:solidFill>
                <a:latin typeface="Arial"/>
              </a:rPr>
              <a:t>₹13.4 Cr</a:t>
            </a:r>
          </a:p>
        </p:txBody>
      </p:sp>
      <p:sp>
        <p:nvSpPr>
          <p:cNvPr id="22" name="Rectangle 21"/>
          <p:cNvSpPr/>
          <p:nvPr/>
        </p:nvSpPr>
        <p:spPr>
          <a:xfrm>
            <a:off x="5733288" y="5245100"/>
            <a:ext cx="5571439" cy="9525"/>
          </a:xfrm>
          <a:prstGeom prst="rect">
            <a:avLst/>
          </a:prstGeom>
          <a:solidFill>
            <a:srgbClr val="D9E4EC"/>
          </a:solidFill>
          <a:ln>
            <a:noFill/>
          </a:ln>
        </p:spPr>
        <p:txBody>
          <a:bodyPr rtlCol="0" anchor="ctr"/>
          <a:lstStyle/>
          <a:p>
            <a:pPr algn="ctr"/>
          </a:p>
        </p:txBody>
      </p:sp>
      <p:sp>
        <p:nvSpPr>
          <p:cNvPr id="23" name="TextBox 22"/>
          <p:cNvSpPr txBox="1"/>
          <p:nvPr/>
        </p:nvSpPr>
        <p:spPr>
          <a:xfrm>
            <a:off x="5733288" y="5257800"/>
            <a:ext cx="173736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25%</a:t>
            </a:r>
          </a:p>
        </p:txBody>
      </p:sp>
      <p:sp>
        <p:nvSpPr>
          <p:cNvPr id="24" name="TextBox 23"/>
          <p:cNvSpPr txBox="1"/>
          <p:nvPr/>
        </p:nvSpPr>
        <p:spPr>
          <a:xfrm>
            <a:off x="7470648" y="5257800"/>
            <a:ext cx="1828800" cy="365760"/>
          </a:xfrm>
          <a:prstGeom prst="rect">
            <a:avLst/>
          </a:prstGeom>
          <a:noFill/>
        </p:spPr>
        <p:txBody>
          <a:bodyPr wrap="square" lIns="0" rIns="0" tIns="0" bIns="0" anchor="ctr">
            <a:spAutoFit/>
          </a:bodyPr>
          <a:lstStyle/>
          <a:p>
            <a:pPr>
              <a:lnSpc>
                <a:spcPct val="130000"/>
              </a:lnSpc>
              <a:spcBef>
                <a:spcPts val="0"/>
              </a:spcBef>
              <a:spcAft>
                <a:spcPts val="0"/>
              </a:spcAft>
            </a:pPr>
            <a:r>
              <a:rPr sz="1500" b="0">
                <a:solidFill>
                  <a:srgbClr val="1C1C1C"/>
                </a:solidFill>
                <a:latin typeface="Arial"/>
              </a:rPr>
              <a:t>31 lakh</a:t>
            </a:r>
          </a:p>
        </p:txBody>
      </p:sp>
      <p:sp>
        <p:nvSpPr>
          <p:cNvPr id="25" name="TextBox 24"/>
          <p:cNvSpPr txBox="1"/>
          <p:nvPr/>
        </p:nvSpPr>
        <p:spPr>
          <a:xfrm>
            <a:off x="9299448" y="5257800"/>
            <a:ext cx="2005279" cy="365760"/>
          </a:xfrm>
          <a:prstGeom prst="rect">
            <a:avLst/>
          </a:prstGeom>
          <a:noFill/>
        </p:spPr>
        <p:txBody>
          <a:bodyPr wrap="square" lIns="0" rIns="0" tIns="0" bIns="0" anchor="ctr">
            <a:spAutoFit/>
          </a:bodyPr>
          <a:lstStyle/>
          <a:p>
            <a:pPr>
              <a:lnSpc>
                <a:spcPct val="130000"/>
              </a:lnSpc>
              <a:spcBef>
                <a:spcPts val="0"/>
              </a:spcBef>
              <a:spcAft>
                <a:spcPts val="0"/>
              </a:spcAft>
            </a:pPr>
            <a:r>
              <a:rPr sz="1500" b="1">
                <a:solidFill>
                  <a:srgbClr val="002970"/>
                </a:solidFill>
                <a:latin typeface="Arial"/>
              </a:rPr>
              <a:t>₹33.5 Cr</a:t>
            </a:r>
          </a:p>
        </p:txBody>
      </p:sp>
      <p:sp>
        <p:nvSpPr>
          <p:cNvPr id="26" name="Rectangle 25"/>
          <p:cNvSpPr/>
          <p:nvPr/>
        </p:nvSpPr>
        <p:spPr>
          <a:xfrm>
            <a:off x="5733288" y="5629148"/>
            <a:ext cx="5571439" cy="9525"/>
          </a:xfrm>
          <a:prstGeom prst="rect">
            <a:avLst/>
          </a:prstGeom>
          <a:solidFill>
            <a:srgbClr val="D9E4EC"/>
          </a:solidFill>
          <a:ln>
            <a:noFill/>
          </a:ln>
        </p:spPr>
        <p:txBody>
          <a:bodyPr rtlCol="0" anchor="ctr"/>
          <a:lstStyle/>
          <a:p>
            <a:pPr algn="ctr"/>
          </a:p>
        </p:txBody>
      </p:sp>
      <p:sp>
        <p:nvSpPr>
          <p:cNvPr id="27" name="TextBox 26"/>
          <p:cNvSpPr txBox="1"/>
          <p:nvPr/>
        </p:nvSpPr>
        <p:spPr>
          <a:xfrm>
            <a:off x="5733288" y="5705856"/>
            <a:ext cx="5571439" cy="320040"/>
          </a:xfrm>
          <a:prstGeom prst="rect">
            <a:avLst/>
          </a:prstGeom>
          <a:noFill/>
        </p:spPr>
        <p:txBody>
          <a:bodyPr wrap="square" lIns="0" rIns="0" tIns="0" bIns="0" anchor="t">
            <a:spAutoFit/>
          </a:bodyPr>
          <a:lstStyle/>
          <a:p>
            <a:pPr>
              <a:lnSpc>
                <a:spcPct val="130000"/>
              </a:lnSpc>
              <a:spcBef>
                <a:spcPts val="0"/>
              </a:spcBef>
              <a:spcAft>
                <a:spcPts val="0"/>
              </a:spcAft>
            </a:pPr>
            <a:r>
              <a:rPr sz="1050" b="0">
                <a:solidFill>
                  <a:srgbClr val="5B6675"/>
                </a:solidFill>
                <a:latin typeface="Arial"/>
              </a:rPr>
              <a:t>Not counted: udhaar repayments moving from cash to Paytm UPI.</a:t>
            </a:r>
          </a:p>
        </p:txBody>
      </p:sp>
      <p:sp>
        <p:nvSpPr>
          <p:cNvPr id="28" name="TextBox 27"/>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Our estimate, not a forecast. ₹90/device/month: Paytm, Q4 FY24 (Business Standard, May 2024). 1.24 Cr device subscribers: Paytm FY25 Annual Report.</a:t>
            </a:r>
          </a:p>
        </p:txBody>
      </p:sp>
      <p:sp>
        <p:nvSpPr>
          <p:cNvPr id="29" name="TextBox 28"/>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IMPACT</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Fewer reminders, sent only to people who are actually late.</a:t>
            </a:r>
          </a:p>
        </p:txBody>
      </p:sp>
      <p:sp>
        <p:nvSpPr>
          <p:cNvPr id="5" name="Rounded Rectangle 4"/>
          <p:cNvSpPr/>
          <p:nvPr/>
        </p:nvSpPr>
        <p:spPr>
          <a:xfrm>
            <a:off x="566928" y="1645920"/>
            <a:ext cx="3429000" cy="4434840"/>
          </a:xfrm>
          <a:prstGeom prst="roundRect">
            <a:avLst>
              <a:gd name="adj" fmla="val 6000"/>
            </a:avLst>
          </a:prstGeom>
          <a:solidFill>
            <a:srgbClr val="002970"/>
          </a:solidFill>
          <a:ln>
            <a:noFill/>
          </a:ln>
        </p:spPr>
        <p:txBody>
          <a:bodyPr rtlCol="0" anchor="ctr"/>
          <a:lstStyle/>
          <a:p>
            <a:pPr algn="ctr"/>
          </a:p>
        </p:txBody>
      </p:sp>
      <p:sp>
        <p:nvSpPr>
          <p:cNvPr id="6" name="TextBox 5"/>
          <p:cNvSpPr txBox="1"/>
          <p:nvPr/>
        </p:nvSpPr>
        <p:spPr>
          <a:xfrm>
            <a:off x="886968" y="2057400"/>
            <a:ext cx="2788920" cy="3840480"/>
          </a:xfrm>
          <a:prstGeom prst="rect">
            <a:avLst/>
          </a:prstGeom>
          <a:noFill/>
        </p:spPr>
        <p:txBody>
          <a:bodyPr wrap="square" lIns="0" rIns="0" tIns="0" bIns="0" anchor="t">
            <a:spAutoFit/>
          </a:bodyPr>
          <a:lstStyle/>
          <a:p>
            <a:pPr>
              <a:lnSpc>
                <a:spcPct val="100000"/>
              </a:lnSpc>
              <a:spcBef>
                <a:spcPts val="0"/>
              </a:spcBef>
              <a:spcAft>
                <a:spcPts val="0"/>
              </a:spcAft>
            </a:pPr>
            <a:r>
              <a:rPr sz="5400" b="1">
                <a:solidFill>
                  <a:srgbClr val="FFFFFF"/>
                </a:solidFill>
                <a:latin typeface="Arial"/>
              </a:rPr>
              <a:t>4 of 38</a:t>
            </a:r>
          </a:p>
          <a:p>
            <a:pPr>
              <a:lnSpc>
                <a:spcPct val="130000"/>
              </a:lnSpc>
              <a:spcBef>
                <a:spcPts val="1400"/>
              </a:spcBef>
              <a:spcAft>
                <a:spcPts val="0"/>
              </a:spcAft>
            </a:pPr>
            <a:r>
              <a:rPr sz="1500" b="1">
                <a:solidFill>
                  <a:srgbClr val="FFFFFF"/>
                </a:solidFill>
                <a:latin typeface="Arial"/>
              </a:rPr>
              <a:t>customers who owe get a reminder tonight.</a:t>
            </a:r>
          </a:p>
          <a:p>
            <a:pPr>
              <a:lnSpc>
                <a:spcPct val="140000"/>
              </a:lnSpc>
              <a:spcBef>
                <a:spcPts val="1200"/>
              </a:spcBef>
              <a:spcAft>
                <a:spcPts val="0"/>
              </a:spcAft>
            </a:pPr>
            <a:r>
              <a:rPr sz="1300" b="0">
                <a:solidFill>
                  <a:srgbClr val="C9D8EE"/>
                </a:solidFill>
                <a:latin typeface="Arial"/>
              </a:rPr>
              <a:t>The other 34 are not late by their own pattern, so they hear nothing.</a:t>
            </a:r>
          </a:p>
        </p:txBody>
      </p:sp>
      <p:sp>
        <p:nvSpPr>
          <p:cNvPr id="7" name="TextBox 6"/>
          <p:cNvSpPr txBox="1"/>
          <p:nvPr/>
        </p:nvSpPr>
        <p:spPr>
          <a:xfrm>
            <a:off x="886968" y="5486400"/>
            <a:ext cx="2788920" cy="457200"/>
          </a:xfrm>
          <a:prstGeom prst="rect">
            <a:avLst/>
          </a:prstGeom>
          <a:noFill/>
        </p:spPr>
        <p:txBody>
          <a:bodyPr wrap="square" lIns="0" rIns="0" tIns="0" bIns="0" anchor="t">
            <a:spAutoFit/>
          </a:bodyPr>
          <a:lstStyle/>
          <a:p>
            <a:pPr>
              <a:lnSpc>
                <a:spcPct val="130000"/>
              </a:lnSpc>
              <a:spcBef>
                <a:spcPts val="0"/>
              </a:spcBef>
              <a:spcAft>
                <a:spcPts val="0"/>
              </a:spcAft>
            </a:pPr>
            <a:r>
              <a:rPr sz="1000" b="0">
                <a:solidFill>
                  <a:srgbClr val="8FA4C6"/>
                </a:solidFill>
                <a:latin typeface="Arial"/>
              </a:rPr>
              <a:t>Our demo shop: 60 customers, six months of synthetic data.</a:t>
            </a:r>
          </a:p>
        </p:txBody>
      </p:sp>
      <p:sp>
        <p:nvSpPr>
          <p:cNvPr id="8" name="Rounded Rectangle 7"/>
          <p:cNvSpPr/>
          <p:nvPr/>
        </p:nvSpPr>
        <p:spPr>
          <a:xfrm>
            <a:off x="4270248" y="1645920"/>
            <a:ext cx="2293010" cy="4434840"/>
          </a:xfrm>
          <a:prstGeom prst="roundRect">
            <a:avLst>
              <a:gd name="adj" fmla="val 6000"/>
            </a:avLst>
          </a:prstGeom>
          <a:solidFill>
            <a:srgbClr val="FFFFFF"/>
          </a:solidFill>
          <a:ln>
            <a:noFill/>
          </a:ln>
        </p:spPr>
        <p:txBody>
          <a:bodyPr rtlCol="0" anchor="ctr"/>
          <a:lstStyle/>
          <a:p>
            <a:pPr algn="ctr"/>
          </a:p>
        </p:txBody>
      </p:sp>
      <p:sp>
        <p:nvSpPr>
          <p:cNvPr id="9" name="Rectangle 8"/>
          <p:cNvSpPr/>
          <p:nvPr/>
        </p:nvSpPr>
        <p:spPr>
          <a:xfrm>
            <a:off x="4498848" y="1901952"/>
            <a:ext cx="365760" cy="38100"/>
          </a:xfrm>
          <a:prstGeom prst="rect">
            <a:avLst/>
          </a:prstGeom>
          <a:solidFill>
            <a:srgbClr val="00BAF2"/>
          </a:solidFill>
          <a:ln>
            <a:noFill/>
          </a:ln>
        </p:spPr>
        <p:txBody>
          <a:bodyPr rtlCol="0" anchor="ctr"/>
          <a:lstStyle/>
          <a:p>
            <a:pPr algn="ctr"/>
          </a:p>
        </p:txBody>
      </p:sp>
      <p:sp>
        <p:nvSpPr>
          <p:cNvPr id="10" name="TextBox 9"/>
          <p:cNvSpPr txBox="1"/>
          <p:nvPr/>
        </p:nvSpPr>
        <p:spPr>
          <a:xfrm>
            <a:off x="4498848" y="2057400"/>
            <a:ext cx="1835810" cy="3840480"/>
          </a:xfrm>
          <a:prstGeom prst="rect">
            <a:avLst/>
          </a:prstGeom>
          <a:noFill/>
        </p:spPr>
        <p:txBody>
          <a:bodyPr wrap="square" lIns="0" rIns="0" tIns="0" bIns="0" anchor="t">
            <a:spAutoFit/>
          </a:bodyPr>
          <a:lstStyle/>
          <a:p>
            <a:pPr>
              <a:lnSpc>
                <a:spcPct val="130000"/>
              </a:lnSpc>
              <a:spcBef>
                <a:spcPts val="0"/>
              </a:spcBef>
              <a:spcAft>
                <a:spcPts val="600"/>
              </a:spcAft>
            </a:pPr>
            <a:r>
              <a:rPr sz="1500" b="1">
                <a:solidFill>
                  <a:srgbClr val="002970"/>
                </a:solidFill>
                <a:latin typeface="Arial"/>
              </a:rPr>
              <a:t>For the shopkeeper</a:t>
            </a:r>
          </a:p>
          <a:p>
            <a:pPr>
              <a:lnSpc>
                <a:spcPct val="135000"/>
              </a:lnSpc>
              <a:spcBef>
                <a:spcPts val="1200"/>
              </a:spcBef>
              <a:spcAft>
                <a:spcPts val="0"/>
              </a:spcAft>
            </a:pPr>
            <a:r>
              <a:rPr sz="1300" b="0">
                <a:solidFill>
                  <a:srgbClr val="1C1C1C"/>
                </a:solidFill>
                <a:latin typeface="Arial"/>
              </a:rPr>
              <a:t>Stops chasing people who always pay.</a:t>
            </a:r>
          </a:p>
          <a:p>
            <a:pPr>
              <a:lnSpc>
                <a:spcPct val="135000"/>
              </a:lnSpc>
              <a:spcBef>
                <a:spcPts val="1200"/>
              </a:spcBef>
              <a:spcAft>
                <a:spcPts val="0"/>
              </a:spcAft>
            </a:pPr>
            <a:r>
              <a:rPr sz="1300" b="0">
                <a:solidFill>
                  <a:srgbClr val="1C1C1C"/>
                </a:solidFill>
                <a:latin typeface="Arial"/>
              </a:rPr>
              <a:t>Spots the ones who are drifting.</a:t>
            </a:r>
          </a:p>
          <a:p>
            <a:pPr>
              <a:lnSpc>
                <a:spcPct val="135000"/>
              </a:lnSpc>
              <a:spcBef>
                <a:spcPts val="1200"/>
              </a:spcBef>
              <a:spcAft>
                <a:spcPts val="0"/>
              </a:spcAft>
            </a:pPr>
            <a:r>
              <a:rPr sz="1300" b="0">
                <a:solidFill>
                  <a:srgbClr val="1C1C1C"/>
                </a:solidFill>
                <a:latin typeface="Arial"/>
              </a:rPr>
              <a:t>Records by voice, so the queue keeps moving.</a:t>
            </a:r>
          </a:p>
        </p:txBody>
      </p:sp>
      <p:sp>
        <p:nvSpPr>
          <p:cNvPr id="11" name="Rounded Rectangle 10"/>
          <p:cNvSpPr/>
          <p:nvPr/>
        </p:nvSpPr>
        <p:spPr>
          <a:xfrm>
            <a:off x="6801002" y="1645920"/>
            <a:ext cx="2293010" cy="4434840"/>
          </a:xfrm>
          <a:prstGeom prst="roundRect">
            <a:avLst>
              <a:gd name="adj" fmla="val 6000"/>
            </a:avLst>
          </a:prstGeom>
          <a:solidFill>
            <a:srgbClr val="FFFFFF"/>
          </a:solidFill>
          <a:ln>
            <a:noFill/>
          </a:ln>
        </p:spPr>
        <p:txBody>
          <a:bodyPr rtlCol="0" anchor="ctr"/>
          <a:lstStyle/>
          <a:p>
            <a:pPr algn="ctr"/>
          </a:p>
        </p:txBody>
      </p:sp>
      <p:sp>
        <p:nvSpPr>
          <p:cNvPr id="12" name="Rectangle 11"/>
          <p:cNvSpPr/>
          <p:nvPr/>
        </p:nvSpPr>
        <p:spPr>
          <a:xfrm>
            <a:off x="7029602" y="1901952"/>
            <a:ext cx="365760" cy="38100"/>
          </a:xfrm>
          <a:prstGeom prst="rect">
            <a:avLst/>
          </a:prstGeom>
          <a:solidFill>
            <a:srgbClr val="00BAF2"/>
          </a:solidFill>
          <a:ln>
            <a:noFill/>
          </a:ln>
        </p:spPr>
        <p:txBody>
          <a:bodyPr rtlCol="0" anchor="ctr"/>
          <a:lstStyle/>
          <a:p>
            <a:pPr algn="ctr"/>
          </a:p>
        </p:txBody>
      </p:sp>
      <p:sp>
        <p:nvSpPr>
          <p:cNvPr id="13" name="TextBox 12"/>
          <p:cNvSpPr txBox="1"/>
          <p:nvPr/>
        </p:nvSpPr>
        <p:spPr>
          <a:xfrm>
            <a:off x="7029602" y="2057400"/>
            <a:ext cx="1835810" cy="3840480"/>
          </a:xfrm>
          <a:prstGeom prst="rect">
            <a:avLst/>
          </a:prstGeom>
          <a:noFill/>
        </p:spPr>
        <p:txBody>
          <a:bodyPr wrap="square" lIns="0" rIns="0" tIns="0" bIns="0" anchor="t">
            <a:spAutoFit/>
          </a:bodyPr>
          <a:lstStyle/>
          <a:p>
            <a:pPr>
              <a:lnSpc>
                <a:spcPct val="130000"/>
              </a:lnSpc>
              <a:spcBef>
                <a:spcPts val="0"/>
              </a:spcBef>
              <a:spcAft>
                <a:spcPts val="600"/>
              </a:spcAft>
            </a:pPr>
            <a:r>
              <a:rPr sz="1500" b="1">
                <a:solidFill>
                  <a:srgbClr val="002970"/>
                </a:solidFill>
                <a:latin typeface="Arial"/>
              </a:rPr>
              <a:t>For the customer</a:t>
            </a:r>
          </a:p>
          <a:p>
            <a:pPr>
              <a:lnSpc>
                <a:spcPct val="135000"/>
              </a:lnSpc>
              <a:spcBef>
                <a:spcPts val="1200"/>
              </a:spcBef>
              <a:spcAft>
                <a:spcPts val="0"/>
              </a:spcAft>
            </a:pPr>
            <a:r>
              <a:rPr sz="1300" b="0">
                <a:solidFill>
                  <a:srgbClr val="1C1C1C"/>
                </a:solidFill>
                <a:latin typeface="Arial"/>
              </a:rPr>
              <a:t>Sees his total across every shop.</a:t>
            </a:r>
          </a:p>
          <a:p>
            <a:pPr>
              <a:lnSpc>
                <a:spcPct val="135000"/>
              </a:lnSpc>
              <a:spcBef>
                <a:spcPts val="1200"/>
              </a:spcBef>
              <a:spcAft>
                <a:spcPts val="0"/>
              </a:spcAft>
            </a:pPr>
            <a:r>
              <a:rPr sz="1300" b="0">
                <a:solidFill>
                  <a:srgbClr val="1C1C1C"/>
                </a:solidFill>
                <a:latin typeface="Arial"/>
              </a:rPr>
              <a:t>Has proof of every entry.</a:t>
            </a:r>
          </a:p>
          <a:p>
            <a:pPr>
              <a:lnSpc>
                <a:spcPct val="135000"/>
              </a:lnSpc>
              <a:spcBef>
                <a:spcPts val="1200"/>
              </a:spcBef>
              <a:spcAft>
                <a:spcPts val="0"/>
              </a:spcAft>
            </a:pPr>
            <a:r>
              <a:rPr sz="1300" b="0">
                <a:solidFill>
                  <a:srgbClr val="1C1C1C"/>
                </a:solidFill>
                <a:latin typeface="Arial"/>
              </a:rPr>
              <a:t>Is reminded privately, not at the counter.</a:t>
            </a:r>
          </a:p>
        </p:txBody>
      </p:sp>
      <p:sp>
        <p:nvSpPr>
          <p:cNvPr id="14" name="Rounded Rectangle 13"/>
          <p:cNvSpPr/>
          <p:nvPr/>
        </p:nvSpPr>
        <p:spPr>
          <a:xfrm>
            <a:off x="9331756" y="1645920"/>
            <a:ext cx="2293010" cy="4434840"/>
          </a:xfrm>
          <a:prstGeom prst="roundRect">
            <a:avLst>
              <a:gd name="adj" fmla="val 6000"/>
            </a:avLst>
          </a:prstGeom>
          <a:solidFill>
            <a:srgbClr val="FFFFFF"/>
          </a:solidFill>
          <a:ln>
            <a:noFill/>
          </a:ln>
        </p:spPr>
        <p:txBody>
          <a:bodyPr rtlCol="0" anchor="ctr"/>
          <a:lstStyle/>
          <a:p>
            <a:pPr algn="ctr"/>
          </a:p>
        </p:txBody>
      </p:sp>
      <p:sp>
        <p:nvSpPr>
          <p:cNvPr id="15" name="Rectangle 14"/>
          <p:cNvSpPr/>
          <p:nvPr/>
        </p:nvSpPr>
        <p:spPr>
          <a:xfrm>
            <a:off x="9560356" y="1901952"/>
            <a:ext cx="365760" cy="38100"/>
          </a:xfrm>
          <a:prstGeom prst="rect">
            <a:avLst/>
          </a:prstGeom>
          <a:solidFill>
            <a:srgbClr val="00BAF2"/>
          </a:solidFill>
          <a:ln>
            <a:noFill/>
          </a:ln>
        </p:spPr>
        <p:txBody>
          <a:bodyPr rtlCol="0" anchor="ctr"/>
          <a:lstStyle/>
          <a:p>
            <a:pPr algn="ctr"/>
          </a:p>
        </p:txBody>
      </p:sp>
      <p:sp>
        <p:nvSpPr>
          <p:cNvPr id="16" name="TextBox 15"/>
          <p:cNvSpPr txBox="1"/>
          <p:nvPr/>
        </p:nvSpPr>
        <p:spPr>
          <a:xfrm>
            <a:off x="9560356" y="2057400"/>
            <a:ext cx="1835810" cy="3840480"/>
          </a:xfrm>
          <a:prstGeom prst="rect">
            <a:avLst/>
          </a:prstGeom>
          <a:noFill/>
        </p:spPr>
        <p:txBody>
          <a:bodyPr wrap="square" lIns="0" rIns="0" tIns="0" bIns="0" anchor="t">
            <a:spAutoFit/>
          </a:bodyPr>
          <a:lstStyle/>
          <a:p>
            <a:pPr>
              <a:lnSpc>
                <a:spcPct val="130000"/>
              </a:lnSpc>
              <a:spcBef>
                <a:spcPts val="0"/>
              </a:spcBef>
              <a:spcAft>
                <a:spcPts val="600"/>
              </a:spcAft>
            </a:pPr>
            <a:r>
              <a:rPr sz="1500" b="1">
                <a:solidFill>
                  <a:srgbClr val="002970"/>
                </a:solidFill>
                <a:latin typeface="Arial"/>
              </a:rPr>
              <a:t>For Paytm</a:t>
            </a:r>
          </a:p>
          <a:p>
            <a:pPr>
              <a:lnSpc>
                <a:spcPct val="135000"/>
              </a:lnSpc>
              <a:spcBef>
                <a:spcPts val="1200"/>
              </a:spcBef>
              <a:spcAft>
                <a:spcPts val="0"/>
              </a:spcAft>
            </a:pPr>
            <a:r>
              <a:rPr sz="1300" b="0">
                <a:solidFill>
                  <a:srgbClr val="1C1C1C"/>
                </a:solidFill>
                <a:latin typeface="Arial"/>
              </a:rPr>
              <a:t>Udhaar settled in cash moves to UPI.</a:t>
            </a:r>
          </a:p>
          <a:p>
            <a:pPr>
              <a:lnSpc>
                <a:spcPct val="135000"/>
              </a:lnSpc>
              <a:spcBef>
                <a:spcPts val="1200"/>
              </a:spcBef>
              <a:spcAft>
                <a:spcPts val="0"/>
              </a:spcAft>
            </a:pPr>
            <a:r>
              <a:rPr sz="1300" b="0">
                <a:solidFill>
                  <a:srgbClr val="1C1C1C"/>
                </a:solidFill>
                <a:latin typeface="Arial"/>
              </a:rPr>
              <a:t>A daily reason to use the Soundbox.</a:t>
            </a:r>
          </a:p>
          <a:p>
            <a:pPr>
              <a:lnSpc>
                <a:spcPct val="135000"/>
              </a:lnSpc>
              <a:spcBef>
                <a:spcPts val="1200"/>
              </a:spcBef>
              <a:spcAft>
                <a:spcPts val="0"/>
              </a:spcAft>
            </a:pPr>
            <a:r>
              <a:rPr sz="1300" b="0">
                <a:solidFill>
                  <a:srgbClr val="1C1C1C"/>
                </a:solidFill>
                <a:latin typeface="Arial"/>
              </a:rPr>
              <a:t>A new reason to open the Paytm app.</a:t>
            </a:r>
          </a:p>
        </p:txBody>
      </p:sp>
      <p:sp>
        <p:nvSpPr>
          <p:cNvPr id="17" name="TextBox 16"/>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These are the outcomes we expect; a pilot would measure them. “4 of 38” is computed from our synthetic demo shop.</a:t>
            </a:r>
          </a:p>
        </p:txBody>
      </p:sp>
      <p:sp>
        <p:nvSpPr>
          <p:cNvPr id="18" name="TextBox 17"/>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p:spPr>
        <p:txBody>
          <a:bodyPr rtlCol="0" anchor="ctr"/>
          <a:lstStyle/>
          <a:p>
            <a:pPr algn="ctr"/>
          </a:p>
        </p:txBody>
      </p:sp>
      <p:sp>
        <p:nvSpPr>
          <p:cNvPr id="3" name="TextBox 2"/>
          <p:cNvSpPr txBox="1"/>
          <p:nvPr/>
        </p:nvSpPr>
        <p:spPr>
          <a:xfrm>
            <a:off x="566928" y="384048"/>
            <a:ext cx="11057839" cy="228600"/>
          </a:xfrm>
          <a:prstGeom prst="rect">
            <a:avLst/>
          </a:prstGeom>
          <a:noFill/>
        </p:spPr>
        <p:txBody>
          <a:bodyPr wrap="square" lIns="0" rIns="0" tIns="0" bIns="0" anchor="t">
            <a:spAutoFit/>
          </a:bodyPr>
          <a:lstStyle/>
          <a:p>
            <a:pPr>
              <a:lnSpc>
                <a:spcPct val="130000"/>
              </a:lnSpc>
              <a:spcBef>
                <a:spcPts val="0"/>
              </a:spcBef>
              <a:spcAft>
                <a:spcPts val="0"/>
              </a:spcAft>
            </a:pPr>
            <a:r>
              <a:rPr sz="1000" b="1" spc="140">
                <a:solidFill>
                  <a:srgbClr val="0077A8"/>
                </a:solidFill>
                <a:latin typeface="Arial"/>
              </a:rPr>
              <a:t>PROOF</a:t>
            </a:r>
          </a:p>
        </p:txBody>
      </p:sp>
      <p:sp>
        <p:nvSpPr>
          <p:cNvPr id="4" name="TextBox 3"/>
          <p:cNvSpPr txBox="1"/>
          <p:nvPr/>
        </p:nvSpPr>
        <p:spPr>
          <a:xfrm>
            <a:off x="566928" y="676656"/>
            <a:ext cx="11057839" cy="822960"/>
          </a:xfrm>
          <a:prstGeom prst="rect">
            <a:avLst/>
          </a:prstGeom>
          <a:noFill/>
        </p:spPr>
        <p:txBody>
          <a:bodyPr wrap="square" lIns="0" rIns="0" tIns="0" bIns="0" anchor="t">
            <a:spAutoFit/>
          </a:bodyPr>
          <a:lstStyle/>
          <a:p>
            <a:pPr>
              <a:lnSpc>
                <a:spcPct val="105000"/>
              </a:lnSpc>
              <a:spcBef>
                <a:spcPts val="0"/>
              </a:spcBef>
              <a:spcAft>
                <a:spcPts val="0"/>
              </a:spcAft>
            </a:pPr>
            <a:r>
              <a:rPr sz="2600" b="1">
                <a:solidFill>
                  <a:srgbClr val="002970"/>
                </a:solidFill>
                <a:latin typeface="Arial"/>
              </a:rPr>
              <a:t>We tested the voice on 1,338 recordings. It gets it right, or it asks.</a:t>
            </a:r>
          </a:p>
        </p:txBody>
      </p:sp>
      <p:sp>
        <p:nvSpPr>
          <p:cNvPr id="5" name="Rounded Rectangle 4"/>
          <p:cNvSpPr/>
          <p:nvPr/>
        </p:nvSpPr>
        <p:spPr>
          <a:xfrm>
            <a:off x="566928" y="1645920"/>
            <a:ext cx="4754880" cy="4498848"/>
          </a:xfrm>
          <a:prstGeom prst="roundRect">
            <a:avLst>
              <a:gd name="adj" fmla="val 6000"/>
            </a:avLst>
          </a:prstGeom>
          <a:solidFill>
            <a:srgbClr val="FFFFFF"/>
          </a:solidFill>
          <a:ln>
            <a:noFill/>
          </a:ln>
        </p:spPr>
        <p:txBody>
          <a:bodyPr rtlCol="0" anchor="ctr"/>
          <a:lstStyle/>
          <a:p>
            <a:pPr algn="ctr"/>
          </a:p>
        </p:txBody>
      </p:sp>
      <p:sp>
        <p:nvSpPr>
          <p:cNvPr id="6" name="TextBox 5"/>
          <p:cNvSpPr txBox="1"/>
          <p:nvPr/>
        </p:nvSpPr>
        <p:spPr>
          <a:xfrm>
            <a:off x="886968" y="1920240"/>
            <a:ext cx="4114800" cy="4041648"/>
          </a:xfrm>
          <a:prstGeom prst="rect">
            <a:avLst/>
          </a:prstGeom>
          <a:noFill/>
        </p:spPr>
        <p:txBody>
          <a:bodyPr wrap="square" lIns="0" rIns="0" tIns="0" bIns="0" anchor="t">
            <a:spAutoFit/>
          </a:bodyPr>
          <a:lstStyle/>
          <a:p>
            <a:pPr>
              <a:lnSpc>
                <a:spcPct val="130000"/>
              </a:lnSpc>
              <a:spcBef>
                <a:spcPts val="0"/>
              </a:spcBef>
              <a:spcAft>
                <a:spcPts val="200"/>
              </a:spcAft>
            </a:pPr>
            <a:r>
              <a:rPr sz="1600" b="1">
                <a:solidFill>
                  <a:srgbClr val="002970"/>
                </a:solidFill>
                <a:latin typeface="Arial"/>
              </a:rPr>
              <a:t>How we made the 1,338 recordings</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We wrote 42 things a shopkeeper says, like “Sharma ko do sau” or “B wing wale Kamat ne 300 diye”.</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12 voices spoke them: 10 Sarvam voices and 2 Mac voices.</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Each was played three ways: in a quiet shop, over street noise, and with a second customer talking.</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The test book had 68 customers, 20 of them named Anubhav, so picking the right person was hard.</a:t>
            </a:r>
          </a:p>
          <a:p>
            <a:pPr>
              <a:lnSpc>
                <a:spcPct val="130000"/>
              </a:lnSpc>
              <a:spcBef>
                <a:spcPts val="900"/>
              </a:spcBef>
              <a:spcAft>
                <a:spcPts val="0"/>
              </a:spcAft>
            </a:pPr>
            <a:r>
              <a:rPr sz="1250" b="1">
                <a:solidFill>
                  <a:srgbClr val="0077A8"/>
                </a:solidFill>
                <a:latin typeface="Arial"/>
              </a:rPr>
              <a:t>—  </a:t>
            </a:r>
            <a:r>
              <a:rPr sz="1250" b="0">
                <a:solidFill>
                  <a:srgbClr val="1C1C1C"/>
                </a:solidFill>
                <a:latin typeface="Arial"/>
              </a:rPr>
              <a:t>Every recording went through the app’s own path: Sarvam turned it into text, and our checks decided the entry.</a:t>
            </a:r>
          </a:p>
        </p:txBody>
      </p:sp>
      <p:sp>
        <p:nvSpPr>
          <p:cNvPr id="7" name="Rounded Rectangle 6"/>
          <p:cNvSpPr/>
          <p:nvPr/>
        </p:nvSpPr>
        <p:spPr>
          <a:xfrm>
            <a:off x="5596128" y="1645920"/>
            <a:ext cx="6028639" cy="1042416"/>
          </a:xfrm>
          <a:prstGeom prst="roundRect">
            <a:avLst>
              <a:gd name="adj" fmla="val 6000"/>
            </a:avLst>
          </a:prstGeom>
          <a:solidFill>
            <a:srgbClr val="FFFFFF"/>
          </a:solidFill>
          <a:ln>
            <a:noFill/>
          </a:ln>
        </p:spPr>
        <p:txBody>
          <a:bodyPr rtlCol="0" anchor="ctr"/>
          <a:lstStyle/>
          <a:p>
            <a:pPr algn="ctr"/>
          </a:p>
        </p:txBody>
      </p:sp>
      <p:sp>
        <p:nvSpPr>
          <p:cNvPr id="8" name="TextBox 7"/>
          <p:cNvSpPr txBox="1"/>
          <p:nvPr/>
        </p:nvSpPr>
        <p:spPr>
          <a:xfrm>
            <a:off x="5870448" y="1645920"/>
            <a:ext cx="1188720" cy="1042416"/>
          </a:xfrm>
          <a:prstGeom prst="rect">
            <a:avLst/>
          </a:prstGeom>
          <a:noFill/>
        </p:spPr>
        <p:txBody>
          <a:bodyPr wrap="square" lIns="0" rIns="0" tIns="0" bIns="0" anchor="ctr">
            <a:spAutoFit/>
          </a:bodyPr>
          <a:lstStyle/>
          <a:p>
            <a:pPr>
              <a:lnSpc>
                <a:spcPct val="130000"/>
              </a:lnSpc>
              <a:spcBef>
                <a:spcPts val="0"/>
              </a:spcBef>
              <a:spcAft>
                <a:spcPts val="0"/>
              </a:spcAft>
            </a:pPr>
            <a:r>
              <a:rPr sz="3000" b="1">
                <a:solidFill>
                  <a:srgbClr val="002970"/>
                </a:solidFill>
                <a:latin typeface="Arial"/>
              </a:rPr>
              <a:t>73%</a:t>
            </a:r>
          </a:p>
        </p:txBody>
      </p:sp>
      <p:sp>
        <p:nvSpPr>
          <p:cNvPr id="9" name="TextBox 8"/>
          <p:cNvSpPr txBox="1"/>
          <p:nvPr/>
        </p:nvSpPr>
        <p:spPr>
          <a:xfrm>
            <a:off x="7104888" y="1645920"/>
            <a:ext cx="4245559" cy="1042416"/>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002970"/>
                </a:solidFill>
                <a:latin typeface="Arial"/>
              </a:rPr>
              <a:t>right the first time</a:t>
            </a:r>
          </a:p>
          <a:p>
            <a:pPr>
              <a:lnSpc>
                <a:spcPct val="130000"/>
              </a:lnSpc>
              <a:spcBef>
                <a:spcPts val="300"/>
              </a:spcBef>
              <a:spcAft>
                <a:spcPts val="0"/>
              </a:spcAft>
            </a:pPr>
            <a:r>
              <a:rPr sz="1200" b="0">
                <a:solidFill>
                  <a:srgbClr val="5B6675"/>
                </a:solidFill>
                <a:latin typeface="Arial"/>
              </a:rPr>
              <a:t>The right person and amount, from the words alone.</a:t>
            </a:r>
          </a:p>
        </p:txBody>
      </p:sp>
      <p:sp>
        <p:nvSpPr>
          <p:cNvPr id="10" name="Rounded Rectangle 9"/>
          <p:cNvSpPr/>
          <p:nvPr/>
        </p:nvSpPr>
        <p:spPr>
          <a:xfrm>
            <a:off x="5596128" y="2798064"/>
            <a:ext cx="6028639" cy="1042416"/>
          </a:xfrm>
          <a:prstGeom prst="roundRect">
            <a:avLst>
              <a:gd name="adj" fmla="val 6000"/>
            </a:avLst>
          </a:prstGeom>
          <a:solidFill>
            <a:srgbClr val="FFFFFF"/>
          </a:solidFill>
          <a:ln>
            <a:noFill/>
          </a:ln>
        </p:spPr>
        <p:txBody>
          <a:bodyPr rtlCol="0" anchor="ctr"/>
          <a:lstStyle/>
          <a:p>
            <a:pPr algn="ctr"/>
          </a:p>
        </p:txBody>
      </p:sp>
      <p:sp>
        <p:nvSpPr>
          <p:cNvPr id="11" name="TextBox 10"/>
          <p:cNvSpPr txBox="1"/>
          <p:nvPr/>
        </p:nvSpPr>
        <p:spPr>
          <a:xfrm>
            <a:off x="5870448" y="2798064"/>
            <a:ext cx="1188720" cy="1042416"/>
          </a:xfrm>
          <a:prstGeom prst="rect">
            <a:avLst/>
          </a:prstGeom>
          <a:noFill/>
        </p:spPr>
        <p:txBody>
          <a:bodyPr wrap="square" lIns="0" rIns="0" tIns="0" bIns="0" anchor="ctr">
            <a:spAutoFit/>
          </a:bodyPr>
          <a:lstStyle/>
          <a:p>
            <a:pPr>
              <a:lnSpc>
                <a:spcPct val="130000"/>
              </a:lnSpc>
              <a:spcBef>
                <a:spcPts val="0"/>
              </a:spcBef>
              <a:spcAft>
                <a:spcPts val="0"/>
              </a:spcAft>
            </a:pPr>
            <a:r>
              <a:rPr sz="3000" b="1">
                <a:solidFill>
                  <a:srgbClr val="002970"/>
                </a:solidFill>
                <a:latin typeface="Arial"/>
              </a:rPr>
              <a:t>17%</a:t>
            </a:r>
          </a:p>
        </p:txBody>
      </p:sp>
      <p:sp>
        <p:nvSpPr>
          <p:cNvPr id="12" name="TextBox 11"/>
          <p:cNvSpPr txBox="1"/>
          <p:nvPr/>
        </p:nvSpPr>
        <p:spPr>
          <a:xfrm>
            <a:off x="7104888" y="2798064"/>
            <a:ext cx="4245559" cy="1042416"/>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002970"/>
                </a:solidFill>
                <a:latin typeface="Arial"/>
              </a:rPr>
              <a:t>one tap</a:t>
            </a:r>
          </a:p>
          <a:p>
            <a:pPr>
              <a:lnSpc>
                <a:spcPct val="130000"/>
              </a:lnSpc>
              <a:spcBef>
                <a:spcPts val="300"/>
              </a:spcBef>
              <a:spcAft>
                <a:spcPts val="0"/>
              </a:spcAft>
            </a:pPr>
            <a:r>
              <a:rPr sz="1200" b="0">
                <a:solidFill>
                  <a:srgbClr val="5B6675"/>
                </a:solidFill>
                <a:latin typeface="Arial"/>
              </a:rPr>
              <a:t>Two people fit, so it asks “Kaunse Anubhav?” and he taps the right one.</a:t>
            </a:r>
          </a:p>
        </p:txBody>
      </p:sp>
      <p:sp>
        <p:nvSpPr>
          <p:cNvPr id="13" name="Rounded Rectangle 12"/>
          <p:cNvSpPr/>
          <p:nvPr/>
        </p:nvSpPr>
        <p:spPr>
          <a:xfrm>
            <a:off x="5596128" y="3950208"/>
            <a:ext cx="6028639" cy="1042416"/>
          </a:xfrm>
          <a:prstGeom prst="roundRect">
            <a:avLst>
              <a:gd name="adj" fmla="val 6000"/>
            </a:avLst>
          </a:prstGeom>
          <a:solidFill>
            <a:srgbClr val="FFFFFF"/>
          </a:solidFill>
          <a:ln>
            <a:noFill/>
          </a:ln>
        </p:spPr>
        <p:txBody>
          <a:bodyPr rtlCol="0" anchor="ctr"/>
          <a:lstStyle/>
          <a:p>
            <a:pPr algn="ctr"/>
          </a:p>
        </p:txBody>
      </p:sp>
      <p:sp>
        <p:nvSpPr>
          <p:cNvPr id="14" name="TextBox 13"/>
          <p:cNvSpPr txBox="1"/>
          <p:nvPr/>
        </p:nvSpPr>
        <p:spPr>
          <a:xfrm>
            <a:off x="5870448" y="3950208"/>
            <a:ext cx="1188720" cy="1042416"/>
          </a:xfrm>
          <a:prstGeom prst="rect">
            <a:avLst/>
          </a:prstGeom>
          <a:noFill/>
        </p:spPr>
        <p:txBody>
          <a:bodyPr wrap="square" lIns="0" rIns="0" tIns="0" bIns="0" anchor="ctr">
            <a:spAutoFit/>
          </a:bodyPr>
          <a:lstStyle/>
          <a:p>
            <a:pPr>
              <a:lnSpc>
                <a:spcPct val="130000"/>
              </a:lnSpc>
              <a:spcBef>
                <a:spcPts val="0"/>
              </a:spcBef>
              <a:spcAft>
                <a:spcPts val="0"/>
              </a:spcAft>
            </a:pPr>
            <a:r>
              <a:rPr sz="3000" b="1">
                <a:solidFill>
                  <a:srgbClr val="002970"/>
                </a:solidFill>
                <a:latin typeface="Arial"/>
              </a:rPr>
              <a:t>8%</a:t>
            </a:r>
          </a:p>
        </p:txBody>
      </p:sp>
      <p:sp>
        <p:nvSpPr>
          <p:cNvPr id="15" name="TextBox 14"/>
          <p:cNvSpPr txBox="1"/>
          <p:nvPr/>
        </p:nvSpPr>
        <p:spPr>
          <a:xfrm>
            <a:off x="7104888" y="3950208"/>
            <a:ext cx="4245559" cy="1042416"/>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002970"/>
                </a:solidFill>
                <a:latin typeface="Arial"/>
              </a:rPr>
              <a:t>said again</a:t>
            </a:r>
          </a:p>
          <a:p>
            <a:pPr>
              <a:lnSpc>
                <a:spcPct val="130000"/>
              </a:lnSpc>
              <a:spcBef>
                <a:spcPts val="300"/>
              </a:spcBef>
              <a:spcAft>
                <a:spcPts val="0"/>
              </a:spcAft>
            </a:pPr>
            <a:r>
              <a:rPr sz="1200" b="0">
                <a:solidFill>
                  <a:srgbClr val="5B6675"/>
                </a:solidFill>
                <a:latin typeface="Arial"/>
              </a:rPr>
              <a:t>It wasn’t sure, so it asked him to repeat it.</a:t>
            </a:r>
          </a:p>
        </p:txBody>
      </p:sp>
      <p:sp>
        <p:nvSpPr>
          <p:cNvPr id="16" name="Rounded Rectangle 15"/>
          <p:cNvSpPr/>
          <p:nvPr/>
        </p:nvSpPr>
        <p:spPr>
          <a:xfrm>
            <a:off x="5596128" y="5102352"/>
            <a:ext cx="6028639" cy="1042416"/>
          </a:xfrm>
          <a:prstGeom prst="roundRect">
            <a:avLst>
              <a:gd name="adj" fmla="val 6000"/>
            </a:avLst>
          </a:prstGeom>
          <a:solidFill>
            <a:srgbClr val="FFFFFF"/>
          </a:solidFill>
          <a:ln>
            <a:noFill/>
          </a:ln>
        </p:spPr>
        <p:txBody>
          <a:bodyPr rtlCol="0" anchor="ctr"/>
          <a:lstStyle/>
          <a:p>
            <a:pPr algn="ctr"/>
          </a:p>
        </p:txBody>
      </p:sp>
      <p:sp>
        <p:nvSpPr>
          <p:cNvPr id="17" name="TextBox 16"/>
          <p:cNvSpPr txBox="1"/>
          <p:nvPr/>
        </p:nvSpPr>
        <p:spPr>
          <a:xfrm>
            <a:off x="5870448" y="5102352"/>
            <a:ext cx="1188720" cy="1042416"/>
          </a:xfrm>
          <a:prstGeom prst="rect">
            <a:avLst/>
          </a:prstGeom>
          <a:noFill/>
        </p:spPr>
        <p:txBody>
          <a:bodyPr wrap="square" lIns="0" rIns="0" tIns="0" bIns="0" anchor="ctr">
            <a:spAutoFit/>
          </a:bodyPr>
          <a:lstStyle/>
          <a:p>
            <a:pPr>
              <a:lnSpc>
                <a:spcPct val="130000"/>
              </a:lnSpc>
              <a:spcBef>
                <a:spcPts val="0"/>
              </a:spcBef>
              <a:spcAft>
                <a:spcPts val="0"/>
              </a:spcAft>
            </a:pPr>
            <a:r>
              <a:rPr sz="3000" b="1">
                <a:solidFill>
                  <a:srgbClr val="B3261E"/>
                </a:solidFill>
                <a:latin typeface="Arial"/>
              </a:rPr>
              <a:t>2%</a:t>
            </a:r>
          </a:p>
        </p:txBody>
      </p:sp>
      <p:sp>
        <p:nvSpPr>
          <p:cNvPr id="18" name="TextBox 17"/>
          <p:cNvSpPr txBox="1"/>
          <p:nvPr/>
        </p:nvSpPr>
        <p:spPr>
          <a:xfrm>
            <a:off x="7104888" y="5102352"/>
            <a:ext cx="4245559" cy="1042416"/>
          </a:xfrm>
          <a:prstGeom prst="rect">
            <a:avLst/>
          </a:prstGeom>
          <a:noFill/>
        </p:spPr>
        <p:txBody>
          <a:bodyPr wrap="square" lIns="0" rIns="0" tIns="0" bIns="0" anchor="ctr">
            <a:spAutoFit/>
          </a:bodyPr>
          <a:lstStyle/>
          <a:p>
            <a:pPr>
              <a:lnSpc>
                <a:spcPct val="130000"/>
              </a:lnSpc>
              <a:spcBef>
                <a:spcPts val="0"/>
              </a:spcBef>
              <a:spcAft>
                <a:spcPts val="0"/>
              </a:spcAft>
            </a:pPr>
            <a:r>
              <a:rPr sz="1400" b="1">
                <a:solidFill>
                  <a:srgbClr val="B3261E"/>
                </a:solidFill>
                <a:latin typeface="Arial"/>
              </a:rPr>
              <a:t>wrong</a:t>
            </a:r>
          </a:p>
          <a:p>
            <a:pPr>
              <a:lnSpc>
                <a:spcPct val="130000"/>
              </a:lnSpc>
              <a:spcBef>
                <a:spcPts val="300"/>
              </a:spcBef>
              <a:spcAft>
                <a:spcPts val="0"/>
              </a:spcAft>
            </a:pPr>
            <a:r>
              <a:rPr sz="1200" b="0">
                <a:solidFill>
                  <a:srgbClr val="5B6675"/>
                </a:solidFill>
                <a:latin typeface="Arial"/>
              </a:rPr>
              <a:t>And even then, the customer still has to say yes on her phone before it counts.</a:t>
            </a:r>
          </a:p>
        </p:txBody>
      </p:sp>
      <p:sp>
        <p:nvSpPr>
          <p:cNvPr id="19" name="TextBox 18"/>
          <p:cNvSpPr txBox="1"/>
          <p:nvPr/>
        </p:nvSpPr>
        <p:spPr>
          <a:xfrm>
            <a:off x="566928" y="6382512"/>
            <a:ext cx="10326319" cy="274320"/>
          </a:xfrm>
          <a:prstGeom prst="rect">
            <a:avLst/>
          </a:prstGeom>
          <a:noFill/>
        </p:spPr>
        <p:txBody>
          <a:bodyPr wrap="square" lIns="0" rIns="0" tIns="0" bIns="0" anchor="t">
            <a:spAutoFit/>
          </a:bodyPr>
          <a:lstStyle/>
          <a:p>
            <a:pPr>
              <a:lnSpc>
                <a:spcPct val="120000"/>
              </a:lnSpc>
              <a:spcBef>
                <a:spcPts val="0"/>
              </a:spcBef>
              <a:spcAft>
                <a:spcPts val="0"/>
              </a:spcAft>
            </a:pPr>
            <a:r>
              <a:rPr sz="900" b="0">
                <a:solidFill>
                  <a:srgbClr val="8B95A5"/>
                </a:solidFill>
                <a:latin typeface="Arial"/>
              </a:rPr>
              <a:t>Run again any time with make voice-eval. Code: github.com/Uchiha-Itachi0/PAYTM-BAHI</a:t>
            </a:r>
          </a:p>
        </p:txBody>
      </p:sp>
      <p:sp>
        <p:nvSpPr>
          <p:cNvPr id="20" name="TextBox 19"/>
          <p:cNvSpPr txBox="1"/>
          <p:nvPr/>
        </p:nvSpPr>
        <p:spPr>
          <a:xfrm>
            <a:off x="10984687" y="6382512"/>
            <a:ext cx="640080" cy="274320"/>
          </a:xfrm>
          <a:prstGeom prst="rect">
            <a:avLst/>
          </a:prstGeom>
          <a:noFill/>
        </p:spPr>
        <p:txBody>
          <a:bodyPr wrap="square" lIns="0" rIns="0" tIns="0" bIns="0" anchor="t">
            <a:spAutoFit/>
          </a:bodyPr>
          <a:lstStyle/>
          <a:p>
            <a:pPr algn="r">
              <a:lnSpc>
                <a:spcPct val="130000"/>
              </a:lnSpc>
              <a:spcBef>
                <a:spcPts val="0"/>
              </a:spcBef>
              <a:spcAft>
                <a:spcPts val="0"/>
              </a:spcAft>
            </a:pPr>
            <a:r>
              <a:rPr sz="900" b="0">
                <a:solidFill>
                  <a:srgbClr val="8B95A5"/>
                </a:solidFill>
                <a:latin typeface="Arial"/>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7A8"/>
      </a:hlink>
      <a:folHlink>
        <a:srgbClr val="0077A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