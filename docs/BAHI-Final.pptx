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image" Target="../media/image4.png"/><Relationship Id="rId5" Type="http://schemas.openxmlformats.org/officeDocument/2006/relationships/image" Target="../media/image2.png"/><Relationship Id="rId6" Type="http://schemas.openxmlformats.org/officeDocument/2006/relationships/image" Target="../media/image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play.google.com/store/apps/details?id=com.vaibhavkalpe.android.khatabook" TargetMode="External"/><Relationship Id="rId3" Type="http://schemas.openxmlformats.org/officeDocument/2006/relationships/hyperlink" Target="https://okcredit.in" TargetMode="External"/><Relationship Id="rId4" Type="http://schemas.openxmlformats.org/officeDocument/2006/relationships/hyperlink" Target="https://play.google.com/store/apps/details?id=com.doneapp.cpma" TargetMode="External"/><Relationship Id="rId5" Type="http://schemas.openxmlformats.org/officeDocument/2006/relationships/hyperlink" Target="https://business.paytm.com/business-khata" TargetMode="External"/><Relationship Id="rId6" Type="http://schemas.openxmlformats.org/officeDocument/2006/relationships/hyperlink" Target="https://paytm.com/document/ir/financial-results/fy2026-27/Paytm_Earning-Release_Q1-FY-2027_INR.pdf" TargetMode="External"/><Relationship Id="rId7" Type="http://schemas.openxmlformats.org/officeDocument/2006/relationships/hyperlink" Target="https://yourstory.com/2024/11/ms-dhoni-backed-khatabook-clocks-rs-1027-cr-revenue-cuts-losses-7-in-fy24"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2970"/>
          </a:solidFill>
          <a:ln>
            <a:noFill/>
          </a:ln>
        </p:spPr>
        <p:txBody>
          <a:bodyPr rtlCol="0" anchor="ctr"/>
          <a:lstStyle/>
          <a:p>
            <a:pPr algn="ctr"/>
          </a:p>
        </p:txBody>
      </p:sp>
      <p:sp>
        <p:nvSpPr>
          <p:cNvPr id="3" name="Rectangle 2"/>
          <p:cNvSpPr/>
          <p:nvPr/>
        </p:nvSpPr>
        <p:spPr>
          <a:xfrm>
            <a:off x="0" y="0"/>
            <a:ext cx="12191695" cy="101600"/>
          </a:xfrm>
          <a:prstGeom prst="rect">
            <a:avLst/>
          </a:prstGeom>
          <a:solidFill>
            <a:srgbClr val="00BAF2"/>
          </a:solidFill>
          <a:ln>
            <a:noFill/>
          </a:ln>
        </p:spPr>
        <p:txBody>
          <a:bodyPr rtlCol="0" anchor="ctr"/>
          <a:lstStyle/>
          <a:p>
            <a:pPr algn="ctr"/>
          </a:p>
        </p:txBody>
      </p:sp>
      <p:sp>
        <p:nvSpPr>
          <p:cNvPr id="4" name="Rounded Rectangle 3"/>
          <p:cNvSpPr/>
          <p:nvPr/>
        </p:nvSpPr>
        <p:spPr>
          <a:xfrm>
            <a:off x="566928" y="777240"/>
            <a:ext cx="4846320" cy="329184"/>
          </a:xfrm>
          <a:prstGeom prst="roundRect">
            <a:avLst>
              <a:gd name="adj" fmla="val 50000"/>
            </a:avLst>
          </a:prstGeom>
          <a:solidFill>
            <a:srgbClr val="00BAF2"/>
          </a:solidFill>
          <a:ln>
            <a:noFill/>
          </a:ln>
        </p:spPr>
        <p:txBody>
          <a:bodyPr rtlCol="0" anchor="ctr"/>
          <a:lstStyle/>
          <a:p>
            <a:pPr algn="ctr"/>
          </a:p>
        </p:txBody>
      </p:sp>
      <p:sp>
        <p:nvSpPr>
          <p:cNvPr id="5" name="TextBox 4"/>
          <p:cNvSpPr txBox="1"/>
          <p:nvPr/>
        </p:nvSpPr>
        <p:spPr>
          <a:xfrm>
            <a:off x="566928" y="777240"/>
            <a:ext cx="4846320" cy="329184"/>
          </a:xfrm>
          <a:prstGeom prst="rect">
            <a:avLst/>
          </a:prstGeom>
          <a:noFill/>
        </p:spPr>
        <p:txBody>
          <a:bodyPr wrap="square" lIns="0" rIns="0" tIns="0" bIns="0" anchor="ctr">
            <a:spAutoFit/>
          </a:bodyPr>
          <a:lstStyle/>
          <a:p>
            <a:pPr algn="ctr">
              <a:lnSpc>
                <a:spcPct val="100000"/>
              </a:lnSpc>
              <a:spcBef>
                <a:spcPts val="0"/>
              </a:spcBef>
              <a:spcAft>
                <a:spcPts val="0"/>
              </a:spcAft>
            </a:pPr>
            <a:r>
              <a:rPr sz="1100" b="1" spc="80">
                <a:solidFill>
                  <a:srgbClr val="002970"/>
                </a:solidFill>
                <a:latin typeface="Arial"/>
              </a:rPr>
              <a:t>TOP 10  ·  PAYTM BUILD FOR INDIA AI HACKATHON, MUMBAI</a:t>
            </a:r>
          </a:p>
        </p:txBody>
      </p:sp>
      <p:sp>
        <p:nvSpPr>
          <p:cNvPr id="6" name="TextBox 5"/>
          <p:cNvSpPr txBox="1"/>
          <p:nvPr/>
        </p:nvSpPr>
        <p:spPr>
          <a:xfrm>
            <a:off x="566928" y="1325880"/>
            <a:ext cx="6400800" cy="4206240"/>
          </a:xfrm>
          <a:prstGeom prst="rect">
            <a:avLst/>
          </a:prstGeom>
          <a:noFill/>
        </p:spPr>
        <p:txBody>
          <a:bodyPr wrap="square" lIns="0" rIns="0" tIns="0" bIns="0" anchor="t">
            <a:spAutoFit/>
          </a:bodyPr>
          <a:lstStyle/>
          <a:p>
            <a:pPr>
              <a:lnSpc>
                <a:spcPct val="95000"/>
              </a:lnSpc>
              <a:spcBef>
                <a:spcPts val="0"/>
              </a:spcBef>
              <a:spcAft>
                <a:spcPts val="0"/>
              </a:spcAft>
            </a:pPr>
            <a:r>
              <a:rPr sz="7000" b="1">
                <a:solidFill>
                  <a:srgbClr val="FFFFFF"/>
                </a:solidFill>
                <a:latin typeface="Arial"/>
              </a:rPr>
              <a:t>BAHI</a:t>
            </a:r>
          </a:p>
          <a:p>
            <a:pPr>
              <a:lnSpc>
                <a:spcPct val="110000"/>
              </a:lnSpc>
              <a:spcBef>
                <a:spcPts val="1000"/>
              </a:spcBef>
              <a:spcAft>
                <a:spcPts val="0"/>
              </a:spcAft>
            </a:pPr>
            <a:r>
              <a:rPr sz="2800" b="1">
                <a:solidFill>
                  <a:srgbClr val="FFFFFF"/>
                </a:solidFill>
                <a:latin typeface="Arial"/>
              </a:rPr>
              <a:t>The udhaar book both sides can see.</a:t>
            </a:r>
          </a:p>
          <a:p>
            <a:pPr>
              <a:lnSpc>
                <a:spcPct val="140000"/>
              </a:lnSpc>
              <a:spcBef>
                <a:spcPts val="1800"/>
              </a:spcBef>
              <a:spcAft>
                <a:spcPts val="0"/>
              </a:spcAft>
            </a:pPr>
            <a:r>
              <a:rPr sz="1500" b="0">
                <a:solidFill>
                  <a:srgbClr val="C9D8EE"/>
                </a:solidFill>
                <a:latin typeface="Arial"/>
              </a:rPr>
              <a:t>The customer scans the shop’s udhaar QR, or asks for udhaar on her own phone. The shopkeeper tells his AI munshi the amount, and nothing is written until both sides say yes. Every night, plain code decides who actually needs a reminder.</a:t>
            </a:r>
          </a:p>
        </p:txBody>
      </p:sp>
      <p:sp>
        <p:nvSpPr>
          <p:cNvPr id="7" name="Rectangle 6"/>
          <p:cNvSpPr/>
          <p:nvPr/>
        </p:nvSpPr>
        <p:spPr>
          <a:xfrm>
            <a:off x="566928" y="5074920"/>
            <a:ext cx="457200" cy="38100"/>
          </a:xfrm>
          <a:prstGeom prst="rect">
            <a:avLst/>
          </a:prstGeom>
          <a:solidFill>
            <a:srgbClr val="00BAF2"/>
          </a:solidFill>
          <a:ln>
            <a:noFill/>
          </a:ln>
        </p:spPr>
        <p:txBody>
          <a:bodyPr rtlCol="0" anchor="ctr"/>
          <a:lstStyle/>
          <a:p>
            <a:pPr algn="ctr"/>
          </a:p>
        </p:txBody>
      </p:sp>
      <p:sp>
        <p:nvSpPr>
          <p:cNvPr id="8" name="TextBox 7"/>
          <p:cNvSpPr txBox="1"/>
          <p:nvPr/>
        </p:nvSpPr>
        <p:spPr>
          <a:xfrm>
            <a:off x="566928" y="5257800"/>
            <a:ext cx="6675120" cy="731520"/>
          </a:xfrm>
          <a:prstGeom prst="rect">
            <a:avLst/>
          </a:prstGeom>
          <a:noFill/>
        </p:spPr>
        <p:txBody>
          <a:bodyPr wrap="square" lIns="0" rIns="0" tIns="0" bIns="0" anchor="t">
            <a:spAutoFit/>
          </a:bodyPr>
          <a:lstStyle/>
          <a:p>
            <a:pPr>
              <a:lnSpc>
                <a:spcPct val="130000"/>
              </a:lnSpc>
              <a:spcBef>
                <a:spcPts val="0"/>
              </a:spcBef>
              <a:spcAft>
                <a:spcPts val="0"/>
              </a:spcAft>
            </a:pPr>
            <a:r>
              <a:rPr sz="1200" b="0">
                <a:solidFill>
                  <a:srgbClr val="FFFFFF"/>
                </a:solidFill>
                <a:latin typeface="Arial"/>
              </a:rPr>
              <a:t>Paytm Build for India AI Hackathon  ·  Mumbai, 3 October 2026</a:t>
            </a:r>
          </a:p>
          <a:p>
            <a:pPr>
              <a:lnSpc>
                <a:spcPct val="130000"/>
              </a:lnSpc>
              <a:spcBef>
                <a:spcPts val="400"/>
              </a:spcBef>
              <a:spcAft>
                <a:spcPts val="0"/>
              </a:spcAft>
            </a:pPr>
            <a:r>
              <a:rPr sz="1200" b="0">
                <a:solidFill>
                  <a:srgbClr val="FFFFFF"/>
                </a:solidFill>
                <a:latin typeface="Arial"/>
              </a:rPr>
              <a:t>Track 2: AI-Powered Financial Journeys</a:t>
            </a:r>
          </a:p>
          <a:p>
            <a:pPr>
              <a:lnSpc>
                <a:spcPct val="130000"/>
              </a:lnSpc>
              <a:spcBef>
                <a:spcPts val="1000"/>
              </a:spcBef>
              <a:spcAft>
                <a:spcPts val="0"/>
              </a:spcAft>
            </a:pPr>
            <a:r>
              <a:rPr sz="1200" b="0">
                <a:solidFill>
                  <a:srgbClr val="8FA4C6"/>
                </a:solidFill>
                <a:latin typeface="Arial"/>
              </a:rPr>
              <a:t>Team Hustlers  ·  picked by the Paytm panel as a top 10 project</a:t>
            </a:r>
          </a:p>
        </p:txBody>
      </p:sp>
      <p:sp>
        <p:nvSpPr>
          <p:cNvPr id="9" name="Rounded Rectangle 8"/>
          <p:cNvSpPr/>
          <p:nvPr/>
        </p:nvSpPr>
        <p:spPr>
          <a:xfrm>
            <a:off x="7551420" y="876300"/>
            <a:ext cx="2087880" cy="4047978"/>
          </a:xfrm>
          <a:prstGeom prst="roundRect">
            <a:avLst>
              <a:gd name="adj" fmla="val 5000"/>
            </a:avLst>
          </a:prstGeom>
          <a:solidFill>
            <a:srgbClr val="FFFFFF"/>
          </a:solidFill>
          <a:ln w="12700">
            <a:solidFill>
              <a:srgbClr val="D9E4EC"/>
            </a:solidFill>
          </a:ln>
        </p:spPr>
        <p:txBody>
          <a:bodyPr rtlCol="0" anchor="ctr"/>
          <a:lstStyle/>
          <a:p>
            <a:pPr algn="ctr"/>
          </a:p>
        </p:txBody>
      </p:sp>
      <p:pic>
        <p:nvPicPr>
          <p:cNvPr id="10" name="Picture 9" descr="m-popup.png"/>
          <p:cNvPicPr>
            <a:picLocks noChangeAspect="1"/>
          </p:cNvPicPr>
          <p:nvPr/>
        </p:nvPicPr>
        <p:blipFill>
          <a:blip r:embed="rId2"/>
          <a:stretch>
            <a:fillRect/>
          </a:stretch>
        </p:blipFill>
        <p:spPr>
          <a:xfrm>
            <a:off x="7589520" y="914400"/>
            <a:ext cx="2011680" cy="3971778"/>
          </a:xfrm>
          <a:prstGeom prst="rect">
            <a:avLst/>
          </a:prstGeom>
        </p:spPr>
      </p:pic>
      <p:sp>
        <p:nvSpPr>
          <p:cNvPr id="11" name="Rounded Rectangle 10"/>
          <p:cNvSpPr/>
          <p:nvPr/>
        </p:nvSpPr>
        <p:spPr>
          <a:xfrm>
            <a:off x="9791700" y="876300"/>
            <a:ext cx="2087880" cy="4047978"/>
          </a:xfrm>
          <a:prstGeom prst="roundRect">
            <a:avLst>
              <a:gd name="adj" fmla="val 5000"/>
            </a:avLst>
          </a:prstGeom>
          <a:solidFill>
            <a:srgbClr val="FFFFFF"/>
          </a:solidFill>
          <a:ln w="12700">
            <a:solidFill>
              <a:srgbClr val="D9E4EC"/>
            </a:solidFill>
          </a:ln>
        </p:spPr>
        <p:txBody>
          <a:bodyPr rtlCol="0" anchor="ctr"/>
          <a:lstStyle/>
          <a:p>
            <a:pPr algn="ctr"/>
          </a:p>
        </p:txBody>
      </p:sp>
      <p:pic>
        <p:nvPicPr>
          <p:cNvPr id="12" name="Picture 11" descr="c-chat.png"/>
          <p:cNvPicPr>
            <a:picLocks noChangeAspect="1"/>
          </p:cNvPicPr>
          <p:nvPr/>
        </p:nvPicPr>
        <p:blipFill>
          <a:blip r:embed="rId3"/>
          <a:stretch>
            <a:fillRect/>
          </a:stretch>
        </p:blipFill>
        <p:spPr>
          <a:xfrm>
            <a:off x="9829800" y="914400"/>
            <a:ext cx="2011680" cy="3971778"/>
          </a:xfrm>
          <a:prstGeom prst="rect">
            <a:avLst/>
          </a:prstGeom>
        </p:spPr>
      </p:pic>
      <p:sp>
        <p:nvSpPr>
          <p:cNvPr id="13" name="TextBox 12"/>
          <p:cNvSpPr txBox="1"/>
          <p:nvPr/>
        </p:nvSpPr>
        <p:spPr>
          <a:xfrm>
            <a:off x="7589520" y="5138928"/>
            <a:ext cx="4251960" cy="274320"/>
          </a:xfrm>
          <a:prstGeom prst="rect">
            <a:avLst/>
          </a:prstGeom>
          <a:noFill/>
        </p:spPr>
        <p:txBody>
          <a:bodyPr wrap="square" lIns="0" rIns="0" tIns="0" bIns="0" anchor="t">
            <a:spAutoFit/>
          </a:bodyPr>
          <a:lstStyle/>
          <a:p>
            <a:pPr algn="ctr">
              <a:lnSpc>
                <a:spcPct val="130000"/>
              </a:lnSpc>
              <a:spcBef>
                <a:spcPts val="0"/>
              </a:spcBef>
              <a:spcAft>
                <a:spcPts val="0"/>
              </a:spcAft>
            </a:pPr>
            <a:r>
              <a:rPr sz="1000" b="0">
                <a:solidFill>
                  <a:srgbClr val="8FA4C6"/>
                </a:solidFill>
                <a:latin typeface="Arial"/>
              </a:rPr>
              <a:t>Shopkeeper  ·  Customer  ·  our working app, demo data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AF6FC"/>
          </a:solidFill>
          <a:ln>
            <a:noFill/>
          </a:ln>
        </p:spPr>
        <p:txBody>
          <a:bodyPr rtlCol="0" anchor="ctr"/>
          <a:lstStyle/>
          <a:p>
            <a:pPr algn="ctr"/>
          </a:p>
        </p:txBody>
      </p:sp>
      <p:sp>
        <p:nvSpPr>
          <p:cNvPr id="3" name="TextBox 2"/>
          <p:cNvSpPr txBox="1"/>
          <p:nvPr/>
        </p:nvSpPr>
        <p:spPr>
          <a:xfrm>
            <a:off x="566928" y="384048"/>
            <a:ext cx="11057839" cy="228600"/>
          </a:xfrm>
          <a:prstGeom prst="rect">
            <a:avLst/>
          </a:prstGeom>
          <a:noFill/>
        </p:spPr>
        <p:txBody>
          <a:bodyPr wrap="square" lIns="0" rIns="0" tIns="0" bIns="0" anchor="t">
            <a:spAutoFit/>
          </a:bodyPr>
          <a:lstStyle/>
          <a:p>
            <a:pPr>
              <a:lnSpc>
                <a:spcPct val="130000"/>
              </a:lnSpc>
              <a:spcBef>
                <a:spcPts val="0"/>
              </a:spcBef>
              <a:spcAft>
                <a:spcPts val="0"/>
              </a:spcAft>
            </a:pPr>
            <a:r>
              <a:rPr sz="1000" b="1" spc="140">
                <a:solidFill>
                  <a:srgbClr val="0077A8"/>
                </a:solidFill>
                <a:latin typeface="Arial"/>
              </a:rPr>
              <a:t>1 · PROBLEM STATEMENT</a:t>
            </a:r>
          </a:p>
        </p:txBody>
      </p:sp>
      <p:sp>
        <p:nvSpPr>
          <p:cNvPr id="4" name="TextBox 3"/>
          <p:cNvSpPr txBox="1"/>
          <p:nvPr/>
        </p:nvSpPr>
        <p:spPr>
          <a:xfrm>
            <a:off x="566928" y="676656"/>
            <a:ext cx="11057839" cy="822960"/>
          </a:xfrm>
          <a:prstGeom prst="rect">
            <a:avLst/>
          </a:prstGeom>
          <a:noFill/>
        </p:spPr>
        <p:txBody>
          <a:bodyPr wrap="square" lIns="0" rIns="0" tIns="0" bIns="0" anchor="t">
            <a:spAutoFit/>
          </a:bodyPr>
          <a:lstStyle/>
          <a:p>
            <a:pPr>
              <a:lnSpc>
                <a:spcPct val="105000"/>
              </a:lnSpc>
              <a:spcBef>
                <a:spcPts val="0"/>
              </a:spcBef>
              <a:spcAft>
                <a:spcPts val="0"/>
              </a:spcAft>
            </a:pPr>
            <a:r>
              <a:rPr sz="2600" b="1">
                <a:solidFill>
                  <a:srgbClr val="002970"/>
                </a:solidFill>
                <a:latin typeface="Arial"/>
              </a:rPr>
              <a:t>The udhaar book has one author. The customer never sees it.</a:t>
            </a:r>
          </a:p>
        </p:txBody>
      </p:sp>
      <p:sp>
        <p:nvSpPr>
          <p:cNvPr id="5" name="Rounded Rectangle 4"/>
          <p:cNvSpPr/>
          <p:nvPr/>
        </p:nvSpPr>
        <p:spPr>
          <a:xfrm>
            <a:off x="566928" y="1645920"/>
            <a:ext cx="11057839" cy="1874519"/>
          </a:xfrm>
          <a:prstGeom prst="roundRect">
            <a:avLst>
              <a:gd name="adj" fmla="val 6000"/>
            </a:avLst>
          </a:prstGeom>
          <a:solidFill>
            <a:srgbClr val="FFFFFF"/>
          </a:solidFill>
          <a:ln>
            <a:noFill/>
          </a:ln>
        </p:spPr>
        <p:txBody>
          <a:bodyPr rtlCol="0" anchor="ctr"/>
          <a:lstStyle/>
          <a:p>
            <a:pPr algn="ctr"/>
          </a:p>
        </p:txBody>
      </p:sp>
      <p:sp>
        <p:nvSpPr>
          <p:cNvPr id="6" name="Rounded Rectangle 5"/>
          <p:cNvSpPr/>
          <p:nvPr/>
        </p:nvSpPr>
        <p:spPr>
          <a:xfrm>
            <a:off x="978408" y="2011680"/>
            <a:ext cx="2468880" cy="1143000"/>
          </a:xfrm>
          <a:prstGeom prst="roundRect">
            <a:avLst>
              <a:gd name="adj" fmla="val 12000"/>
            </a:avLst>
          </a:prstGeom>
          <a:solidFill>
            <a:srgbClr val="EAF6FC"/>
          </a:solidFill>
          <a:ln>
            <a:noFill/>
          </a:ln>
        </p:spPr>
        <p:txBody>
          <a:bodyPr rtlCol="0" anchor="ctr"/>
          <a:lstStyle/>
          <a:p>
            <a:pPr algn="ctr"/>
          </a:p>
        </p:txBody>
      </p:sp>
      <p:sp>
        <p:nvSpPr>
          <p:cNvPr id="7" name="TextBox 6"/>
          <p:cNvSpPr txBox="1"/>
          <p:nvPr/>
        </p:nvSpPr>
        <p:spPr>
          <a:xfrm>
            <a:off x="1088136" y="2011680"/>
            <a:ext cx="2249424" cy="1143000"/>
          </a:xfrm>
          <a:prstGeom prst="rect">
            <a:avLst/>
          </a:prstGeom>
          <a:noFill/>
        </p:spPr>
        <p:txBody>
          <a:bodyPr wrap="square" lIns="0" rIns="0" tIns="0" bIns="0" anchor="ctr">
            <a:spAutoFit/>
          </a:bodyPr>
          <a:lstStyle/>
          <a:p>
            <a:pPr algn="ctr">
              <a:lnSpc>
                <a:spcPct val="110000"/>
              </a:lnSpc>
              <a:spcBef>
                <a:spcPts val="0"/>
              </a:spcBef>
              <a:spcAft>
                <a:spcPts val="0"/>
              </a:spcAft>
            </a:pPr>
            <a:r>
              <a:rPr sz="1500" b="1">
                <a:solidFill>
                  <a:srgbClr val="002970"/>
                </a:solidFill>
                <a:latin typeface="Arial"/>
              </a:rPr>
              <a:t>Shopkeeper</a:t>
            </a:r>
          </a:p>
          <a:p>
            <a:pPr algn="ctr">
              <a:lnSpc>
                <a:spcPct val="120000"/>
              </a:lnSpc>
              <a:spcBef>
                <a:spcPts val="300"/>
              </a:spcBef>
              <a:spcAft>
                <a:spcPts val="0"/>
              </a:spcAft>
            </a:pPr>
            <a:r>
              <a:rPr sz="1200" b="0">
                <a:solidFill>
                  <a:srgbClr val="5B6675"/>
                </a:solidFill>
                <a:latin typeface="Arial"/>
              </a:rPr>
              <a:t>writes every entry</a:t>
            </a:r>
          </a:p>
        </p:txBody>
      </p:sp>
      <p:sp>
        <p:nvSpPr>
          <p:cNvPr id="8" name="Rounded Rectangle 7"/>
          <p:cNvSpPr/>
          <p:nvPr/>
        </p:nvSpPr>
        <p:spPr>
          <a:xfrm>
            <a:off x="4855464" y="2011680"/>
            <a:ext cx="2468880" cy="1143000"/>
          </a:xfrm>
          <a:prstGeom prst="roundRect">
            <a:avLst>
              <a:gd name="adj" fmla="val 12000"/>
            </a:avLst>
          </a:prstGeom>
          <a:solidFill>
            <a:srgbClr val="EAF6FC"/>
          </a:solidFill>
          <a:ln>
            <a:noFill/>
          </a:ln>
        </p:spPr>
        <p:txBody>
          <a:bodyPr rtlCol="0" anchor="ctr"/>
          <a:lstStyle/>
          <a:p>
            <a:pPr algn="ctr"/>
          </a:p>
        </p:txBody>
      </p:sp>
      <p:sp>
        <p:nvSpPr>
          <p:cNvPr id="9" name="TextBox 8"/>
          <p:cNvSpPr txBox="1"/>
          <p:nvPr/>
        </p:nvSpPr>
        <p:spPr>
          <a:xfrm>
            <a:off x="4965192" y="2011680"/>
            <a:ext cx="2249424" cy="1143000"/>
          </a:xfrm>
          <a:prstGeom prst="rect">
            <a:avLst/>
          </a:prstGeom>
          <a:noFill/>
        </p:spPr>
        <p:txBody>
          <a:bodyPr wrap="square" lIns="0" rIns="0" tIns="0" bIns="0" anchor="ctr">
            <a:spAutoFit/>
          </a:bodyPr>
          <a:lstStyle/>
          <a:p>
            <a:pPr algn="ctr">
              <a:lnSpc>
                <a:spcPct val="110000"/>
              </a:lnSpc>
              <a:spcBef>
                <a:spcPts val="0"/>
              </a:spcBef>
              <a:spcAft>
                <a:spcPts val="0"/>
              </a:spcAft>
            </a:pPr>
            <a:r>
              <a:rPr sz="1500" b="1">
                <a:solidFill>
                  <a:srgbClr val="002970"/>
                </a:solidFill>
                <a:latin typeface="Arial"/>
              </a:rPr>
              <a:t>The udhaar book</a:t>
            </a:r>
          </a:p>
          <a:p>
            <a:pPr algn="ctr">
              <a:lnSpc>
                <a:spcPct val="120000"/>
              </a:lnSpc>
              <a:spcBef>
                <a:spcPts val="300"/>
              </a:spcBef>
              <a:spcAft>
                <a:spcPts val="0"/>
              </a:spcAft>
            </a:pPr>
            <a:r>
              <a:rPr sz="1200" b="0">
                <a:solidFill>
                  <a:srgbClr val="5B6675"/>
                </a:solidFill>
                <a:latin typeface="Arial"/>
              </a:rPr>
              <a:t>a notebook, or a ledger app</a:t>
            </a:r>
          </a:p>
        </p:txBody>
      </p:sp>
      <p:sp>
        <p:nvSpPr>
          <p:cNvPr id="10" name="Rounded Rectangle 9"/>
          <p:cNvSpPr/>
          <p:nvPr/>
        </p:nvSpPr>
        <p:spPr>
          <a:xfrm>
            <a:off x="8741664" y="2011680"/>
            <a:ext cx="2468880" cy="1143000"/>
          </a:xfrm>
          <a:prstGeom prst="roundRect">
            <a:avLst>
              <a:gd name="adj" fmla="val 12000"/>
            </a:avLst>
          </a:prstGeom>
          <a:solidFill>
            <a:srgbClr val="FFFFFF"/>
          </a:solidFill>
          <a:ln w="15875">
            <a:solidFill>
              <a:srgbClr val="8B95A5"/>
            </a:solidFill>
            <a:prstDash val="dash"/>
          </a:ln>
        </p:spPr>
        <p:txBody>
          <a:bodyPr rtlCol="0" anchor="ctr"/>
          <a:lstStyle/>
          <a:p>
            <a:pPr algn="ctr"/>
          </a:p>
        </p:txBody>
      </p:sp>
      <p:sp>
        <p:nvSpPr>
          <p:cNvPr id="11" name="TextBox 10"/>
          <p:cNvSpPr txBox="1"/>
          <p:nvPr/>
        </p:nvSpPr>
        <p:spPr>
          <a:xfrm>
            <a:off x="8851392" y="2011680"/>
            <a:ext cx="2249424" cy="1143000"/>
          </a:xfrm>
          <a:prstGeom prst="rect">
            <a:avLst/>
          </a:prstGeom>
          <a:noFill/>
        </p:spPr>
        <p:txBody>
          <a:bodyPr wrap="square" lIns="0" rIns="0" tIns="0" bIns="0" anchor="ctr">
            <a:spAutoFit/>
          </a:bodyPr>
          <a:lstStyle/>
          <a:p>
            <a:pPr algn="ctr">
              <a:lnSpc>
                <a:spcPct val="110000"/>
              </a:lnSpc>
              <a:spcBef>
                <a:spcPts val="0"/>
              </a:spcBef>
              <a:spcAft>
                <a:spcPts val="0"/>
              </a:spcAft>
            </a:pPr>
            <a:r>
              <a:rPr sz="1500" b="1">
                <a:solidFill>
                  <a:srgbClr val="5B6675"/>
                </a:solidFill>
                <a:latin typeface="Arial"/>
              </a:rPr>
              <a:t>Customer</a:t>
            </a:r>
          </a:p>
          <a:p>
            <a:pPr algn="ctr">
              <a:lnSpc>
                <a:spcPct val="120000"/>
              </a:lnSpc>
              <a:spcBef>
                <a:spcPts val="300"/>
              </a:spcBef>
              <a:spcAft>
                <a:spcPts val="0"/>
              </a:spcAft>
            </a:pPr>
            <a:r>
              <a:rPr sz="1200" b="0">
                <a:solidFill>
                  <a:srgbClr val="5B6675"/>
                </a:solidFill>
                <a:latin typeface="Arial"/>
              </a:rPr>
              <a:t>no copy  ·  no total  ·  no proof</a:t>
            </a:r>
          </a:p>
        </p:txBody>
      </p:sp>
      <p:cxnSp>
        <p:nvCxnSpPr>
          <p:cNvPr id="12" name="Connector 11"/>
          <p:cNvCxnSpPr/>
          <p:nvPr/>
        </p:nvCxnSpPr>
        <p:spPr>
          <a:xfrm>
            <a:off x="3538728" y="2583180"/>
            <a:ext cx="1225296" cy="0"/>
          </a:xfrm>
          <a:prstGeom prst="line">
            <a:avLst/>
          </a:prstGeom>
          <a:ln w="25400">
            <a:solidFill>
              <a:srgbClr val="002970"/>
            </a:solidFill>
            <a:tailEnd type="triangle" w="med" len="med"/>
          </a:ln>
        </p:spPr>
      </p:cxnSp>
      <p:cxnSp>
        <p:nvCxnSpPr>
          <p:cNvPr id="13" name="Connector 12"/>
          <p:cNvCxnSpPr/>
          <p:nvPr/>
        </p:nvCxnSpPr>
        <p:spPr>
          <a:xfrm>
            <a:off x="7415784" y="2583180"/>
            <a:ext cx="1234440" cy="0"/>
          </a:xfrm>
          <a:prstGeom prst="line">
            <a:avLst/>
          </a:prstGeom>
          <a:ln w="25400">
            <a:solidFill>
              <a:srgbClr val="8B95A5"/>
            </a:solidFill>
            <a:prstDash val="dash"/>
            <a:tailEnd type="triangle" w="med" len="med"/>
          </a:ln>
        </p:spPr>
      </p:cxnSp>
      <p:sp>
        <p:nvSpPr>
          <p:cNvPr id="14" name="TextBox 13"/>
          <p:cNvSpPr txBox="1"/>
          <p:nvPr/>
        </p:nvSpPr>
        <p:spPr>
          <a:xfrm>
            <a:off x="3447288" y="2253996"/>
            <a:ext cx="1408176" cy="274320"/>
          </a:xfrm>
          <a:prstGeom prst="rect">
            <a:avLst/>
          </a:prstGeom>
          <a:noFill/>
        </p:spPr>
        <p:txBody>
          <a:bodyPr wrap="square" lIns="0" rIns="0" tIns="0" bIns="0" anchor="t">
            <a:spAutoFit/>
          </a:bodyPr>
          <a:lstStyle/>
          <a:p>
            <a:pPr algn="ctr">
              <a:lnSpc>
                <a:spcPct val="130000"/>
              </a:lnSpc>
              <a:spcBef>
                <a:spcPts val="0"/>
              </a:spcBef>
              <a:spcAft>
                <a:spcPts val="0"/>
              </a:spcAft>
            </a:pPr>
            <a:r>
              <a:rPr sz="1100" b="1">
                <a:solidFill>
                  <a:srgbClr val="002970"/>
                </a:solidFill>
                <a:latin typeface="Arial"/>
              </a:rPr>
              <a:t>writes</a:t>
            </a:r>
          </a:p>
        </p:txBody>
      </p:sp>
      <p:sp>
        <p:nvSpPr>
          <p:cNvPr id="15" name="TextBox 14"/>
          <p:cNvSpPr txBox="1"/>
          <p:nvPr/>
        </p:nvSpPr>
        <p:spPr>
          <a:xfrm>
            <a:off x="7324344" y="2253996"/>
            <a:ext cx="1417320" cy="274320"/>
          </a:xfrm>
          <a:prstGeom prst="rect">
            <a:avLst/>
          </a:prstGeom>
          <a:noFill/>
        </p:spPr>
        <p:txBody>
          <a:bodyPr wrap="square" lIns="0" rIns="0" tIns="0" bIns="0" anchor="t">
            <a:spAutoFit/>
          </a:bodyPr>
          <a:lstStyle/>
          <a:p>
            <a:pPr algn="ctr">
              <a:lnSpc>
                <a:spcPct val="130000"/>
              </a:lnSpc>
              <a:spcBef>
                <a:spcPts val="0"/>
              </a:spcBef>
              <a:spcAft>
                <a:spcPts val="0"/>
              </a:spcAft>
            </a:pPr>
            <a:r>
              <a:rPr sz="1100" b="0">
                <a:solidFill>
                  <a:srgbClr val="5B6675"/>
                </a:solidFill>
                <a:latin typeface="Arial"/>
              </a:rPr>
              <a:t>an SMS, at best</a:t>
            </a:r>
          </a:p>
        </p:txBody>
      </p:sp>
      <p:sp>
        <p:nvSpPr>
          <p:cNvPr id="16" name="Rectangle 15"/>
          <p:cNvSpPr/>
          <p:nvPr/>
        </p:nvSpPr>
        <p:spPr>
          <a:xfrm>
            <a:off x="566928" y="3913632"/>
            <a:ext cx="365760" cy="38100"/>
          </a:xfrm>
          <a:prstGeom prst="rect">
            <a:avLst/>
          </a:prstGeom>
          <a:solidFill>
            <a:srgbClr val="00BAF2"/>
          </a:solidFill>
          <a:ln>
            <a:noFill/>
          </a:ln>
        </p:spPr>
        <p:txBody>
          <a:bodyPr rtlCol="0" anchor="ctr"/>
          <a:lstStyle/>
          <a:p>
            <a:pPr algn="ctr"/>
          </a:p>
        </p:txBody>
      </p:sp>
      <p:sp>
        <p:nvSpPr>
          <p:cNvPr id="17" name="TextBox 16"/>
          <p:cNvSpPr txBox="1"/>
          <p:nvPr/>
        </p:nvSpPr>
        <p:spPr>
          <a:xfrm>
            <a:off x="566928" y="4069080"/>
            <a:ext cx="3442106" cy="2011680"/>
          </a:xfrm>
          <a:prstGeom prst="rect">
            <a:avLst/>
          </a:prstGeom>
          <a:noFill/>
        </p:spPr>
        <p:txBody>
          <a:bodyPr wrap="square" lIns="0" rIns="0" tIns="0" bIns="0" anchor="t">
            <a:spAutoFit/>
          </a:bodyPr>
          <a:lstStyle/>
          <a:p>
            <a:pPr>
              <a:lnSpc>
                <a:spcPct val="115000"/>
              </a:lnSpc>
              <a:spcBef>
                <a:spcPts val="0"/>
              </a:spcBef>
              <a:spcAft>
                <a:spcPts val="0"/>
              </a:spcAft>
            </a:pPr>
            <a:r>
              <a:rPr sz="1600" b="1">
                <a:solidFill>
                  <a:srgbClr val="002970"/>
                </a:solidFill>
                <a:latin typeface="Arial"/>
              </a:rPr>
              <a:t>He can’t see patterns</a:t>
            </a:r>
          </a:p>
          <a:p>
            <a:pPr>
              <a:lnSpc>
                <a:spcPct val="140000"/>
              </a:lnSpc>
              <a:spcBef>
                <a:spcPts val="800"/>
              </a:spcBef>
              <a:spcAft>
                <a:spcPts val="0"/>
              </a:spcAft>
            </a:pPr>
            <a:r>
              <a:rPr sz="1300" b="0">
                <a:solidFill>
                  <a:srgbClr val="5B6675"/>
                </a:solidFill>
                <a:latin typeface="Arial"/>
              </a:rPr>
              <a:t>Someone who always pays on day 9 and someone quietly drifting away look the same in a notebook. So everyone is chased the same way.</a:t>
            </a:r>
          </a:p>
        </p:txBody>
      </p:sp>
      <p:sp>
        <p:nvSpPr>
          <p:cNvPr id="18" name="Rectangle 17"/>
          <p:cNvSpPr/>
          <p:nvPr/>
        </p:nvSpPr>
        <p:spPr>
          <a:xfrm>
            <a:off x="4374794" y="3913632"/>
            <a:ext cx="365760" cy="38100"/>
          </a:xfrm>
          <a:prstGeom prst="rect">
            <a:avLst/>
          </a:prstGeom>
          <a:solidFill>
            <a:srgbClr val="00BAF2"/>
          </a:solidFill>
          <a:ln>
            <a:noFill/>
          </a:ln>
        </p:spPr>
        <p:txBody>
          <a:bodyPr rtlCol="0" anchor="ctr"/>
          <a:lstStyle/>
          <a:p>
            <a:pPr algn="ctr"/>
          </a:p>
        </p:txBody>
      </p:sp>
      <p:sp>
        <p:nvSpPr>
          <p:cNvPr id="19" name="TextBox 18"/>
          <p:cNvSpPr txBox="1"/>
          <p:nvPr/>
        </p:nvSpPr>
        <p:spPr>
          <a:xfrm>
            <a:off x="4374794" y="4069080"/>
            <a:ext cx="3442106" cy="2011680"/>
          </a:xfrm>
          <a:prstGeom prst="rect">
            <a:avLst/>
          </a:prstGeom>
          <a:noFill/>
        </p:spPr>
        <p:txBody>
          <a:bodyPr wrap="square" lIns="0" rIns="0" tIns="0" bIns="0" anchor="t">
            <a:spAutoFit/>
          </a:bodyPr>
          <a:lstStyle/>
          <a:p>
            <a:pPr>
              <a:lnSpc>
                <a:spcPct val="115000"/>
              </a:lnSpc>
              <a:spcBef>
                <a:spcPts val="0"/>
              </a:spcBef>
              <a:spcAft>
                <a:spcPts val="0"/>
              </a:spcAft>
            </a:pPr>
            <a:r>
              <a:rPr sz="1600" b="1">
                <a:solidFill>
                  <a:srgbClr val="002970"/>
                </a:solidFill>
                <a:latin typeface="Arial"/>
              </a:rPr>
              <a:t>The customer has no record</a:t>
            </a:r>
          </a:p>
          <a:p>
            <a:pPr>
              <a:lnSpc>
                <a:spcPct val="140000"/>
              </a:lnSpc>
              <a:spcBef>
                <a:spcPts val="800"/>
              </a:spcBef>
              <a:spcAft>
                <a:spcPts val="0"/>
              </a:spcAft>
            </a:pPr>
            <a:r>
              <a:rPr sz="1300" b="0">
                <a:solidFill>
                  <a:srgbClr val="5B6675"/>
                </a:solidFill>
                <a:latin typeface="Arial"/>
              </a:rPr>
              <a:t>He can’t see what he owes across shops. If the book says ₹500 and he remembers ₹300, he has nothing to show.</a:t>
            </a:r>
          </a:p>
        </p:txBody>
      </p:sp>
      <p:sp>
        <p:nvSpPr>
          <p:cNvPr id="20" name="Rectangle 19"/>
          <p:cNvSpPr/>
          <p:nvPr/>
        </p:nvSpPr>
        <p:spPr>
          <a:xfrm>
            <a:off x="8182660" y="3913632"/>
            <a:ext cx="365760" cy="38100"/>
          </a:xfrm>
          <a:prstGeom prst="rect">
            <a:avLst/>
          </a:prstGeom>
          <a:solidFill>
            <a:srgbClr val="00BAF2"/>
          </a:solidFill>
          <a:ln>
            <a:noFill/>
          </a:ln>
        </p:spPr>
        <p:txBody>
          <a:bodyPr rtlCol="0" anchor="ctr"/>
          <a:lstStyle/>
          <a:p>
            <a:pPr algn="ctr"/>
          </a:p>
        </p:txBody>
      </p:sp>
      <p:sp>
        <p:nvSpPr>
          <p:cNvPr id="21" name="TextBox 20"/>
          <p:cNvSpPr txBox="1"/>
          <p:nvPr/>
        </p:nvSpPr>
        <p:spPr>
          <a:xfrm>
            <a:off x="8182660" y="4069080"/>
            <a:ext cx="3442106" cy="2011680"/>
          </a:xfrm>
          <a:prstGeom prst="rect">
            <a:avLst/>
          </a:prstGeom>
          <a:noFill/>
        </p:spPr>
        <p:txBody>
          <a:bodyPr wrap="square" lIns="0" rIns="0" tIns="0" bIns="0" anchor="t">
            <a:spAutoFit/>
          </a:bodyPr>
          <a:lstStyle/>
          <a:p>
            <a:pPr>
              <a:lnSpc>
                <a:spcPct val="115000"/>
              </a:lnSpc>
              <a:spcBef>
                <a:spcPts val="0"/>
              </a:spcBef>
              <a:spcAft>
                <a:spcPts val="0"/>
              </a:spcAft>
            </a:pPr>
            <a:r>
              <a:rPr sz="1600" b="1">
                <a:solidFill>
                  <a:srgbClr val="002970"/>
                </a:solidFill>
                <a:latin typeface="Arial"/>
              </a:rPr>
              <a:t>Apps went digital on one side only</a:t>
            </a:r>
          </a:p>
          <a:p>
            <a:pPr>
              <a:lnSpc>
                <a:spcPct val="140000"/>
              </a:lnSpc>
              <a:spcBef>
                <a:spcPts val="800"/>
              </a:spcBef>
              <a:spcAft>
                <a:spcPts val="0"/>
              </a:spcAft>
            </a:pPr>
            <a:r>
              <a:rPr sz="1300" b="0">
                <a:solidFill>
                  <a:srgbClr val="5B6675"/>
                </a:solidFill>
                <a:latin typeface="Arial"/>
              </a:rPr>
              <a:t>Khatabook alone has 5 Cr+ downloads. Its customers still get only an SMS — no app of their own, and no say in the entry.</a:t>
            </a:r>
          </a:p>
        </p:txBody>
      </p:sp>
      <p:sp>
        <p:nvSpPr>
          <p:cNvPr id="22" name="TextBox 21"/>
          <p:cNvSpPr txBox="1"/>
          <p:nvPr/>
        </p:nvSpPr>
        <p:spPr>
          <a:xfrm>
            <a:off x="566928" y="6382512"/>
            <a:ext cx="10326319" cy="274320"/>
          </a:xfrm>
          <a:prstGeom prst="rect">
            <a:avLst/>
          </a:prstGeom>
          <a:noFill/>
        </p:spPr>
        <p:txBody>
          <a:bodyPr wrap="square" lIns="0" rIns="0" tIns="0" bIns="0" anchor="t">
            <a:spAutoFit/>
          </a:bodyPr>
          <a:lstStyle/>
          <a:p>
            <a:pPr>
              <a:lnSpc>
                <a:spcPct val="120000"/>
              </a:lnSpc>
              <a:spcBef>
                <a:spcPts val="0"/>
              </a:spcBef>
              <a:spcAft>
                <a:spcPts val="0"/>
              </a:spcAft>
            </a:pPr>
            <a:r>
              <a:rPr sz="900" b="0">
                <a:solidFill>
                  <a:srgbClr val="8B95A5"/>
                </a:solidFill>
                <a:latin typeface="Arial"/>
              </a:rPr>
              <a:t>Source: Khatabook on Google Play (5 Cr+ downloads) and khatabook.com, checked 23 Sep 2026.</a:t>
            </a:r>
          </a:p>
        </p:txBody>
      </p:sp>
      <p:sp>
        <p:nvSpPr>
          <p:cNvPr id="23" name="TextBox 22"/>
          <p:cNvSpPr txBox="1"/>
          <p:nvPr/>
        </p:nvSpPr>
        <p:spPr>
          <a:xfrm>
            <a:off x="10984687" y="6382512"/>
            <a:ext cx="640080" cy="274320"/>
          </a:xfrm>
          <a:prstGeom prst="rect">
            <a:avLst/>
          </a:prstGeom>
          <a:noFill/>
        </p:spPr>
        <p:txBody>
          <a:bodyPr wrap="square" lIns="0" rIns="0" tIns="0" bIns="0" anchor="t">
            <a:spAutoFit/>
          </a:bodyPr>
          <a:lstStyle/>
          <a:p>
            <a:pPr algn="r">
              <a:lnSpc>
                <a:spcPct val="130000"/>
              </a:lnSpc>
              <a:spcBef>
                <a:spcPts val="0"/>
              </a:spcBef>
              <a:spcAft>
                <a:spcPts val="0"/>
              </a:spcAft>
            </a:pPr>
            <a:r>
              <a:rPr sz="900" b="0">
                <a:solidFill>
                  <a:srgbClr val="8B95A5"/>
                </a:solidFill>
                <a:latin typeface="Arial"/>
              </a:rPr>
              <a:t>2 / 12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AF6FC"/>
          </a:solidFill>
          <a:ln>
            <a:noFill/>
          </a:ln>
        </p:spPr>
        <p:txBody>
          <a:bodyPr rtlCol="0" anchor="ctr"/>
          <a:lstStyle/>
          <a:p>
            <a:pPr algn="ctr"/>
          </a:p>
        </p:txBody>
      </p:sp>
      <p:sp>
        <p:nvSpPr>
          <p:cNvPr id="3" name="TextBox 2"/>
          <p:cNvSpPr txBox="1"/>
          <p:nvPr/>
        </p:nvSpPr>
        <p:spPr>
          <a:xfrm>
            <a:off x="566928" y="384048"/>
            <a:ext cx="11057839" cy="228600"/>
          </a:xfrm>
          <a:prstGeom prst="rect">
            <a:avLst/>
          </a:prstGeom>
          <a:noFill/>
        </p:spPr>
        <p:txBody>
          <a:bodyPr wrap="square" lIns="0" rIns="0" tIns="0" bIns="0" anchor="t">
            <a:spAutoFit/>
          </a:bodyPr>
          <a:lstStyle/>
          <a:p>
            <a:pPr>
              <a:lnSpc>
                <a:spcPct val="130000"/>
              </a:lnSpc>
              <a:spcBef>
                <a:spcPts val="0"/>
              </a:spcBef>
              <a:spcAft>
                <a:spcPts val="0"/>
              </a:spcAft>
            </a:pPr>
            <a:r>
              <a:rPr sz="1000" b="1" spc="140">
                <a:solidFill>
                  <a:srgbClr val="0077A8"/>
                </a:solidFill>
                <a:latin typeface="Arial"/>
              </a:rPr>
              <a:t>2 · PROPOSED SOLUTION</a:t>
            </a:r>
          </a:p>
        </p:txBody>
      </p:sp>
      <p:sp>
        <p:nvSpPr>
          <p:cNvPr id="4" name="TextBox 3"/>
          <p:cNvSpPr txBox="1"/>
          <p:nvPr/>
        </p:nvSpPr>
        <p:spPr>
          <a:xfrm>
            <a:off x="566928" y="676656"/>
            <a:ext cx="11057839" cy="822960"/>
          </a:xfrm>
          <a:prstGeom prst="rect">
            <a:avLst/>
          </a:prstGeom>
          <a:noFill/>
        </p:spPr>
        <p:txBody>
          <a:bodyPr wrap="square" lIns="0" rIns="0" tIns="0" bIns="0" anchor="t">
            <a:spAutoFit/>
          </a:bodyPr>
          <a:lstStyle/>
          <a:p>
            <a:pPr>
              <a:lnSpc>
                <a:spcPct val="105000"/>
              </a:lnSpc>
              <a:spcBef>
                <a:spcPts val="0"/>
              </a:spcBef>
              <a:spcAft>
                <a:spcPts val="0"/>
              </a:spcAft>
            </a:pPr>
            <a:r>
              <a:rPr sz="2600" b="1">
                <a:solidFill>
                  <a:srgbClr val="002970"/>
                </a:solidFill>
                <a:latin typeface="Arial"/>
              </a:rPr>
              <a:t>One entry, agreed by both sides, inside the Paytm they already use.</a:t>
            </a:r>
          </a:p>
        </p:txBody>
      </p:sp>
      <p:sp>
        <p:nvSpPr>
          <p:cNvPr id="5" name="Rounded Rectangle 4"/>
          <p:cNvSpPr/>
          <p:nvPr/>
        </p:nvSpPr>
        <p:spPr>
          <a:xfrm>
            <a:off x="820795" y="1443228"/>
            <a:ext cx="1557528" cy="3000873"/>
          </a:xfrm>
          <a:prstGeom prst="roundRect">
            <a:avLst>
              <a:gd name="adj" fmla="val 5000"/>
            </a:avLst>
          </a:prstGeom>
          <a:solidFill>
            <a:srgbClr val="FFFFFF"/>
          </a:solidFill>
          <a:ln w="12700">
            <a:solidFill>
              <a:srgbClr val="D9E4EC"/>
            </a:solidFill>
          </a:ln>
        </p:spPr>
        <p:txBody>
          <a:bodyPr rtlCol="0" anchor="ctr"/>
          <a:lstStyle/>
          <a:p>
            <a:pPr algn="ctr"/>
          </a:p>
        </p:txBody>
      </p:sp>
      <p:pic>
        <p:nvPicPr>
          <p:cNvPr id="6" name="Picture 5" descr="c-ask.png"/>
          <p:cNvPicPr>
            <a:picLocks noChangeAspect="1"/>
          </p:cNvPicPr>
          <p:nvPr/>
        </p:nvPicPr>
        <p:blipFill>
          <a:blip r:embed="rId2"/>
          <a:stretch>
            <a:fillRect/>
          </a:stretch>
        </p:blipFill>
        <p:spPr>
          <a:xfrm>
            <a:off x="858895" y="1481328"/>
            <a:ext cx="1481328" cy="2924673"/>
          </a:xfrm>
          <a:prstGeom prst="rect">
            <a:avLst/>
          </a:prstGeom>
        </p:spPr>
      </p:pic>
      <p:sp>
        <p:nvSpPr>
          <p:cNvPr id="7" name="Oval 6"/>
          <p:cNvSpPr/>
          <p:nvPr/>
        </p:nvSpPr>
        <p:spPr>
          <a:xfrm>
            <a:off x="603504" y="4572000"/>
            <a:ext cx="292608" cy="292608"/>
          </a:xfrm>
          <a:prstGeom prst="ellipse">
            <a:avLst/>
          </a:prstGeom>
          <a:solidFill>
            <a:srgbClr val="002970"/>
          </a:solidFill>
          <a:ln>
            <a:noFill/>
          </a:ln>
        </p:spPr>
        <p:txBody>
          <a:bodyPr rtlCol="0" anchor="ctr"/>
          <a:lstStyle/>
          <a:p>
            <a:pPr algn="ctr"/>
          </a:p>
        </p:txBody>
      </p:sp>
      <p:sp>
        <p:nvSpPr>
          <p:cNvPr id="8" name="TextBox 7"/>
          <p:cNvSpPr txBox="1"/>
          <p:nvPr/>
        </p:nvSpPr>
        <p:spPr>
          <a:xfrm>
            <a:off x="603504" y="4572000"/>
            <a:ext cx="292608" cy="292608"/>
          </a:xfrm>
          <a:prstGeom prst="rect">
            <a:avLst/>
          </a:prstGeom>
          <a:noFill/>
        </p:spPr>
        <p:txBody>
          <a:bodyPr wrap="square" lIns="0" rIns="0" tIns="0" bIns="0" anchor="ctr">
            <a:spAutoFit/>
          </a:bodyPr>
          <a:lstStyle/>
          <a:p>
            <a:pPr algn="ctr">
              <a:lnSpc>
                <a:spcPct val="100000"/>
              </a:lnSpc>
              <a:spcBef>
                <a:spcPts val="0"/>
              </a:spcBef>
              <a:spcAft>
                <a:spcPts val="0"/>
              </a:spcAft>
            </a:pPr>
            <a:r>
              <a:rPr sz="1100" b="1">
                <a:solidFill>
                  <a:srgbClr val="FFFFFF"/>
                </a:solidFill>
                <a:latin typeface="Arial"/>
              </a:rPr>
              <a:t>1</a:t>
            </a:r>
          </a:p>
        </p:txBody>
      </p:sp>
      <p:sp>
        <p:nvSpPr>
          <p:cNvPr id="9" name="TextBox 8"/>
          <p:cNvSpPr txBox="1"/>
          <p:nvPr/>
        </p:nvSpPr>
        <p:spPr>
          <a:xfrm>
            <a:off x="969264" y="4572000"/>
            <a:ext cx="1662927" cy="1463040"/>
          </a:xfrm>
          <a:prstGeom prst="rect">
            <a:avLst/>
          </a:prstGeom>
          <a:noFill/>
        </p:spPr>
        <p:txBody>
          <a:bodyPr wrap="square" lIns="0" rIns="0" tIns="0" bIns="0" anchor="t">
            <a:spAutoFit/>
          </a:bodyPr>
          <a:lstStyle/>
          <a:p>
            <a:pPr>
              <a:lnSpc>
                <a:spcPct val="110000"/>
              </a:lnSpc>
              <a:spcBef>
                <a:spcPts val="0"/>
              </a:spcBef>
              <a:spcAft>
                <a:spcPts val="0"/>
              </a:spcAft>
            </a:pPr>
            <a:r>
              <a:rPr sz="1300" b="1">
                <a:solidFill>
                  <a:srgbClr val="002970"/>
                </a:solidFill>
                <a:latin typeface="Arial"/>
              </a:rPr>
              <a:t>She scans, and can ask</a:t>
            </a:r>
          </a:p>
          <a:p>
            <a:pPr>
              <a:lnSpc>
                <a:spcPct val="130000"/>
              </a:lnSpc>
              <a:spcBef>
                <a:spcPts val="400"/>
              </a:spcBef>
              <a:spcAft>
                <a:spcPts val="0"/>
              </a:spcAft>
            </a:pPr>
            <a:r>
              <a:rPr sz="1150" b="0">
                <a:solidFill>
                  <a:srgbClr val="5B6675"/>
                </a:solidFill>
                <a:latin typeface="Arial"/>
              </a:rPr>
              <a:t>A separate udhaar QR. She may say how much, and what for.</a:t>
            </a:r>
          </a:p>
        </p:txBody>
      </p:sp>
      <p:sp>
        <p:nvSpPr>
          <p:cNvPr id="10" name="Rounded Rectangle 9"/>
          <p:cNvSpPr/>
          <p:nvPr/>
        </p:nvSpPr>
        <p:spPr>
          <a:xfrm>
            <a:off x="3068938" y="1443228"/>
            <a:ext cx="1557528" cy="3000873"/>
          </a:xfrm>
          <a:prstGeom prst="roundRect">
            <a:avLst>
              <a:gd name="adj" fmla="val 5000"/>
            </a:avLst>
          </a:prstGeom>
          <a:solidFill>
            <a:srgbClr val="FFFFFF"/>
          </a:solidFill>
          <a:ln w="12700">
            <a:solidFill>
              <a:srgbClr val="D9E4EC"/>
            </a:solidFill>
          </a:ln>
        </p:spPr>
        <p:txBody>
          <a:bodyPr rtlCol="0" anchor="ctr"/>
          <a:lstStyle/>
          <a:p>
            <a:pPr algn="ctr"/>
          </a:p>
        </p:txBody>
      </p:sp>
      <p:pic>
        <p:nvPicPr>
          <p:cNvPr id="11" name="Picture 10" descr="m-popup.png"/>
          <p:cNvPicPr>
            <a:picLocks noChangeAspect="1"/>
          </p:cNvPicPr>
          <p:nvPr/>
        </p:nvPicPr>
        <p:blipFill>
          <a:blip r:embed="rId3"/>
          <a:stretch>
            <a:fillRect/>
          </a:stretch>
        </p:blipFill>
        <p:spPr>
          <a:xfrm>
            <a:off x="3107038" y="1481328"/>
            <a:ext cx="1481328" cy="2924673"/>
          </a:xfrm>
          <a:prstGeom prst="rect">
            <a:avLst/>
          </a:prstGeom>
        </p:spPr>
      </p:pic>
      <p:sp>
        <p:nvSpPr>
          <p:cNvPr id="12" name="Oval 11"/>
          <p:cNvSpPr/>
          <p:nvPr/>
        </p:nvSpPr>
        <p:spPr>
          <a:xfrm>
            <a:off x="2851647" y="4572000"/>
            <a:ext cx="292608" cy="292608"/>
          </a:xfrm>
          <a:prstGeom prst="ellipse">
            <a:avLst/>
          </a:prstGeom>
          <a:solidFill>
            <a:srgbClr val="002970"/>
          </a:solidFill>
          <a:ln>
            <a:noFill/>
          </a:ln>
        </p:spPr>
        <p:txBody>
          <a:bodyPr rtlCol="0" anchor="ctr"/>
          <a:lstStyle/>
          <a:p>
            <a:pPr algn="ctr"/>
          </a:p>
        </p:txBody>
      </p:sp>
      <p:sp>
        <p:nvSpPr>
          <p:cNvPr id="13" name="TextBox 12"/>
          <p:cNvSpPr txBox="1"/>
          <p:nvPr/>
        </p:nvSpPr>
        <p:spPr>
          <a:xfrm>
            <a:off x="2851647" y="4572000"/>
            <a:ext cx="292608" cy="292608"/>
          </a:xfrm>
          <a:prstGeom prst="rect">
            <a:avLst/>
          </a:prstGeom>
          <a:noFill/>
        </p:spPr>
        <p:txBody>
          <a:bodyPr wrap="square" lIns="0" rIns="0" tIns="0" bIns="0" anchor="ctr">
            <a:spAutoFit/>
          </a:bodyPr>
          <a:lstStyle/>
          <a:p>
            <a:pPr algn="ctr">
              <a:lnSpc>
                <a:spcPct val="100000"/>
              </a:lnSpc>
              <a:spcBef>
                <a:spcPts val="0"/>
              </a:spcBef>
              <a:spcAft>
                <a:spcPts val="0"/>
              </a:spcAft>
            </a:pPr>
            <a:r>
              <a:rPr sz="1100" b="1">
                <a:solidFill>
                  <a:srgbClr val="FFFFFF"/>
                </a:solidFill>
                <a:latin typeface="Arial"/>
              </a:rPr>
              <a:t>2</a:t>
            </a:r>
          </a:p>
        </p:txBody>
      </p:sp>
      <p:sp>
        <p:nvSpPr>
          <p:cNvPr id="14" name="TextBox 13"/>
          <p:cNvSpPr txBox="1"/>
          <p:nvPr/>
        </p:nvSpPr>
        <p:spPr>
          <a:xfrm>
            <a:off x="3217407" y="4572000"/>
            <a:ext cx="1662927" cy="1463040"/>
          </a:xfrm>
          <a:prstGeom prst="rect">
            <a:avLst/>
          </a:prstGeom>
          <a:noFill/>
        </p:spPr>
        <p:txBody>
          <a:bodyPr wrap="square" lIns="0" rIns="0" tIns="0" bIns="0" anchor="t">
            <a:spAutoFit/>
          </a:bodyPr>
          <a:lstStyle/>
          <a:p>
            <a:pPr>
              <a:lnSpc>
                <a:spcPct val="110000"/>
              </a:lnSpc>
              <a:spcBef>
                <a:spcPts val="0"/>
              </a:spcBef>
              <a:spcAft>
                <a:spcPts val="0"/>
              </a:spcAft>
            </a:pPr>
            <a:r>
              <a:rPr sz="1300" b="1">
                <a:solidFill>
                  <a:srgbClr val="002970"/>
                </a:solidFill>
                <a:latin typeface="Arial"/>
              </a:rPr>
              <a:t>The shop says yes</a:t>
            </a:r>
          </a:p>
          <a:p>
            <a:pPr>
              <a:lnSpc>
                <a:spcPct val="130000"/>
              </a:lnSpc>
              <a:spcBef>
                <a:spcPts val="400"/>
              </a:spcBef>
              <a:spcAft>
                <a:spcPts val="0"/>
              </a:spcAft>
            </a:pPr>
            <a:r>
              <a:rPr sz="1150" b="0">
                <a:solidFill>
                  <a:srgbClr val="5B6675"/>
                </a:solidFill>
                <a:latin typeface="Arial"/>
              </a:rPr>
              <a:t>Or says the amount to the munshi. Nothing is written before his yes.</a:t>
            </a:r>
          </a:p>
        </p:txBody>
      </p:sp>
      <p:sp>
        <p:nvSpPr>
          <p:cNvPr id="15" name="Rounded Rectangle 14"/>
          <p:cNvSpPr/>
          <p:nvPr/>
        </p:nvSpPr>
        <p:spPr>
          <a:xfrm>
            <a:off x="5317081" y="1443228"/>
            <a:ext cx="1557528" cy="3000873"/>
          </a:xfrm>
          <a:prstGeom prst="roundRect">
            <a:avLst>
              <a:gd name="adj" fmla="val 5000"/>
            </a:avLst>
          </a:prstGeom>
          <a:solidFill>
            <a:srgbClr val="FFFFFF"/>
          </a:solidFill>
          <a:ln w="12700">
            <a:solidFill>
              <a:srgbClr val="D9E4EC"/>
            </a:solidFill>
          </a:ln>
        </p:spPr>
        <p:txBody>
          <a:bodyPr rtlCol="0" anchor="ctr"/>
          <a:lstStyle/>
          <a:p>
            <a:pPr algn="ctr"/>
          </a:p>
        </p:txBody>
      </p:sp>
      <p:pic>
        <p:nvPicPr>
          <p:cNvPr id="16" name="Picture 15" descr="c-agreed.png"/>
          <p:cNvPicPr>
            <a:picLocks noChangeAspect="1"/>
          </p:cNvPicPr>
          <p:nvPr/>
        </p:nvPicPr>
        <p:blipFill>
          <a:blip r:embed="rId4"/>
          <a:stretch>
            <a:fillRect/>
          </a:stretch>
        </p:blipFill>
        <p:spPr>
          <a:xfrm>
            <a:off x="5355181" y="1481328"/>
            <a:ext cx="1481328" cy="2924673"/>
          </a:xfrm>
          <a:prstGeom prst="rect">
            <a:avLst/>
          </a:prstGeom>
        </p:spPr>
      </p:pic>
      <p:sp>
        <p:nvSpPr>
          <p:cNvPr id="17" name="Oval 16"/>
          <p:cNvSpPr/>
          <p:nvPr/>
        </p:nvSpPr>
        <p:spPr>
          <a:xfrm>
            <a:off x="5099790" y="4572000"/>
            <a:ext cx="292608" cy="292608"/>
          </a:xfrm>
          <a:prstGeom prst="ellipse">
            <a:avLst/>
          </a:prstGeom>
          <a:solidFill>
            <a:srgbClr val="002970"/>
          </a:solidFill>
          <a:ln>
            <a:noFill/>
          </a:ln>
        </p:spPr>
        <p:txBody>
          <a:bodyPr rtlCol="0" anchor="ctr"/>
          <a:lstStyle/>
          <a:p>
            <a:pPr algn="ctr"/>
          </a:p>
        </p:txBody>
      </p:sp>
      <p:sp>
        <p:nvSpPr>
          <p:cNvPr id="18" name="TextBox 17"/>
          <p:cNvSpPr txBox="1"/>
          <p:nvPr/>
        </p:nvSpPr>
        <p:spPr>
          <a:xfrm>
            <a:off x="5099790" y="4572000"/>
            <a:ext cx="292608" cy="292608"/>
          </a:xfrm>
          <a:prstGeom prst="rect">
            <a:avLst/>
          </a:prstGeom>
          <a:noFill/>
        </p:spPr>
        <p:txBody>
          <a:bodyPr wrap="square" lIns="0" rIns="0" tIns="0" bIns="0" anchor="ctr">
            <a:spAutoFit/>
          </a:bodyPr>
          <a:lstStyle/>
          <a:p>
            <a:pPr algn="ctr">
              <a:lnSpc>
                <a:spcPct val="100000"/>
              </a:lnSpc>
              <a:spcBef>
                <a:spcPts val="0"/>
              </a:spcBef>
              <a:spcAft>
                <a:spcPts val="0"/>
              </a:spcAft>
            </a:pPr>
            <a:r>
              <a:rPr sz="1100" b="1">
                <a:solidFill>
                  <a:srgbClr val="FFFFFF"/>
                </a:solidFill>
                <a:latin typeface="Arial"/>
              </a:rPr>
              <a:t>3</a:t>
            </a:r>
          </a:p>
        </p:txBody>
      </p:sp>
      <p:sp>
        <p:nvSpPr>
          <p:cNvPr id="19" name="TextBox 18"/>
          <p:cNvSpPr txBox="1"/>
          <p:nvPr/>
        </p:nvSpPr>
        <p:spPr>
          <a:xfrm>
            <a:off x="5465550" y="4572000"/>
            <a:ext cx="1662927" cy="1463040"/>
          </a:xfrm>
          <a:prstGeom prst="rect">
            <a:avLst/>
          </a:prstGeom>
          <a:noFill/>
        </p:spPr>
        <p:txBody>
          <a:bodyPr wrap="square" lIns="0" rIns="0" tIns="0" bIns="0" anchor="t">
            <a:spAutoFit/>
          </a:bodyPr>
          <a:lstStyle/>
          <a:p>
            <a:pPr>
              <a:lnSpc>
                <a:spcPct val="110000"/>
              </a:lnSpc>
              <a:spcBef>
                <a:spcPts val="0"/>
              </a:spcBef>
              <a:spcAft>
                <a:spcPts val="0"/>
              </a:spcAft>
            </a:pPr>
            <a:r>
              <a:rPr sz="1300" b="1">
                <a:solidFill>
                  <a:srgbClr val="002970"/>
                </a:solidFill>
                <a:latin typeface="Arial"/>
              </a:rPr>
              <a:t>In both books</a:t>
            </a:r>
          </a:p>
          <a:p>
            <a:pPr>
              <a:lnSpc>
                <a:spcPct val="130000"/>
              </a:lnSpc>
              <a:spcBef>
                <a:spcPts val="400"/>
              </a:spcBef>
              <a:spcAft>
                <a:spcPts val="0"/>
              </a:spcAft>
            </a:pPr>
            <a:r>
              <a:rPr sz="1150" b="0">
                <a:solidFill>
                  <a:srgbClr val="5B6675"/>
                </a:solidFill>
                <a:latin typeface="Arial"/>
              </a:rPr>
              <a:t>Her ask was her yes. Otherwise: “Yes, I owe ₹200” on her phone.</a:t>
            </a:r>
          </a:p>
        </p:txBody>
      </p:sp>
      <p:sp>
        <p:nvSpPr>
          <p:cNvPr id="20" name="Rounded Rectangle 19"/>
          <p:cNvSpPr/>
          <p:nvPr/>
        </p:nvSpPr>
        <p:spPr>
          <a:xfrm>
            <a:off x="7565224" y="1443228"/>
            <a:ext cx="1557528" cy="3000873"/>
          </a:xfrm>
          <a:prstGeom prst="roundRect">
            <a:avLst>
              <a:gd name="adj" fmla="val 5000"/>
            </a:avLst>
          </a:prstGeom>
          <a:solidFill>
            <a:srgbClr val="FFFFFF"/>
          </a:solidFill>
          <a:ln w="12700">
            <a:solidFill>
              <a:srgbClr val="D9E4EC"/>
            </a:solidFill>
          </a:ln>
        </p:spPr>
        <p:txBody>
          <a:bodyPr rtlCol="0" anchor="ctr"/>
          <a:lstStyle/>
          <a:p>
            <a:pPr algn="ctr"/>
          </a:p>
        </p:txBody>
      </p:sp>
      <p:pic>
        <p:nvPicPr>
          <p:cNvPr id="21" name="Picture 20" descr="c-chat.png"/>
          <p:cNvPicPr>
            <a:picLocks noChangeAspect="1"/>
          </p:cNvPicPr>
          <p:nvPr/>
        </p:nvPicPr>
        <p:blipFill>
          <a:blip r:embed="rId5"/>
          <a:stretch>
            <a:fillRect/>
          </a:stretch>
        </p:blipFill>
        <p:spPr>
          <a:xfrm>
            <a:off x="7603324" y="1481328"/>
            <a:ext cx="1481328" cy="2924673"/>
          </a:xfrm>
          <a:prstGeom prst="rect">
            <a:avLst/>
          </a:prstGeom>
        </p:spPr>
      </p:pic>
      <p:sp>
        <p:nvSpPr>
          <p:cNvPr id="22" name="Oval 21"/>
          <p:cNvSpPr/>
          <p:nvPr/>
        </p:nvSpPr>
        <p:spPr>
          <a:xfrm>
            <a:off x="7347933" y="4572000"/>
            <a:ext cx="292608" cy="292608"/>
          </a:xfrm>
          <a:prstGeom prst="ellipse">
            <a:avLst/>
          </a:prstGeom>
          <a:solidFill>
            <a:srgbClr val="002970"/>
          </a:solidFill>
          <a:ln>
            <a:noFill/>
          </a:ln>
        </p:spPr>
        <p:txBody>
          <a:bodyPr rtlCol="0" anchor="ctr"/>
          <a:lstStyle/>
          <a:p>
            <a:pPr algn="ctr"/>
          </a:p>
        </p:txBody>
      </p:sp>
      <p:sp>
        <p:nvSpPr>
          <p:cNvPr id="23" name="TextBox 22"/>
          <p:cNvSpPr txBox="1"/>
          <p:nvPr/>
        </p:nvSpPr>
        <p:spPr>
          <a:xfrm>
            <a:off x="7347933" y="4572000"/>
            <a:ext cx="292608" cy="292608"/>
          </a:xfrm>
          <a:prstGeom prst="rect">
            <a:avLst/>
          </a:prstGeom>
          <a:noFill/>
        </p:spPr>
        <p:txBody>
          <a:bodyPr wrap="square" lIns="0" rIns="0" tIns="0" bIns="0" anchor="ctr">
            <a:spAutoFit/>
          </a:bodyPr>
          <a:lstStyle/>
          <a:p>
            <a:pPr algn="ctr">
              <a:lnSpc>
                <a:spcPct val="100000"/>
              </a:lnSpc>
              <a:spcBef>
                <a:spcPts val="0"/>
              </a:spcBef>
              <a:spcAft>
                <a:spcPts val="0"/>
              </a:spcAft>
            </a:pPr>
            <a:r>
              <a:rPr sz="1100" b="1">
                <a:solidFill>
                  <a:srgbClr val="FFFFFF"/>
                </a:solidFill>
                <a:latin typeface="Arial"/>
              </a:rPr>
              <a:t>4</a:t>
            </a:r>
          </a:p>
        </p:txBody>
      </p:sp>
      <p:sp>
        <p:nvSpPr>
          <p:cNvPr id="24" name="TextBox 23"/>
          <p:cNvSpPr txBox="1"/>
          <p:nvPr/>
        </p:nvSpPr>
        <p:spPr>
          <a:xfrm>
            <a:off x="7713693" y="4572000"/>
            <a:ext cx="1662927" cy="1463040"/>
          </a:xfrm>
          <a:prstGeom prst="rect">
            <a:avLst/>
          </a:prstGeom>
          <a:noFill/>
        </p:spPr>
        <p:txBody>
          <a:bodyPr wrap="square" lIns="0" rIns="0" tIns="0" bIns="0" anchor="t">
            <a:spAutoFit/>
          </a:bodyPr>
          <a:lstStyle/>
          <a:p>
            <a:pPr>
              <a:lnSpc>
                <a:spcPct val="110000"/>
              </a:lnSpc>
              <a:spcBef>
                <a:spcPts val="0"/>
              </a:spcBef>
              <a:spcAft>
                <a:spcPts val="0"/>
              </a:spcAft>
            </a:pPr>
            <a:r>
              <a:rPr sz="1300" b="1">
                <a:solidFill>
                  <a:srgbClr val="002970"/>
                </a:solidFill>
                <a:latin typeface="Arial"/>
              </a:rPr>
              <a:t>A chat like a passbook</a:t>
            </a:r>
          </a:p>
          <a:p>
            <a:pPr>
              <a:lnSpc>
                <a:spcPct val="130000"/>
              </a:lnSpc>
              <a:spcBef>
                <a:spcPts val="400"/>
              </a:spcBef>
              <a:spcAft>
                <a:spcPts val="0"/>
              </a:spcAft>
            </a:pPr>
            <a:r>
              <a:rPr sz="1150" b="0">
                <a:solidFill>
                  <a:srgbClr val="5B6675"/>
                </a:solidFill>
                <a:latin typeface="Arial"/>
              </a:rPr>
              <a:t>Every udhaar and payment shows the total before and after it.</a:t>
            </a:r>
          </a:p>
        </p:txBody>
      </p:sp>
      <p:sp>
        <p:nvSpPr>
          <p:cNvPr id="25" name="Rounded Rectangle 24"/>
          <p:cNvSpPr/>
          <p:nvPr/>
        </p:nvSpPr>
        <p:spPr>
          <a:xfrm>
            <a:off x="9813367" y="1443228"/>
            <a:ext cx="1557528" cy="3000873"/>
          </a:xfrm>
          <a:prstGeom prst="roundRect">
            <a:avLst>
              <a:gd name="adj" fmla="val 5000"/>
            </a:avLst>
          </a:prstGeom>
          <a:solidFill>
            <a:srgbClr val="FFFFFF"/>
          </a:solidFill>
          <a:ln w="12700">
            <a:solidFill>
              <a:srgbClr val="D9E4EC"/>
            </a:solidFill>
          </a:ln>
        </p:spPr>
        <p:txBody>
          <a:bodyPr rtlCol="0" anchor="ctr"/>
          <a:lstStyle/>
          <a:p>
            <a:pPr algn="ctr"/>
          </a:p>
        </p:txBody>
      </p:sp>
      <p:pic>
        <p:nvPicPr>
          <p:cNvPr id="26" name="Picture 25" descr="m-tonight.png"/>
          <p:cNvPicPr>
            <a:picLocks noChangeAspect="1"/>
          </p:cNvPicPr>
          <p:nvPr/>
        </p:nvPicPr>
        <p:blipFill>
          <a:blip r:embed="rId6"/>
          <a:stretch>
            <a:fillRect/>
          </a:stretch>
        </p:blipFill>
        <p:spPr>
          <a:xfrm>
            <a:off x="9851467" y="1481328"/>
            <a:ext cx="1481328" cy="2924673"/>
          </a:xfrm>
          <a:prstGeom prst="rect">
            <a:avLst/>
          </a:prstGeom>
        </p:spPr>
      </p:pic>
      <p:sp>
        <p:nvSpPr>
          <p:cNvPr id="27" name="Oval 26"/>
          <p:cNvSpPr/>
          <p:nvPr/>
        </p:nvSpPr>
        <p:spPr>
          <a:xfrm>
            <a:off x="9596076" y="4572000"/>
            <a:ext cx="292608" cy="292608"/>
          </a:xfrm>
          <a:prstGeom prst="ellipse">
            <a:avLst/>
          </a:prstGeom>
          <a:solidFill>
            <a:srgbClr val="002970"/>
          </a:solidFill>
          <a:ln>
            <a:noFill/>
          </a:ln>
        </p:spPr>
        <p:txBody>
          <a:bodyPr rtlCol="0" anchor="ctr"/>
          <a:lstStyle/>
          <a:p>
            <a:pPr algn="ctr"/>
          </a:p>
        </p:txBody>
      </p:sp>
      <p:sp>
        <p:nvSpPr>
          <p:cNvPr id="28" name="TextBox 27"/>
          <p:cNvSpPr txBox="1"/>
          <p:nvPr/>
        </p:nvSpPr>
        <p:spPr>
          <a:xfrm>
            <a:off x="9596076" y="4572000"/>
            <a:ext cx="292608" cy="292608"/>
          </a:xfrm>
          <a:prstGeom prst="rect">
            <a:avLst/>
          </a:prstGeom>
          <a:noFill/>
        </p:spPr>
        <p:txBody>
          <a:bodyPr wrap="square" lIns="0" rIns="0" tIns="0" bIns="0" anchor="ctr">
            <a:spAutoFit/>
          </a:bodyPr>
          <a:lstStyle/>
          <a:p>
            <a:pPr algn="ctr">
              <a:lnSpc>
                <a:spcPct val="100000"/>
              </a:lnSpc>
              <a:spcBef>
                <a:spcPts val="0"/>
              </a:spcBef>
              <a:spcAft>
                <a:spcPts val="0"/>
              </a:spcAft>
            </a:pPr>
            <a:r>
              <a:rPr sz="1100" b="1">
                <a:solidFill>
                  <a:srgbClr val="FFFFFF"/>
                </a:solidFill>
                <a:latin typeface="Arial"/>
              </a:rPr>
              <a:t>5</a:t>
            </a:r>
          </a:p>
        </p:txBody>
      </p:sp>
      <p:sp>
        <p:nvSpPr>
          <p:cNvPr id="29" name="TextBox 28"/>
          <p:cNvSpPr txBox="1"/>
          <p:nvPr/>
        </p:nvSpPr>
        <p:spPr>
          <a:xfrm>
            <a:off x="9961836" y="4572000"/>
            <a:ext cx="1662927" cy="1463040"/>
          </a:xfrm>
          <a:prstGeom prst="rect">
            <a:avLst/>
          </a:prstGeom>
          <a:noFill/>
        </p:spPr>
        <p:txBody>
          <a:bodyPr wrap="square" lIns="0" rIns="0" tIns="0" bIns="0" anchor="t">
            <a:spAutoFit/>
          </a:bodyPr>
          <a:lstStyle/>
          <a:p>
            <a:pPr>
              <a:lnSpc>
                <a:spcPct val="110000"/>
              </a:lnSpc>
              <a:spcBef>
                <a:spcPts val="0"/>
              </a:spcBef>
              <a:spcAft>
                <a:spcPts val="0"/>
              </a:spcAft>
            </a:pPr>
            <a:r>
              <a:rPr sz="1300" b="1">
                <a:solidFill>
                  <a:srgbClr val="002970"/>
                </a:solidFill>
                <a:latin typeface="Arial"/>
              </a:rPr>
              <a:t>Code picks who hears</a:t>
            </a:r>
          </a:p>
          <a:p>
            <a:pPr>
              <a:lnSpc>
                <a:spcPct val="130000"/>
              </a:lnSpc>
              <a:spcBef>
                <a:spcPts val="400"/>
              </a:spcBef>
              <a:spcAft>
                <a:spcPts val="0"/>
              </a:spcAft>
            </a:pPr>
            <a:r>
              <a:rPr sz="1150" b="0">
                <a:solidFill>
                  <a:srgbClr val="5B6675"/>
                </a:solidFill>
                <a:latin typeface="Arial"/>
              </a:rPr>
              <a:t>Only people past their own longest gap. Everyone else is held, with why.</a:t>
            </a:r>
          </a:p>
        </p:txBody>
      </p:sp>
      <p:sp>
        <p:nvSpPr>
          <p:cNvPr id="30" name="TextBox 29"/>
          <p:cNvSpPr txBox="1"/>
          <p:nvPr/>
        </p:nvSpPr>
        <p:spPr>
          <a:xfrm>
            <a:off x="566928" y="6382512"/>
            <a:ext cx="10326319" cy="274320"/>
          </a:xfrm>
          <a:prstGeom prst="rect">
            <a:avLst/>
          </a:prstGeom>
          <a:noFill/>
        </p:spPr>
        <p:txBody>
          <a:bodyPr wrap="square" lIns="0" rIns="0" tIns="0" bIns="0" anchor="t">
            <a:spAutoFit/>
          </a:bodyPr>
          <a:lstStyle/>
          <a:p>
            <a:pPr>
              <a:lnSpc>
                <a:spcPct val="120000"/>
              </a:lnSpc>
              <a:spcBef>
                <a:spcPts val="0"/>
              </a:spcBef>
              <a:spcAft>
                <a:spcPts val="0"/>
              </a:spcAft>
            </a:pPr>
            <a:r>
              <a:rPr sz="900" b="0">
                <a:solidFill>
                  <a:srgbClr val="8B95A5"/>
                </a:solidFill>
                <a:latin typeface="Arial"/>
              </a:rPr>
              <a:t>Screens captured from our working app. Names and amounts are demo data.</a:t>
            </a:r>
          </a:p>
        </p:txBody>
      </p:sp>
      <p:sp>
        <p:nvSpPr>
          <p:cNvPr id="31" name="TextBox 30"/>
          <p:cNvSpPr txBox="1"/>
          <p:nvPr/>
        </p:nvSpPr>
        <p:spPr>
          <a:xfrm>
            <a:off x="10984687" y="6382512"/>
            <a:ext cx="640080" cy="274320"/>
          </a:xfrm>
          <a:prstGeom prst="rect">
            <a:avLst/>
          </a:prstGeom>
          <a:noFill/>
        </p:spPr>
        <p:txBody>
          <a:bodyPr wrap="square" lIns="0" rIns="0" tIns="0" bIns="0" anchor="t">
            <a:spAutoFit/>
          </a:bodyPr>
          <a:lstStyle/>
          <a:p>
            <a:pPr algn="r">
              <a:lnSpc>
                <a:spcPct val="130000"/>
              </a:lnSpc>
              <a:spcBef>
                <a:spcPts val="0"/>
              </a:spcBef>
              <a:spcAft>
                <a:spcPts val="0"/>
              </a:spcAft>
            </a:pPr>
            <a:r>
              <a:rPr sz="900" b="0">
                <a:solidFill>
                  <a:srgbClr val="8B95A5"/>
                </a:solidFill>
                <a:latin typeface="Arial"/>
              </a:rPr>
              <a:t>3 / 12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AF6FC"/>
          </a:solidFill>
          <a:ln>
            <a:noFill/>
          </a:ln>
        </p:spPr>
        <p:txBody>
          <a:bodyPr rtlCol="0" anchor="ctr"/>
          <a:lstStyle/>
          <a:p>
            <a:pPr algn="ctr"/>
          </a:p>
        </p:txBody>
      </p:sp>
      <p:sp>
        <p:nvSpPr>
          <p:cNvPr id="3" name="TextBox 2"/>
          <p:cNvSpPr txBox="1"/>
          <p:nvPr/>
        </p:nvSpPr>
        <p:spPr>
          <a:xfrm>
            <a:off x="566928" y="384048"/>
            <a:ext cx="11057839" cy="228600"/>
          </a:xfrm>
          <a:prstGeom prst="rect">
            <a:avLst/>
          </a:prstGeom>
          <a:noFill/>
        </p:spPr>
        <p:txBody>
          <a:bodyPr wrap="square" lIns="0" rIns="0" tIns="0" bIns="0" anchor="t">
            <a:spAutoFit/>
          </a:bodyPr>
          <a:lstStyle/>
          <a:p>
            <a:pPr>
              <a:lnSpc>
                <a:spcPct val="130000"/>
              </a:lnSpc>
              <a:spcBef>
                <a:spcPts val="0"/>
              </a:spcBef>
              <a:spcAft>
                <a:spcPts val="0"/>
              </a:spcAft>
            </a:pPr>
            <a:r>
              <a:rPr sz="1000" b="1" spc="140">
                <a:solidFill>
                  <a:srgbClr val="0077A8"/>
                </a:solidFill>
                <a:latin typeface="Arial"/>
              </a:rPr>
              <a:t>2 · PROPOSED SOLUTION / THE MUNSHI</a:t>
            </a:r>
          </a:p>
        </p:txBody>
      </p:sp>
      <p:sp>
        <p:nvSpPr>
          <p:cNvPr id="4" name="TextBox 3"/>
          <p:cNvSpPr txBox="1"/>
          <p:nvPr/>
        </p:nvSpPr>
        <p:spPr>
          <a:xfrm>
            <a:off x="566928" y="676656"/>
            <a:ext cx="11057839" cy="822960"/>
          </a:xfrm>
          <a:prstGeom prst="rect">
            <a:avLst/>
          </a:prstGeom>
          <a:noFill/>
        </p:spPr>
        <p:txBody>
          <a:bodyPr wrap="square" lIns="0" rIns="0" tIns="0" bIns="0" anchor="t">
            <a:spAutoFit/>
          </a:bodyPr>
          <a:lstStyle/>
          <a:p>
            <a:pPr>
              <a:lnSpc>
                <a:spcPct val="105000"/>
              </a:lnSpc>
              <a:spcBef>
                <a:spcPts val="0"/>
              </a:spcBef>
              <a:spcAft>
                <a:spcPts val="0"/>
              </a:spcAft>
            </a:pPr>
            <a:r>
              <a:rPr sz="2600" b="1">
                <a:solidFill>
                  <a:srgbClr val="002970"/>
                </a:solidFill>
                <a:latin typeface="Arial"/>
              </a:rPr>
              <a:t>An AI munshi that does the work, and never writes without a yes.</a:t>
            </a:r>
          </a:p>
        </p:txBody>
      </p:sp>
      <p:sp>
        <p:nvSpPr>
          <p:cNvPr id="5" name="Rounded Rectangle 4"/>
          <p:cNvSpPr/>
          <p:nvPr/>
        </p:nvSpPr>
        <p:spPr>
          <a:xfrm>
            <a:off x="574548" y="1607820"/>
            <a:ext cx="1950719" cy="3777173"/>
          </a:xfrm>
          <a:prstGeom prst="roundRect">
            <a:avLst>
              <a:gd name="adj" fmla="val 5000"/>
            </a:avLst>
          </a:prstGeom>
          <a:solidFill>
            <a:srgbClr val="FFFFFF"/>
          </a:solidFill>
          <a:ln w="12700">
            <a:solidFill>
              <a:srgbClr val="D9E4EC"/>
            </a:solidFill>
          </a:ln>
        </p:spPr>
        <p:txBody>
          <a:bodyPr rtlCol="0" anchor="ctr"/>
          <a:lstStyle/>
          <a:p>
            <a:pPr algn="ctr"/>
          </a:p>
        </p:txBody>
      </p:sp>
      <p:pic>
        <p:nvPicPr>
          <p:cNvPr id="6" name="Picture 5" descr="m-assistant.png"/>
          <p:cNvPicPr>
            <a:picLocks noChangeAspect="1"/>
          </p:cNvPicPr>
          <p:nvPr/>
        </p:nvPicPr>
        <p:blipFill>
          <a:blip r:embed="rId2"/>
          <a:stretch>
            <a:fillRect/>
          </a:stretch>
        </p:blipFill>
        <p:spPr>
          <a:xfrm>
            <a:off x="612648" y="1645920"/>
            <a:ext cx="1874519" cy="3700973"/>
          </a:xfrm>
          <a:prstGeom prst="rect">
            <a:avLst/>
          </a:prstGeom>
        </p:spPr>
      </p:pic>
      <p:sp>
        <p:nvSpPr>
          <p:cNvPr id="7" name="Rounded Rectangle 6"/>
          <p:cNvSpPr/>
          <p:nvPr/>
        </p:nvSpPr>
        <p:spPr>
          <a:xfrm>
            <a:off x="2723387" y="1607820"/>
            <a:ext cx="1950719" cy="3777173"/>
          </a:xfrm>
          <a:prstGeom prst="roundRect">
            <a:avLst>
              <a:gd name="adj" fmla="val 5000"/>
            </a:avLst>
          </a:prstGeom>
          <a:solidFill>
            <a:srgbClr val="FFFFFF"/>
          </a:solidFill>
          <a:ln w="12700">
            <a:solidFill>
              <a:srgbClr val="D9E4EC"/>
            </a:solidFill>
          </a:ln>
        </p:spPr>
        <p:txBody>
          <a:bodyPr rtlCol="0" anchor="ctr"/>
          <a:lstStyle/>
          <a:p>
            <a:pPr algn="ctr"/>
          </a:p>
        </p:txBody>
      </p:sp>
      <p:pic>
        <p:nvPicPr>
          <p:cNvPr id="8" name="Picture 7" descr="m-chat.png"/>
          <p:cNvPicPr>
            <a:picLocks noChangeAspect="1"/>
          </p:cNvPicPr>
          <p:nvPr/>
        </p:nvPicPr>
        <p:blipFill>
          <a:blip r:embed="rId3"/>
          <a:stretch>
            <a:fillRect/>
          </a:stretch>
        </p:blipFill>
        <p:spPr>
          <a:xfrm>
            <a:off x="2761487" y="1645920"/>
            <a:ext cx="1874519" cy="3700973"/>
          </a:xfrm>
          <a:prstGeom prst="rect">
            <a:avLst/>
          </a:prstGeom>
        </p:spPr>
      </p:pic>
      <p:sp>
        <p:nvSpPr>
          <p:cNvPr id="9" name="Rounded Rectangle 8"/>
          <p:cNvSpPr/>
          <p:nvPr/>
        </p:nvSpPr>
        <p:spPr>
          <a:xfrm>
            <a:off x="5001766" y="1645920"/>
            <a:ext cx="6623001" cy="3017520"/>
          </a:xfrm>
          <a:prstGeom prst="roundRect">
            <a:avLst>
              <a:gd name="adj" fmla="val 6000"/>
            </a:avLst>
          </a:prstGeom>
          <a:solidFill>
            <a:srgbClr val="FFFFFF"/>
          </a:solidFill>
          <a:ln>
            <a:noFill/>
          </a:ln>
        </p:spPr>
        <p:txBody>
          <a:bodyPr rtlCol="0" anchor="ctr"/>
          <a:lstStyle/>
          <a:p>
            <a:pPr algn="ctr"/>
          </a:p>
        </p:txBody>
      </p:sp>
      <p:sp>
        <p:nvSpPr>
          <p:cNvPr id="10" name="TextBox 9"/>
          <p:cNvSpPr txBox="1"/>
          <p:nvPr/>
        </p:nvSpPr>
        <p:spPr>
          <a:xfrm>
            <a:off x="5276086" y="1874520"/>
            <a:ext cx="6074361" cy="2743200"/>
          </a:xfrm>
          <a:prstGeom prst="rect">
            <a:avLst/>
          </a:prstGeom>
          <a:noFill/>
        </p:spPr>
        <p:txBody>
          <a:bodyPr wrap="square" lIns="0" rIns="0" tIns="0" bIns="0" anchor="t">
            <a:spAutoFit/>
          </a:bodyPr>
          <a:lstStyle/>
          <a:p>
            <a:pPr>
              <a:lnSpc>
                <a:spcPct val="130000"/>
              </a:lnSpc>
              <a:spcBef>
                <a:spcPts val="0"/>
              </a:spcBef>
              <a:spcAft>
                <a:spcPts val="200"/>
              </a:spcAft>
            </a:pPr>
            <a:r>
              <a:rPr sz="1500" b="1">
                <a:solidFill>
                  <a:srgbClr val="002970"/>
                </a:solidFill>
                <a:latin typeface="Arial"/>
              </a:rPr>
              <a:t>What it does</a:t>
            </a:r>
          </a:p>
          <a:p>
            <a:pPr>
              <a:lnSpc>
                <a:spcPct val="130000"/>
              </a:lnSpc>
              <a:spcBef>
                <a:spcPts val="700"/>
              </a:spcBef>
              <a:spcAft>
                <a:spcPts val="0"/>
              </a:spcAft>
            </a:pPr>
            <a:r>
              <a:rPr sz="1250" b="1">
                <a:solidFill>
                  <a:srgbClr val="0077A8"/>
                </a:solidFill>
                <a:latin typeface="Arial"/>
              </a:rPr>
              <a:t>—  </a:t>
            </a:r>
            <a:r>
              <a:rPr sz="1250" b="0">
                <a:solidFill>
                  <a:srgbClr val="1C1C1C"/>
                </a:solidFill>
                <a:latin typeface="Arial"/>
              </a:rPr>
              <a:t>Talk or type, in Hindi, English, Marathi or a mix. Sarvam hears any of them.</a:t>
            </a:r>
          </a:p>
          <a:p>
            <a:pPr>
              <a:lnSpc>
                <a:spcPct val="130000"/>
              </a:lnSpc>
              <a:spcBef>
                <a:spcPts val="700"/>
              </a:spcBef>
              <a:spcAft>
                <a:spcPts val="0"/>
              </a:spcAft>
            </a:pPr>
            <a:r>
              <a:rPr sz="1250" b="1">
                <a:solidFill>
                  <a:srgbClr val="0077A8"/>
                </a:solidFill>
                <a:latin typeface="Arial"/>
              </a:rPr>
              <a:t>—  </a:t>
            </a:r>
            <a:r>
              <a:rPr sz="1250" b="0">
                <a:solidFill>
                  <a:srgbClr val="1C1C1C"/>
                </a:solidFill>
                <a:latin typeface="Arial"/>
              </a:rPr>
              <a:t>Finds the customer by the sound of a name, or how the shop describes them.</a:t>
            </a:r>
          </a:p>
          <a:p>
            <a:pPr>
              <a:lnSpc>
                <a:spcPct val="130000"/>
              </a:lnSpc>
              <a:spcBef>
                <a:spcPts val="700"/>
              </a:spcBef>
              <a:spcAft>
                <a:spcPts val="0"/>
              </a:spcAft>
            </a:pPr>
            <a:r>
              <a:rPr sz="1250" b="1">
                <a:solidFill>
                  <a:srgbClr val="0077A8"/>
                </a:solidFill>
                <a:latin typeface="Arial"/>
              </a:rPr>
              <a:t>—  </a:t>
            </a:r>
            <a:r>
              <a:rPr sz="1250" b="0">
                <a:solidFill>
                  <a:srgbClr val="1C1C1C"/>
                </a:solidFill>
                <a:latin typeface="Arial"/>
              </a:rPr>
              <a:t>Asks before reading names; then says only the names.</a:t>
            </a:r>
          </a:p>
          <a:p>
            <a:pPr>
              <a:lnSpc>
                <a:spcPct val="130000"/>
              </a:lnSpc>
              <a:spcBef>
                <a:spcPts val="700"/>
              </a:spcBef>
              <a:spcAft>
                <a:spcPts val="0"/>
              </a:spcAft>
            </a:pPr>
            <a:r>
              <a:rPr sz="1250" b="1">
                <a:solidFill>
                  <a:srgbClr val="0077A8"/>
                </a:solidFill>
                <a:latin typeface="Arial"/>
              </a:rPr>
              <a:t>—  </a:t>
            </a:r>
            <a:r>
              <a:rPr sz="1250" b="0">
                <a:solidFill>
                  <a:srgbClr val="1C1C1C"/>
                </a:solidFill>
                <a:latin typeface="Arial"/>
              </a:rPr>
              <a:t>Puts every change on a card: an entry, a payment, a correction, taking one back, new details, a message. Only his yes writes it.</a:t>
            </a:r>
          </a:p>
          <a:p>
            <a:pPr>
              <a:lnSpc>
                <a:spcPct val="130000"/>
              </a:lnSpc>
              <a:spcBef>
                <a:spcPts val="700"/>
              </a:spcBef>
              <a:spcAft>
                <a:spcPts val="0"/>
              </a:spcAft>
            </a:pPr>
            <a:r>
              <a:rPr sz="1250" b="1">
                <a:solidFill>
                  <a:srgbClr val="0077A8"/>
                </a:solidFill>
                <a:latin typeface="Arial"/>
              </a:rPr>
              <a:t>—  </a:t>
            </a:r>
            <a:r>
              <a:rPr sz="1250" b="0">
                <a:solidFill>
                  <a:srgbClr val="1C1C1C"/>
                </a:solidFill>
                <a:latin typeface="Arial"/>
              </a:rPr>
              <a:t>Paytm Assistant: ask anything about the book. The chat is kept.</a:t>
            </a:r>
          </a:p>
        </p:txBody>
      </p:sp>
      <p:sp>
        <p:nvSpPr>
          <p:cNvPr id="11" name="Rounded Rectangle 10"/>
          <p:cNvSpPr/>
          <p:nvPr/>
        </p:nvSpPr>
        <p:spPr>
          <a:xfrm>
            <a:off x="5001766" y="4846320"/>
            <a:ext cx="6623001" cy="1298448"/>
          </a:xfrm>
          <a:prstGeom prst="roundRect">
            <a:avLst>
              <a:gd name="adj" fmla="val 6000"/>
            </a:avLst>
          </a:prstGeom>
          <a:solidFill>
            <a:srgbClr val="002970"/>
          </a:solidFill>
          <a:ln>
            <a:noFill/>
          </a:ln>
        </p:spPr>
        <p:txBody>
          <a:bodyPr rtlCol="0" anchor="ctr"/>
          <a:lstStyle/>
          <a:p>
            <a:pPr algn="ctr"/>
          </a:p>
        </p:txBody>
      </p:sp>
      <p:sp>
        <p:nvSpPr>
          <p:cNvPr id="12" name="TextBox 11"/>
          <p:cNvSpPr txBox="1"/>
          <p:nvPr/>
        </p:nvSpPr>
        <p:spPr>
          <a:xfrm>
            <a:off x="5276086" y="5010912"/>
            <a:ext cx="6074361" cy="1188720"/>
          </a:xfrm>
          <a:prstGeom prst="rect">
            <a:avLst/>
          </a:prstGeom>
          <a:noFill/>
        </p:spPr>
        <p:txBody>
          <a:bodyPr wrap="square" lIns="0" rIns="0" tIns="0" bIns="0" anchor="t">
            <a:spAutoFit/>
          </a:bodyPr>
          <a:lstStyle/>
          <a:p>
            <a:pPr>
              <a:lnSpc>
                <a:spcPct val="130000"/>
              </a:lnSpc>
              <a:spcBef>
                <a:spcPts val="0"/>
              </a:spcBef>
              <a:spcAft>
                <a:spcPts val="0"/>
              </a:spcAft>
            </a:pPr>
            <a:r>
              <a:rPr sz="1400" b="1">
                <a:solidFill>
                  <a:srgbClr val="FFFFFF"/>
                </a:solidFill>
                <a:latin typeface="Arial"/>
              </a:rPr>
              <a:t>Its tools are our code</a:t>
            </a:r>
          </a:p>
          <a:p>
            <a:pPr>
              <a:lnSpc>
                <a:spcPct val="135000"/>
              </a:lnSpc>
              <a:spcBef>
                <a:spcPts val="600"/>
              </a:spcBef>
              <a:spcAft>
                <a:spcPts val="0"/>
              </a:spcAft>
            </a:pPr>
            <a:r>
              <a:rPr sz="1100" b="0">
                <a:solidFill>
                  <a:srgbClr val="C9D8EE"/>
                </a:solidFill>
                <a:latin typeface="Arial"/>
              </a:rPr>
              <a:t>find_customer  ·  counter  ·  customer_card  ·  propose_entry  ·  propose_correction  ·  propose_removal  ·  propose_details  ·  propose_message  ·  remember  ·  recall  ·  expected_payments  ·  tonight</a:t>
            </a:r>
          </a:p>
        </p:txBody>
      </p:sp>
      <p:sp>
        <p:nvSpPr>
          <p:cNvPr id="13" name="TextBox 12"/>
          <p:cNvSpPr txBox="1"/>
          <p:nvPr/>
        </p:nvSpPr>
        <p:spPr>
          <a:xfrm>
            <a:off x="566928" y="6382512"/>
            <a:ext cx="10326319" cy="274320"/>
          </a:xfrm>
          <a:prstGeom prst="rect">
            <a:avLst/>
          </a:prstGeom>
          <a:noFill/>
        </p:spPr>
        <p:txBody>
          <a:bodyPr wrap="square" lIns="0" rIns="0" tIns="0" bIns="0" anchor="t">
            <a:spAutoFit/>
          </a:bodyPr>
          <a:lstStyle/>
          <a:p>
            <a:pPr>
              <a:lnSpc>
                <a:spcPct val="120000"/>
              </a:lnSpc>
              <a:spcBef>
                <a:spcPts val="0"/>
              </a:spcBef>
              <a:spcAft>
                <a:spcPts val="0"/>
              </a:spcAft>
            </a:pPr>
            <a:r>
              <a:rPr sz="900" b="0">
                <a:solidFill>
                  <a:srgbClr val="8B95A5"/>
                </a:solidFill>
                <a:latin typeface="Arial"/>
              </a:rPr>
              <a:t>Replies shown are from our live test with Sarvam. An ordinary card goes in 3 s unless he says no; a close-sounding name, ₹5,000+ or 3× his usual waits for a clear हाँ.</a:t>
            </a:r>
          </a:p>
        </p:txBody>
      </p:sp>
      <p:sp>
        <p:nvSpPr>
          <p:cNvPr id="14" name="TextBox 13"/>
          <p:cNvSpPr txBox="1"/>
          <p:nvPr/>
        </p:nvSpPr>
        <p:spPr>
          <a:xfrm>
            <a:off x="10984687" y="6382512"/>
            <a:ext cx="640080" cy="274320"/>
          </a:xfrm>
          <a:prstGeom prst="rect">
            <a:avLst/>
          </a:prstGeom>
          <a:noFill/>
        </p:spPr>
        <p:txBody>
          <a:bodyPr wrap="square" lIns="0" rIns="0" tIns="0" bIns="0" anchor="t">
            <a:spAutoFit/>
          </a:bodyPr>
          <a:lstStyle/>
          <a:p>
            <a:pPr algn="r">
              <a:lnSpc>
                <a:spcPct val="130000"/>
              </a:lnSpc>
              <a:spcBef>
                <a:spcPts val="0"/>
              </a:spcBef>
              <a:spcAft>
                <a:spcPts val="0"/>
              </a:spcAft>
            </a:pPr>
            <a:r>
              <a:rPr sz="900" b="0">
                <a:solidFill>
                  <a:srgbClr val="8B95A5"/>
                </a:solidFill>
                <a:latin typeface="Arial"/>
              </a:rPr>
              <a:t>4 / 12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AF6FC"/>
          </a:solidFill>
          <a:ln>
            <a:noFill/>
          </a:ln>
        </p:spPr>
        <p:txBody>
          <a:bodyPr rtlCol="0" anchor="ctr"/>
          <a:lstStyle/>
          <a:p>
            <a:pPr algn="ctr"/>
          </a:p>
        </p:txBody>
      </p:sp>
      <p:sp>
        <p:nvSpPr>
          <p:cNvPr id="3" name="TextBox 2"/>
          <p:cNvSpPr txBox="1"/>
          <p:nvPr/>
        </p:nvSpPr>
        <p:spPr>
          <a:xfrm>
            <a:off x="566928" y="384048"/>
            <a:ext cx="11057839" cy="228600"/>
          </a:xfrm>
          <a:prstGeom prst="rect">
            <a:avLst/>
          </a:prstGeom>
          <a:noFill/>
        </p:spPr>
        <p:txBody>
          <a:bodyPr wrap="square" lIns="0" rIns="0" tIns="0" bIns="0" anchor="t">
            <a:spAutoFit/>
          </a:bodyPr>
          <a:lstStyle/>
          <a:p>
            <a:pPr>
              <a:lnSpc>
                <a:spcPct val="130000"/>
              </a:lnSpc>
              <a:spcBef>
                <a:spcPts val="0"/>
              </a:spcBef>
              <a:spcAft>
                <a:spcPts val="0"/>
              </a:spcAft>
            </a:pPr>
            <a:r>
              <a:rPr sz="1000" b="1" spc="140">
                <a:solidFill>
                  <a:srgbClr val="0077A8"/>
                </a:solidFill>
                <a:latin typeface="Arial"/>
              </a:rPr>
              <a:t>2 · PROPOSED SOLUTION / BUILT AND WORKING</a:t>
            </a:r>
          </a:p>
        </p:txBody>
      </p:sp>
      <p:sp>
        <p:nvSpPr>
          <p:cNvPr id="4" name="TextBox 3"/>
          <p:cNvSpPr txBox="1"/>
          <p:nvPr/>
        </p:nvSpPr>
        <p:spPr>
          <a:xfrm>
            <a:off x="566928" y="676656"/>
            <a:ext cx="11057839" cy="822960"/>
          </a:xfrm>
          <a:prstGeom prst="rect">
            <a:avLst/>
          </a:prstGeom>
          <a:noFill/>
        </p:spPr>
        <p:txBody>
          <a:bodyPr wrap="square" lIns="0" rIns="0" tIns="0" bIns="0" anchor="t">
            <a:spAutoFit/>
          </a:bodyPr>
          <a:lstStyle/>
          <a:p>
            <a:pPr>
              <a:lnSpc>
                <a:spcPct val="105000"/>
              </a:lnSpc>
              <a:spcBef>
                <a:spcPts val="0"/>
              </a:spcBef>
              <a:spcAft>
                <a:spcPts val="0"/>
              </a:spcAft>
            </a:pPr>
            <a:r>
              <a:rPr sz="2600" b="1">
                <a:solidFill>
                  <a:srgbClr val="002970"/>
                </a:solidFill>
                <a:latin typeface="Arial"/>
              </a:rPr>
              <a:t>Everything here runs in our app today.</a:t>
            </a:r>
          </a:p>
        </p:txBody>
      </p:sp>
      <p:sp>
        <p:nvSpPr>
          <p:cNvPr id="5" name="Rounded Rectangle 4"/>
          <p:cNvSpPr/>
          <p:nvPr/>
        </p:nvSpPr>
        <p:spPr>
          <a:xfrm>
            <a:off x="566928" y="1645920"/>
            <a:ext cx="3527450" cy="1426464"/>
          </a:xfrm>
          <a:prstGeom prst="roundRect">
            <a:avLst>
              <a:gd name="adj" fmla="val 6000"/>
            </a:avLst>
          </a:prstGeom>
          <a:solidFill>
            <a:srgbClr val="FFFFFF"/>
          </a:solidFill>
          <a:ln>
            <a:noFill/>
          </a:ln>
        </p:spPr>
        <p:txBody>
          <a:bodyPr rtlCol="0" anchor="ctr"/>
          <a:lstStyle/>
          <a:p>
            <a:pPr algn="ctr"/>
          </a:p>
        </p:txBody>
      </p:sp>
      <p:sp>
        <p:nvSpPr>
          <p:cNvPr id="6" name="Rectangle 5"/>
          <p:cNvSpPr/>
          <p:nvPr/>
        </p:nvSpPr>
        <p:spPr>
          <a:xfrm>
            <a:off x="795528" y="1847088"/>
            <a:ext cx="365760" cy="38100"/>
          </a:xfrm>
          <a:prstGeom prst="rect">
            <a:avLst/>
          </a:prstGeom>
          <a:solidFill>
            <a:srgbClr val="00BAF2"/>
          </a:solidFill>
          <a:ln>
            <a:noFill/>
          </a:ln>
        </p:spPr>
        <p:txBody>
          <a:bodyPr rtlCol="0" anchor="ctr"/>
          <a:lstStyle/>
          <a:p>
            <a:pPr algn="ctr"/>
          </a:p>
        </p:txBody>
      </p:sp>
      <p:sp>
        <p:nvSpPr>
          <p:cNvPr id="7" name="TextBox 6"/>
          <p:cNvSpPr txBox="1"/>
          <p:nvPr/>
        </p:nvSpPr>
        <p:spPr>
          <a:xfrm>
            <a:off x="795528" y="1956816"/>
            <a:ext cx="3070250" cy="1060704"/>
          </a:xfrm>
          <a:prstGeom prst="rect">
            <a:avLst/>
          </a:prstGeom>
          <a:noFill/>
        </p:spPr>
        <p:txBody>
          <a:bodyPr wrap="square" lIns="0" rIns="0" tIns="0" bIns="0" anchor="t">
            <a:spAutoFit/>
          </a:bodyPr>
          <a:lstStyle/>
          <a:p>
            <a:pPr>
              <a:lnSpc>
                <a:spcPct val="130000"/>
              </a:lnSpc>
              <a:spcBef>
                <a:spcPts val="0"/>
              </a:spcBef>
              <a:spcAft>
                <a:spcPts val="0"/>
              </a:spcAft>
            </a:pPr>
            <a:r>
              <a:rPr sz="1400" b="1">
                <a:solidFill>
                  <a:srgbClr val="002970"/>
                </a:solidFill>
                <a:latin typeface="Arial"/>
              </a:rPr>
              <a:t>Two ways in</a:t>
            </a:r>
          </a:p>
          <a:p>
            <a:pPr>
              <a:lnSpc>
                <a:spcPct val="125000"/>
              </a:lnSpc>
              <a:spcBef>
                <a:spcPts val="400"/>
              </a:spcBef>
              <a:spcAft>
                <a:spcPts val="0"/>
              </a:spcAft>
            </a:pPr>
            <a:r>
              <a:rPr sz="1150" b="0">
                <a:solidFill>
                  <a:srgbClr val="5B6675"/>
                </a:solidFill>
                <a:latin typeface="Arial"/>
              </a:rPr>
              <a:t>The shop says the amount, or the customer asks on her phone. Both agree before it counts.</a:t>
            </a:r>
          </a:p>
        </p:txBody>
      </p:sp>
      <p:sp>
        <p:nvSpPr>
          <p:cNvPr id="8" name="Rounded Rectangle 7"/>
          <p:cNvSpPr/>
          <p:nvPr/>
        </p:nvSpPr>
        <p:spPr>
          <a:xfrm>
            <a:off x="4332122" y="1645920"/>
            <a:ext cx="3527450" cy="1426464"/>
          </a:xfrm>
          <a:prstGeom prst="roundRect">
            <a:avLst>
              <a:gd name="adj" fmla="val 6000"/>
            </a:avLst>
          </a:prstGeom>
          <a:solidFill>
            <a:srgbClr val="FFFFFF"/>
          </a:solidFill>
          <a:ln>
            <a:noFill/>
          </a:ln>
        </p:spPr>
        <p:txBody>
          <a:bodyPr rtlCol="0" anchor="ctr"/>
          <a:lstStyle/>
          <a:p>
            <a:pPr algn="ctr"/>
          </a:p>
        </p:txBody>
      </p:sp>
      <p:sp>
        <p:nvSpPr>
          <p:cNvPr id="9" name="Rectangle 8"/>
          <p:cNvSpPr/>
          <p:nvPr/>
        </p:nvSpPr>
        <p:spPr>
          <a:xfrm>
            <a:off x="4560722" y="1847088"/>
            <a:ext cx="365760" cy="38100"/>
          </a:xfrm>
          <a:prstGeom prst="rect">
            <a:avLst/>
          </a:prstGeom>
          <a:solidFill>
            <a:srgbClr val="00BAF2"/>
          </a:solidFill>
          <a:ln>
            <a:noFill/>
          </a:ln>
        </p:spPr>
        <p:txBody>
          <a:bodyPr rtlCol="0" anchor="ctr"/>
          <a:lstStyle/>
          <a:p>
            <a:pPr algn="ctr"/>
          </a:p>
        </p:txBody>
      </p:sp>
      <p:sp>
        <p:nvSpPr>
          <p:cNvPr id="10" name="TextBox 9"/>
          <p:cNvSpPr txBox="1"/>
          <p:nvPr/>
        </p:nvSpPr>
        <p:spPr>
          <a:xfrm>
            <a:off x="4560722" y="1956816"/>
            <a:ext cx="3070250" cy="1060704"/>
          </a:xfrm>
          <a:prstGeom prst="rect">
            <a:avLst/>
          </a:prstGeom>
          <a:noFill/>
        </p:spPr>
        <p:txBody>
          <a:bodyPr wrap="square" lIns="0" rIns="0" tIns="0" bIns="0" anchor="t">
            <a:spAutoFit/>
          </a:bodyPr>
          <a:lstStyle/>
          <a:p>
            <a:pPr>
              <a:lnSpc>
                <a:spcPct val="130000"/>
              </a:lnSpc>
              <a:spcBef>
                <a:spcPts val="0"/>
              </a:spcBef>
              <a:spcAft>
                <a:spcPts val="0"/>
              </a:spcAft>
            </a:pPr>
            <a:r>
              <a:rPr sz="1400" b="1">
                <a:solidFill>
                  <a:srgbClr val="002970"/>
                </a:solidFill>
                <a:latin typeface="Arial"/>
              </a:rPr>
              <a:t>Agreed totals</a:t>
            </a:r>
          </a:p>
          <a:p>
            <a:pPr>
              <a:lnSpc>
                <a:spcPct val="125000"/>
              </a:lnSpc>
              <a:spcBef>
                <a:spcPts val="400"/>
              </a:spcBef>
              <a:spcAft>
                <a:spcPts val="0"/>
              </a:spcAft>
            </a:pPr>
            <a:r>
              <a:rPr sz="1150" b="0">
                <a:solidFill>
                  <a:srgbClr val="5B6675"/>
                </a:solidFill>
                <a:latin typeface="Arial"/>
              </a:rPr>
              <a:t>What someone owes is what they said yes to. Waiting and questioned amounts are shown apart.</a:t>
            </a:r>
          </a:p>
        </p:txBody>
      </p:sp>
      <p:sp>
        <p:nvSpPr>
          <p:cNvPr id="11" name="Rounded Rectangle 10"/>
          <p:cNvSpPr/>
          <p:nvPr/>
        </p:nvSpPr>
        <p:spPr>
          <a:xfrm>
            <a:off x="8097316" y="1645920"/>
            <a:ext cx="3527450" cy="1426464"/>
          </a:xfrm>
          <a:prstGeom prst="roundRect">
            <a:avLst>
              <a:gd name="adj" fmla="val 6000"/>
            </a:avLst>
          </a:prstGeom>
          <a:solidFill>
            <a:srgbClr val="FFFFFF"/>
          </a:solidFill>
          <a:ln>
            <a:noFill/>
          </a:ln>
        </p:spPr>
        <p:txBody>
          <a:bodyPr rtlCol="0" anchor="ctr"/>
          <a:lstStyle/>
          <a:p>
            <a:pPr algn="ctr"/>
          </a:p>
        </p:txBody>
      </p:sp>
      <p:sp>
        <p:nvSpPr>
          <p:cNvPr id="12" name="Rectangle 11"/>
          <p:cNvSpPr/>
          <p:nvPr/>
        </p:nvSpPr>
        <p:spPr>
          <a:xfrm>
            <a:off x="8325916" y="1847088"/>
            <a:ext cx="365760" cy="38100"/>
          </a:xfrm>
          <a:prstGeom prst="rect">
            <a:avLst/>
          </a:prstGeom>
          <a:solidFill>
            <a:srgbClr val="00BAF2"/>
          </a:solidFill>
          <a:ln>
            <a:noFill/>
          </a:ln>
        </p:spPr>
        <p:txBody>
          <a:bodyPr rtlCol="0" anchor="ctr"/>
          <a:lstStyle/>
          <a:p>
            <a:pPr algn="ctr"/>
          </a:p>
        </p:txBody>
      </p:sp>
      <p:sp>
        <p:nvSpPr>
          <p:cNvPr id="13" name="TextBox 12"/>
          <p:cNvSpPr txBox="1"/>
          <p:nvPr/>
        </p:nvSpPr>
        <p:spPr>
          <a:xfrm>
            <a:off x="8325916" y="1956816"/>
            <a:ext cx="3070250" cy="1060704"/>
          </a:xfrm>
          <a:prstGeom prst="rect">
            <a:avLst/>
          </a:prstGeom>
          <a:noFill/>
        </p:spPr>
        <p:txBody>
          <a:bodyPr wrap="square" lIns="0" rIns="0" tIns="0" bIns="0" anchor="t">
            <a:spAutoFit/>
          </a:bodyPr>
          <a:lstStyle/>
          <a:p>
            <a:pPr>
              <a:lnSpc>
                <a:spcPct val="130000"/>
              </a:lnSpc>
              <a:spcBef>
                <a:spcPts val="0"/>
              </a:spcBef>
              <a:spcAft>
                <a:spcPts val="0"/>
              </a:spcAft>
            </a:pPr>
            <a:r>
              <a:rPr sz="1400" b="1">
                <a:solidFill>
                  <a:srgbClr val="002970"/>
                </a:solidFill>
                <a:latin typeface="Arial"/>
              </a:rPr>
              <a:t>Mistakes fixed in the open</a:t>
            </a:r>
          </a:p>
          <a:p>
            <a:pPr>
              <a:lnSpc>
                <a:spcPct val="125000"/>
              </a:lnSpc>
              <a:spcBef>
                <a:spcPts val="400"/>
              </a:spcBef>
              <a:spcAft>
                <a:spcPts val="0"/>
              </a:spcAft>
            </a:pPr>
            <a:r>
              <a:rPr sz="1150" b="0">
                <a:solidFill>
                  <a:srgbClr val="5B6675"/>
                </a:solidFill>
                <a:latin typeface="Arial"/>
              </a:rPr>
              <a:t>“Not mine” or “Wrong amount”; the shop corrects or takes it back, the old entry struck through.</a:t>
            </a:r>
          </a:p>
        </p:txBody>
      </p:sp>
      <p:sp>
        <p:nvSpPr>
          <p:cNvPr id="14" name="Rounded Rectangle 13"/>
          <p:cNvSpPr/>
          <p:nvPr/>
        </p:nvSpPr>
        <p:spPr>
          <a:xfrm>
            <a:off x="566928" y="3182112"/>
            <a:ext cx="3527450" cy="1426464"/>
          </a:xfrm>
          <a:prstGeom prst="roundRect">
            <a:avLst>
              <a:gd name="adj" fmla="val 6000"/>
            </a:avLst>
          </a:prstGeom>
          <a:solidFill>
            <a:srgbClr val="FFFFFF"/>
          </a:solidFill>
          <a:ln>
            <a:noFill/>
          </a:ln>
        </p:spPr>
        <p:txBody>
          <a:bodyPr rtlCol="0" anchor="ctr"/>
          <a:lstStyle/>
          <a:p>
            <a:pPr algn="ctr"/>
          </a:p>
        </p:txBody>
      </p:sp>
      <p:sp>
        <p:nvSpPr>
          <p:cNvPr id="15" name="Rectangle 14"/>
          <p:cNvSpPr/>
          <p:nvPr/>
        </p:nvSpPr>
        <p:spPr>
          <a:xfrm>
            <a:off x="795528" y="3383280"/>
            <a:ext cx="365760" cy="38100"/>
          </a:xfrm>
          <a:prstGeom prst="rect">
            <a:avLst/>
          </a:prstGeom>
          <a:solidFill>
            <a:srgbClr val="00BAF2"/>
          </a:solidFill>
          <a:ln>
            <a:noFill/>
          </a:ln>
        </p:spPr>
        <p:txBody>
          <a:bodyPr rtlCol="0" anchor="ctr"/>
          <a:lstStyle/>
          <a:p>
            <a:pPr algn="ctr"/>
          </a:p>
        </p:txBody>
      </p:sp>
      <p:sp>
        <p:nvSpPr>
          <p:cNvPr id="16" name="TextBox 15"/>
          <p:cNvSpPr txBox="1"/>
          <p:nvPr/>
        </p:nvSpPr>
        <p:spPr>
          <a:xfrm>
            <a:off x="795528" y="3493008"/>
            <a:ext cx="3070250" cy="1060704"/>
          </a:xfrm>
          <a:prstGeom prst="rect">
            <a:avLst/>
          </a:prstGeom>
          <a:noFill/>
        </p:spPr>
        <p:txBody>
          <a:bodyPr wrap="square" lIns="0" rIns="0" tIns="0" bIns="0" anchor="t">
            <a:spAutoFit/>
          </a:bodyPr>
          <a:lstStyle/>
          <a:p>
            <a:pPr>
              <a:lnSpc>
                <a:spcPct val="130000"/>
              </a:lnSpc>
              <a:spcBef>
                <a:spcPts val="0"/>
              </a:spcBef>
              <a:spcAft>
                <a:spcPts val="0"/>
              </a:spcAft>
            </a:pPr>
            <a:r>
              <a:rPr sz="1400" b="1">
                <a:solidFill>
                  <a:srgbClr val="002970"/>
                </a:solidFill>
                <a:latin typeface="Arial"/>
              </a:rPr>
              <a:t>Passbook chat</a:t>
            </a:r>
          </a:p>
          <a:p>
            <a:pPr>
              <a:lnSpc>
                <a:spcPct val="125000"/>
              </a:lnSpc>
              <a:spcBef>
                <a:spcPts val="400"/>
              </a:spcBef>
              <a:spcAft>
                <a:spcPts val="0"/>
              </a:spcAft>
            </a:pPr>
            <a:r>
              <a:rPr sz="1150" b="0">
                <a:solidFill>
                  <a:srgbClr val="5B6675"/>
                </a:solidFill>
                <a:latin typeface="Arial"/>
              </a:rPr>
              <a:t>Each udhaar and payment card shows the total before and after: ₹80 → ₹180 → ₹100.</a:t>
            </a:r>
          </a:p>
        </p:txBody>
      </p:sp>
      <p:sp>
        <p:nvSpPr>
          <p:cNvPr id="17" name="Rounded Rectangle 16"/>
          <p:cNvSpPr/>
          <p:nvPr/>
        </p:nvSpPr>
        <p:spPr>
          <a:xfrm>
            <a:off x="4332122" y="3182112"/>
            <a:ext cx="3527450" cy="1426464"/>
          </a:xfrm>
          <a:prstGeom prst="roundRect">
            <a:avLst>
              <a:gd name="adj" fmla="val 6000"/>
            </a:avLst>
          </a:prstGeom>
          <a:solidFill>
            <a:srgbClr val="FFFFFF"/>
          </a:solidFill>
          <a:ln>
            <a:noFill/>
          </a:ln>
        </p:spPr>
        <p:txBody>
          <a:bodyPr rtlCol="0" anchor="ctr"/>
          <a:lstStyle/>
          <a:p>
            <a:pPr algn="ctr"/>
          </a:p>
        </p:txBody>
      </p:sp>
      <p:sp>
        <p:nvSpPr>
          <p:cNvPr id="18" name="Rectangle 17"/>
          <p:cNvSpPr/>
          <p:nvPr/>
        </p:nvSpPr>
        <p:spPr>
          <a:xfrm>
            <a:off x="4560722" y="3383280"/>
            <a:ext cx="365760" cy="38100"/>
          </a:xfrm>
          <a:prstGeom prst="rect">
            <a:avLst/>
          </a:prstGeom>
          <a:solidFill>
            <a:srgbClr val="00BAF2"/>
          </a:solidFill>
          <a:ln>
            <a:noFill/>
          </a:ln>
        </p:spPr>
        <p:txBody>
          <a:bodyPr rtlCol="0" anchor="ctr"/>
          <a:lstStyle/>
          <a:p>
            <a:pPr algn="ctr"/>
          </a:p>
        </p:txBody>
      </p:sp>
      <p:sp>
        <p:nvSpPr>
          <p:cNvPr id="19" name="TextBox 18"/>
          <p:cNvSpPr txBox="1"/>
          <p:nvPr/>
        </p:nvSpPr>
        <p:spPr>
          <a:xfrm>
            <a:off x="4560722" y="3493008"/>
            <a:ext cx="3070250" cy="1060704"/>
          </a:xfrm>
          <a:prstGeom prst="rect">
            <a:avLst/>
          </a:prstGeom>
          <a:noFill/>
        </p:spPr>
        <p:txBody>
          <a:bodyPr wrap="square" lIns="0" rIns="0" tIns="0" bIns="0" anchor="t">
            <a:spAutoFit/>
          </a:bodyPr>
          <a:lstStyle/>
          <a:p>
            <a:pPr>
              <a:lnSpc>
                <a:spcPct val="130000"/>
              </a:lnSpc>
              <a:spcBef>
                <a:spcPts val="0"/>
              </a:spcBef>
              <a:spcAft>
                <a:spcPts val="0"/>
              </a:spcAft>
            </a:pPr>
            <a:r>
              <a:rPr sz="1400" b="1">
                <a:solidFill>
                  <a:srgbClr val="002970"/>
                </a:solidFill>
                <a:latin typeface="Arial"/>
              </a:rPr>
              <a:t>Reminders with reasons</a:t>
            </a:r>
          </a:p>
          <a:p>
            <a:pPr>
              <a:lnSpc>
                <a:spcPct val="125000"/>
              </a:lnSpc>
              <a:spcBef>
                <a:spcPts val="400"/>
              </a:spcBef>
              <a:spcAft>
                <a:spcPts val="0"/>
              </a:spcAft>
            </a:pPr>
            <a:r>
              <a:rPr sz="1150" b="0">
                <a:solidFill>
                  <a:srgbClr val="5B6675"/>
                </a:solidFill>
                <a:latin typeface="Arial"/>
              </a:rPr>
              <a:t>Rewrite one, move its hour, stop it, or pause someone for a week, two or a month.</a:t>
            </a:r>
          </a:p>
        </p:txBody>
      </p:sp>
      <p:sp>
        <p:nvSpPr>
          <p:cNvPr id="20" name="Rounded Rectangle 19"/>
          <p:cNvSpPr/>
          <p:nvPr/>
        </p:nvSpPr>
        <p:spPr>
          <a:xfrm>
            <a:off x="8097316" y="3182112"/>
            <a:ext cx="3527450" cy="1426464"/>
          </a:xfrm>
          <a:prstGeom prst="roundRect">
            <a:avLst>
              <a:gd name="adj" fmla="val 6000"/>
            </a:avLst>
          </a:prstGeom>
          <a:solidFill>
            <a:srgbClr val="FFFFFF"/>
          </a:solidFill>
          <a:ln>
            <a:noFill/>
          </a:ln>
        </p:spPr>
        <p:txBody>
          <a:bodyPr rtlCol="0" anchor="ctr"/>
          <a:lstStyle/>
          <a:p>
            <a:pPr algn="ctr"/>
          </a:p>
        </p:txBody>
      </p:sp>
      <p:sp>
        <p:nvSpPr>
          <p:cNvPr id="21" name="Rectangle 20"/>
          <p:cNvSpPr/>
          <p:nvPr/>
        </p:nvSpPr>
        <p:spPr>
          <a:xfrm>
            <a:off x="8325916" y="3383280"/>
            <a:ext cx="365760" cy="38100"/>
          </a:xfrm>
          <a:prstGeom prst="rect">
            <a:avLst/>
          </a:prstGeom>
          <a:solidFill>
            <a:srgbClr val="00BAF2"/>
          </a:solidFill>
          <a:ln>
            <a:noFill/>
          </a:ln>
        </p:spPr>
        <p:txBody>
          <a:bodyPr rtlCol="0" anchor="ctr"/>
          <a:lstStyle/>
          <a:p>
            <a:pPr algn="ctr"/>
          </a:p>
        </p:txBody>
      </p:sp>
      <p:sp>
        <p:nvSpPr>
          <p:cNvPr id="22" name="TextBox 21"/>
          <p:cNvSpPr txBox="1"/>
          <p:nvPr/>
        </p:nvSpPr>
        <p:spPr>
          <a:xfrm>
            <a:off x="8325916" y="3493008"/>
            <a:ext cx="3070250" cy="1060704"/>
          </a:xfrm>
          <a:prstGeom prst="rect">
            <a:avLst/>
          </a:prstGeom>
          <a:noFill/>
        </p:spPr>
        <p:txBody>
          <a:bodyPr wrap="square" lIns="0" rIns="0" tIns="0" bIns="0" anchor="t">
            <a:spAutoFit/>
          </a:bodyPr>
          <a:lstStyle/>
          <a:p>
            <a:pPr>
              <a:lnSpc>
                <a:spcPct val="130000"/>
              </a:lnSpc>
              <a:spcBef>
                <a:spcPts val="0"/>
              </a:spcBef>
              <a:spcAft>
                <a:spcPts val="0"/>
              </a:spcAft>
            </a:pPr>
            <a:r>
              <a:rPr sz="1400" b="1">
                <a:solidFill>
                  <a:srgbClr val="002970"/>
                </a:solidFill>
                <a:latin typeface="Arial"/>
              </a:rPr>
              <a:t>Memory</a:t>
            </a:r>
          </a:p>
          <a:p>
            <a:pPr>
              <a:lnSpc>
                <a:spcPct val="125000"/>
              </a:lnSpc>
              <a:spcBef>
                <a:spcPts val="400"/>
              </a:spcBef>
              <a:spcAft>
                <a:spcPts val="0"/>
              </a:spcAft>
            </a:pPr>
            <a:r>
              <a:rPr sz="1150" b="0">
                <a:solidFill>
                  <a:srgbClr val="5B6675"/>
                </a:solidFill>
                <a:latin typeface="Arial"/>
              </a:rPr>
              <a:t>Notes, promises in chat and nicknames. A promise holds a reminder; it never sends one.</a:t>
            </a:r>
          </a:p>
        </p:txBody>
      </p:sp>
      <p:sp>
        <p:nvSpPr>
          <p:cNvPr id="23" name="Rounded Rectangle 22"/>
          <p:cNvSpPr/>
          <p:nvPr/>
        </p:nvSpPr>
        <p:spPr>
          <a:xfrm>
            <a:off x="566928" y="4718304"/>
            <a:ext cx="3527450" cy="1426464"/>
          </a:xfrm>
          <a:prstGeom prst="roundRect">
            <a:avLst>
              <a:gd name="adj" fmla="val 6000"/>
            </a:avLst>
          </a:prstGeom>
          <a:solidFill>
            <a:srgbClr val="FFFFFF"/>
          </a:solidFill>
          <a:ln>
            <a:noFill/>
          </a:ln>
        </p:spPr>
        <p:txBody>
          <a:bodyPr rtlCol="0" anchor="ctr"/>
          <a:lstStyle/>
          <a:p>
            <a:pPr algn="ctr"/>
          </a:p>
        </p:txBody>
      </p:sp>
      <p:sp>
        <p:nvSpPr>
          <p:cNvPr id="24" name="Rectangle 23"/>
          <p:cNvSpPr/>
          <p:nvPr/>
        </p:nvSpPr>
        <p:spPr>
          <a:xfrm>
            <a:off x="795528" y="4919472"/>
            <a:ext cx="365760" cy="38100"/>
          </a:xfrm>
          <a:prstGeom prst="rect">
            <a:avLst/>
          </a:prstGeom>
          <a:solidFill>
            <a:srgbClr val="00BAF2"/>
          </a:solidFill>
          <a:ln>
            <a:noFill/>
          </a:ln>
        </p:spPr>
        <p:txBody>
          <a:bodyPr rtlCol="0" anchor="ctr"/>
          <a:lstStyle/>
          <a:p>
            <a:pPr algn="ctr"/>
          </a:p>
        </p:txBody>
      </p:sp>
      <p:sp>
        <p:nvSpPr>
          <p:cNvPr id="25" name="TextBox 24"/>
          <p:cNvSpPr txBox="1"/>
          <p:nvPr/>
        </p:nvSpPr>
        <p:spPr>
          <a:xfrm>
            <a:off x="795528" y="5029200"/>
            <a:ext cx="3070250" cy="1060704"/>
          </a:xfrm>
          <a:prstGeom prst="rect">
            <a:avLst/>
          </a:prstGeom>
          <a:noFill/>
        </p:spPr>
        <p:txBody>
          <a:bodyPr wrap="square" lIns="0" rIns="0" tIns="0" bIns="0" anchor="t">
            <a:spAutoFit/>
          </a:bodyPr>
          <a:lstStyle/>
          <a:p>
            <a:pPr>
              <a:lnSpc>
                <a:spcPct val="130000"/>
              </a:lnSpc>
              <a:spcBef>
                <a:spcPts val="0"/>
              </a:spcBef>
              <a:spcAft>
                <a:spcPts val="0"/>
              </a:spcAft>
            </a:pPr>
            <a:r>
              <a:rPr sz="1400" b="1">
                <a:solidFill>
                  <a:srgbClr val="002970"/>
                </a:solidFill>
                <a:latin typeface="Arial"/>
              </a:rPr>
              <a:t>Soundbox</a:t>
            </a:r>
          </a:p>
          <a:p>
            <a:pPr>
              <a:lnSpc>
                <a:spcPct val="125000"/>
              </a:lnSpc>
              <a:spcBef>
                <a:spcPts val="400"/>
              </a:spcBef>
              <a:spcAft>
                <a:spcPts val="0"/>
              </a:spcAft>
            </a:pPr>
            <a:r>
              <a:rPr sz="1150" b="0">
                <a:solidFill>
                  <a:srgbClr val="5B6675"/>
                </a:solidFill>
                <a:latin typeface="Arial"/>
              </a:rPr>
              <a:t>Chimes, and says amounts aloud: “दो सौ रुपये का उधार था, उसमें से सौ मिले”. Never a name.</a:t>
            </a:r>
          </a:p>
        </p:txBody>
      </p:sp>
      <p:sp>
        <p:nvSpPr>
          <p:cNvPr id="26" name="Rounded Rectangle 25"/>
          <p:cNvSpPr/>
          <p:nvPr/>
        </p:nvSpPr>
        <p:spPr>
          <a:xfrm>
            <a:off x="4332122" y="4718304"/>
            <a:ext cx="3527450" cy="1426464"/>
          </a:xfrm>
          <a:prstGeom prst="roundRect">
            <a:avLst>
              <a:gd name="adj" fmla="val 6000"/>
            </a:avLst>
          </a:prstGeom>
          <a:solidFill>
            <a:srgbClr val="FFFFFF"/>
          </a:solidFill>
          <a:ln>
            <a:noFill/>
          </a:ln>
        </p:spPr>
        <p:txBody>
          <a:bodyPr rtlCol="0" anchor="ctr"/>
          <a:lstStyle/>
          <a:p>
            <a:pPr algn="ctr"/>
          </a:p>
        </p:txBody>
      </p:sp>
      <p:sp>
        <p:nvSpPr>
          <p:cNvPr id="27" name="Rectangle 26"/>
          <p:cNvSpPr/>
          <p:nvPr/>
        </p:nvSpPr>
        <p:spPr>
          <a:xfrm>
            <a:off x="4560722" y="4919472"/>
            <a:ext cx="365760" cy="38100"/>
          </a:xfrm>
          <a:prstGeom prst="rect">
            <a:avLst/>
          </a:prstGeom>
          <a:solidFill>
            <a:srgbClr val="00BAF2"/>
          </a:solidFill>
          <a:ln>
            <a:noFill/>
          </a:ln>
        </p:spPr>
        <p:txBody>
          <a:bodyPr rtlCol="0" anchor="ctr"/>
          <a:lstStyle/>
          <a:p>
            <a:pPr algn="ctr"/>
          </a:p>
        </p:txBody>
      </p:sp>
      <p:sp>
        <p:nvSpPr>
          <p:cNvPr id="28" name="TextBox 27"/>
          <p:cNvSpPr txBox="1"/>
          <p:nvPr/>
        </p:nvSpPr>
        <p:spPr>
          <a:xfrm>
            <a:off x="4560722" y="5029200"/>
            <a:ext cx="3070250" cy="1060704"/>
          </a:xfrm>
          <a:prstGeom prst="rect">
            <a:avLst/>
          </a:prstGeom>
          <a:noFill/>
        </p:spPr>
        <p:txBody>
          <a:bodyPr wrap="square" lIns="0" rIns="0" tIns="0" bIns="0" anchor="t">
            <a:spAutoFit/>
          </a:bodyPr>
          <a:lstStyle/>
          <a:p>
            <a:pPr>
              <a:lnSpc>
                <a:spcPct val="130000"/>
              </a:lnSpc>
              <a:spcBef>
                <a:spcPts val="0"/>
              </a:spcBef>
              <a:spcAft>
                <a:spcPts val="0"/>
              </a:spcAft>
            </a:pPr>
            <a:r>
              <a:rPr sz="1400" b="1">
                <a:solidFill>
                  <a:srgbClr val="002970"/>
                </a:solidFill>
                <a:latin typeface="Arial"/>
              </a:rPr>
              <a:t>Every shop, one view</a:t>
            </a:r>
          </a:p>
          <a:p>
            <a:pPr>
              <a:lnSpc>
                <a:spcPct val="125000"/>
              </a:lnSpc>
              <a:spcBef>
                <a:spcPts val="400"/>
              </a:spcBef>
              <a:spcAft>
                <a:spcPts val="0"/>
              </a:spcAft>
            </a:pPr>
            <a:r>
              <a:rPr sz="1150" b="0">
                <a:solidFill>
                  <a:srgbClr val="5B6675"/>
                </a:solidFill>
                <a:latin typeface="Arial"/>
              </a:rPr>
              <a:t>The customer sees what she owes across every shop, and pays by UPI, all or part.</a:t>
            </a:r>
          </a:p>
        </p:txBody>
      </p:sp>
      <p:sp>
        <p:nvSpPr>
          <p:cNvPr id="29" name="Rounded Rectangle 28"/>
          <p:cNvSpPr/>
          <p:nvPr/>
        </p:nvSpPr>
        <p:spPr>
          <a:xfrm>
            <a:off x="8097316" y="4718304"/>
            <a:ext cx="3527450" cy="1426464"/>
          </a:xfrm>
          <a:prstGeom prst="roundRect">
            <a:avLst>
              <a:gd name="adj" fmla="val 6000"/>
            </a:avLst>
          </a:prstGeom>
          <a:solidFill>
            <a:srgbClr val="FFFFFF"/>
          </a:solidFill>
          <a:ln>
            <a:noFill/>
          </a:ln>
        </p:spPr>
        <p:txBody>
          <a:bodyPr rtlCol="0" anchor="ctr"/>
          <a:lstStyle/>
          <a:p>
            <a:pPr algn="ctr"/>
          </a:p>
        </p:txBody>
      </p:sp>
      <p:sp>
        <p:nvSpPr>
          <p:cNvPr id="30" name="Rectangle 29"/>
          <p:cNvSpPr/>
          <p:nvPr/>
        </p:nvSpPr>
        <p:spPr>
          <a:xfrm>
            <a:off x="8325916" y="4919472"/>
            <a:ext cx="365760" cy="38100"/>
          </a:xfrm>
          <a:prstGeom prst="rect">
            <a:avLst/>
          </a:prstGeom>
          <a:solidFill>
            <a:srgbClr val="00BAF2"/>
          </a:solidFill>
          <a:ln>
            <a:noFill/>
          </a:ln>
        </p:spPr>
        <p:txBody>
          <a:bodyPr rtlCol="0" anchor="ctr"/>
          <a:lstStyle/>
          <a:p>
            <a:pPr algn="ctr"/>
          </a:p>
        </p:txBody>
      </p:sp>
      <p:sp>
        <p:nvSpPr>
          <p:cNvPr id="31" name="TextBox 30"/>
          <p:cNvSpPr txBox="1"/>
          <p:nvPr/>
        </p:nvSpPr>
        <p:spPr>
          <a:xfrm>
            <a:off x="8325916" y="5029200"/>
            <a:ext cx="3070250" cy="1060704"/>
          </a:xfrm>
          <a:prstGeom prst="rect">
            <a:avLst/>
          </a:prstGeom>
          <a:noFill/>
        </p:spPr>
        <p:txBody>
          <a:bodyPr wrap="square" lIns="0" rIns="0" tIns="0" bIns="0" anchor="t">
            <a:spAutoFit/>
          </a:bodyPr>
          <a:lstStyle/>
          <a:p>
            <a:pPr>
              <a:lnSpc>
                <a:spcPct val="130000"/>
              </a:lnSpc>
              <a:spcBef>
                <a:spcPts val="0"/>
              </a:spcBef>
              <a:spcAft>
                <a:spcPts val="0"/>
              </a:spcAft>
            </a:pPr>
            <a:r>
              <a:rPr sz="1400" b="1">
                <a:solidFill>
                  <a:srgbClr val="002970"/>
                </a:solidFill>
                <a:latin typeface="Arial"/>
              </a:rPr>
              <a:t>Any language</a:t>
            </a:r>
          </a:p>
          <a:p>
            <a:pPr>
              <a:lnSpc>
                <a:spcPct val="125000"/>
              </a:lnSpc>
              <a:spcBef>
                <a:spcPts val="400"/>
              </a:spcBef>
              <a:spcAft>
                <a:spcPts val="0"/>
              </a:spcAft>
            </a:pPr>
            <a:r>
              <a:rPr sz="1150" b="0">
                <a:solidFill>
                  <a:srgbClr val="5B6675"/>
                </a:solidFill>
                <a:latin typeface="Arial"/>
              </a:rPr>
              <a:t>Sarvam hears the language spoken; the munshi answers in it, in its own script.</a:t>
            </a:r>
          </a:p>
        </p:txBody>
      </p:sp>
      <p:sp>
        <p:nvSpPr>
          <p:cNvPr id="32" name="TextBox 31"/>
          <p:cNvSpPr txBox="1"/>
          <p:nvPr/>
        </p:nvSpPr>
        <p:spPr>
          <a:xfrm>
            <a:off x="10984687" y="6382512"/>
            <a:ext cx="640080" cy="274320"/>
          </a:xfrm>
          <a:prstGeom prst="rect">
            <a:avLst/>
          </a:prstGeom>
          <a:noFill/>
        </p:spPr>
        <p:txBody>
          <a:bodyPr wrap="square" lIns="0" rIns="0" tIns="0" bIns="0" anchor="t">
            <a:spAutoFit/>
          </a:bodyPr>
          <a:lstStyle/>
          <a:p>
            <a:pPr algn="r">
              <a:lnSpc>
                <a:spcPct val="130000"/>
              </a:lnSpc>
              <a:spcBef>
                <a:spcPts val="0"/>
              </a:spcBef>
              <a:spcAft>
                <a:spcPts val="0"/>
              </a:spcAft>
            </a:pPr>
            <a:r>
              <a:rPr sz="900" b="0">
                <a:solidFill>
                  <a:srgbClr val="8B95A5"/>
                </a:solidFill>
                <a:latin typeface="Arial"/>
              </a:rPr>
              <a:t>5 / 12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AF6FC"/>
          </a:solidFill>
          <a:ln>
            <a:noFill/>
          </a:ln>
        </p:spPr>
        <p:txBody>
          <a:bodyPr rtlCol="0" anchor="ctr"/>
          <a:lstStyle/>
          <a:p>
            <a:pPr algn="ctr"/>
          </a:p>
        </p:txBody>
      </p:sp>
      <p:sp>
        <p:nvSpPr>
          <p:cNvPr id="3" name="TextBox 2"/>
          <p:cNvSpPr txBox="1"/>
          <p:nvPr/>
        </p:nvSpPr>
        <p:spPr>
          <a:xfrm>
            <a:off x="566928" y="384048"/>
            <a:ext cx="11057839" cy="228600"/>
          </a:xfrm>
          <a:prstGeom prst="rect">
            <a:avLst/>
          </a:prstGeom>
          <a:noFill/>
        </p:spPr>
        <p:txBody>
          <a:bodyPr wrap="square" lIns="0" rIns="0" tIns="0" bIns="0" anchor="t">
            <a:spAutoFit/>
          </a:bodyPr>
          <a:lstStyle/>
          <a:p>
            <a:pPr>
              <a:lnSpc>
                <a:spcPct val="130000"/>
              </a:lnSpc>
              <a:spcBef>
                <a:spcPts val="0"/>
              </a:spcBef>
              <a:spcAft>
                <a:spcPts val="0"/>
              </a:spcAft>
            </a:pPr>
            <a:r>
              <a:rPr sz="1000" b="1" spc="140">
                <a:solidFill>
                  <a:srgbClr val="0077A8"/>
                </a:solidFill>
                <a:latin typeface="Arial"/>
              </a:rPr>
              <a:t>3 · TECHNOLOGY / TECH STACK</a:t>
            </a:r>
          </a:p>
        </p:txBody>
      </p:sp>
      <p:sp>
        <p:nvSpPr>
          <p:cNvPr id="4" name="TextBox 3"/>
          <p:cNvSpPr txBox="1"/>
          <p:nvPr/>
        </p:nvSpPr>
        <p:spPr>
          <a:xfrm>
            <a:off x="566928" y="676656"/>
            <a:ext cx="11057839" cy="822960"/>
          </a:xfrm>
          <a:prstGeom prst="rect">
            <a:avLst/>
          </a:prstGeom>
          <a:noFill/>
        </p:spPr>
        <p:txBody>
          <a:bodyPr wrap="square" lIns="0" rIns="0" tIns="0" bIns="0" anchor="t">
            <a:spAutoFit/>
          </a:bodyPr>
          <a:lstStyle/>
          <a:p>
            <a:pPr>
              <a:lnSpc>
                <a:spcPct val="105000"/>
              </a:lnSpc>
              <a:spcBef>
                <a:spcPts val="0"/>
              </a:spcBef>
              <a:spcAft>
                <a:spcPts val="0"/>
              </a:spcAft>
            </a:pPr>
            <a:r>
              <a:rPr sz="2600" b="1">
                <a:solidFill>
                  <a:srgbClr val="002970"/>
                </a:solidFill>
                <a:latin typeface="Arial"/>
              </a:rPr>
              <a:t>AI understands the words. Plain code decides every number.</a:t>
            </a:r>
          </a:p>
        </p:txBody>
      </p:sp>
      <p:sp>
        <p:nvSpPr>
          <p:cNvPr id="5" name="TextBox 4"/>
          <p:cNvSpPr txBox="1"/>
          <p:nvPr/>
        </p:nvSpPr>
        <p:spPr>
          <a:xfrm>
            <a:off x="566928" y="1572768"/>
            <a:ext cx="11057839" cy="228600"/>
          </a:xfrm>
          <a:prstGeom prst="rect">
            <a:avLst/>
          </a:prstGeom>
          <a:noFill/>
        </p:spPr>
        <p:txBody>
          <a:bodyPr wrap="square" lIns="0" rIns="0" tIns="0" bIns="0" anchor="t">
            <a:spAutoFit/>
          </a:bodyPr>
          <a:lstStyle/>
          <a:p>
            <a:pPr>
              <a:lnSpc>
                <a:spcPct val="130000"/>
              </a:lnSpc>
              <a:spcBef>
                <a:spcPts val="0"/>
              </a:spcBef>
              <a:spcAft>
                <a:spcPts val="0"/>
              </a:spcAft>
            </a:pPr>
            <a:r>
              <a:rPr sz="950" b="1" spc="120">
                <a:solidFill>
                  <a:srgbClr val="5B6675"/>
                </a:solidFill>
                <a:latin typeface="Arial"/>
              </a:rPr>
              <a:t>DURING THE DAY — RECORDING AN ENTRY</a:t>
            </a:r>
          </a:p>
        </p:txBody>
      </p:sp>
      <p:sp>
        <p:nvSpPr>
          <p:cNvPr id="6" name="Rounded Rectangle 5"/>
          <p:cNvSpPr/>
          <p:nvPr/>
        </p:nvSpPr>
        <p:spPr>
          <a:xfrm>
            <a:off x="566928" y="1938528"/>
            <a:ext cx="1831177" cy="960120"/>
          </a:xfrm>
          <a:prstGeom prst="roundRect">
            <a:avLst>
              <a:gd name="adj" fmla="val 12000"/>
            </a:avLst>
          </a:prstGeom>
          <a:solidFill>
            <a:srgbClr val="FFFFFF"/>
          </a:solidFill>
          <a:ln>
            <a:noFill/>
          </a:ln>
        </p:spPr>
        <p:txBody>
          <a:bodyPr rtlCol="0" anchor="ctr"/>
          <a:lstStyle/>
          <a:p>
            <a:pPr algn="ctr"/>
          </a:p>
        </p:txBody>
      </p:sp>
      <p:sp>
        <p:nvSpPr>
          <p:cNvPr id="7" name="TextBox 6"/>
          <p:cNvSpPr txBox="1"/>
          <p:nvPr/>
        </p:nvSpPr>
        <p:spPr>
          <a:xfrm>
            <a:off x="676656" y="1938528"/>
            <a:ext cx="1611721" cy="960120"/>
          </a:xfrm>
          <a:prstGeom prst="rect">
            <a:avLst/>
          </a:prstGeom>
          <a:noFill/>
        </p:spPr>
        <p:txBody>
          <a:bodyPr wrap="square" lIns="0" rIns="0" tIns="0" bIns="0" anchor="ctr">
            <a:spAutoFit/>
          </a:bodyPr>
          <a:lstStyle/>
          <a:p>
            <a:pPr algn="ctr">
              <a:lnSpc>
                <a:spcPct val="110000"/>
              </a:lnSpc>
              <a:spcBef>
                <a:spcPts val="0"/>
              </a:spcBef>
              <a:spcAft>
                <a:spcPts val="0"/>
              </a:spcAft>
            </a:pPr>
            <a:r>
              <a:rPr sz="1300" b="1">
                <a:solidFill>
                  <a:srgbClr val="002970"/>
                </a:solidFill>
                <a:latin typeface="Arial"/>
              </a:rPr>
              <a:t>Shopkeeper speaks</a:t>
            </a:r>
          </a:p>
          <a:p>
            <a:pPr algn="ctr">
              <a:lnSpc>
                <a:spcPct val="120000"/>
              </a:lnSpc>
              <a:spcBef>
                <a:spcPts val="300"/>
              </a:spcBef>
              <a:spcAft>
                <a:spcPts val="0"/>
              </a:spcAft>
            </a:pPr>
            <a:r>
              <a:rPr sz="1100" b="0">
                <a:solidFill>
                  <a:srgbClr val="5B6675"/>
                </a:solidFill>
                <a:latin typeface="Arial"/>
              </a:rPr>
              <a:t>“Kavita ko do sau”</a:t>
            </a:r>
          </a:p>
        </p:txBody>
      </p:sp>
      <p:cxnSp>
        <p:nvCxnSpPr>
          <p:cNvPr id="8" name="Connector 7"/>
          <p:cNvCxnSpPr/>
          <p:nvPr/>
        </p:nvCxnSpPr>
        <p:spPr>
          <a:xfrm>
            <a:off x="2462113" y="2418588"/>
            <a:ext cx="347472" cy="0"/>
          </a:xfrm>
          <a:prstGeom prst="line">
            <a:avLst/>
          </a:prstGeom>
          <a:ln w="22225">
            <a:solidFill>
              <a:srgbClr val="002970"/>
            </a:solidFill>
            <a:tailEnd type="triangle" w="med" len="med"/>
          </a:ln>
        </p:spPr>
      </p:cxnSp>
      <p:sp>
        <p:nvSpPr>
          <p:cNvPr id="9" name="Rounded Rectangle 8"/>
          <p:cNvSpPr/>
          <p:nvPr/>
        </p:nvSpPr>
        <p:spPr>
          <a:xfrm>
            <a:off x="2873593" y="1938528"/>
            <a:ext cx="1831177" cy="960120"/>
          </a:xfrm>
          <a:prstGeom prst="roundRect">
            <a:avLst>
              <a:gd name="adj" fmla="val 12000"/>
            </a:avLst>
          </a:prstGeom>
          <a:solidFill>
            <a:srgbClr val="FFFFFF"/>
          </a:solidFill>
          <a:ln>
            <a:noFill/>
          </a:ln>
        </p:spPr>
        <p:txBody>
          <a:bodyPr rtlCol="0" anchor="ctr"/>
          <a:lstStyle/>
          <a:p>
            <a:pPr algn="ctr"/>
          </a:p>
        </p:txBody>
      </p:sp>
      <p:sp>
        <p:nvSpPr>
          <p:cNvPr id="10" name="TextBox 9"/>
          <p:cNvSpPr txBox="1"/>
          <p:nvPr/>
        </p:nvSpPr>
        <p:spPr>
          <a:xfrm>
            <a:off x="2983321" y="1938528"/>
            <a:ext cx="1611721" cy="960120"/>
          </a:xfrm>
          <a:prstGeom prst="rect">
            <a:avLst/>
          </a:prstGeom>
          <a:noFill/>
        </p:spPr>
        <p:txBody>
          <a:bodyPr wrap="square" lIns="0" rIns="0" tIns="0" bIns="0" anchor="ctr">
            <a:spAutoFit/>
          </a:bodyPr>
          <a:lstStyle/>
          <a:p>
            <a:pPr algn="ctr">
              <a:lnSpc>
                <a:spcPct val="110000"/>
              </a:lnSpc>
              <a:spcBef>
                <a:spcPts val="0"/>
              </a:spcBef>
              <a:spcAft>
                <a:spcPts val="0"/>
              </a:spcAft>
            </a:pPr>
            <a:r>
              <a:rPr sz="1300" b="1">
                <a:solidFill>
                  <a:srgbClr val="002970"/>
                </a:solidFill>
                <a:latin typeface="Arial"/>
              </a:rPr>
              <a:t>Sarvam Saaras v4</a:t>
            </a:r>
          </a:p>
          <a:p>
            <a:pPr algn="ctr">
              <a:lnSpc>
                <a:spcPct val="120000"/>
              </a:lnSpc>
              <a:spcBef>
                <a:spcPts val="300"/>
              </a:spcBef>
              <a:spcAft>
                <a:spcPts val="0"/>
              </a:spcAft>
            </a:pPr>
            <a:r>
              <a:rPr sz="1100" b="0">
                <a:solidFill>
                  <a:srgbClr val="5B6675"/>
                </a:solidFill>
                <a:latin typeface="Arial"/>
              </a:rPr>
              <a:t>speech → text, any language</a:t>
            </a:r>
          </a:p>
        </p:txBody>
      </p:sp>
      <p:sp>
        <p:nvSpPr>
          <p:cNvPr id="11" name="Rounded Rectangle 10"/>
          <p:cNvSpPr/>
          <p:nvPr/>
        </p:nvSpPr>
        <p:spPr>
          <a:xfrm>
            <a:off x="3001609" y="1819656"/>
            <a:ext cx="420624" cy="237744"/>
          </a:xfrm>
          <a:prstGeom prst="roundRect">
            <a:avLst>
              <a:gd name="adj" fmla="val 50000"/>
            </a:avLst>
          </a:prstGeom>
          <a:solidFill>
            <a:srgbClr val="00BAF2"/>
          </a:solidFill>
          <a:ln>
            <a:noFill/>
          </a:ln>
        </p:spPr>
        <p:txBody>
          <a:bodyPr rtlCol="0" anchor="ctr"/>
          <a:lstStyle/>
          <a:p>
            <a:pPr algn="ctr"/>
          </a:p>
        </p:txBody>
      </p:sp>
      <p:sp>
        <p:nvSpPr>
          <p:cNvPr id="12" name="TextBox 11"/>
          <p:cNvSpPr txBox="1"/>
          <p:nvPr/>
        </p:nvSpPr>
        <p:spPr>
          <a:xfrm>
            <a:off x="3001609" y="1819656"/>
            <a:ext cx="420624" cy="237744"/>
          </a:xfrm>
          <a:prstGeom prst="rect">
            <a:avLst/>
          </a:prstGeom>
          <a:noFill/>
        </p:spPr>
        <p:txBody>
          <a:bodyPr wrap="square" lIns="0" rIns="0" tIns="0" bIns="0" anchor="ctr">
            <a:spAutoFit/>
          </a:bodyPr>
          <a:lstStyle/>
          <a:p>
            <a:pPr algn="ctr">
              <a:lnSpc>
                <a:spcPct val="100000"/>
              </a:lnSpc>
              <a:spcBef>
                <a:spcPts val="0"/>
              </a:spcBef>
              <a:spcAft>
                <a:spcPts val="0"/>
              </a:spcAft>
            </a:pPr>
            <a:r>
              <a:rPr sz="900" b="1" spc="80">
                <a:solidFill>
                  <a:srgbClr val="002970"/>
                </a:solidFill>
                <a:latin typeface="Arial"/>
              </a:rPr>
              <a:t>AI</a:t>
            </a:r>
          </a:p>
        </p:txBody>
      </p:sp>
      <p:cxnSp>
        <p:nvCxnSpPr>
          <p:cNvPr id="13" name="Connector 12"/>
          <p:cNvCxnSpPr/>
          <p:nvPr/>
        </p:nvCxnSpPr>
        <p:spPr>
          <a:xfrm>
            <a:off x="4768778" y="2418588"/>
            <a:ext cx="347472" cy="0"/>
          </a:xfrm>
          <a:prstGeom prst="line">
            <a:avLst/>
          </a:prstGeom>
          <a:ln w="22225">
            <a:solidFill>
              <a:srgbClr val="002970"/>
            </a:solidFill>
            <a:tailEnd type="triangle" w="med" len="med"/>
          </a:ln>
        </p:spPr>
      </p:cxnSp>
      <p:sp>
        <p:nvSpPr>
          <p:cNvPr id="14" name="Rounded Rectangle 13"/>
          <p:cNvSpPr/>
          <p:nvPr/>
        </p:nvSpPr>
        <p:spPr>
          <a:xfrm>
            <a:off x="5180258" y="1938528"/>
            <a:ext cx="1831177" cy="960120"/>
          </a:xfrm>
          <a:prstGeom prst="roundRect">
            <a:avLst>
              <a:gd name="adj" fmla="val 12000"/>
            </a:avLst>
          </a:prstGeom>
          <a:solidFill>
            <a:srgbClr val="FFFFFF"/>
          </a:solidFill>
          <a:ln>
            <a:noFill/>
          </a:ln>
        </p:spPr>
        <p:txBody>
          <a:bodyPr rtlCol="0" anchor="ctr"/>
          <a:lstStyle/>
          <a:p>
            <a:pPr algn="ctr"/>
          </a:p>
        </p:txBody>
      </p:sp>
      <p:sp>
        <p:nvSpPr>
          <p:cNvPr id="15" name="TextBox 14"/>
          <p:cNvSpPr txBox="1"/>
          <p:nvPr/>
        </p:nvSpPr>
        <p:spPr>
          <a:xfrm>
            <a:off x="5289986" y="1938528"/>
            <a:ext cx="1611721" cy="960120"/>
          </a:xfrm>
          <a:prstGeom prst="rect">
            <a:avLst/>
          </a:prstGeom>
          <a:noFill/>
        </p:spPr>
        <p:txBody>
          <a:bodyPr wrap="square" lIns="0" rIns="0" tIns="0" bIns="0" anchor="ctr">
            <a:spAutoFit/>
          </a:bodyPr>
          <a:lstStyle/>
          <a:p>
            <a:pPr algn="ctr">
              <a:lnSpc>
                <a:spcPct val="110000"/>
              </a:lnSpc>
              <a:spcBef>
                <a:spcPts val="0"/>
              </a:spcBef>
              <a:spcAft>
                <a:spcPts val="0"/>
              </a:spcAft>
            </a:pPr>
            <a:r>
              <a:rPr sz="1300" b="1">
                <a:solidFill>
                  <a:srgbClr val="002970"/>
                </a:solidFill>
                <a:latin typeface="Arial"/>
              </a:rPr>
              <a:t>The munshi</a:t>
            </a:r>
          </a:p>
          <a:p>
            <a:pPr algn="ctr">
              <a:lnSpc>
                <a:spcPct val="120000"/>
              </a:lnSpc>
              <a:spcBef>
                <a:spcPts val="300"/>
              </a:spcBef>
              <a:spcAft>
                <a:spcPts val="0"/>
              </a:spcAft>
            </a:pPr>
            <a:r>
              <a:rPr sz="1100" b="0">
                <a:solidFill>
                  <a:srgbClr val="5B6675"/>
                </a:solidFill>
                <a:latin typeface="Arial"/>
              </a:rPr>
              <a:t>Sarvam-105B calls our tools</a:t>
            </a:r>
          </a:p>
        </p:txBody>
      </p:sp>
      <p:sp>
        <p:nvSpPr>
          <p:cNvPr id="16" name="Rounded Rectangle 15"/>
          <p:cNvSpPr/>
          <p:nvPr/>
        </p:nvSpPr>
        <p:spPr>
          <a:xfrm>
            <a:off x="5308274" y="1819656"/>
            <a:ext cx="420624" cy="237744"/>
          </a:xfrm>
          <a:prstGeom prst="roundRect">
            <a:avLst>
              <a:gd name="adj" fmla="val 50000"/>
            </a:avLst>
          </a:prstGeom>
          <a:solidFill>
            <a:srgbClr val="00BAF2"/>
          </a:solidFill>
          <a:ln>
            <a:noFill/>
          </a:ln>
        </p:spPr>
        <p:txBody>
          <a:bodyPr rtlCol="0" anchor="ctr"/>
          <a:lstStyle/>
          <a:p>
            <a:pPr algn="ctr"/>
          </a:p>
        </p:txBody>
      </p:sp>
      <p:sp>
        <p:nvSpPr>
          <p:cNvPr id="17" name="TextBox 16"/>
          <p:cNvSpPr txBox="1"/>
          <p:nvPr/>
        </p:nvSpPr>
        <p:spPr>
          <a:xfrm>
            <a:off x="5308274" y="1819656"/>
            <a:ext cx="420624" cy="237744"/>
          </a:xfrm>
          <a:prstGeom prst="rect">
            <a:avLst/>
          </a:prstGeom>
          <a:noFill/>
        </p:spPr>
        <p:txBody>
          <a:bodyPr wrap="square" lIns="0" rIns="0" tIns="0" bIns="0" anchor="ctr">
            <a:spAutoFit/>
          </a:bodyPr>
          <a:lstStyle/>
          <a:p>
            <a:pPr algn="ctr">
              <a:lnSpc>
                <a:spcPct val="100000"/>
              </a:lnSpc>
              <a:spcBef>
                <a:spcPts val="0"/>
              </a:spcBef>
              <a:spcAft>
                <a:spcPts val="0"/>
              </a:spcAft>
            </a:pPr>
            <a:r>
              <a:rPr sz="900" b="1" spc="80">
                <a:solidFill>
                  <a:srgbClr val="002970"/>
                </a:solidFill>
                <a:latin typeface="Arial"/>
              </a:rPr>
              <a:t>AI</a:t>
            </a:r>
          </a:p>
        </p:txBody>
      </p:sp>
      <p:cxnSp>
        <p:nvCxnSpPr>
          <p:cNvPr id="18" name="Connector 17"/>
          <p:cNvCxnSpPr/>
          <p:nvPr/>
        </p:nvCxnSpPr>
        <p:spPr>
          <a:xfrm>
            <a:off x="7075443" y="2418588"/>
            <a:ext cx="347472" cy="0"/>
          </a:xfrm>
          <a:prstGeom prst="line">
            <a:avLst/>
          </a:prstGeom>
          <a:ln w="22225">
            <a:solidFill>
              <a:srgbClr val="002970"/>
            </a:solidFill>
            <a:tailEnd type="triangle" w="med" len="med"/>
          </a:ln>
        </p:spPr>
      </p:cxnSp>
      <p:sp>
        <p:nvSpPr>
          <p:cNvPr id="19" name="Rounded Rectangle 18"/>
          <p:cNvSpPr/>
          <p:nvPr/>
        </p:nvSpPr>
        <p:spPr>
          <a:xfrm>
            <a:off x="7486923" y="1938528"/>
            <a:ext cx="1831177" cy="960120"/>
          </a:xfrm>
          <a:prstGeom prst="roundRect">
            <a:avLst>
              <a:gd name="adj" fmla="val 12000"/>
            </a:avLst>
          </a:prstGeom>
          <a:solidFill>
            <a:srgbClr val="FFFFFF"/>
          </a:solidFill>
          <a:ln>
            <a:noFill/>
          </a:ln>
        </p:spPr>
        <p:txBody>
          <a:bodyPr rtlCol="0" anchor="ctr"/>
          <a:lstStyle/>
          <a:p>
            <a:pPr algn="ctr"/>
          </a:p>
        </p:txBody>
      </p:sp>
      <p:sp>
        <p:nvSpPr>
          <p:cNvPr id="20" name="TextBox 19"/>
          <p:cNvSpPr txBox="1"/>
          <p:nvPr/>
        </p:nvSpPr>
        <p:spPr>
          <a:xfrm>
            <a:off x="7596651" y="1938528"/>
            <a:ext cx="1611721" cy="960120"/>
          </a:xfrm>
          <a:prstGeom prst="rect">
            <a:avLst/>
          </a:prstGeom>
          <a:noFill/>
        </p:spPr>
        <p:txBody>
          <a:bodyPr wrap="square" lIns="0" rIns="0" tIns="0" bIns="0" anchor="ctr">
            <a:spAutoFit/>
          </a:bodyPr>
          <a:lstStyle/>
          <a:p>
            <a:pPr algn="ctr">
              <a:lnSpc>
                <a:spcPct val="110000"/>
              </a:lnSpc>
              <a:spcBef>
                <a:spcPts val="0"/>
              </a:spcBef>
              <a:spcAft>
                <a:spcPts val="0"/>
              </a:spcAft>
            </a:pPr>
            <a:r>
              <a:rPr sz="1300" b="1">
                <a:solidFill>
                  <a:srgbClr val="002970"/>
                </a:solidFill>
                <a:latin typeface="Arial"/>
              </a:rPr>
              <a:t>Our checks</a:t>
            </a:r>
          </a:p>
          <a:p>
            <a:pPr algn="ctr">
              <a:lnSpc>
                <a:spcPct val="120000"/>
              </a:lnSpc>
              <a:spcBef>
                <a:spcPts val="300"/>
              </a:spcBef>
              <a:spcAft>
                <a:spcPts val="0"/>
              </a:spcAft>
            </a:pPr>
            <a:r>
              <a:rPr sz="1100" b="0">
                <a:solidFill>
                  <a:srgbClr val="5B6675"/>
                </a:solidFill>
                <a:latin typeface="Arial"/>
              </a:rPr>
              <a:t>finds by sound; the rupees match the words</a:t>
            </a:r>
          </a:p>
        </p:txBody>
      </p:sp>
      <p:sp>
        <p:nvSpPr>
          <p:cNvPr id="21" name="Rounded Rectangle 20"/>
          <p:cNvSpPr/>
          <p:nvPr/>
        </p:nvSpPr>
        <p:spPr>
          <a:xfrm>
            <a:off x="7614939" y="1819656"/>
            <a:ext cx="603504" cy="237744"/>
          </a:xfrm>
          <a:prstGeom prst="roundRect">
            <a:avLst>
              <a:gd name="adj" fmla="val 50000"/>
            </a:avLst>
          </a:prstGeom>
          <a:solidFill>
            <a:srgbClr val="002970"/>
          </a:solidFill>
          <a:ln>
            <a:noFill/>
          </a:ln>
        </p:spPr>
        <p:txBody>
          <a:bodyPr rtlCol="0" anchor="ctr"/>
          <a:lstStyle/>
          <a:p>
            <a:pPr algn="ctr"/>
          </a:p>
        </p:txBody>
      </p:sp>
      <p:sp>
        <p:nvSpPr>
          <p:cNvPr id="22" name="TextBox 21"/>
          <p:cNvSpPr txBox="1"/>
          <p:nvPr/>
        </p:nvSpPr>
        <p:spPr>
          <a:xfrm>
            <a:off x="7614939" y="1819656"/>
            <a:ext cx="603504" cy="237744"/>
          </a:xfrm>
          <a:prstGeom prst="rect">
            <a:avLst/>
          </a:prstGeom>
          <a:noFill/>
        </p:spPr>
        <p:txBody>
          <a:bodyPr wrap="square" lIns="0" rIns="0" tIns="0" bIns="0" anchor="ctr">
            <a:spAutoFit/>
          </a:bodyPr>
          <a:lstStyle/>
          <a:p>
            <a:pPr algn="ctr">
              <a:lnSpc>
                <a:spcPct val="100000"/>
              </a:lnSpc>
              <a:spcBef>
                <a:spcPts val="0"/>
              </a:spcBef>
              <a:spcAft>
                <a:spcPts val="0"/>
              </a:spcAft>
            </a:pPr>
            <a:r>
              <a:rPr sz="900" b="1" spc="80">
                <a:solidFill>
                  <a:srgbClr val="FFFFFF"/>
                </a:solidFill>
                <a:latin typeface="Arial"/>
              </a:rPr>
              <a:t>CODE</a:t>
            </a:r>
          </a:p>
        </p:txBody>
      </p:sp>
      <p:cxnSp>
        <p:nvCxnSpPr>
          <p:cNvPr id="23" name="Connector 22"/>
          <p:cNvCxnSpPr/>
          <p:nvPr/>
        </p:nvCxnSpPr>
        <p:spPr>
          <a:xfrm>
            <a:off x="9382108" y="2418588"/>
            <a:ext cx="347472" cy="0"/>
          </a:xfrm>
          <a:prstGeom prst="line">
            <a:avLst/>
          </a:prstGeom>
          <a:ln w="22225">
            <a:solidFill>
              <a:srgbClr val="002970"/>
            </a:solidFill>
            <a:tailEnd type="triangle" w="med" len="med"/>
          </a:ln>
        </p:spPr>
      </p:cxnSp>
      <p:sp>
        <p:nvSpPr>
          <p:cNvPr id="24" name="Rounded Rectangle 23"/>
          <p:cNvSpPr/>
          <p:nvPr/>
        </p:nvSpPr>
        <p:spPr>
          <a:xfrm>
            <a:off x="9793588" y="1938528"/>
            <a:ext cx="1831177" cy="960120"/>
          </a:xfrm>
          <a:prstGeom prst="roundRect">
            <a:avLst>
              <a:gd name="adj" fmla="val 12000"/>
            </a:avLst>
          </a:prstGeom>
          <a:solidFill>
            <a:srgbClr val="FFFFFF"/>
          </a:solidFill>
          <a:ln>
            <a:noFill/>
          </a:ln>
        </p:spPr>
        <p:txBody>
          <a:bodyPr rtlCol="0" anchor="ctr"/>
          <a:lstStyle/>
          <a:p>
            <a:pPr algn="ctr"/>
          </a:p>
        </p:txBody>
      </p:sp>
      <p:sp>
        <p:nvSpPr>
          <p:cNvPr id="25" name="TextBox 24"/>
          <p:cNvSpPr txBox="1"/>
          <p:nvPr/>
        </p:nvSpPr>
        <p:spPr>
          <a:xfrm>
            <a:off x="9903316" y="1938528"/>
            <a:ext cx="1611721" cy="960120"/>
          </a:xfrm>
          <a:prstGeom prst="rect">
            <a:avLst/>
          </a:prstGeom>
          <a:noFill/>
        </p:spPr>
        <p:txBody>
          <a:bodyPr wrap="square" lIns="0" rIns="0" tIns="0" bIns="0" anchor="ctr">
            <a:spAutoFit/>
          </a:bodyPr>
          <a:lstStyle/>
          <a:p>
            <a:pPr algn="ctr">
              <a:lnSpc>
                <a:spcPct val="110000"/>
              </a:lnSpc>
              <a:spcBef>
                <a:spcPts val="0"/>
              </a:spcBef>
              <a:spcAft>
                <a:spcPts val="0"/>
              </a:spcAft>
            </a:pPr>
            <a:r>
              <a:rPr sz="1300" b="1">
                <a:solidFill>
                  <a:srgbClr val="002970"/>
                </a:solidFill>
                <a:latin typeface="Arial"/>
              </a:rPr>
              <a:t>Two yeses</a:t>
            </a:r>
          </a:p>
          <a:p>
            <a:pPr algn="ctr">
              <a:lnSpc>
                <a:spcPct val="120000"/>
              </a:lnSpc>
              <a:spcBef>
                <a:spcPts val="300"/>
              </a:spcBef>
              <a:spcAft>
                <a:spcPts val="0"/>
              </a:spcAft>
            </a:pPr>
            <a:r>
              <a:rPr sz="1100" b="0">
                <a:solidFill>
                  <a:srgbClr val="5B6675"/>
                </a:solidFill>
                <a:latin typeface="Arial"/>
              </a:rPr>
              <a:t>his, then hers, then the ledger</a:t>
            </a:r>
          </a:p>
        </p:txBody>
      </p:sp>
      <p:sp>
        <p:nvSpPr>
          <p:cNvPr id="26" name="TextBox 25"/>
          <p:cNvSpPr txBox="1"/>
          <p:nvPr/>
        </p:nvSpPr>
        <p:spPr>
          <a:xfrm>
            <a:off x="566928" y="3246120"/>
            <a:ext cx="11057839" cy="228600"/>
          </a:xfrm>
          <a:prstGeom prst="rect">
            <a:avLst/>
          </a:prstGeom>
          <a:noFill/>
        </p:spPr>
        <p:txBody>
          <a:bodyPr wrap="square" lIns="0" rIns="0" tIns="0" bIns="0" anchor="t">
            <a:spAutoFit/>
          </a:bodyPr>
          <a:lstStyle/>
          <a:p>
            <a:pPr>
              <a:lnSpc>
                <a:spcPct val="130000"/>
              </a:lnSpc>
              <a:spcBef>
                <a:spcPts val="0"/>
              </a:spcBef>
              <a:spcAft>
                <a:spcPts val="0"/>
              </a:spcAft>
            </a:pPr>
            <a:r>
              <a:rPr sz="950" b="1" spc="120">
                <a:solidFill>
                  <a:srgbClr val="5B6675"/>
                </a:solidFill>
                <a:latin typeface="Arial"/>
              </a:rPr>
              <a:t>EVERY NIGHT — DECIDING WHO HEARS FROM US</a:t>
            </a:r>
          </a:p>
        </p:txBody>
      </p:sp>
      <p:sp>
        <p:nvSpPr>
          <p:cNvPr id="27" name="Rounded Rectangle 26"/>
          <p:cNvSpPr/>
          <p:nvPr/>
        </p:nvSpPr>
        <p:spPr>
          <a:xfrm>
            <a:off x="566928" y="3611880"/>
            <a:ext cx="2407843" cy="960120"/>
          </a:xfrm>
          <a:prstGeom prst="roundRect">
            <a:avLst>
              <a:gd name="adj" fmla="val 12000"/>
            </a:avLst>
          </a:prstGeom>
          <a:solidFill>
            <a:srgbClr val="FFFFFF"/>
          </a:solidFill>
          <a:ln>
            <a:noFill/>
          </a:ln>
        </p:spPr>
        <p:txBody>
          <a:bodyPr rtlCol="0" anchor="ctr"/>
          <a:lstStyle/>
          <a:p>
            <a:pPr algn="ctr"/>
          </a:p>
        </p:txBody>
      </p:sp>
      <p:sp>
        <p:nvSpPr>
          <p:cNvPr id="28" name="TextBox 27"/>
          <p:cNvSpPr txBox="1"/>
          <p:nvPr/>
        </p:nvSpPr>
        <p:spPr>
          <a:xfrm>
            <a:off x="676656" y="3611880"/>
            <a:ext cx="2188387" cy="960120"/>
          </a:xfrm>
          <a:prstGeom prst="rect">
            <a:avLst/>
          </a:prstGeom>
          <a:noFill/>
        </p:spPr>
        <p:txBody>
          <a:bodyPr wrap="square" lIns="0" rIns="0" tIns="0" bIns="0" anchor="ctr">
            <a:spAutoFit/>
          </a:bodyPr>
          <a:lstStyle/>
          <a:p>
            <a:pPr algn="ctr">
              <a:lnSpc>
                <a:spcPct val="110000"/>
              </a:lnSpc>
              <a:spcBef>
                <a:spcPts val="0"/>
              </a:spcBef>
              <a:spcAft>
                <a:spcPts val="0"/>
              </a:spcAft>
            </a:pPr>
            <a:r>
              <a:rPr sz="1300" b="1">
                <a:solidFill>
                  <a:srgbClr val="002970"/>
                </a:solidFill>
                <a:latin typeface="Arial"/>
              </a:rPr>
              <a:t>Timing engine</a:t>
            </a:r>
          </a:p>
          <a:p>
            <a:pPr algn="ctr">
              <a:lnSpc>
                <a:spcPct val="120000"/>
              </a:lnSpc>
              <a:spcBef>
                <a:spcPts val="300"/>
              </a:spcBef>
              <a:spcAft>
                <a:spcPts val="0"/>
              </a:spcAft>
            </a:pPr>
            <a:r>
              <a:rPr sz="1100" b="0">
                <a:solidFill>
                  <a:srgbClr val="5B6675"/>
                </a:solidFill>
                <a:latin typeface="Arial"/>
              </a:rPr>
              <a:t>each customer’s own longest gap</a:t>
            </a:r>
          </a:p>
        </p:txBody>
      </p:sp>
      <p:sp>
        <p:nvSpPr>
          <p:cNvPr id="29" name="Rounded Rectangle 28"/>
          <p:cNvSpPr/>
          <p:nvPr/>
        </p:nvSpPr>
        <p:spPr>
          <a:xfrm>
            <a:off x="694944" y="3493008"/>
            <a:ext cx="603504" cy="237744"/>
          </a:xfrm>
          <a:prstGeom prst="roundRect">
            <a:avLst>
              <a:gd name="adj" fmla="val 50000"/>
            </a:avLst>
          </a:prstGeom>
          <a:solidFill>
            <a:srgbClr val="002970"/>
          </a:solidFill>
          <a:ln>
            <a:noFill/>
          </a:ln>
        </p:spPr>
        <p:txBody>
          <a:bodyPr rtlCol="0" anchor="ctr"/>
          <a:lstStyle/>
          <a:p>
            <a:pPr algn="ctr"/>
          </a:p>
        </p:txBody>
      </p:sp>
      <p:sp>
        <p:nvSpPr>
          <p:cNvPr id="30" name="TextBox 29"/>
          <p:cNvSpPr txBox="1"/>
          <p:nvPr/>
        </p:nvSpPr>
        <p:spPr>
          <a:xfrm>
            <a:off x="694944" y="3493008"/>
            <a:ext cx="603504" cy="237744"/>
          </a:xfrm>
          <a:prstGeom prst="rect">
            <a:avLst/>
          </a:prstGeom>
          <a:noFill/>
        </p:spPr>
        <p:txBody>
          <a:bodyPr wrap="square" lIns="0" rIns="0" tIns="0" bIns="0" anchor="ctr">
            <a:spAutoFit/>
          </a:bodyPr>
          <a:lstStyle/>
          <a:p>
            <a:pPr algn="ctr">
              <a:lnSpc>
                <a:spcPct val="100000"/>
              </a:lnSpc>
              <a:spcBef>
                <a:spcPts val="0"/>
              </a:spcBef>
              <a:spcAft>
                <a:spcPts val="0"/>
              </a:spcAft>
            </a:pPr>
            <a:r>
              <a:rPr sz="900" b="1" spc="80">
                <a:solidFill>
                  <a:srgbClr val="FFFFFF"/>
                </a:solidFill>
                <a:latin typeface="Arial"/>
              </a:rPr>
              <a:t>CODE</a:t>
            </a:r>
          </a:p>
        </p:txBody>
      </p:sp>
      <p:cxnSp>
        <p:nvCxnSpPr>
          <p:cNvPr id="31" name="Connector 30"/>
          <p:cNvCxnSpPr/>
          <p:nvPr/>
        </p:nvCxnSpPr>
        <p:spPr>
          <a:xfrm>
            <a:off x="3038779" y="4091940"/>
            <a:ext cx="347472" cy="0"/>
          </a:xfrm>
          <a:prstGeom prst="line">
            <a:avLst/>
          </a:prstGeom>
          <a:ln w="22225">
            <a:solidFill>
              <a:srgbClr val="002970"/>
            </a:solidFill>
            <a:tailEnd type="triangle" w="med" len="med"/>
          </a:ln>
        </p:spPr>
      </p:cxnSp>
      <p:sp>
        <p:nvSpPr>
          <p:cNvPr id="32" name="Rounded Rectangle 31"/>
          <p:cNvSpPr/>
          <p:nvPr/>
        </p:nvSpPr>
        <p:spPr>
          <a:xfrm>
            <a:off x="3450259" y="3611880"/>
            <a:ext cx="2407843" cy="960120"/>
          </a:xfrm>
          <a:prstGeom prst="roundRect">
            <a:avLst>
              <a:gd name="adj" fmla="val 12000"/>
            </a:avLst>
          </a:prstGeom>
          <a:solidFill>
            <a:srgbClr val="FFFFFF"/>
          </a:solidFill>
          <a:ln>
            <a:noFill/>
          </a:ln>
        </p:spPr>
        <p:txBody>
          <a:bodyPr rtlCol="0" anchor="ctr"/>
          <a:lstStyle/>
          <a:p>
            <a:pPr algn="ctr"/>
          </a:p>
        </p:txBody>
      </p:sp>
      <p:sp>
        <p:nvSpPr>
          <p:cNvPr id="33" name="TextBox 32"/>
          <p:cNvSpPr txBox="1"/>
          <p:nvPr/>
        </p:nvSpPr>
        <p:spPr>
          <a:xfrm>
            <a:off x="3559987" y="3611880"/>
            <a:ext cx="2188387" cy="960120"/>
          </a:xfrm>
          <a:prstGeom prst="rect">
            <a:avLst/>
          </a:prstGeom>
          <a:noFill/>
        </p:spPr>
        <p:txBody>
          <a:bodyPr wrap="square" lIns="0" rIns="0" tIns="0" bIns="0" anchor="ctr">
            <a:spAutoFit/>
          </a:bodyPr>
          <a:lstStyle/>
          <a:p>
            <a:pPr algn="ctr">
              <a:lnSpc>
                <a:spcPct val="110000"/>
              </a:lnSpc>
              <a:spcBef>
                <a:spcPts val="0"/>
              </a:spcBef>
              <a:spcAft>
                <a:spcPts val="0"/>
              </a:spcAft>
            </a:pPr>
            <a:r>
              <a:rPr sz="1300" b="1">
                <a:solidFill>
                  <a:srgbClr val="002970"/>
                </a:solidFill>
                <a:latin typeface="Arial"/>
              </a:rPr>
              <a:t>What was said</a:t>
            </a:r>
          </a:p>
          <a:p>
            <a:pPr algn="ctr">
              <a:lnSpc>
                <a:spcPct val="120000"/>
              </a:lnSpc>
              <a:spcBef>
                <a:spcPts val="300"/>
              </a:spcBef>
              <a:spcAft>
                <a:spcPts val="0"/>
              </a:spcAft>
            </a:pPr>
            <a:r>
              <a:rPr sz="1100" b="0">
                <a:solidFill>
                  <a:srgbClr val="5B6675"/>
                </a:solidFill>
                <a:latin typeface="Arial"/>
              </a:rPr>
              <a:t>a promise or a note holds it</a:t>
            </a:r>
          </a:p>
        </p:txBody>
      </p:sp>
      <p:sp>
        <p:nvSpPr>
          <p:cNvPr id="34" name="Rounded Rectangle 33"/>
          <p:cNvSpPr/>
          <p:nvPr/>
        </p:nvSpPr>
        <p:spPr>
          <a:xfrm>
            <a:off x="3578275" y="3493008"/>
            <a:ext cx="603504" cy="237744"/>
          </a:xfrm>
          <a:prstGeom prst="roundRect">
            <a:avLst>
              <a:gd name="adj" fmla="val 50000"/>
            </a:avLst>
          </a:prstGeom>
          <a:solidFill>
            <a:srgbClr val="002970"/>
          </a:solidFill>
          <a:ln>
            <a:noFill/>
          </a:ln>
        </p:spPr>
        <p:txBody>
          <a:bodyPr rtlCol="0" anchor="ctr"/>
          <a:lstStyle/>
          <a:p>
            <a:pPr algn="ctr"/>
          </a:p>
        </p:txBody>
      </p:sp>
      <p:sp>
        <p:nvSpPr>
          <p:cNvPr id="35" name="TextBox 34"/>
          <p:cNvSpPr txBox="1"/>
          <p:nvPr/>
        </p:nvSpPr>
        <p:spPr>
          <a:xfrm>
            <a:off x="3578275" y="3493008"/>
            <a:ext cx="603504" cy="237744"/>
          </a:xfrm>
          <a:prstGeom prst="rect">
            <a:avLst/>
          </a:prstGeom>
          <a:noFill/>
        </p:spPr>
        <p:txBody>
          <a:bodyPr wrap="square" lIns="0" rIns="0" tIns="0" bIns="0" anchor="ctr">
            <a:spAutoFit/>
          </a:bodyPr>
          <a:lstStyle/>
          <a:p>
            <a:pPr algn="ctr">
              <a:lnSpc>
                <a:spcPct val="100000"/>
              </a:lnSpc>
              <a:spcBef>
                <a:spcPts val="0"/>
              </a:spcBef>
              <a:spcAft>
                <a:spcPts val="0"/>
              </a:spcAft>
            </a:pPr>
            <a:r>
              <a:rPr sz="900" b="1" spc="80">
                <a:solidFill>
                  <a:srgbClr val="FFFFFF"/>
                </a:solidFill>
                <a:latin typeface="Arial"/>
              </a:rPr>
              <a:t>CODE</a:t>
            </a:r>
          </a:p>
        </p:txBody>
      </p:sp>
      <p:cxnSp>
        <p:nvCxnSpPr>
          <p:cNvPr id="36" name="Connector 35"/>
          <p:cNvCxnSpPr/>
          <p:nvPr/>
        </p:nvCxnSpPr>
        <p:spPr>
          <a:xfrm>
            <a:off x="5922110" y="4091940"/>
            <a:ext cx="347472" cy="0"/>
          </a:xfrm>
          <a:prstGeom prst="line">
            <a:avLst/>
          </a:prstGeom>
          <a:ln w="22225">
            <a:solidFill>
              <a:srgbClr val="002970"/>
            </a:solidFill>
            <a:tailEnd type="triangle" w="med" len="med"/>
          </a:ln>
        </p:spPr>
      </p:cxnSp>
      <p:sp>
        <p:nvSpPr>
          <p:cNvPr id="37" name="Rounded Rectangle 36"/>
          <p:cNvSpPr/>
          <p:nvPr/>
        </p:nvSpPr>
        <p:spPr>
          <a:xfrm>
            <a:off x="6333590" y="3611880"/>
            <a:ext cx="2407843" cy="960120"/>
          </a:xfrm>
          <a:prstGeom prst="roundRect">
            <a:avLst>
              <a:gd name="adj" fmla="val 12000"/>
            </a:avLst>
          </a:prstGeom>
          <a:solidFill>
            <a:srgbClr val="FFFFFF"/>
          </a:solidFill>
          <a:ln>
            <a:noFill/>
          </a:ln>
        </p:spPr>
        <p:txBody>
          <a:bodyPr rtlCol="0" anchor="ctr"/>
          <a:lstStyle/>
          <a:p>
            <a:pPr algn="ctr"/>
          </a:p>
        </p:txBody>
      </p:sp>
      <p:sp>
        <p:nvSpPr>
          <p:cNvPr id="38" name="TextBox 37"/>
          <p:cNvSpPr txBox="1"/>
          <p:nvPr/>
        </p:nvSpPr>
        <p:spPr>
          <a:xfrm>
            <a:off x="6443318" y="3611880"/>
            <a:ext cx="2188387" cy="960120"/>
          </a:xfrm>
          <a:prstGeom prst="rect">
            <a:avLst/>
          </a:prstGeom>
          <a:noFill/>
        </p:spPr>
        <p:txBody>
          <a:bodyPr wrap="square" lIns="0" rIns="0" tIns="0" bIns="0" anchor="ctr">
            <a:spAutoFit/>
          </a:bodyPr>
          <a:lstStyle/>
          <a:p>
            <a:pPr algn="ctr">
              <a:lnSpc>
                <a:spcPct val="110000"/>
              </a:lnSpc>
              <a:spcBef>
                <a:spcPts val="0"/>
              </a:spcBef>
              <a:spcAft>
                <a:spcPts val="0"/>
              </a:spcAft>
            </a:pPr>
            <a:r>
              <a:rPr sz="1300" b="1">
                <a:solidFill>
                  <a:srgbClr val="002970"/>
                </a:solidFill>
                <a:latin typeface="Arial"/>
              </a:rPr>
              <a:t>The munshi writes</a:t>
            </a:r>
          </a:p>
          <a:p>
            <a:pPr algn="ctr">
              <a:lnSpc>
                <a:spcPct val="120000"/>
              </a:lnSpc>
              <a:spcBef>
                <a:spcPts val="300"/>
              </a:spcBef>
              <a:spcAft>
                <a:spcPts val="0"/>
              </a:spcAft>
            </a:pPr>
            <a:r>
              <a:rPr sz="1100" b="0">
                <a:solidFill>
                  <a:srgbClr val="5B6675"/>
                </a:solidFill>
                <a:latin typeface="Arial"/>
              </a:rPr>
              <a:t>the words, in her language</a:t>
            </a:r>
          </a:p>
        </p:txBody>
      </p:sp>
      <p:sp>
        <p:nvSpPr>
          <p:cNvPr id="39" name="Rounded Rectangle 38"/>
          <p:cNvSpPr/>
          <p:nvPr/>
        </p:nvSpPr>
        <p:spPr>
          <a:xfrm>
            <a:off x="6461606" y="3493008"/>
            <a:ext cx="420624" cy="237744"/>
          </a:xfrm>
          <a:prstGeom prst="roundRect">
            <a:avLst>
              <a:gd name="adj" fmla="val 50000"/>
            </a:avLst>
          </a:prstGeom>
          <a:solidFill>
            <a:srgbClr val="00BAF2"/>
          </a:solidFill>
          <a:ln>
            <a:noFill/>
          </a:ln>
        </p:spPr>
        <p:txBody>
          <a:bodyPr rtlCol="0" anchor="ctr"/>
          <a:lstStyle/>
          <a:p>
            <a:pPr algn="ctr"/>
          </a:p>
        </p:txBody>
      </p:sp>
      <p:sp>
        <p:nvSpPr>
          <p:cNvPr id="40" name="TextBox 39"/>
          <p:cNvSpPr txBox="1"/>
          <p:nvPr/>
        </p:nvSpPr>
        <p:spPr>
          <a:xfrm>
            <a:off x="6461606" y="3493008"/>
            <a:ext cx="420624" cy="237744"/>
          </a:xfrm>
          <a:prstGeom prst="rect">
            <a:avLst/>
          </a:prstGeom>
          <a:noFill/>
        </p:spPr>
        <p:txBody>
          <a:bodyPr wrap="square" lIns="0" rIns="0" tIns="0" bIns="0" anchor="ctr">
            <a:spAutoFit/>
          </a:bodyPr>
          <a:lstStyle/>
          <a:p>
            <a:pPr algn="ctr">
              <a:lnSpc>
                <a:spcPct val="100000"/>
              </a:lnSpc>
              <a:spcBef>
                <a:spcPts val="0"/>
              </a:spcBef>
              <a:spcAft>
                <a:spcPts val="0"/>
              </a:spcAft>
            </a:pPr>
            <a:r>
              <a:rPr sz="900" b="1" spc="80">
                <a:solidFill>
                  <a:srgbClr val="002970"/>
                </a:solidFill>
                <a:latin typeface="Arial"/>
              </a:rPr>
              <a:t>AI</a:t>
            </a:r>
          </a:p>
        </p:txBody>
      </p:sp>
      <p:cxnSp>
        <p:nvCxnSpPr>
          <p:cNvPr id="41" name="Connector 40"/>
          <p:cNvCxnSpPr/>
          <p:nvPr/>
        </p:nvCxnSpPr>
        <p:spPr>
          <a:xfrm>
            <a:off x="8805441" y="4091940"/>
            <a:ext cx="347472" cy="0"/>
          </a:xfrm>
          <a:prstGeom prst="line">
            <a:avLst/>
          </a:prstGeom>
          <a:ln w="22225">
            <a:solidFill>
              <a:srgbClr val="002970"/>
            </a:solidFill>
            <a:tailEnd type="triangle" w="med" len="med"/>
          </a:ln>
        </p:spPr>
      </p:cxnSp>
      <p:sp>
        <p:nvSpPr>
          <p:cNvPr id="42" name="Rounded Rectangle 41"/>
          <p:cNvSpPr/>
          <p:nvPr/>
        </p:nvSpPr>
        <p:spPr>
          <a:xfrm>
            <a:off x="9216921" y="3611880"/>
            <a:ext cx="2407843" cy="960120"/>
          </a:xfrm>
          <a:prstGeom prst="roundRect">
            <a:avLst>
              <a:gd name="adj" fmla="val 12000"/>
            </a:avLst>
          </a:prstGeom>
          <a:solidFill>
            <a:srgbClr val="FFFFFF"/>
          </a:solidFill>
          <a:ln>
            <a:noFill/>
          </a:ln>
        </p:spPr>
        <p:txBody>
          <a:bodyPr rtlCol="0" anchor="ctr"/>
          <a:lstStyle/>
          <a:p>
            <a:pPr algn="ctr"/>
          </a:p>
        </p:txBody>
      </p:sp>
      <p:sp>
        <p:nvSpPr>
          <p:cNvPr id="43" name="TextBox 42"/>
          <p:cNvSpPr txBox="1"/>
          <p:nvPr/>
        </p:nvSpPr>
        <p:spPr>
          <a:xfrm>
            <a:off x="9326649" y="3611880"/>
            <a:ext cx="2188387" cy="960120"/>
          </a:xfrm>
          <a:prstGeom prst="rect">
            <a:avLst/>
          </a:prstGeom>
          <a:noFill/>
        </p:spPr>
        <p:txBody>
          <a:bodyPr wrap="square" lIns="0" rIns="0" tIns="0" bIns="0" anchor="ctr">
            <a:spAutoFit/>
          </a:bodyPr>
          <a:lstStyle/>
          <a:p>
            <a:pPr algn="ctr">
              <a:lnSpc>
                <a:spcPct val="110000"/>
              </a:lnSpc>
              <a:spcBef>
                <a:spcPts val="0"/>
              </a:spcBef>
              <a:spcAft>
                <a:spcPts val="0"/>
              </a:spcAft>
            </a:pPr>
            <a:r>
              <a:rPr sz="1300" b="1">
                <a:solidFill>
                  <a:srgbClr val="002970"/>
                </a:solidFill>
                <a:latin typeface="Arial"/>
              </a:rPr>
              <a:t>Our check</a:t>
            </a:r>
          </a:p>
          <a:p>
            <a:pPr algn="ctr">
              <a:lnSpc>
                <a:spcPct val="120000"/>
              </a:lnSpc>
              <a:spcBef>
                <a:spcPts val="300"/>
              </a:spcBef>
              <a:spcAft>
                <a:spcPts val="0"/>
              </a:spcAft>
            </a:pPr>
            <a:r>
              <a:rPr sz="1100" b="0">
                <a:solidFill>
                  <a:srgbClr val="5B6675"/>
                </a:solidFill>
                <a:latin typeface="Arial"/>
              </a:rPr>
              <a:t>the only figure is her balance</a:t>
            </a:r>
          </a:p>
        </p:txBody>
      </p:sp>
      <p:sp>
        <p:nvSpPr>
          <p:cNvPr id="44" name="Rounded Rectangle 43"/>
          <p:cNvSpPr/>
          <p:nvPr/>
        </p:nvSpPr>
        <p:spPr>
          <a:xfrm>
            <a:off x="9344937" y="3493008"/>
            <a:ext cx="603504" cy="237744"/>
          </a:xfrm>
          <a:prstGeom prst="roundRect">
            <a:avLst>
              <a:gd name="adj" fmla="val 50000"/>
            </a:avLst>
          </a:prstGeom>
          <a:solidFill>
            <a:srgbClr val="002970"/>
          </a:solidFill>
          <a:ln>
            <a:noFill/>
          </a:ln>
        </p:spPr>
        <p:txBody>
          <a:bodyPr rtlCol="0" anchor="ctr"/>
          <a:lstStyle/>
          <a:p>
            <a:pPr algn="ctr"/>
          </a:p>
        </p:txBody>
      </p:sp>
      <p:sp>
        <p:nvSpPr>
          <p:cNvPr id="45" name="TextBox 44"/>
          <p:cNvSpPr txBox="1"/>
          <p:nvPr/>
        </p:nvSpPr>
        <p:spPr>
          <a:xfrm>
            <a:off x="9344937" y="3493008"/>
            <a:ext cx="603504" cy="237744"/>
          </a:xfrm>
          <a:prstGeom prst="rect">
            <a:avLst/>
          </a:prstGeom>
          <a:noFill/>
        </p:spPr>
        <p:txBody>
          <a:bodyPr wrap="square" lIns="0" rIns="0" tIns="0" bIns="0" anchor="ctr">
            <a:spAutoFit/>
          </a:bodyPr>
          <a:lstStyle/>
          <a:p>
            <a:pPr algn="ctr">
              <a:lnSpc>
                <a:spcPct val="100000"/>
              </a:lnSpc>
              <a:spcBef>
                <a:spcPts val="0"/>
              </a:spcBef>
              <a:spcAft>
                <a:spcPts val="0"/>
              </a:spcAft>
            </a:pPr>
            <a:r>
              <a:rPr sz="900" b="1" spc="80">
                <a:solidFill>
                  <a:srgbClr val="FFFFFF"/>
                </a:solidFill>
                <a:latin typeface="Arial"/>
              </a:rPr>
              <a:t>CODE</a:t>
            </a:r>
          </a:p>
        </p:txBody>
      </p:sp>
      <p:sp>
        <p:nvSpPr>
          <p:cNvPr id="46" name="Rounded Rectangle 45"/>
          <p:cNvSpPr/>
          <p:nvPr/>
        </p:nvSpPr>
        <p:spPr>
          <a:xfrm>
            <a:off x="566928" y="4892040"/>
            <a:ext cx="11057839" cy="713232"/>
          </a:xfrm>
          <a:prstGeom prst="roundRect">
            <a:avLst>
              <a:gd name="adj" fmla="val 6000"/>
            </a:avLst>
          </a:prstGeom>
          <a:solidFill>
            <a:srgbClr val="FFFFFF"/>
          </a:solidFill>
          <a:ln>
            <a:noFill/>
          </a:ln>
        </p:spPr>
        <p:txBody>
          <a:bodyPr rtlCol="0" anchor="ctr"/>
          <a:lstStyle/>
          <a:p>
            <a:pPr algn="ctr"/>
          </a:p>
        </p:txBody>
      </p:sp>
      <p:sp>
        <p:nvSpPr>
          <p:cNvPr id="47" name="TextBox 46"/>
          <p:cNvSpPr txBox="1"/>
          <p:nvPr/>
        </p:nvSpPr>
        <p:spPr>
          <a:xfrm>
            <a:off x="795528" y="4892040"/>
            <a:ext cx="10600639" cy="713232"/>
          </a:xfrm>
          <a:prstGeom prst="rect">
            <a:avLst/>
          </a:prstGeom>
          <a:noFill/>
        </p:spPr>
        <p:txBody>
          <a:bodyPr wrap="square" lIns="0" rIns="0" tIns="0" bIns="0" anchor="ctr">
            <a:spAutoFit/>
          </a:bodyPr>
          <a:lstStyle/>
          <a:p>
            <a:pPr>
              <a:lnSpc>
                <a:spcPct val="130000"/>
              </a:lnSpc>
              <a:spcBef>
                <a:spcPts val="0"/>
              </a:spcBef>
              <a:spcAft>
                <a:spcPts val="0"/>
              </a:spcAft>
            </a:pPr>
            <a:r>
              <a:rPr sz="1300" b="1">
                <a:solidFill>
                  <a:srgbClr val="002970"/>
                </a:solidFill>
                <a:latin typeface="Arial"/>
              </a:rPr>
              <a:t>How we prove it:  </a:t>
            </a:r>
            <a:r>
              <a:rPr sz="1300" b="0">
                <a:solidFill>
                  <a:srgbClr val="1C1C1C"/>
                </a:solidFill>
                <a:latin typeface="Arial"/>
              </a:rPr>
              <a:t>a test fails the build if the core logic imports anything outside Python’s standard library. The model only ever returns words.</a:t>
            </a:r>
          </a:p>
        </p:txBody>
      </p:sp>
      <p:sp>
        <p:nvSpPr>
          <p:cNvPr id="48" name="TextBox 47"/>
          <p:cNvSpPr txBox="1"/>
          <p:nvPr/>
        </p:nvSpPr>
        <p:spPr>
          <a:xfrm>
            <a:off x="566928" y="5815584"/>
            <a:ext cx="731520" cy="274320"/>
          </a:xfrm>
          <a:prstGeom prst="rect">
            <a:avLst/>
          </a:prstGeom>
          <a:noFill/>
        </p:spPr>
        <p:txBody>
          <a:bodyPr wrap="square" lIns="0" rIns="0" tIns="0" bIns="0" anchor="ctr">
            <a:spAutoFit/>
          </a:bodyPr>
          <a:lstStyle/>
          <a:p>
            <a:pPr>
              <a:lnSpc>
                <a:spcPct val="130000"/>
              </a:lnSpc>
              <a:spcBef>
                <a:spcPts val="0"/>
              </a:spcBef>
              <a:spcAft>
                <a:spcPts val="0"/>
              </a:spcAft>
            </a:pPr>
            <a:r>
              <a:rPr sz="950" b="1" spc="120">
                <a:solidFill>
                  <a:srgbClr val="5B6675"/>
                </a:solidFill>
                <a:latin typeface="Arial"/>
              </a:rPr>
              <a:t>STACK</a:t>
            </a:r>
          </a:p>
        </p:txBody>
      </p:sp>
      <p:sp>
        <p:nvSpPr>
          <p:cNvPr id="49" name="Rounded Rectangle 48"/>
          <p:cNvSpPr/>
          <p:nvPr/>
        </p:nvSpPr>
        <p:spPr>
          <a:xfrm>
            <a:off x="1298448" y="5815584"/>
            <a:ext cx="886968" cy="274320"/>
          </a:xfrm>
          <a:prstGeom prst="roundRect">
            <a:avLst>
              <a:gd name="adj" fmla="val 50000"/>
            </a:avLst>
          </a:prstGeom>
          <a:solidFill>
            <a:srgbClr val="FFFFFF"/>
          </a:solidFill>
          <a:ln>
            <a:noFill/>
          </a:ln>
        </p:spPr>
        <p:txBody>
          <a:bodyPr rtlCol="0" anchor="ctr"/>
          <a:lstStyle/>
          <a:p>
            <a:pPr algn="ctr"/>
          </a:p>
        </p:txBody>
      </p:sp>
      <p:sp>
        <p:nvSpPr>
          <p:cNvPr id="50" name="TextBox 49"/>
          <p:cNvSpPr txBox="1"/>
          <p:nvPr/>
        </p:nvSpPr>
        <p:spPr>
          <a:xfrm>
            <a:off x="1298448" y="5815584"/>
            <a:ext cx="886968" cy="274320"/>
          </a:xfrm>
          <a:prstGeom prst="rect">
            <a:avLst/>
          </a:prstGeom>
          <a:noFill/>
        </p:spPr>
        <p:txBody>
          <a:bodyPr wrap="square" lIns="0" rIns="0" tIns="0" bIns="0" anchor="ctr">
            <a:spAutoFit/>
          </a:bodyPr>
          <a:lstStyle/>
          <a:p>
            <a:pPr algn="ctr">
              <a:lnSpc>
                <a:spcPct val="100000"/>
              </a:lnSpc>
              <a:spcBef>
                <a:spcPts val="0"/>
              </a:spcBef>
              <a:spcAft>
                <a:spcPts val="0"/>
              </a:spcAft>
            </a:pPr>
            <a:r>
              <a:rPr sz="950" b="1" spc="80">
                <a:solidFill>
                  <a:srgbClr val="002970"/>
                </a:solidFill>
                <a:latin typeface="Arial"/>
              </a:rPr>
              <a:t>Next.js 16</a:t>
            </a:r>
          </a:p>
        </p:txBody>
      </p:sp>
      <p:sp>
        <p:nvSpPr>
          <p:cNvPr id="51" name="Rounded Rectangle 50"/>
          <p:cNvSpPr/>
          <p:nvPr/>
        </p:nvSpPr>
        <p:spPr>
          <a:xfrm>
            <a:off x="2258568" y="5815584"/>
            <a:ext cx="749808" cy="274320"/>
          </a:xfrm>
          <a:prstGeom prst="roundRect">
            <a:avLst>
              <a:gd name="adj" fmla="val 50000"/>
            </a:avLst>
          </a:prstGeom>
          <a:solidFill>
            <a:srgbClr val="FFFFFF"/>
          </a:solidFill>
          <a:ln>
            <a:noFill/>
          </a:ln>
        </p:spPr>
        <p:txBody>
          <a:bodyPr rtlCol="0" anchor="ctr"/>
          <a:lstStyle/>
          <a:p>
            <a:pPr algn="ctr"/>
          </a:p>
        </p:txBody>
      </p:sp>
      <p:sp>
        <p:nvSpPr>
          <p:cNvPr id="52" name="TextBox 51"/>
          <p:cNvSpPr txBox="1"/>
          <p:nvPr/>
        </p:nvSpPr>
        <p:spPr>
          <a:xfrm>
            <a:off x="2258568" y="5815584"/>
            <a:ext cx="749808" cy="274320"/>
          </a:xfrm>
          <a:prstGeom prst="rect">
            <a:avLst/>
          </a:prstGeom>
          <a:noFill/>
        </p:spPr>
        <p:txBody>
          <a:bodyPr wrap="square" lIns="0" rIns="0" tIns="0" bIns="0" anchor="ctr">
            <a:spAutoFit/>
          </a:bodyPr>
          <a:lstStyle/>
          <a:p>
            <a:pPr algn="ctr">
              <a:lnSpc>
                <a:spcPct val="100000"/>
              </a:lnSpc>
              <a:spcBef>
                <a:spcPts val="0"/>
              </a:spcBef>
              <a:spcAft>
                <a:spcPts val="0"/>
              </a:spcAft>
            </a:pPr>
            <a:r>
              <a:rPr sz="950" b="1" spc="80">
                <a:solidFill>
                  <a:srgbClr val="002970"/>
                </a:solidFill>
                <a:latin typeface="Arial"/>
              </a:rPr>
              <a:t>React 19</a:t>
            </a:r>
          </a:p>
        </p:txBody>
      </p:sp>
      <p:sp>
        <p:nvSpPr>
          <p:cNvPr id="53" name="Rounded Rectangle 52"/>
          <p:cNvSpPr/>
          <p:nvPr/>
        </p:nvSpPr>
        <p:spPr>
          <a:xfrm>
            <a:off x="3081528" y="5815584"/>
            <a:ext cx="681228" cy="274320"/>
          </a:xfrm>
          <a:prstGeom prst="roundRect">
            <a:avLst>
              <a:gd name="adj" fmla="val 50000"/>
            </a:avLst>
          </a:prstGeom>
          <a:solidFill>
            <a:srgbClr val="FFFFFF"/>
          </a:solidFill>
          <a:ln>
            <a:noFill/>
          </a:ln>
        </p:spPr>
        <p:txBody>
          <a:bodyPr rtlCol="0" anchor="ctr"/>
          <a:lstStyle/>
          <a:p>
            <a:pPr algn="ctr"/>
          </a:p>
        </p:txBody>
      </p:sp>
      <p:sp>
        <p:nvSpPr>
          <p:cNvPr id="54" name="TextBox 53"/>
          <p:cNvSpPr txBox="1"/>
          <p:nvPr/>
        </p:nvSpPr>
        <p:spPr>
          <a:xfrm>
            <a:off x="3081528" y="5815584"/>
            <a:ext cx="681228" cy="274320"/>
          </a:xfrm>
          <a:prstGeom prst="rect">
            <a:avLst/>
          </a:prstGeom>
          <a:noFill/>
        </p:spPr>
        <p:txBody>
          <a:bodyPr wrap="square" lIns="0" rIns="0" tIns="0" bIns="0" anchor="ctr">
            <a:spAutoFit/>
          </a:bodyPr>
          <a:lstStyle/>
          <a:p>
            <a:pPr algn="ctr">
              <a:lnSpc>
                <a:spcPct val="100000"/>
              </a:lnSpc>
              <a:spcBef>
                <a:spcPts val="0"/>
              </a:spcBef>
              <a:spcAft>
                <a:spcPts val="0"/>
              </a:spcAft>
            </a:pPr>
            <a:r>
              <a:rPr sz="950" b="1" spc="80">
                <a:solidFill>
                  <a:srgbClr val="002970"/>
                </a:solidFill>
                <a:latin typeface="Arial"/>
              </a:rPr>
              <a:t>FastAPI</a:t>
            </a:r>
          </a:p>
        </p:txBody>
      </p:sp>
      <p:sp>
        <p:nvSpPr>
          <p:cNvPr id="55" name="Rounded Rectangle 54"/>
          <p:cNvSpPr/>
          <p:nvPr/>
        </p:nvSpPr>
        <p:spPr>
          <a:xfrm>
            <a:off x="3835908" y="5815584"/>
            <a:ext cx="955547" cy="274320"/>
          </a:xfrm>
          <a:prstGeom prst="roundRect">
            <a:avLst>
              <a:gd name="adj" fmla="val 50000"/>
            </a:avLst>
          </a:prstGeom>
          <a:solidFill>
            <a:srgbClr val="FFFFFF"/>
          </a:solidFill>
          <a:ln>
            <a:noFill/>
          </a:ln>
        </p:spPr>
        <p:txBody>
          <a:bodyPr rtlCol="0" anchor="ctr"/>
          <a:lstStyle/>
          <a:p>
            <a:pPr algn="ctr"/>
          </a:p>
        </p:txBody>
      </p:sp>
      <p:sp>
        <p:nvSpPr>
          <p:cNvPr id="56" name="TextBox 55"/>
          <p:cNvSpPr txBox="1"/>
          <p:nvPr/>
        </p:nvSpPr>
        <p:spPr>
          <a:xfrm>
            <a:off x="3835908" y="5815584"/>
            <a:ext cx="955547" cy="274320"/>
          </a:xfrm>
          <a:prstGeom prst="rect">
            <a:avLst/>
          </a:prstGeom>
          <a:noFill/>
        </p:spPr>
        <p:txBody>
          <a:bodyPr wrap="square" lIns="0" rIns="0" tIns="0" bIns="0" anchor="ctr">
            <a:spAutoFit/>
          </a:bodyPr>
          <a:lstStyle/>
          <a:p>
            <a:pPr algn="ctr">
              <a:lnSpc>
                <a:spcPct val="100000"/>
              </a:lnSpc>
              <a:spcBef>
                <a:spcPts val="0"/>
              </a:spcBef>
              <a:spcAft>
                <a:spcPts val="0"/>
              </a:spcAft>
            </a:pPr>
            <a:r>
              <a:rPr sz="950" b="1" spc="80">
                <a:solidFill>
                  <a:srgbClr val="002970"/>
                </a:solidFill>
                <a:latin typeface="Arial"/>
              </a:rPr>
              <a:t>Python 3.13</a:t>
            </a:r>
          </a:p>
        </p:txBody>
      </p:sp>
      <p:sp>
        <p:nvSpPr>
          <p:cNvPr id="57" name="Rounded Rectangle 56"/>
          <p:cNvSpPr/>
          <p:nvPr/>
        </p:nvSpPr>
        <p:spPr>
          <a:xfrm>
            <a:off x="4864607" y="5815584"/>
            <a:ext cx="886968" cy="274320"/>
          </a:xfrm>
          <a:prstGeom prst="roundRect">
            <a:avLst>
              <a:gd name="adj" fmla="val 50000"/>
            </a:avLst>
          </a:prstGeom>
          <a:solidFill>
            <a:srgbClr val="FFFFFF"/>
          </a:solidFill>
          <a:ln>
            <a:noFill/>
          </a:ln>
        </p:spPr>
        <p:txBody>
          <a:bodyPr rtlCol="0" anchor="ctr"/>
          <a:lstStyle/>
          <a:p>
            <a:pPr algn="ctr"/>
          </a:p>
        </p:txBody>
      </p:sp>
      <p:sp>
        <p:nvSpPr>
          <p:cNvPr id="58" name="TextBox 57"/>
          <p:cNvSpPr txBox="1"/>
          <p:nvPr/>
        </p:nvSpPr>
        <p:spPr>
          <a:xfrm>
            <a:off x="4864607" y="5815584"/>
            <a:ext cx="886968" cy="274320"/>
          </a:xfrm>
          <a:prstGeom prst="rect">
            <a:avLst/>
          </a:prstGeom>
          <a:noFill/>
        </p:spPr>
        <p:txBody>
          <a:bodyPr wrap="square" lIns="0" rIns="0" tIns="0" bIns="0" anchor="ctr">
            <a:spAutoFit/>
          </a:bodyPr>
          <a:lstStyle/>
          <a:p>
            <a:pPr algn="ctr">
              <a:lnSpc>
                <a:spcPct val="100000"/>
              </a:lnSpc>
              <a:spcBef>
                <a:spcPts val="0"/>
              </a:spcBef>
              <a:spcAft>
                <a:spcPts val="0"/>
              </a:spcAft>
            </a:pPr>
            <a:r>
              <a:rPr sz="950" b="1" spc="80">
                <a:solidFill>
                  <a:srgbClr val="002970"/>
                </a:solidFill>
                <a:latin typeface="Arial"/>
              </a:rPr>
              <a:t>PostgreSQL</a:t>
            </a:r>
          </a:p>
        </p:txBody>
      </p:sp>
      <p:sp>
        <p:nvSpPr>
          <p:cNvPr id="59" name="Rounded Rectangle 58"/>
          <p:cNvSpPr/>
          <p:nvPr/>
        </p:nvSpPr>
        <p:spPr>
          <a:xfrm>
            <a:off x="5824727" y="5815584"/>
            <a:ext cx="1092708" cy="274320"/>
          </a:xfrm>
          <a:prstGeom prst="roundRect">
            <a:avLst>
              <a:gd name="adj" fmla="val 50000"/>
            </a:avLst>
          </a:prstGeom>
          <a:solidFill>
            <a:srgbClr val="FFFFFF"/>
          </a:solidFill>
          <a:ln>
            <a:noFill/>
          </a:ln>
        </p:spPr>
        <p:txBody>
          <a:bodyPr rtlCol="0" anchor="ctr"/>
          <a:lstStyle/>
          <a:p>
            <a:pPr algn="ctr"/>
          </a:p>
        </p:txBody>
      </p:sp>
      <p:sp>
        <p:nvSpPr>
          <p:cNvPr id="60" name="TextBox 59"/>
          <p:cNvSpPr txBox="1"/>
          <p:nvPr/>
        </p:nvSpPr>
        <p:spPr>
          <a:xfrm>
            <a:off x="5824727" y="5815584"/>
            <a:ext cx="1092708" cy="274320"/>
          </a:xfrm>
          <a:prstGeom prst="rect">
            <a:avLst/>
          </a:prstGeom>
          <a:noFill/>
        </p:spPr>
        <p:txBody>
          <a:bodyPr wrap="square" lIns="0" rIns="0" tIns="0" bIns="0" anchor="ctr">
            <a:spAutoFit/>
          </a:bodyPr>
          <a:lstStyle/>
          <a:p>
            <a:pPr algn="ctr">
              <a:lnSpc>
                <a:spcPct val="100000"/>
              </a:lnSpc>
              <a:spcBef>
                <a:spcPts val="0"/>
              </a:spcBef>
              <a:spcAft>
                <a:spcPts val="0"/>
              </a:spcAft>
            </a:pPr>
            <a:r>
              <a:rPr sz="950" b="1" spc="80">
                <a:solidFill>
                  <a:srgbClr val="002970"/>
                </a:solidFill>
                <a:latin typeface="Arial"/>
              </a:rPr>
              <a:t>Sarvam Saaras</a:t>
            </a:r>
          </a:p>
        </p:txBody>
      </p:sp>
      <p:sp>
        <p:nvSpPr>
          <p:cNvPr id="61" name="Rounded Rectangle 60"/>
          <p:cNvSpPr/>
          <p:nvPr/>
        </p:nvSpPr>
        <p:spPr>
          <a:xfrm>
            <a:off x="6990587" y="5815584"/>
            <a:ext cx="955547" cy="274320"/>
          </a:xfrm>
          <a:prstGeom prst="roundRect">
            <a:avLst>
              <a:gd name="adj" fmla="val 50000"/>
            </a:avLst>
          </a:prstGeom>
          <a:solidFill>
            <a:srgbClr val="FFFFFF"/>
          </a:solidFill>
          <a:ln>
            <a:noFill/>
          </a:ln>
        </p:spPr>
        <p:txBody>
          <a:bodyPr rtlCol="0" anchor="ctr"/>
          <a:lstStyle/>
          <a:p>
            <a:pPr algn="ctr"/>
          </a:p>
        </p:txBody>
      </p:sp>
      <p:sp>
        <p:nvSpPr>
          <p:cNvPr id="62" name="TextBox 61"/>
          <p:cNvSpPr txBox="1"/>
          <p:nvPr/>
        </p:nvSpPr>
        <p:spPr>
          <a:xfrm>
            <a:off x="6990587" y="5815584"/>
            <a:ext cx="955547" cy="274320"/>
          </a:xfrm>
          <a:prstGeom prst="rect">
            <a:avLst/>
          </a:prstGeom>
          <a:noFill/>
        </p:spPr>
        <p:txBody>
          <a:bodyPr wrap="square" lIns="0" rIns="0" tIns="0" bIns="0" anchor="ctr">
            <a:spAutoFit/>
          </a:bodyPr>
          <a:lstStyle/>
          <a:p>
            <a:pPr algn="ctr">
              <a:lnSpc>
                <a:spcPct val="100000"/>
              </a:lnSpc>
              <a:spcBef>
                <a:spcPts val="0"/>
              </a:spcBef>
              <a:spcAft>
                <a:spcPts val="0"/>
              </a:spcAft>
            </a:pPr>
            <a:r>
              <a:rPr sz="950" b="1" spc="80">
                <a:solidFill>
                  <a:srgbClr val="002970"/>
                </a:solidFill>
                <a:latin typeface="Arial"/>
              </a:rPr>
              <a:t>Sarvam-105B</a:t>
            </a:r>
          </a:p>
        </p:txBody>
      </p:sp>
      <p:sp>
        <p:nvSpPr>
          <p:cNvPr id="63" name="Rounded Rectangle 62"/>
          <p:cNvSpPr/>
          <p:nvPr/>
        </p:nvSpPr>
        <p:spPr>
          <a:xfrm>
            <a:off x="8019286" y="5815584"/>
            <a:ext cx="818387" cy="274320"/>
          </a:xfrm>
          <a:prstGeom prst="roundRect">
            <a:avLst>
              <a:gd name="adj" fmla="val 50000"/>
            </a:avLst>
          </a:prstGeom>
          <a:solidFill>
            <a:srgbClr val="FFFFFF"/>
          </a:solidFill>
          <a:ln>
            <a:noFill/>
          </a:ln>
        </p:spPr>
        <p:txBody>
          <a:bodyPr rtlCol="0" anchor="ctr"/>
          <a:lstStyle/>
          <a:p>
            <a:pPr algn="ctr"/>
          </a:p>
        </p:txBody>
      </p:sp>
      <p:sp>
        <p:nvSpPr>
          <p:cNvPr id="64" name="TextBox 63"/>
          <p:cNvSpPr txBox="1"/>
          <p:nvPr/>
        </p:nvSpPr>
        <p:spPr>
          <a:xfrm>
            <a:off x="8019286" y="5815584"/>
            <a:ext cx="818387" cy="274320"/>
          </a:xfrm>
          <a:prstGeom prst="rect">
            <a:avLst/>
          </a:prstGeom>
          <a:noFill/>
        </p:spPr>
        <p:txBody>
          <a:bodyPr wrap="square" lIns="0" rIns="0" tIns="0" bIns="0" anchor="ctr">
            <a:spAutoFit/>
          </a:bodyPr>
          <a:lstStyle/>
          <a:p>
            <a:pPr algn="ctr">
              <a:lnSpc>
                <a:spcPct val="100000"/>
              </a:lnSpc>
              <a:spcBef>
                <a:spcPts val="0"/>
              </a:spcBef>
              <a:spcAft>
                <a:spcPts val="0"/>
              </a:spcAft>
            </a:pPr>
            <a:r>
              <a:rPr sz="950" b="1" spc="80">
                <a:solidFill>
                  <a:srgbClr val="002970"/>
                </a:solidFill>
                <a:latin typeface="Arial"/>
              </a:rPr>
              <a:t>Bulbul v3</a:t>
            </a:r>
          </a:p>
        </p:txBody>
      </p:sp>
      <p:sp>
        <p:nvSpPr>
          <p:cNvPr id="65" name="Rounded Rectangle 64"/>
          <p:cNvSpPr/>
          <p:nvPr/>
        </p:nvSpPr>
        <p:spPr>
          <a:xfrm>
            <a:off x="8910825" y="5815584"/>
            <a:ext cx="612647" cy="274320"/>
          </a:xfrm>
          <a:prstGeom prst="roundRect">
            <a:avLst>
              <a:gd name="adj" fmla="val 50000"/>
            </a:avLst>
          </a:prstGeom>
          <a:solidFill>
            <a:srgbClr val="FFFFFF"/>
          </a:solidFill>
          <a:ln>
            <a:noFill/>
          </a:ln>
        </p:spPr>
        <p:txBody>
          <a:bodyPr rtlCol="0" anchor="ctr"/>
          <a:lstStyle/>
          <a:p>
            <a:pPr algn="ctr"/>
          </a:p>
        </p:txBody>
      </p:sp>
      <p:sp>
        <p:nvSpPr>
          <p:cNvPr id="66" name="TextBox 65"/>
          <p:cNvSpPr txBox="1"/>
          <p:nvPr/>
        </p:nvSpPr>
        <p:spPr>
          <a:xfrm>
            <a:off x="8910825" y="5815584"/>
            <a:ext cx="612647" cy="274320"/>
          </a:xfrm>
          <a:prstGeom prst="rect">
            <a:avLst/>
          </a:prstGeom>
          <a:noFill/>
        </p:spPr>
        <p:txBody>
          <a:bodyPr wrap="square" lIns="0" rIns="0" tIns="0" bIns="0" anchor="ctr">
            <a:spAutoFit/>
          </a:bodyPr>
          <a:lstStyle/>
          <a:p>
            <a:pPr algn="ctr">
              <a:lnSpc>
                <a:spcPct val="100000"/>
              </a:lnSpc>
              <a:spcBef>
                <a:spcPts val="0"/>
              </a:spcBef>
              <a:spcAft>
                <a:spcPts val="0"/>
              </a:spcAft>
            </a:pPr>
            <a:r>
              <a:rPr sz="950" b="1" spc="80">
                <a:solidFill>
                  <a:srgbClr val="002970"/>
                </a:solidFill>
                <a:latin typeface="Arial"/>
              </a:rPr>
              <a:t>Cognee</a:t>
            </a:r>
          </a:p>
        </p:txBody>
      </p:sp>
      <p:sp>
        <p:nvSpPr>
          <p:cNvPr id="67" name="Rounded Rectangle 66"/>
          <p:cNvSpPr/>
          <p:nvPr/>
        </p:nvSpPr>
        <p:spPr>
          <a:xfrm>
            <a:off x="9596624" y="5815584"/>
            <a:ext cx="1984248" cy="274320"/>
          </a:xfrm>
          <a:prstGeom prst="roundRect">
            <a:avLst>
              <a:gd name="adj" fmla="val 50000"/>
            </a:avLst>
          </a:prstGeom>
          <a:solidFill>
            <a:srgbClr val="FFFFFF"/>
          </a:solidFill>
          <a:ln>
            <a:noFill/>
          </a:ln>
        </p:spPr>
        <p:txBody>
          <a:bodyPr rtlCol="0" anchor="ctr"/>
          <a:lstStyle/>
          <a:p>
            <a:pPr algn="ctr"/>
          </a:p>
        </p:txBody>
      </p:sp>
      <p:sp>
        <p:nvSpPr>
          <p:cNvPr id="68" name="TextBox 67"/>
          <p:cNvSpPr txBox="1"/>
          <p:nvPr/>
        </p:nvSpPr>
        <p:spPr>
          <a:xfrm>
            <a:off x="9596624" y="5815584"/>
            <a:ext cx="1984248" cy="274320"/>
          </a:xfrm>
          <a:prstGeom prst="rect">
            <a:avLst/>
          </a:prstGeom>
          <a:noFill/>
        </p:spPr>
        <p:txBody>
          <a:bodyPr wrap="square" lIns="0" rIns="0" tIns="0" bIns="0" anchor="ctr">
            <a:spAutoFit/>
          </a:bodyPr>
          <a:lstStyle/>
          <a:p>
            <a:pPr algn="ctr">
              <a:lnSpc>
                <a:spcPct val="100000"/>
              </a:lnSpc>
              <a:spcBef>
                <a:spcPts val="0"/>
              </a:spcBef>
              <a:spcAft>
                <a:spcPts val="0"/>
              </a:spcAft>
            </a:pPr>
            <a:r>
              <a:rPr sz="950" b="1" spc="80">
                <a:solidFill>
                  <a:srgbClr val="002970"/>
                </a:solidFill>
                <a:latin typeface="Arial"/>
              </a:rPr>
              <a:t>Vercel · Render · Supabase</a:t>
            </a:r>
          </a:p>
        </p:txBody>
      </p:sp>
      <p:sp>
        <p:nvSpPr>
          <p:cNvPr id="69" name="TextBox 68"/>
          <p:cNvSpPr txBox="1"/>
          <p:nvPr/>
        </p:nvSpPr>
        <p:spPr>
          <a:xfrm>
            <a:off x="10984687" y="6382512"/>
            <a:ext cx="640080" cy="274320"/>
          </a:xfrm>
          <a:prstGeom prst="rect">
            <a:avLst/>
          </a:prstGeom>
          <a:noFill/>
        </p:spPr>
        <p:txBody>
          <a:bodyPr wrap="square" lIns="0" rIns="0" tIns="0" bIns="0" anchor="t">
            <a:spAutoFit/>
          </a:bodyPr>
          <a:lstStyle/>
          <a:p>
            <a:pPr algn="r">
              <a:lnSpc>
                <a:spcPct val="130000"/>
              </a:lnSpc>
              <a:spcBef>
                <a:spcPts val="0"/>
              </a:spcBef>
              <a:spcAft>
                <a:spcPts val="0"/>
              </a:spcAft>
            </a:pPr>
            <a:r>
              <a:rPr sz="900" b="0">
                <a:solidFill>
                  <a:srgbClr val="8B95A5"/>
                </a:solidFill>
                <a:latin typeface="Arial"/>
              </a:rPr>
              <a:t>6 / 12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AF6FC"/>
          </a:solidFill>
          <a:ln>
            <a:noFill/>
          </a:ln>
        </p:spPr>
        <p:txBody>
          <a:bodyPr rtlCol="0" anchor="ctr"/>
          <a:lstStyle/>
          <a:p>
            <a:pPr algn="ctr"/>
          </a:p>
        </p:txBody>
      </p:sp>
      <p:sp>
        <p:nvSpPr>
          <p:cNvPr id="3" name="TextBox 2"/>
          <p:cNvSpPr txBox="1"/>
          <p:nvPr/>
        </p:nvSpPr>
        <p:spPr>
          <a:xfrm>
            <a:off x="566928" y="384048"/>
            <a:ext cx="11057839" cy="228600"/>
          </a:xfrm>
          <a:prstGeom prst="rect">
            <a:avLst/>
          </a:prstGeom>
          <a:noFill/>
        </p:spPr>
        <p:txBody>
          <a:bodyPr wrap="square" lIns="0" rIns="0" tIns="0" bIns="0" anchor="t">
            <a:spAutoFit/>
          </a:bodyPr>
          <a:lstStyle/>
          <a:p>
            <a:pPr>
              <a:lnSpc>
                <a:spcPct val="130000"/>
              </a:lnSpc>
              <a:spcBef>
                <a:spcPts val="0"/>
              </a:spcBef>
              <a:spcAft>
                <a:spcPts val="0"/>
              </a:spcAft>
            </a:pPr>
            <a:r>
              <a:rPr sz="1000" b="1" spc="140">
                <a:solidFill>
                  <a:srgbClr val="0077A8"/>
                </a:solidFill>
                <a:latin typeface="Arial"/>
              </a:rPr>
              <a:t>4 · UNIQUE SELLING PROPOSITION</a:t>
            </a:r>
          </a:p>
        </p:txBody>
      </p:sp>
      <p:sp>
        <p:nvSpPr>
          <p:cNvPr id="4" name="TextBox 3"/>
          <p:cNvSpPr txBox="1"/>
          <p:nvPr/>
        </p:nvSpPr>
        <p:spPr>
          <a:xfrm>
            <a:off x="566928" y="676656"/>
            <a:ext cx="11057839" cy="822960"/>
          </a:xfrm>
          <a:prstGeom prst="rect">
            <a:avLst/>
          </a:prstGeom>
          <a:noFill/>
        </p:spPr>
        <p:txBody>
          <a:bodyPr wrap="square" lIns="0" rIns="0" tIns="0" bIns="0" anchor="t">
            <a:spAutoFit/>
          </a:bodyPr>
          <a:lstStyle/>
          <a:p>
            <a:pPr>
              <a:lnSpc>
                <a:spcPct val="105000"/>
              </a:lnSpc>
              <a:spcBef>
                <a:spcPts val="0"/>
              </a:spcBef>
              <a:spcAft>
                <a:spcPts val="0"/>
              </a:spcAft>
            </a:pPr>
            <a:r>
              <a:rPr sz="2600" b="1">
                <a:solidFill>
                  <a:srgbClr val="002970"/>
                </a:solidFill>
                <a:latin typeface="Arial"/>
              </a:rPr>
              <a:t>Every udhaar app serves the shopkeeper. We add the customer.</a:t>
            </a:r>
          </a:p>
        </p:txBody>
      </p:sp>
      <p:sp>
        <p:nvSpPr>
          <p:cNvPr id="5" name="TextBox 4"/>
          <p:cNvSpPr txBox="1"/>
          <p:nvPr/>
        </p:nvSpPr>
        <p:spPr>
          <a:xfrm>
            <a:off x="566928" y="1645920"/>
            <a:ext cx="2743200" cy="274320"/>
          </a:xfrm>
          <a:prstGeom prst="rect">
            <a:avLst/>
          </a:prstGeom>
          <a:noFill/>
        </p:spPr>
        <p:txBody>
          <a:bodyPr wrap="square" lIns="0" rIns="0" tIns="0" bIns="0" anchor="t">
            <a:spAutoFit/>
          </a:bodyPr>
          <a:lstStyle/>
          <a:p>
            <a:pPr>
              <a:lnSpc>
                <a:spcPct val="130000"/>
              </a:lnSpc>
              <a:spcBef>
                <a:spcPts val="0"/>
              </a:spcBef>
              <a:spcAft>
                <a:spcPts val="0"/>
              </a:spcAft>
            </a:pPr>
            <a:r>
              <a:rPr sz="950" b="1" spc="100">
                <a:solidFill>
                  <a:srgbClr val="0077A8"/>
                </a:solidFill>
                <a:latin typeface="Arial"/>
              </a:rPr>
              <a:t/>
            </a:r>
          </a:p>
        </p:txBody>
      </p:sp>
      <p:sp>
        <p:nvSpPr>
          <p:cNvPr id="6" name="TextBox 5"/>
          <p:cNvSpPr txBox="1"/>
          <p:nvPr/>
        </p:nvSpPr>
        <p:spPr>
          <a:xfrm>
            <a:off x="3310128" y="1645920"/>
            <a:ext cx="2377440" cy="274320"/>
          </a:xfrm>
          <a:prstGeom prst="rect">
            <a:avLst/>
          </a:prstGeom>
          <a:noFill/>
        </p:spPr>
        <p:txBody>
          <a:bodyPr wrap="square" lIns="0" rIns="0" tIns="0" bIns="0" anchor="t">
            <a:spAutoFit/>
          </a:bodyPr>
          <a:lstStyle/>
          <a:p>
            <a:pPr>
              <a:lnSpc>
                <a:spcPct val="130000"/>
              </a:lnSpc>
              <a:spcBef>
                <a:spcPts val="0"/>
              </a:spcBef>
              <a:spcAft>
                <a:spcPts val="0"/>
              </a:spcAft>
            </a:pPr>
            <a:r>
              <a:rPr sz="950" b="1" spc="100">
                <a:solidFill>
                  <a:srgbClr val="0077A8"/>
                </a:solidFill>
                <a:latin typeface="Arial"/>
              </a:rPr>
              <a:t>DOWNLOADS</a:t>
            </a:r>
          </a:p>
        </p:txBody>
      </p:sp>
      <p:sp>
        <p:nvSpPr>
          <p:cNvPr id="7" name="TextBox 6"/>
          <p:cNvSpPr txBox="1"/>
          <p:nvPr/>
        </p:nvSpPr>
        <p:spPr>
          <a:xfrm>
            <a:off x="5687568" y="1645920"/>
            <a:ext cx="3063240" cy="274320"/>
          </a:xfrm>
          <a:prstGeom prst="rect">
            <a:avLst/>
          </a:prstGeom>
          <a:noFill/>
        </p:spPr>
        <p:txBody>
          <a:bodyPr wrap="square" lIns="0" rIns="0" tIns="0" bIns="0" anchor="t">
            <a:spAutoFit/>
          </a:bodyPr>
          <a:lstStyle/>
          <a:p>
            <a:pPr>
              <a:lnSpc>
                <a:spcPct val="130000"/>
              </a:lnSpc>
              <a:spcBef>
                <a:spcPts val="0"/>
              </a:spcBef>
              <a:spcAft>
                <a:spcPts val="0"/>
              </a:spcAft>
            </a:pPr>
            <a:r>
              <a:rPr sz="950" b="1" spc="100">
                <a:solidFill>
                  <a:srgbClr val="0077A8"/>
                </a:solidFill>
                <a:latin typeface="Arial"/>
              </a:rPr>
              <a:t>CUSTOMER HAS AN APP</a:t>
            </a:r>
          </a:p>
        </p:txBody>
      </p:sp>
      <p:sp>
        <p:nvSpPr>
          <p:cNvPr id="8" name="TextBox 7"/>
          <p:cNvSpPr txBox="1"/>
          <p:nvPr/>
        </p:nvSpPr>
        <p:spPr>
          <a:xfrm>
            <a:off x="8750808" y="1645920"/>
            <a:ext cx="2871216" cy="274320"/>
          </a:xfrm>
          <a:prstGeom prst="rect">
            <a:avLst/>
          </a:prstGeom>
          <a:noFill/>
        </p:spPr>
        <p:txBody>
          <a:bodyPr wrap="square" lIns="0" rIns="0" tIns="0" bIns="0" anchor="t">
            <a:spAutoFit/>
          </a:bodyPr>
          <a:lstStyle/>
          <a:p>
            <a:pPr>
              <a:lnSpc>
                <a:spcPct val="130000"/>
              </a:lnSpc>
              <a:spcBef>
                <a:spcPts val="0"/>
              </a:spcBef>
              <a:spcAft>
                <a:spcPts val="0"/>
              </a:spcAft>
            </a:pPr>
            <a:r>
              <a:rPr sz="950" b="1" spc="100">
                <a:solidFill>
                  <a:srgbClr val="0077A8"/>
                </a:solidFill>
                <a:latin typeface="Arial"/>
              </a:rPr>
              <a:t>CUSTOMER CONFIRMS ENTRIES</a:t>
            </a:r>
          </a:p>
        </p:txBody>
      </p:sp>
      <p:sp>
        <p:nvSpPr>
          <p:cNvPr id="9" name="Rectangle 8"/>
          <p:cNvSpPr/>
          <p:nvPr/>
        </p:nvSpPr>
        <p:spPr>
          <a:xfrm>
            <a:off x="566928" y="1956816"/>
            <a:ext cx="11057839" cy="19050"/>
          </a:xfrm>
          <a:prstGeom prst="rect">
            <a:avLst/>
          </a:prstGeom>
          <a:solidFill>
            <a:srgbClr val="00BAF2"/>
          </a:solidFill>
          <a:ln>
            <a:noFill/>
          </a:ln>
        </p:spPr>
        <p:txBody>
          <a:bodyPr rtlCol="0" anchor="ctr"/>
          <a:lstStyle/>
          <a:p>
            <a:pPr algn="ctr"/>
          </a:p>
        </p:txBody>
      </p:sp>
      <p:sp>
        <p:nvSpPr>
          <p:cNvPr id="10" name="TextBox 9"/>
          <p:cNvSpPr txBox="1"/>
          <p:nvPr/>
        </p:nvSpPr>
        <p:spPr>
          <a:xfrm>
            <a:off x="566928" y="2029968"/>
            <a:ext cx="2651760" cy="457200"/>
          </a:xfrm>
          <a:prstGeom prst="rect">
            <a:avLst/>
          </a:prstGeom>
          <a:noFill/>
        </p:spPr>
        <p:txBody>
          <a:bodyPr wrap="square" lIns="0" rIns="0" tIns="0" bIns="0" anchor="ctr">
            <a:spAutoFit/>
          </a:bodyPr>
          <a:lstStyle/>
          <a:p>
            <a:pPr>
              <a:lnSpc>
                <a:spcPct val="130000"/>
              </a:lnSpc>
              <a:spcBef>
                <a:spcPts val="0"/>
              </a:spcBef>
              <a:spcAft>
                <a:spcPts val="0"/>
              </a:spcAft>
            </a:pPr>
            <a:r>
              <a:rPr sz="1400" b="1">
                <a:solidFill>
                  <a:srgbClr val="1C1C1C"/>
                </a:solidFill>
                <a:latin typeface="Arial"/>
              </a:rPr>
              <a:t>Khatabook</a:t>
            </a:r>
          </a:p>
        </p:txBody>
      </p:sp>
      <p:sp>
        <p:nvSpPr>
          <p:cNvPr id="11" name="TextBox 10"/>
          <p:cNvSpPr txBox="1"/>
          <p:nvPr/>
        </p:nvSpPr>
        <p:spPr>
          <a:xfrm>
            <a:off x="3328416" y="2029968"/>
            <a:ext cx="2286000" cy="457200"/>
          </a:xfrm>
          <a:prstGeom prst="rect">
            <a:avLst/>
          </a:prstGeom>
          <a:noFill/>
        </p:spPr>
        <p:txBody>
          <a:bodyPr wrap="square" lIns="0" rIns="0" tIns="0" bIns="0" anchor="ctr">
            <a:spAutoFit/>
          </a:bodyPr>
          <a:lstStyle/>
          <a:p>
            <a:pPr>
              <a:lnSpc>
                <a:spcPct val="130000"/>
              </a:lnSpc>
              <a:spcBef>
                <a:spcPts val="0"/>
              </a:spcBef>
              <a:spcAft>
                <a:spcPts val="0"/>
              </a:spcAft>
            </a:pPr>
            <a:r>
              <a:rPr sz="1250" b="0">
                <a:solidFill>
                  <a:srgbClr val="5B6675"/>
                </a:solidFill>
                <a:latin typeface="Arial"/>
              </a:rPr>
              <a:t>5 Cr+</a:t>
            </a:r>
          </a:p>
        </p:txBody>
      </p:sp>
      <p:sp>
        <p:nvSpPr>
          <p:cNvPr id="12" name="TextBox 11"/>
          <p:cNvSpPr txBox="1"/>
          <p:nvPr/>
        </p:nvSpPr>
        <p:spPr>
          <a:xfrm>
            <a:off x="5705856" y="2029968"/>
            <a:ext cx="2971800" cy="457200"/>
          </a:xfrm>
          <a:prstGeom prst="rect">
            <a:avLst/>
          </a:prstGeom>
          <a:noFill/>
        </p:spPr>
        <p:txBody>
          <a:bodyPr wrap="square" lIns="0" rIns="0" tIns="0" bIns="0" anchor="ctr">
            <a:spAutoFit/>
          </a:bodyPr>
          <a:lstStyle/>
          <a:p>
            <a:pPr>
              <a:lnSpc>
                <a:spcPct val="130000"/>
              </a:lnSpc>
              <a:spcBef>
                <a:spcPts val="0"/>
              </a:spcBef>
              <a:spcAft>
                <a:spcPts val="0"/>
              </a:spcAft>
            </a:pPr>
            <a:r>
              <a:rPr sz="1250" b="0">
                <a:solidFill>
                  <a:srgbClr val="B3261E"/>
                </a:solidFill>
                <a:latin typeface="Arial"/>
              </a:rPr>
              <a:t>No — SMS / WhatsApp</a:t>
            </a:r>
          </a:p>
        </p:txBody>
      </p:sp>
      <p:sp>
        <p:nvSpPr>
          <p:cNvPr id="13" name="TextBox 12"/>
          <p:cNvSpPr txBox="1"/>
          <p:nvPr/>
        </p:nvSpPr>
        <p:spPr>
          <a:xfrm>
            <a:off x="8769096" y="2029968"/>
            <a:ext cx="2779776" cy="457200"/>
          </a:xfrm>
          <a:prstGeom prst="rect">
            <a:avLst/>
          </a:prstGeom>
          <a:noFill/>
        </p:spPr>
        <p:txBody>
          <a:bodyPr wrap="square" lIns="0" rIns="0" tIns="0" bIns="0" anchor="ctr">
            <a:spAutoFit/>
          </a:bodyPr>
          <a:lstStyle/>
          <a:p>
            <a:pPr>
              <a:lnSpc>
                <a:spcPct val="130000"/>
              </a:lnSpc>
              <a:spcBef>
                <a:spcPts val="0"/>
              </a:spcBef>
              <a:spcAft>
                <a:spcPts val="0"/>
              </a:spcAft>
            </a:pPr>
            <a:r>
              <a:rPr sz="1250" b="0">
                <a:solidFill>
                  <a:srgbClr val="B3261E"/>
                </a:solidFill>
                <a:latin typeface="Arial"/>
              </a:rPr>
              <a:t>No</a:t>
            </a:r>
          </a:p>
        </p:txBody>
      </p:sp>
      <p:sp>
        <p:nvSpPr>
          <p:cNvPr id="14" name="Rectangle 13"/>
          <p:cNvSpPr/>
          <p:nvPr/>
        </p:nvSpPr>
        <p:spPr>
          <a:xfrm>
            <a:off x="566928" y="2480818"/>
            <a:ext cx="11057839" cy="9525"/>
          </a:xfrm>
          <a:prstGeom prst="rect">
            <a:avLst/>
          </a:prstGeom>
          <a:solidFill>
            <a:srgbClr val="D9E4EC"/>
          </a:solidFill>
          <a:ln>
            <a:noFill/>
          </a:ln>
        </p:spPr>
        <p:txBody>
          <a:bodyPr rtlCol="0" anchor="ctr"/>
          <a:lstStyle/>
          <a:p>
            <a:pPr algn="ctr"/>
          </a:p>
        </p:txBody>
      </p:sp>
      <p:sp>
        <p:nvSpPr>
          <p:cNvPr id="15" name="TextBox 14"/>
          <p:cNvSpPr txBox="1"/>
          <p:nvPr/>
        </p:nvSpPr>
        <p:spPr>
          <a:xfrm>
            <a:off x="566928" y="2487168"/>
            <a:ext cx="2651760" cy="457200"/>
          </a:xfrm>
          <a:prstGeom prst="rect">
            <a:avLst/>
          </a:prstGeom>
          <a:noFill/>
        </p:spPr>
        <p:txBody>
          <a:bodyPr wrap="square" lIns="0" rIns="0" tIns="0" bIns="0" anchor="ctr">
            <a:spAutoFit/>
          </a:bodyPr>
          <a:lstStyle/>
          <a:p>
            <a:pPr>
              <a:lnSpc>
                <a:spcPct val="130000"/>
              </a:lnSpc>
              <a:spcBef>
                <a:spcPts val="0"/>
              </a:spcBef>
              <a:spcAft>
                <a:spcPts val="0"/>
              </a:spcAft>
            </a:pPr>
            <a:r>
              <a:rPr sz="1400" b="1">
                <a:solidFill>
                  <a:srgbClr val="1C1C1C"/>
                </a:solidFill>
                <a:latin typeface="Arial"/>
              </a:rPr>
              <a:t>OkCredit</a:t>
            </a:r>
          </a:p>
        </p:txBody>
      </p:sp>
      <p:sp>
        <p:nvSpPr>
          <p:cNvPr id="16" name="TextBox 15"/>
          <p:cNvSpPr txBox="1"/>
          <p:nvPr/>
        </p:nvSpPr>
        <p:spPr>
          <a:xfrm>
            <a:off x="3328416" y="2487168"/>
            <a:ext cx="2286000" cy="457200"/>
          </a:xfrm>
          <a:prstGeom prst="rect">
            <a:avLst/>
          </a:prstGeom>
          <a:noFill/>
        </p:spPr>
        <p:txBody>
          <a:bodyPr wrap="square" lIns="0" rIns="0" tIns="0" bIns="0" anchor="ctr">
            <a:spAutoFit/>
          </a:bodyPr>
          <a:lstStyle/>
          <a:p>
            <a:pPr>
              <a:lnSpc>
                <a:spcPct val="130000"/>
              </a:lnSpc>
              <a:spcBef>
                <a:spcPts val="0"/>
              </a:spcBef>
              <a:spcAft>
                <a:spcPts val="0"/>
              </a:spcAft>
            </a:pPr>
            <a:r>
              <a:rPr sz="1250" b="0">
                <a:solidFill>
                  <a:srgbClr val="5B6675"/>
                </a:solidFill>
                <a:latin typeface="Arial"/>
              </a:rPr>
              <a:t>1 Cr+</a:t>
            </a:r>
          </a:p>
        </p:txBody>
      </p:sp>
      <p:sp>
        <p:nvSpPr>
          <p:cNvPr id="17" name="TextBox 16"/>
          <p:cNvSpPr txBox="1"/>
          <p:nvPr/>
        </p:nvSpPr>
        <p:spPr>
          <a:xfrm>
            <a:off x="5705856" y="2487168"/>
            <a:ext cx="2971800" cy="457200"/>
          </a:xfrm>
          <a:prstGeom prst="rect">
            <a:avLst/>
          </a:prstGeom>
          <a:noFill/>
        </p:spPr>
        <p:txBody>
          <a:bodyPr wrap="square" lIns="0" rIns="0" tIns="0" bIns="0" anchor="ctr">
            <a:spAutoFit/>
          </a:bodyPr>
          <a:lstStyle/>
          <a:p>
            <a:pPr>
              <a:lnSpc>
                <a:spcPct val="130000"/>
              </a:lnSpc>
              <a:spcBef>
                <a:spcPts val="0"/>
              </a:spcBef>
              <a:spcAft>
                <a:spcPts val="0"/>
              </a:spcAft>
            </a:pPr>
            <a:r>
              <a:rPr sz="1250" b="0">
                <a:solidFill>
                  <a:srgbClr val="B3261E"/>
                </a:solidFill>
                <a:latin typeface="Arial"/>
              </a:rPr>
              <a:t>No — “They don’t need the app”</a:t>
            </a:r>
          </a:p>
        </p:txBody>
      </p:sp>
      <p:sp>
        <p:nvSpPr>
          <p:cNvPr id="18" name="TextBox 17"/>
          <p:cNvSpPr txBox="1"/>
          <p:nvPr/>
        </p:nvSpPr>
        <p:spPr>
          <a:xfrm>
            <a:off x="8769096" y="2487168"/>
            <a:ext cx="2779776" cy="457200"/>
          </a:xfrm>
          <a:prstGeom prst="rect">
            <a:avLst/>
          </a:prstGeom>
          <a:noFill/>
        </p:spPr>
        <p:txBody>
          <a:bodyPr wrap="square" lIns="0" rIns="0" tIns="0" bIns="0" anchor="ctr">
            <a:spAutoFit/>
          </a:bodyPr>
          <a:lstStyle/>
          <a:p>
            <a:pPr>
              <a:lnSpc>
                <a:spcPct val="130000"/>
              </a:lnSpc>
              <a:spcBef>
                <a:spcPts val="0"/>
              </a:spcBef>
              <a:spcAft>
                <a:spcPts val="0"/>
              </a:spcAft>
            </a:pPr>
            <a:r>
              <a:rPr sz="1250" b="0">
                <a:solidFill>
                  <a:srgbClr val="B3261E"/>
                </a:solidFill>
                <a:latin typeface="Arial"/>
              </a:rPr>
              <a:t>No</a:t>
            </a:r>
          </a:p>
        </p:txBody>
      </p:sp>
      <p:sp>
        <p:nvSpPr>
          <p:cNvPr id="19" name="Rectangle 18"/>
          <p:cNvSpPr/>
          <p:nvPr/>
        </p:nvSpPr>
        <p:spPr>
          <a:xfrm>
            <a:off x="566928" y="2938018"/>
            <a:ext cx="11057839" cy="9525"/>
          </a:xfrm>
          <a:prstGeom prst="rect">
            <a:avLst/>
          </a:prstGeom>
          <a:solidFill>
            <a:srgbClr val="D9E4EC"/>
          </a:solidFill>
          <a:ln>
            <a:noFill/>
          </a:ln>
        </p:spPr>
        <p:txBody>
          <a:bodyPr rtlCol="0" anchor="ctr"/>
          <a:lstStyle/>
          <a:p>
            <a:pPr algn="ctr"/>
          </a:p>
        </p:txBody>
      </p:sp>
      <p:sp>
        <p:nvSpPr>
          <p:cNvPr id="20" name="TextBox 19"/>
          <p:cNvSpPr txBox="1"/>
          <p:nvPr/>
        </p:nvSpPr>
        <p:spPr>
          <a:xfrm>
            <a:off x="566928" y="2944368"/>
            <a:ext cx="2651760" cy="457200"/>
          </a:xfrm>
          <a:prstGeom prst="rect">
            <a:avLst/>
          </a:prstGeom>
          <a:noFill/>
        </p:spPr>
        <p:txBody>
          <a:bodyPr wrap="square" lIns="0" rIns="0" tIns="0" bIns="0" anchor="ctr">
            <a:spAutoFit/>
          </a:bodyPr>
          <a:lstStyle/>
          <a:p>
            <a:pPr>
              <a:lnSpc>
                <a:spcPct val="130000"/>
              </a:lnSpc>
              <a:spcBef>
                <a:spcPts val="0"/>
              </a:spcBef>
              <a:spcAft>
                <a:spcPts val="0"/>
              </a:spcAft>
            </a:pPr>
            <a:r>
              <a:rPr sz="1400" b="1">
                <a:solidFill>
                  <a:srgbClr val="1C1C1C"/>
                </a:solidFill>
                <a:latin typeface="Arial"/>
              </a:rPr>
              <a:t>Paytm Business Khata</a:t>
            </a:r>
          </a:p>
        </p:txBody>
      </p:sp>
      <p:sp>
        <p:nvSpPr>
          <p:cNvPr id="21" name="TextBox 20"/>
          <p:cNvSpPr txBox="1"/>
          <p:nvPr/>
        </p:nvSpPr>
        <p:spPr>
          <a:xfrm>
            <a:off x="3328416" y="2944368"/>
            <a:ext cx="2286000" cy="457200"/>
          </a:xfrm>
          <a:prstGeom prst="rect">
            <a:avLst/>
          </a:prstGeom>
          <a:noFill/>
        </p:spPr>
        <p:txBody>
          <a:bodyPr wrap="square" lIns="0" rIns="0" tIns="0" bIns="0" anchor="ctr">
            <a:spAutoFit/>
          </a:bodyPr>
          <a:lstStyle/>
          <a:p>
            <a:pPr>
              <a:lnSpc>
                <a:spcPct val="130000"/>
              </a:lnSpc>
              <a:spcBef>
                <a:spcPts val="0"/>
              </a:spcBef>
              <a:spcAft>
                <a:spcPts val="0"/>
              </a:spcAft>
            </a:pPr>
            <a:r>
              <a:rPr sz="1250" b="0">
                <a:solidFill>
                  <a:srgbClr val="5B6675"/>
                </a:solidFill>
                <a:latin typeface="Arial"/>
              </a:rPr>
              <a:t>Inside Paytm for Business</a:t>
            </a:r>
          </a:p>
        </p:txBody>
      </p:sp>
      <p:sp>
        <p:nvSpPr>
          <p:cNvPr id="22" name="TextBox 21"/>
          <p:cNvSpPr txBox="1"/>
          <p:nvPr/>
        </p:nvSpPr>
        <p:spPr>
          <a:xfrm>
            <a:off x="5705856" y="2944368"/>
            <a:ext cx="2971800" cy="457200"/>
          </a:xfrm>
          <a:prstGeom prst="rect">
            <a:avLst/>
          </a:prstGeom>
          <a:noFill/>
        </p:spPr>
        <p:txBody>
          <a:bodyPr wrap="square" lIns="0" rIns="0" tIns="0" bIns="0" anchor="ctr">
            <a:spAutoFit/>
          </a:bodyPr>
          <a:lstStyle/>
          <a:p>
            <a:pPr>
              <a:lnSpc>
                <a:spcPct val="130000"/>
              </a:lnSpc>
              <a:spcBef>
                <a:spcPts val="0"/>
              </a:spcBef>
              <a:spcAft>
                <a:spcPts val="0"/>
              </a:spcAft>
            </a:pPr>
            <a:r>
              <a:rPr sz="1250" b="0">
                <a:solidFill>
                  <a:srgbClr val="B3261E"/>
                </a:solidFill>
                <a:latin typeface="Arial"/>
              </a:rPr>
              <a:t>No — SMS with a pay link</a:t>
            </a:r>
          </a:p>
        </p:txBody>
      </p:sp>
      <p:sp>
        <p:nvSpPr>
          <p:cNvPr id="23" name="TextBox 22"/>
          <p:cNvSpPr txBox="1"/>
          <p:nvPr/>
        </p:nvSpPr>
        <p:spPr>
          <a:xfrm>
            <a:off x="8769096" y="2944368"/>
            <a:ext cx="2779776" cy="457200"/>
          </a:xfrm>
          <a:prstGeom prst="rect">
            <a:avLst/>
          </a:prstGeom>
          <a:noFill/>
        </p:spPr>
        <p:txBody>
          <a:bodyPr wrap="square" lIns="0" rIns="0" tIns="0" bIns="0" anchor="ctr">
            <a:spAutoFit/>
          </a:bodyPr>
          <a:lstStyle/>
          <a:p>
            <a:pPr>
              <a:lnSpc>
                <a:spcPct val="130000"/>
              </a:lnSpc>
              <a:spcBef>
                <a:spcPts val="0"/>
              </a:spcBef>
              <a:spcAft>
                <a:spcPts val="0"/>
              </a:spcAft>
            </a:pPr>
            <a:r>
              <a:rPr sz="1250" b="0">
                <a:solidFill>
                  <a:srgbClr val="B3261E"/>
                </a:solidFill>
                <a:latin typeface="Arial"/>
              </a:rPr>
              <a:t>No</a:t>
            </a:r>
          </a:p>
        </p:txBody>
      </p:sp>
      <p:sp>
        <p:nvSpPr>
          <p:cNvPr id="24" name="Rectangle 23"/>
          <p:cNvSpPr/>
          <p:nvPr/>
        </p:nvSpPr>
        <p:spPr>
          <a:xfrm>
            <a:off x="566928" y="3395218"/>
            <a:ext cx="11057839" cy="9525"/>
          </a:xfrm>
          <a:prstGeom prst="rect">
            <a:avLst/>
          </a:prstGeom>
          <a:solidFill>
            <a:srgbClr val="D9E4EC"/>
          </a:solidFill>
          <a:ln>
            <a:noFill/>
          </a:ln>
        </p:spPr>
        <p:txBody>
          <a:bodyPr rtlCol="0" anchor="ctr"/>
          <a:lstStyle/>
          <a:p>
            <a:pPr algn="ctr"/>
          </a:p>
        </p:txBody>
      </p:sp>
      <p:sp>
        <p:nvSpPr>
          <p:cNvPr id="25" name="TextBox 24"/>
          <p:cNvSpPr txBox="1"/>
          <p:nvPr/>
        </p:nvSpPr>
        <p:spPr>
          <a:xfrm>
            <a:off x="566928" y="3401568"/>
            <a:ext cx="2651760" cy="457200"/>
          </a:xfrm>
          <a:prstGeom prst="rect">
            <a:avLst/>
          </a:prstGeom>
          <a:noFill/>
        </p:spPr>
        <p:txBody>
          <a:bodyPr wrap="square" lIns="0" rIns="0" tIns="0" bIns="0" anchor="ctr">
            <a:spAutoFit/>
          </a:bodyPr>
          <a:lstStyle/>
          <a:p>
            <a:pPr>
              <a:lnSpc>
                <a:spcPct val="130000"/>
              </a:lnSpc>
              <a:spcBef>
                <a:spcPts val="0"/>
              </a:spcBef>
              <a:spcAft>
                <a:spcPts val="0"/>
              </a:spcAft>
            </a:pPr>
            <a:r>
              <a:rPr sz="1400" b="1">
                <a:solidFill>
                  <a:srgbClr val="1C1C1C"/>
                </a:solidFill>
                <a:latin typeface="Arial"/>
              </a:rPr>
              <a:t>Done</a:t>
            </a:r>
          </a:p>
        </p:txBody>
      </p:sp>
      <p:sp>
        <p:nvSpPr>
          <p:cNvPr id="26" name="TextBox 25"/>
          <p:cNvSpPr txBox="1"/>
          <p:nvPr/>
        </p:nvSpPr>
        <p:spPr>
          <a:xfrm>
            <a:off x="3328416" y="3401568"/>
            <a:ext cx="2286000" cy="457200"/>
          </a:xfrm>
          <a:prstGeom prst="rect">
            <a:avLst/>
          </a:prstGeom>
          <a:noFill/>
        </p:spPr>
        <p:txBody>
          <a:bodyPr wrap="square" lIns="0" rIns="0" tIns="0" bIns="0" anchor="ctr">
            <a:spAutoFit/>
          </a:bodyPr>
          <a:lstStyle/>
          <a:p>
            <a:pPr>
              <a:lnSpc>
                <a:spcPct val="130000"/>
              </a:lnSpc>
              <a:spcBef>
                <a:spcPts val="0"/>
              </a:spcBef>
              <a:spcAft>
                <a:spcPts val="0"/>
              </a:spcAft>
            </a:pPr>
            <a:r>
              <a:rPr sz="1250" b="0">
                <a:solidFill>
                  <a:srgbClr val="5B6675"/>
                </a:solidFill>
                <a:latin typeface="Arial"/>
              </a:rPr>
              <a:t>100+</a:t>
            </a:r>
          </a:p>
        </p:txBody>
      </p:sp>
      <p:sp>
        <p:nvSpPr>
          <p:cNvPr id="27" name="TextBox 26"/>
          <p:cNvSpPr txBox="1"/>
          <p:nvPr/>
        </p:nvSpPr>
        <p:spPr>
          <a:xfrm>
            <a:off x="5705856" y="3401568"/>
            <a:ext cx="2971800" cy="457200"/>
          </a:xfrm>
          <a:prstGeom prst="rect">
            <a:avLst/>
          </a:prstGeom>
          <a:noFill/>
        </p:spPr>
        <p:txBody>
          <a:bodyPr wrap="square" lIns="0" rIns="0" tIns="0" bIns="0" anchor="ctr">
            <a:spAutoFit/>
          </a:bodyPr>
          <a:lstStyle/>
          <a:p>
            <a:pPr>
              <a:lnSpc>
                <a:spcPct val="130000"/>
              </a:lnSpc>
              <a:spcBef>
                <a:spcPts val="0"/>
              </a:spcBef>
              <a:spcAft>
                <a:spcPts val="0"/>
              </a:spcAft>
            </a:pPr>
            <a:r>
              <a:rPr sz="1250" b="0">
                <a:solidFill>
                  <a:srgbClr val="1E7E34"/>
                </a:solidFill>
                <a:latin typeface="Arial"/>
              </a:rPr>
              <a:t>Yes</a:t>
            </a:r>
          </a:p>
        </p:txBody>
      </p:sp>
      <p:sp>
        <p:nvSpPr>
          <p:cNvPr id="28" name="TextBox 27"/>
          <p:cNvSpPr txBox="1"/>
          <p:nvPr/>
        </p:nvSpPr>
        <p:spPr>
          <a:xfrm>
            <a:off x="8769096" y="3401568"/>
            <a:ext cx="2779776" cy="457200"/>
          </a:xfrm>
          <a:prstGeom prst="rect">
            <a:avLst/>
          </a:prstGeom>
          <a:noFill/>
        </p:spPr>
        <p:txBody>
          <a:bodyPr wrap="square" lIns="0" rIns="0" tIns="0" bIns="0" anchor="ctr">
            <a:spAutoFit/>
          </a:bodyPr>
          <a:lstStyle/>
          <a:p>
            <a:pPr>
              <a:lnSpc>
                <a:spcPct val="130000"/>
              </a:lnSpc>
              <a:spcBef>
                <a:spcPts val="0"/>
              </a:spcBef>
              <a:spcAft>
                <a:spcPts val="0"/>
              </a:spcAft>
            </a:pPr>
            <a:r>
              <a:rPr sz="1250" b="0">
                <a:solidFill>
                  <a:srgbClr val="1E7E34"/>
                </a:solidFill>
                <a:latin typeface="Arial"/>
              </a:rPr>
              <a:t>Yes — by OTP</a:t>
            </a:r>
          </a:p>
        </p:txBody>
      </p:sp>
      <p:sp>
        <p:nvSpPr>
          <p:cNvPr id="29" name="Rectangle 28"/>
          <p:cNvSpPr/>
          <p:nvPr/>
        </p:nvSpPr>
        <p:spPr>
          <a:xfrm>
            <a:off x="566928" y="3852418"/>
            <a:ext cx="11057839" cy="9525"/>
          </a:xfrm>
          <a:prstGeom prst="rect">
            <a:avLst/>
          </a:prstGeom>
          <a:solidFill>
            <a:srgbClr val="D9E4EC"/>
          </a:solidFill>
          <a:ln>
            <a:noFill/>
          </a:ln>
        </p:spPr>
        <p:txBody>
          <a:bodyPr rtlCol="0" anchor="ctr"/>
          <a:lstStyle/>
          <a:p>
            <a:pPr algn="ctr"/>
          </a:p>
        </p:txBody>
      </p:sp>
      <p:sp>
        <p:nvSpPr>
          <p:cNvPr id="30" name="Rounded Rectangle 29"/>
          <p:cNvSpPr/>
          <p:nvPr/>
        </p:nvSpPr>
        <p:spPr>
          <a:xfrm>
            <a:off x="475488" y="3858768"/>
            <a:ext cx="11240719" cy="457200"/>
          </a:xfrm>
          <a:prstGeom prst="roundRect">
            <a:avLst>
              <a:gd name="adj" fmla="val 20000"/>
            </a:avLst>
          </a:prstGeom>
          <a:solidFill>
            <a:srgbClr val="FFFFFF"/>
          </a:solidFill>
          <a:ln>
            <a:noFill/>
          </a:ln>
        </p:spPr>
        <p:txBody>
          <a:bodyPr rtlCol="0" anchor="ctr"/>
          <a:lstStyle/>
          <a:p>
            <a:pPr algn="ctr"/>
          </a:p>
        </p:txBody>
      </p:sp>
      <p:sp>
        <p:nvSpPr>
          <p:cNvPr id="31" name="TextBox 30"/>
          <p:cNvSpPr txBox="1"/>
          <p:nvPr/>
        </p:nvSpPr>
        <p:spPr>
          <a:xfrm>
            <a:off x="566928" y="3858768"/>
            <a:ext cx="2651760" cy="457200"/>
          </a:xfrm>
          <a:prstGeom prst="rect">
            <a:avLst/>
          </a:prstGeom>
          <a:noFill/>
        </p:spPr>
        <p:txBody>
          <a:bodyPr wrap="square" lIns="0" rIns="0" tIns="0" bIns="0" anchor="ctr">
            <a:spAutoFit/>
          </a:bodyPr>
          <a:lstStyle/>
          <a:p>
            <a:pPr>
              <a:lnSpc>
                <a:spcPct val="130000"/>
              </a:lnSpc>
              <a:spcBef>
                <a:spcPts val="0"/>
              </a:spcBef>
              <a:spcAft>
                <a:spcPts val="0"/>
              </a:spcAft>
            </a:pPr>
            <a:r>
              <a:rPr sz="1400" b="1">
                <a:solidFill>
                  <a:srgbClr val="002970"/>
                </a:solidFill>
                <a:latin typeface="Arial"/>
              </a:rPr>
              <a:t>BAHI</a:t>
            </a:r>
          </a:p>
        </p:txBody>
      </p:sp>
      <p:sp>
        <p:nvSpPr>
          <p:cNvPr id="32" name="TextBox 31"/>
          <p:cNvSpPr txBox="1"/>
          <p:nvPr/>
        </p:nvSpPr>
        <p:spPr>
          <a:xfrm>
            <a:off x="3328416" y="3858768"/>
            <a:ext cx="2286000" cy="457200"/>
          </a:xfrm>
          <a:prstGeom prst="rect">
            <a:avLst/>
          </a:prstGeom>
          <a:noFill/>
        </p:spPr>
        <p:txBody>
          <a:bodyPr wrap="square" lIns="0" rIns="0" tIns="0" bIns="0" anchor="ctr">
            <a:spAutoFit/>
          </a:bodyPr>
          <a:lstStyle/>
          <a:p>
            <a:pPr>
              <a:lnSpc>
                <a:spcPct val="130000"/>
              </a:lnSpc>
              <a:spcBef>
                <a:spcPts val="0"/>
              </a:spcBef>
              <a:spcAft>
                <a:spcPts val="0"/>
              </a:spcAft>
            </a:pPr>
            <a:r>
              <a:rPr sz="1250" b="1">
                <a:solidFill>
                  <a:srgbClr val="5B6675"/>
                </a:solidFill>
                <a:latin typeface="Arial"/>
              </a:rPr>
              <a:t>—</a:t>
            </a:r>
          </a:p>
        </p:txBody>
      </p:sp>
      <p:sp>
        <p:nvSpPr>
          <p:cNvPr id="33" name="TextBox 32"/>
          <p:cNvSpPr txBox="1"/>
          <p:nvPr/>
        </p:nvSpPr>
        <p:spPr>
          <a:xfrm>
            <a:off x="5705856" y="3858768"/>
            <a:ext cx="2971800" cy="457200"/>
          </a:xfrm>
          <a:prstGeom prst="rect">
            <a:avLst/>
          </a:prstGeom>
          <a:noFill/>
        </p:spPr>
        <p:txBody>
          <a:bodyPr wrap="square" lIns="0" rIns="0" tIns="0" bIns="0" anchor="ctr">
            <a:spAutoFit/>
          </a:bodyPr>
          <a:lstStyle/>
          <a:p>
            <a:pPr>
              <a:lnSpc>
                <a:spcPct val="130000"/>
              </a:lnSpc>
              <a:spcBef>
                <a:spcPts val="0"/>
              </a:spcBef>
              <a:spcAft>
                <a:spcPts val="0"/>
              </a:spcAft>
            </a:pPr>
            <a:r>
              <a:rPr sz="1250" b="1">
                <a:solidFill>
                  <a:srgbClr val="1E7E34"/>
                </a:solidFill>
                <a:latin typeface="Arial"/>
              </a:rPr>
              <a:t>Yes — inside the Paytm app</a:t>
            </a:r>
          </a:p>
        </p:txBody>
      </p:sp>
      <p:sp>
        <p:nvSpPr>
          <p:cNvPr id="34" name="TextBox 33"/>
          <p:cNvSpPr txBox="1"/>
          <p:nvPr/>
        </p:nvSpPr>
        <p:spPr>
          <a:xfrm>
            <a:off x="8769096" y="3858768"/>
            <a:ext cx="2779776" cy="457200"/>
          </a:xfrm>
          <a:prstGeom prst="rect">
            <a:avLst/>
          </a:prstGeom>
          <a:noFill/>
        </p:spPr>
        <p:txBody>
          <a:bodyPr wrap="square" lIns="0" rIns="0" tIns="0" bIns="0" anchor="ctr">
            <a:spAutoFit/>
          </a:bodyPr>
          <a:lstStyle/>
          <a:p>
            <a:pPr>
              <a:lnSpc>
                <a:spcPct val="130000"/>
              </a:lnSpc>
              <a:spcBef>
                <a:spcPts val="0"/>
              </a:spcBef>
              <a:spcAft>
                <a:spcPts val="0"/>
              </a:spcAft>
            </a:pPr>
            <a:r>
              <a:rPr sz="1250" b="1">
                <a:solidFill>
                  <a:srgbClr val="1E7E34"/>
                </a:solidFill>
                <a:latin typeface="Arial"/>
              </a:rPr>
              <a:t>Yes — one tap</a:t>
            </a:r>
          </a:p>
        </p:txBody>
      </p:sp>
      <p:sp>
        <p:nvSpPr>
          <p:cNvPr id="35" name="Rounded Rectangle 34"/>
          <p:cNvSpPr/>
          <p:nvPr/>
        </p:nvSpPr>
        <p:spPr>
          <a:xfrm>
            <a:off x="566928" y="4617720"/>
            <a:ext cx="3503066" cy="1417320"/>
          </a:xfrm>
          <a:prstGeom prst="roundRect">
            <a:avLst>
              <a:gd name="adj" fmla="val 6000"/>
            </a:avLst>
          </a:prstGeom>
          <a:solidFill>
            <a:srgbClr val="FFFFFF"/>
          </a:solidFill>
          <a:ln>
            <a:noFill/>
          </a:ln>
        </p:spPr>
        <p:txBody>
          <a:bodyPr rtlCol="0" anchor="ctr"/>
          <a:lstStyle/>
          <a:p>
            <a:pPr algn="ctr"/>
          </a:p>
        </p:txBody>
      </p:sp>
      <p:sp>
        <p:nvSpPr>
          <p:cNvPr id="36" name="Rectangle 35"/>
          <p:cNvSpPr/>
          <p:nvPr/>
        </p:nvSpPr>
        <p:spPr>
          <a:xfrm>
            <a:off x="795528" y="4828032"/>
            <a:ext cx="365760" cy="38100"/>
          </a:xfrm>
          <a:prstGeom prst="rect">
            <a:avLst/>
          </a:prstGeom>
          <a:solidFill>
            <a:srgbClr val="00BAF2"/>
          </a:solidFill>
          <a:ln>
            <a:noFill/>
          </a:ln>
        </p:spPr>
        <p:txBody>
          <a:bodyPr rtlCol="0" anchor="ctr"/>
          <a:lstStyle/>
          <a:p>
            <a:pPr algn="ctr"/>
          </a:p>
        </p:txBody>
      </p:sp>
      <p:sp>
        <p:nvSpPr>
          <p:cNvPr id="37" name="TextBox 36"/>
          <p:cNvSpPr txBox="1"/>
          <p:nvPr/>
        </p:nvSpPr>
        <p:spPr>
          <a:xfrm>
            <a:off x="795528" y="4956048"/>
            <a:ext cx="3045866" cy="1005840"/>
          </a:xfrm>
          <a:prstGeom prst="rect">
            <a:avLst/>
          </a:prstGeom>
          <a:noFill/>
        </p:spPr>
        <p:txBody>
          <a:bodyPr wrap="square" lIns="0" rIns="0" tIns="0" bIns="0" anchor="t">
            <a:spAutoFit/>
          </a:bodyPr>
          <a:lstStyle/>
          <a:p>
            <a:pPr>
              <a:lnSpc>
                <a:spcPct val="130000"/>
              </a:lnSpc>
              <a:spcBef>
                <a:spcPts val="0"/>
              </a:spcBef>
              <a:spcAft>
                <a:spcPts val="0"/>
              </a:spcAft>
            </a:pPr>
            <a:r>
              <a:rPr sz="1500" b="1">
                <a:solidFill>
                  <a:srgbClr val="002970"/>
                </a:solidFill>
                <a:latin typeface="Arial"/>
              </a:rPr>
              <a:t>Two-sided</a:t>
            </a:r>
          </a:p>
          <a:p>
            <a:pPr>
              <a:lnSpc>
                <a:spcPct val="135000"/>
              </a:lnSpc>
              <a:spcBef>
                <a:spcPts val="500"/>
              </a:spcBef>
              <a:spcAft>
                <a:spcPts val="0"/>
              </a:spcAft>
            </a:pPr>
            <a:r>
              <a:rPr sz="1250" b="0">
                <a:solidFill>
                  <a:srgbClr val="5B6675"/>
                </a:solidFill>
                <a:latin typeface="Arial"/>
              </a:rPr>
              <a:t>An entry becomes a fact only when the customer confirms it.</a:t>
            </a:r>
          </a:p>
        </p:txBody>
      </p:sp>
      <p:sp>
        <p:nvSpPr>
          <p:cNvPr id="38" name="Rounded Rectangle 37"/>
          <p:cNvSpPr/>
          <p:nvPr/>
        </p:nvSpPr>
        <p:spPr>
          <a:xfrm>
            <a:off x="4344314" y="4617720"/>
            <a:ext cx="3503066" cy="1417320"/>
          </a:xfrm>
          <a:prstGeom prst="roundRect">
            <a:avLst>
              <a:gd name="adj" fmla="val 6000"/>
            </a:avLst>
          </a:prstGeom>
          <a:solidFill>
            <a:srgbClr val="FFFFFF"/>
          </a:solidFill>
          <a:ln>
            <a:noFill/>
          </a:ln>
        </p:spPr>
        <p:txBody>
          <a:bodyPr rtlCol="0" anchor="ctr"/>
          <a:lstStyle/>
          <a:p>
            <a:pPr algn="ctr"/>
          </a:p>
        </p:txBody>
      </p:sp>
      <p:sp>
        <p:nvSpPr>
          <p:cNvPr id="39" name="Rectangle 38"/>
          <p:cNvSpPr/>
          <p:nvPr/>
        </p:nvSpPr>
        <p:spPr>
          <a:xfrm>
            <a:off x="4572914" y="4828032"/>
            <a:ext cx="365760" cy="38100"/>
          </a:xfrm>
          <a:prstGeom prst="rect">
            <a:avLst/>
          </a:prstGeom>
          <a:solidFill>
            <a:srgbClr val="00BAF2"/>
          </a:solidFill>
          <a:ln>
            <a:noFill/>
          </a:ln>
        </p:spPr>
        <p:txBody>
          <a:bodyPr rtlCol="0" anchor="ctr"/>
          <a:lstStyle/>
          <a:p>
            <a:pPr algn="ctr"/>
          </a:p>
        </p:txBody>
      </p:sp>
      <p:sp>
        <p:nvSpPr>
          <p:cNvPr id="40" name="TextBox 39"/>
          <p:cNvSpPr txBox="1"/>
          <p:nvPr/>
        </p:nvSpPr>
        <p:spPr>
          <a:xfrm>
            <a:off x="4572914" y="4956048"/>
            <a:ext cx="3045866" cy="1005840"/>
          </a:xfrm>
          <a:prstGeom prst="rect">
            <a:avLst/>
          </a:prstGeom>
          <a:noFill/>
        </p:spPr>
        <p:txBody>
          <a:bodyPr wrap="square" lIns="0" rIns="0" tIns="0" bIns="0" anchor="t">
            <a:spAutoFit/>
          </a:bodyPr>
          <a:lstStyle/>
          <a:p>
            <a:pPr>
              <a:lnSpc>
                <a:spcPct val="130000"/>
              </a:lnSpc>
              <a:spcBef>
                <a:spcPts val="0"/>
              </a:spcBef>
              <a:spcAft>
                <a:spcPts val="0"/>
              </a:spcAft>
            </a:pPr>
            <a:r>
              <a:rPr sz="1500" b="1">
                <a:solidFill>
                  <a:srgbClr val="002970"/>
                </a:solidFill>
                <a:latin typeface="Arial"/>
              </a:rPr>
              <a:t>Scan, then speak</a:t>
            </a:r>
          </a:p>
          <a:p>
            <a:pPr>
              <a:lnSpc>
                <a:spcPct val="135000"/>
              </a:lnSpc>
              <a:spcBef>
                <a:spcPts val="500"/>
              </a:spcBef>
              <a:spcAft>
                <a:spcPts val="0"/>
              </a:spcAft>
            </a:pPr>
            <a:r>
              <a:rPr sz="1250" b="0">
                <a:solidFill>
                  <a:srgbClr val="5B6675"/>
                </a:solidFill>
                <a:latin typeface="Arial"/>
              </a:rPr>
              <a:t>The QR says who, his voice says how much. Nothing to type.</a:t>
            </a:r>
          </a:p>
        </p:txBody>
      </p:sp>
      <p:sp>
        <p:nvSpPr>
          <p:cNvPr id="41" name="Rounded Rectangle 40"/>
          <p:cNvSpPr/>
          <p:nvPr/>
        </p:nvSpPr>
        <p:spPr>
          <a:xfrm>
            <a:off x="8121700" y="4617720"/>
            <a:ext cx="3503066" cy="1417320"/>
          </a:xfrm>
          <a:prstGeom prst="roundRect">
            <a:avLst>
              <a:gd name="adj" fmla="val 6000"/>
            </a:avLst>
          </a:prstGeom>
          <a:solidFill>
            <a:srgbClr val="FFFFFF"/>
          </a:solidFill>
          <a:ln>
            <a:noFill/>
          </a:ln>
        </p:spPr>
        <p:txBody>
          <a:bodyPr rtlCol="0" anchor="ctr"/>
          <a:lstStyle/>
          <a:p>
            <a:pPr algn="ctr"/>
          </a:p>
        </p:txBody>
      </p:sp>
      <p:sp>
        <p:nvSpPr>
          <p:cNvPr id="42" name="Rectangle 41"/>
          <p:cNvSpPr/>
          <p:nvPr/>
        </p:nvSpPr>
        <p:spPr>
          <a:xfrm>
            <a:off x="8350300" y="4828032"/>
            <a:ext cx="365760" cy="38100"/>
          </a:xfrm>
          <a:prstGeom prst="rect">
            <a:avLst/>
          </a:prstGeom>
          <a:solidFill>
            <a:srgbClr val="00BAF2"/>
          </a:solidFill>
          <a:ln>
            <a:noFill/>
          </a:ln>
        </p:spPr>
        <p:txBody>
          <a:bodyPr rtlCol="0" anchor="ctr"/>
          <a:lstStyle/>
          <a:p>
            <a:pPr algn="ctr"/>
          </a:p>
        </p:txBody>
      </p:sp>
      <p:sp>
        <p:nvSpPr>
          <p:cNvPr id="43" name="TextBox 42"/>
          <p:cNvSpPr txBox="1"/>
          <p:nvPr/>
        </p:nvSpPr>
        <p:spPr>
          <a:xfrm>
            <a:off x="8350300" y="4956048"/>
            <a:ext cx="3045866" cy="1005840"/>
          </a:xfrm>
          <a:prstGeom prst="rect">
            <a:avLst/>
          </a:prstGeom>
          <a:noFill/>
        </p:spPr>
        <p:txBody>
          <a:bodyPr wrap="square" lIns="0" rIns="0" tIns="0" bIns="0" anchor="t">
            <a:spAutoFit/>
          </a:bodyPr>
          <a:lstStyle/>
          <a:p>
            <a:pPr>
              <a:lnSpc>
                <a:spcPct val="130000"/>
              </a:lnSpc>
              <a:spcBef>
                <a:spcPts val="0"/>
              </a:spcBef>
              <a:spcAft>
                <a:spcPts val="0"/>
              </a:spcAft>
            </a:pPr>
            <a:r>
              <a:rPr sz="1500" b="1">
                <a:solidFill>
                  <a:srgbClr val="002970"/>
                </a:solidFill>
                <a:latin typeface="Arial"/>
              </a:rPr>
              <a:t>Timed per person</a:t>
            </a:r>
          </a:p>
          <a:p>
            <a:pPr>
              <a:lnSpc>
                <a:spcPct val="135000"/>
              </a:lnSpc>
              <a:spcBef>
                <a:spcPts val="500"/>
              </a:spcBef>
              <a:spcAft>
                <a:spcPts val="0"/>
              </a:spcAft>
            </a:pPr>
            <a:r>
              <a:rPr sz="1250" b="0">
                <a:solidFill>
                  <a:srgbClr val="5B6675"/>
                </a:solidFill>
                <a:latin typeface="Arial"/>
              </a:rPr>
              <a:t>Reminders follow each customer’s own repayment pattern.</a:t>
            </a:r>
          </a:p>
        </p:txBody>
      </p:sp>
      <p:sp>
        <p:nvSpPr>
          <p:cNvPr id="44" name="TextBox 43"/>
          <p:cNvSpPr txBox="1"/>
          <p:nvPr/>
        </p:nvSpPr>
        <p:spPr>
          <a:xfrm>
            <a:off x="566928" y="6382512"/>
            <a:ext cx="10326319" cy="274320"/>
          </a:xfrm>
          <a:prstGeom prst="rect">
            <a:avLst/>
          </a:prstGeom>
          <a:noFill/>
        </p:spPr>
        <p:txBody>
          <a:bodyPr wrap="square" lIns="0" rIns="0" tIns="0" bIns="0" anchor="t">
            <a:spAutoFit/>
          </a:bodyPr>
          <a:lstStyle/>
          <a:p>
            <a:pPr>
              <a:lnSpc>
                <a:spcPct val="120000"/>
              </a:lnSpc>
              <a:spcBef>
                <a:spcPts val="0"/>
              </a:spcBef>
              <a:spcAft>
                <a:spcPts val="0"/>
              </a:spcAft>
            </a:pPr>
            <a:r>
              <a:rPr sz="900" b="0">
                <a:solidFill>
                  <a:srgbClr val="8B95A5"/>
                </a:solidFill>
                <a:latin typeface="Arial"/>
              </a:rPr>
              <a:t>Sources: Google Play listings, okcredit.in, khatabook.com and business.paytm.com, checked 23 Sep 2026.</a:t>
            </a:r>
          </a:p>
        </p:txBody>
      </p:sp>
      <p:sp>
        <p:nvSpPr>
          <p:cNvPr id="45" name="TextBox 44"/>
          <p:cNvSpPr txBox="1"/>
          <p:nvPr/>
        </p:nvSpPr>
        <p:spPr>
          <a:xfrm>
            <a:off x="10984687" y="6382512"/>
            <a:ext cx="640080" cy="274320"/>
          </a:xfrm>
          <a:prstGeom prst="rect">
            <a:avLst/>
          </a:prstGeom>
          <a:noFill/>
        </p:spPr>
        <p:txBody>
          <a:bodyPr wrap="square" lIns="0" rIns="0" tIns="0" bIns="0" anchor="t">
            <a:spAutoFit/>
          </a:bodyPr>
          <a:lstStyle/>
          <a:p>
            <a:pPr algn="r">
              <a:lnSpc>
                <a:spcPct val="130000"/>
              </a:lnSpc>
              <a:spcBef>
                <a:spcPts val="0"/>
              </a:spcBef>
              <a:spcAft>
                <a:spcPts val="0"/>
              </a:spcAft>
            </a:pPr>
            <a:r>
              <a:rPr sz="900" b="0">
                <a:solidFill>
                  <a:srgbClr val="8B95A5"/>
                </a:solidFill>
                <a:latin typeface="Arial"/>
              </a:rPr>
              <a:t>7 / 12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AF6FC"/>
          </a:solidFill>
          <a:ln>
            <a:noFill/>
          </a:ln>
        </p:spPr>
        <p:txBody>
          <a:bodyPr rtlCol="0" anchor="ctr"/>
          <a:lstStyle/>
          <a:p>
            <a:pPr algn="ctr"/>
          </a:p>
        </p:txBody>
      </p:sp>
      <p:sp>
        <p:nvSpPr>
          <p:cNvPr id="3" name="TextBox 2"/>
          <p:cNvSpPr txBox="1"/>
          <p:nvPr/>
        </p:nvSpPr>
        <p:spPr>
          <a:xfrm>
            <a:off x="566928" y="384048"/>
            <a:ext cx="11057839" cy="228600"/>
          </a:xfrm>
          <a:prstGeom prst="rect">
            <a:avLst/>
          </a:prstGeom>
          <a:noFill/>
        </p:spPr>
        <p:txBody>
          <a:bodyPr wrap="square" lIns="0" rIns="0" tIns="0" bIns="0" anchor="t">
            <a:spAutoFit/>
          </a:bodyPr>
          <a:lstStyle/>
          <a:p>
            <a:pPr>
              <a:lnSpc>
                <a:spcPct val="130000"/>
              </a:lnSpc>
              <a:spcBef>
                <a:spcPts val="0"/>
              </a:spcBef>
              <a:spcAft>
                <a:spcPts val="0"/>
              </a:spcAft>
            </a:pPr>
            <a:r>
              <a:rPr sz="1000" b="1" spc="140">
                <a:solidFill>
                  <a:srgbClr val="0077A8"/>
                </a:solidFill>
                <a:latin typeface="Arial"/>
              </a:rPr>
              <a:t>5 · IMPACT &amp; BENEFITS</a:t>
            </a:r>
          </a:p>
        </p:txBody>
      </p:sp>
      <p:sp>
        <p:nvSpPr>
          <p:cNvPr id="4" name="TextBox 3"/>
          <p:cNvSpPr txBox="1"/>
          <p:nvPr/>
        </p:nvSpPr>
        <p:spPr>
          <a:xfrm>
            <a:off x="566928" y="676656"/>
            <a:ext cx="11057839" cy="822960"/>
          </a:xfrm>
          <a:prstGeom prst="rect">
            <a:avLst/>
          </a:prstGeom>
          <a:noFill/>
        </p:spPr>
        <p:txBody>
          <a:bodyPr wrap="square" lIns="0" rIns="0" tIns="0" bIns="0" anchor="t">
            <a:spAutoFit/>
          </a:bodyPr>
          <a:lstStyle/>
          <a:p>
            <a:pPr>
              <a:lnSpc>
                <a:spcPct val="105000"/>
              </a:lnSpc>
              <a:spcBef>
                <a:spcPts val="0"/>
              </a:spcBef>
              <a:spcAft>
                <a:spcPts val="0"/>
              </a:spcAft>
            </a:pPr>
            <a:r>
              <a:rPr sz="2600" b="1">
                <a:solidFill>
                  <a:srgbClr val="002970"/>
                </a:solidFill>
                <a:latin typeface="Arial"/>
              </a:rPr>
              <a:t>Fewer reminders, sent only to people who are actually late.</a:t>
            </a:r>
          </a:p>
        </p:txBody>
      </p:sp>
      <p:sp>
        <p:nvSpPr>
          <p:cNvPr id="5" name="Rounded Rectangle 4"/>
          <p:cNvSpPr/>
          <p:nvPr/>
        </p:nvSpPr>
        <p:spPr>
          <a:xfrm>
            <a:off x="566928" y="1645920"/>
            <a:ext cx="3429000" cy="4434840"/>
          </a:xfrm>
          <a:prstGeom prst="roundRect">
            <a:avLst>
              <a:gd name="adj" fmla="val 6000"/>
            </a:avLst>
          </a:prstGeom>
          <a:solidFill>
            <a:srgbClr val="002970"/>
          </a:solidFill>
          <a:ln>
            <a:noFill/>
          </a:ln>
        </p:spPr>
        <p:txBody>
          <a:bodyPr rtlCol="0" anchor="ctr"/>
          <a:lstStyle/>
          <a:p>
            <a:pPr algn="ctr"/>
          </a:p>
        </p:txBody>
      </p:sp>
      <p:sp>
        <p:nvSpPr>
          <p:cNvPr id="6" name="TextBox 5"/>
          <p:cNvSpPr txBox="1"/>
          <p:nvPr/>
        </p:nvSpPr>
        <p:spPr>
          <a:xfrm>
            <a:off x="886968" y="2057400"/>
            <a:ext cx="2788920" cy="3840480"/>
          </a:xfrm>
          <a:prstGeom prst="rect">
            <a:avLst/>
          </a:prstGeom>
          <a:noFill/>
        </p:spPr>
        <p:txBody>
          <a:bodyPr wrap="square" lIns="0" rIns="0" tIns="0" bIns="0" anchor="t">
            <a:spAutoFit/>
          </a:bodyPr>
          <a:lstStyle/>
          <a:p>
            <a:pPr>
              <a:lnSpc>
                <a:spcPct val="100000"/>
              </a:lnSpc>
              <a:spcBef>
                <a:spcPts val="0"/>
              </a:spcBef>
              <a:spcAft>
                <a:spcPts val="0"/>
              </a:spcAft>
            </a:pPr>
            <a:r>
              <a:rPr sz="5400" b="1">
                <a:solidFill>
                  <a:srgbClr val="FFFFFF"/>
                </a:solidFill>
                <a:latin typeface="Arial"/>
              </a:rPr>
              <a:t>4 of 38</a:t>
            </a:r>
          </a:p>
          <a:p>
            <a:pPr>
              <a:lnSpc>
                <a:spcPct val="130000"/>
              </a:lnSpc>
              <a:spcBef>
                <a:spcPts val="1400"/>
              </a:spcBef>
              <a:spcAft>
                <a:spcPts val="0"/>
              </a:spcAft>
            </a:pPr>
            <a:r>
              <a:rPr sz="1500" b="1">
                <a:solidFill>
                  <a:srgbClr val="FFFFFF"/>
                </a:solidFill>
                <a:latin typeface="Arial"/>
              </a:rPr>
              <a:t>customers who owe get a reminder tonight.</a:t>
            </a:r>
          </a:p>
          <a:p>
            <a:pPr>
              <a:lnSpc>
                <a:spcPct val="140000"/>
              </a:lnSpc>
              <a:spcBef>
                <a:spcPts val="1200"/>
              </a:spcBef>
              <a:spcAft>
                <a:spcPts val="0"/>
              </a:spcAft>
            </a:pPr>
            <a:r>
              <a:rPr sz="1300" b="0">
                <a:solidFill>
                  <a:srgbClr val="C9D8EE"/>
                </a:solidFill>
                <a:latin typeface="Arial"/>
              </a:rPr>
              <a:t>The other 34 are not late by their own pattern, so they hear nothing.</a:t>
            </a:r>
          </a:p>
        </p:txBody>
      </p:sp>
      <p:sp>
        <p:nvSpPr>
          <p:cNvPr id="7" name="TextBox 6"/>
          <p:cNvSpPr txBox="1"/>
          <p:nvPr/>
        </p:nvSpPr>
        <p:spPr>
          <a:xfrm>
            <a:off x="886968" y="5486400"/>
            <a:ext cx="2788920" cy="457200"/>
          </a:xfrm>
          <a:prstGeom prst="rect">
            <a:avLst/>
          </a:prstGeom>
          <a:noFill/>
        </p:spPr>
        <p:txBody>
          <a:bodyPr wrap="square" lIns="0" rIns="0" tIns="0" bIns="0" anchor="t">
            <a:spAutoFit/>
          </a:bodyPr>
          <a:lstStyle/>
          <a:p>
            <a:pPr>
              <a:lnSpc>
                <a:spcPct val="130000"/>
              </a:lnSpc>
              <a:spcBef>
                <a:spcPts val="0"/>
              </a:spcBef>
              <a:spcAft>
                <a:spcPts val="0"/>
              </a:spcAft>
            </a:pPr>
            <a:r>
              <a:rPr sz="1000" b="0">
                <a:solidFill>
                  <a:srgbClr val="8FA4C6"/>
                </a:solidFill>
                <a:latin typeface="Arial"/>
              </a:rPr>
              <a:t>Our demo shop: 60 customers, six months of synthetic data.</a:t>
            </a:r>
          </a:p>
        </p:txBody>
      </p:sp>
      <p:sp>
        <p:nvSpPr>
          <p:cNvPr id="8" name="Rounded Rectangle 7"/>
          <p:cNvSpPr/>
          <p:nvPr/>
        </p:nvSpPr>
        <p:spPr>
          <a:xfrm>
            <a:off x="4270248" y="1645920"/>
            <a:ext cx="2293010" cy="4434840"/>
          </a:xfrm>
          <a:prstGeom prst="roundRect">
            <a:avLst>
              <a:gd name="adj" fmla="val 6000"/>
            </a:avLst>
          </a:prstGeom>
          <a:solidFill>
            <a:srgbClr val="FFFFFF"/>
          </a:solidFill>
          <a:ln>
            <a:noFill/>
          </a:ln>
        </p:spPr>
        <p:txBody>
          <a:bodyPr rtlCol="0" anchor="ctr"/>
          <a:lstStyle/>
          <a:p>
            <a:pPr algn="ctr"/>
          </a:p>
        </p:txBody>
      </p:sp>
      <p:sp>
        <p:nvSpPr>
          <p:cNvPr id="9" name="Rectangle 8"/>
          <p:cNvSpPr/>
          <p:nvPr/>
        </p:nvSpPr>
        <p:spPr>
          <a:xfrm>
            <a:off x="4498848" y="1901952"/>
            <a:ext cx="365760" cy="38100"/>
          </a:xfrm>
          <a:prstGeom prst="rect">
            <a:avLst/>
          </a:prstGeom>
          <a:solidFill>
            <a:srgbClr val="00BAF2"/>
          </a:solidFill>
          <a:ln>
            <a:noFill/>
          </a:ln>
        </p:spPr>
        <p:txBody>
          <a:bodyPr rtlCol="0" anchor="ctr"/>
          <a:lstStyle/>
          <a:p>
            <a:pPr algn="ctr"/>
          </a:p>
        </p:txBody>
      </p:sp>
      <p:sp>
        <p:nvSpPr>
          <p:cNvPr id="10" name="TextBox 9"/>
          <p:cNvSpPr txBox="1"/>
          <p:nvPr/>
        </p:nvSpPr>
        <p:spPr>
          <a:xfrm>
            <a:off x="4498848" y="2057400"/>
            <a:ext cx="1835810" cy="3840480"/>
          </a:xfrm>
          <a:prstGeom prst="rect">
            <a:avLst/>
          </a:prstGeom>
          <a:noFill/>
        </p:spPr>
        <p:txBody>
          <a:bodyPr wrap="square" lIns="0" rIns="0" tIns="0" bIns="0" anchor="t">
            <a:spAutoFit/>
          </a:bodyPr>
          <a:lstStyle/>
          <a:p>
            <a:pPr>
              <a:lnSpc>
                <a:spcPct val="130000"/>
              </a:lnSpc>
              <a:spcBef>
                <a:spcPts val="0"/>
              </a:spcBef>
              <a:spcAft>
                <a:spcPts val="600"/>
              </a:spcAft>
            </a:pPr>
            <a:r>
              <a:rPr sz="1500" b="1">
                <a:solidFill>
                  <a:srgbClr val="002970"/>
                </a:solidFill>
                <a:latin typeface="Arial"/>
              </a:rPr>
              <a:t>For the shopkeeper</a:t>
            </a:r>
          </a:p>
          <a:p>
            <a:pPr>
              <a:lnSpc>
                <a:spcPct val="135000"/>
              </a:lnSpc>
              <a:spcBef>
                <a:spcPts val="1200"/>
              </a:spcBef>
              <a:spcAft>
                <a:spcPts val="0"/>
              </a:spcAft>
            </a:pPr>
            <a:r>
              <a:rPr sz="1300" b="0">
                <a:solidFill>
                  <a:srgbClr val="1C1C1C"/>
                </a:solidFill>
                <a:latin typeface="Arial"/>
              </a:rPr>
              <a:t>Stops chasing people who always pay.</a:t>
            </a:r>
          </a:p>
          <a:p>
            <a:pPr>
              <a:lnSpc>
                <a:spcPct val="135000"/>
              </a:lnSpc>
              <a:spcBef>
                <a:spcPts val="1200"/>
              </a:spcBef>
              <a:spcAft>
                <a:spcPts val="0"/>
              </a:spcAft>
            </a:pPr>
            <a:r>
              <a:rPr sz="1300" b="0">
                <a:solidFill>
                  <a:srgbClr val="1C1C1C"/>
                </a:solidFill>
                <a:latin typeface="Arial"/>
              </a:rPr>
              <a:t>Spots the ones who are drifting.</a:t>
            </a:r>
          </a:p>
          <a:p>
            <a:pPr>
              <a:lnSpc>
                <a:spcPct val="135000"/>
              </a:lnSpc>
              <a:spcBef>
                <a:spcPts val="1200"/>
              </a:spcBef>
              <a:spcAft>
                <a:spcPts val="0"/>
              </a:spcAft>
            </a:pPr>
            <a:r>
              <a:rPr sz="1300" b="0">
                <a:solidFill>
                  <a:srgbClr val="1C1C1C"/>
                </a:solidFill>
                <a:latin typeface="Arial"/>
              </a:rPr>
              <a:t>Records by voice, so the queue keeps moving.</a:t>
            </a:r>
          </a:p>
        </p:txBody>
      </p:sp>
      <p:sp>
        <p:nvSpPr>
          <p:cNvPr id="11" name="Rounded Rectangle 10"/>
          <p:cNvSpPr/>
          <p:nvPr/>
        </p:nvSpPr>
        <p:spPr>
          <a:xfrm>
            <a:off x="6801002" y="1645920"/>
            <a:ext cx="2293010" cy="4434840"/>
          </a:xfrm>
          <a:prstGeom prst="roundRect">
            <a:avLst>
              <a:gd name="adj" fmla="val 6000"/>
            </a:avLst>
          </a:prstGeom>
          <a:solidFill>
            <a:srgbClr val="FFFFFF"/>
          </a:solidFill>
          <a:ln>
            <a:noFill/>
          </a:ln>
        </p:spPr>
        <p:txBody>
          <a:bodyPr rtlCol="0" anchor="ctr"/>
          <a:lstStyle/>
          <a:p>
            <a:pPr algn="ctr"/>
          </a:p>
        </p:txBody>
      </p:sp>
      <p:sp>
        <p:nvSpPr>
          <p:cNvPr id="12" name="Rectangle 11"/>
          <p:cNvSpPr/>
          <p:nvPr/>
        </p:nvSpPr>
        <p:spPr>
          <a:xfrm>
            <a:off x="7029602" y="1901952"/>
            <a:ext cx="365760" cy="38100"/>
          </a:xfrm>
          <a:prstGeom prst="rect">
            <a:avLst/>
          </a:prstGeom>
          <a:solidFill>
            <a:srgbClr val="00BAF2"/>
          </a:solidFill>
          <a:ln>
            <a:noFill/>
          </a:ln>
        </p:spPr>
        <p:txBody>
          <a:bodyPr rtlCol="0" anchor="ctr"/>
          <a:lstStyle/>
          <a:p>
            <a:pPr algn="ctr"/>
          </a:p>
        </p:txBody>
      </p:sp>
      <p:sp>
        <p:nvSpPr>
          <p:cNvPr id="13" name="TextBox 12"/>
          <p:cNvSpPr txBox="1"/>
          <p:nvPr/>
        </p:nvSpPr>
        <p:spPr>
          <a:xfrm>
            <a:off x="7029602" y="2057400"/>
            <a:ext cx="1835810" cy="3840480"/>
          </a:xfrm>
          <a:prstGeom prst="rect">
            <a:avLst/>
          </a:prstGeom>
          <a:noFill/>
        </p:spPr>
        <p:txBody>
          <a:bodyPr wrap="square" lIns="0" rIns="0" tIns="0" bIns="0" anchor="t">
            <a:spAutoFit/>
          </a:bodyPr>
          <a:lstStyle/>
          <a:p>
            <a:pPr>
              <a:lnSpc>
                <a:spcPct val="130000"/>
              </a:lnSpc>
              <a:spcBef>
                <a:spcPts val="0"/>
              </a:spcBef>
              <a:spcAft>
                <a:spcPts val="600"/>
              </a:spcAft>
            </a:pPr>
            <a:r>
              <a:rPr sz="1500" b="1">
                <a:solidFill>
                  <a:srgbClr val="002970"/>
                </a:solidFill>
                <a:latin typeface="Arial"/>
              </a:rPr>
              <a:t>For the customer</a:t>
            </a:r>
          </a:p>
          <a:p>
            <a:pPr>
              <a:lnSpc>
                <a:spcPct val="135000"/>
              </a:lnSpc>
              <a:spcBef>
                <a:spcPts val="1200"/>
              </a:spcBef>
              <a:spcAft>
                <a:spcPts val="0"/>
              </a:spcAft>
            </a:pPr>
            <a:r>
              <a:rPr sz="1300" b="0">
                <a:solidFill>
                  <a:srgbClr val="1C1C1C"/>
                </a:solidFill>
                <a:latin typeface="Arial"/>
              </a:rPr>
              <a:t>Sees his total across every shop.</a:t>
            </a:r>
          </a:p>
          <a:p>
            <a:pPr>
              <a:lnSpc>
                <a:spcPct val="135000"/>
              </a:lnSpc>
              <a:spcBef>
                <a:spcPts val="1200"/>
              </a:spcBef>
              <a:spcAft>
                <a:spcPts val="0"/>
              </a:spcAft>
            </a:pPr>
            <a:r>
              <a:rPr sz="1300" b="0">
                <a:solidFill>
                  <a:srgbClr val="1C1C1C"/>
                </a:solidFill>
                <a:latin typeface="Arial"/>
              </a:rPr>
              <a:t>Has proof of every entry.</a:t>
            </a:r>
          </a:p>
          <a:p>
            <a:pPr>
              <a:lnSpc>
                <a:spcPct val="135000"/>
              </a:lnSpc>
              <a:spcBef>
                <a:spcPts val="1200"/>
              </a:spcBef>
              <a:spcAft>
                <a:spcPts val="0"/>
              </a:spcAft>
            </a:pPr>
            <a:r>
              <a:rPr sz="1300" b="0">
                <a:solidFill>
                  <a:srgbClr val="1C1C1C"/>
                </a:solidFill>
                <a:latin typeface="Arial"/>
              </a:rPr>
              <a:t>Is reminded privately, not at the counter.</a:t>
            </a:r>
          </a:p>
        </p:txBody>
      </p:sp>
      <p:sp>
        <p:nvSpPr>
          <p:cNvPr id="14" name="Rounded Rectangle 13"/>
          <p:cNvSpPr/>
          <p:nvPr/>
        </p:nvSpPr>
        <p:spPr>
          <a:xfrm>
            <a:off x="9331756" y="1645920"/>
            <a:ext cx="2293010" cy="4434840"/>
          </a:xfrm>
          <a:prstGeom prst="roundRect">
            <a:avLst>
              <a:gd name="adj" fmla="val 6000"/>
            </a:avLst>
          </a:prstGeom>
          <a:solidFill>
            <a:srgbClr val="FFFFFF"/>
          </a:solidFill>
          <a:ln>
            <a:noFill/>
          </a:ln>
        </p:spPr>
        <p:txBody>
          <a:bodyPr rtlCol="0" anchor="ctr"/>
          <a:lstStyle/>
          <a:p>
            <a:pPr algn="ctr"/>
          </a:p>
        </p:txBody>
      </p:sp>
      <p:sp>
        <p:nvSpPr>
          <p:cNvPr id="15" name="Rectangle 14"/>
          <p:cNvSpPr/>
          <p:nvPr/>
        </p:nvSpPr>
        <p:spPr>
          <a:xfrm>
            <a:off x="9560356" y="1901952"/>
            <a:ext cx="365760" cy="38100"/>
          </a:xfrm>
          <a:prstGeom prst="rect">
            <a:avLst/>
          </a:prstGeom>
          <a:solidFill>
            <a:srgbClr val="00BAF2"/>
          </a:solidFill>
          <a:ln>
            <a:noFill/>
          </a:ln>
        </p:spPr>
        <p:txBody>
          <a:bodyPr rtlCol="0" anchor="ctr"/>
          <a:lstStyle/>
          <a:p>
            <a:pPr algn="ctr"/>
          </a:p>
        </p:txBody>
      </p:sp>
      <p:sp>
        <p:nvSpPr>
          <p:cNvPr id="16" name="TextBox 15"/>
          <p:cNvSpPr txBox="1"/>
          <p:nvPr/>
        </p:nvSpPr>
        <p:spPr>
          <a:xfrm>
            <a:off x="9560356" y="2057400"/>
            <a:ext cx="1835810" cy="3840480"/>
          </a:xfrm>
          <a:prstGeom prst="rect">
            <a:avLst/>
          </a:prstGeom>
          <a:noFill/>
        </p:spPr>
        <p:txBody>
          <a:bodyPr wrap="square" lIns="0" rIns="0" tIns="0" bIns="0" anchor="t">
            <a:spAutoFit/>
          </a:bodyPr>
          <a:lstStyle/>
          <a:p>
            <a:pPr>
              <a:lnSpc>
                <a:spcPct val="130000"/>
              </a:lnSpc>
              <a:spcBef>
                <a:spcPts val="0"/>
              </a:spcBef>
              <a:spcAft>
                <a:spcPts val="600"/>
              </a:spcAft>
            </a:pPr>
            <a:r>
              <a:rPr sz="1500" b="1">
                <a:solidFill>
                  <a:srgbClr val="002970"/>
                </a:solidFill>
                <a:latin typeface="Arial"/>
              </a:rPr>
              <a:t>For Paytm</a:t>
            </a:r>
          </a:p>
          <a:p>
            <a:pPr>
              <a:lnSpc>
                <a:spcPct val="135000"/>
              </a:lnSpc>
              <a:spcBef>
                <a:spcPts val="1200"/>
              </a:spcBef>
              <a:spcAft>
                <a:spcPts val="0"/>
              </a:spcAft>
            </a:pPr>
            <a:r>
              <a:rPr sz="1300" b="0">
                <a:solidFill>
                  <a:srgbClr val="1C1C1C"/>
                </a:solidFill>
                <a:latin typeface="Arial"/>
              </a:rPr>
              <a:t>Udhaar settled in cash moves to UPI.</a:t>
            </a:r>
          </a:p>
          <a:p>
            <a:pPr>
              <a:lnSpc>
                <a:spcPct val="135000"/>
              </a:lnSpc>
              <a:spcBef>
                <a:spcPts val="1200"/>
              </a:spcBef>
              <a:spcAft>
                <a:spcPts val="0"/>
              </a:spcAft>
            </a:pPr>
            <a:r>
              <a:rPr sz="1300" b="0">
                <a:solidFill>
                  <a:srgbClr val="1C1C1C"/>
                </a:solidFill>
                <a:latin typeface="Arial"/>
              </a:rPr>
              <a:t>A daily reason to use the Soundbox.</a:t>
            </a:r>
          </a:p>
          <a:p>
            <a:pPr>
              <a:lnSpc>
                <a:spcPct val="135000"/>
              </a:lnSpc>
              <a:spcBef>
                <a:spcPts val="1200"/>
              </a:spcBef>
              <a:spcAft>
                <a:spcPts val="0"/>
              </a:spcAft>
            </a:pPr>
            <a:r>
              <a:rPr sz="1300" b="0">
                <a:solidFill>
                  <a:srgbClr val="1C1C1C"/>
                </a:solidFill>
                <a:latin typeface="Arial"/>
              </a:rPr>
              <a:t>A new reason to open the Paytm app.</a:t>
            </a:r>
          </a:p>
        </p:txBody>
      </p:sp>
      <p:sp>
        <p:nvSpPr>
          <p:cNvPr id="17" name="TextBox 16"/>
          <p:cNvSpPr txBox="1"/>
          <p:nvPr/>
        </p:nvSpPr>
        <p:spPr>
          <a:xfrm>
            <a:off x="566928" y="6382512"/>
            <a:ext cx="10326319" cy="274320"/>
          </a:xfrm>
          <a:prstGeom prst="rect">
            <a:avLst/>
          </a:prstGeom>
          <a:noFill/>
        </p:spPr>
        <p:txBody>
          <a:bodyPr wrap="square" lIns="0" rIns="0" tIns="0" bIns="0" anchor="t">
            <a:spAutoFit/>
          </a:bodyPr>
          <a:lstStyle/>
          <a:p>
            <a:pPr>
              <a:lnSpc>
                <a:spcPct val="120000"/>
              </a:lnSpc>
              <a:spcBef>
                <a:spcPts val="0"/>
              </a:spcBef>
              <a:spcAft>
                <a:spcPts val="0"/>
              </a:spcAft>
            </a:pPr>
            <a:r>
              <a:rPr sz="900" b="0">
                <a:solidFill>
                  <a:srgbClr val="8B95A5"/>
                </a:solidFill>
                <a:latin typeface="Arial"/>
              </a:rPr>
              <a:t>These are the outcomes we expect; a pilot would measure them. “4 of 38” is computed from our synthetic demo shop.</a:t>
            </a:r>
          </a:p>
        </p:txBody>
      </p:sp>
      <p:sp>
        <p:nvSpPr>
          <p:cNvPr id="18" name="TextBox 17"/>
          <p:cNvSpPr txBox="1"/>
          <p:nvPr/>
        </p:nvSpPr>
        <p:spPr>
          <a:xfrm>
            <a:off x="10984687" y="6382512"/>
            <a:ext cx="640080" cy="274320"/>
          </a:xfrm>
          <a:prstGeom prst="rect">
            <a:avLst/>
          </a:prstGeom>
          <a:noFill/>
        </p:spPr>
        <p:txBody>
          <a:bodyPr wrap="square" lIns="0" rIns="0" tIns="0" bIns="0" anchor="t">
            <a:spAutoFit/>
          </a:bodyPr>
          <a:lstStyle/>
          <a:p>
            <a:pPr algn="r">
              <a:lnSpc>
                <a:spcPct val="130000"/>
              </a:lnSpc>
              <a:spcBef>
                <a:spcPts val="0"/>
              </a:spcBef>
              <a:spcAft>
                <a:spcPts val="0"/>
              </a:spcAft>
            </a:pPr>
            <a:r>
              <a:rPr sz="900" b="0">
                <a:solidFill>
                  <a:srgbClr val="8B95A5"/>
                </a:solidFill>
                <a:latin typeface="Arial"/>
              </a:rPr>
              <a:t>8 / 12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AF6FC"/>
          </a:solidFill>
          <a:ln>
            <a:noFill/>
          </a:ln>
        </p:spPr>
        <p:txBody>
          <a:bodyPr rtlCol="0" anchor="ctr"/>
          <a:lstStyle/>
          <a:p>
            <a:pPr algn="ctr"/>
          </a:p>
        </p:txBody>
      </p:sp>
      <p:sp>
        <p:nvSpPr>
          <p:cNvPr id="3" name="TextBox 2"/>
          <p:cNvSpPr txBox="1"/>
          <p:nvPr/>
        </p:nvSpPr>
        <p:spPr>
          <a:xfrm>
            <a:off x="566928" y="384048"/>
            <a:ext cx="11057839" cy="228600"/>
          </a:xfrm>
          <a:prstGeom prst="rect">
            <a:avLst/>
          </a:prstGeom>
          <a:noFill/>
        </p:spPr>
        <p:txBody>
          <a:bodyPr wrap="square" lIns="0" rIns="0" tIns="0" bIns="0" anchor="t">
            <a:spAutoFit/>
          </a:bodyPr>
          <a:lstStyle/>
          <a:p>
            <a:pPr>
              <a:lnSpc>
                <a:spcPct val="130000"/>
              </a:lnSpc>
              <a:spcBef>
                <a:spcPts val="0"/>
              </a:spcBef>
              <a:spcAft>
                <a:spcPts val="0"/>
              </a:spcAft>
            </a:pPr>
            <a:r>
              <a:rPr sz="1000" b="1" spc="140">
                <a:solidFill>
                  <a:srgbClr val="0077A8"/>
                </a:solidFill>
                <a:latin typeface="Arial"/>
              </a:rPr>
              <a:t>6 · BUSINESS MODEL</a:t>
            </a:r>
          </a:p>
        </p:txBody>
      </p:sp>
      <p:sp>
        <p:nvSpPr>
          <p:cNvPr id="4" name="TextBox 3"/>
          <p:cNvSpPr txBox="1"/>
          <p:nvPr/>
        </p:nvSpPr>
        <p:spPr>
          <a:xfrm>
            <a:off x="566928" y="676656"/>
            <a:ext cx="11057839" cy="822960"/>
          </a:xfrm>
          <a:prstGeom prst="rect">
            <a:avLst/>
          </a:prstGeom>
          <a:noFill/>
        </p:spPr>
        <p:txBody>
          <a:bodyPr wrap="square" lIns="0" rIns="0" tIns="0" bIns="0" anchor="t">
            <a:spAutoFit/>
          </a:bodyPr>
          <a:lstStyle/>
          <a:p>
            <a:pPr>
              <a:lnSpc>
                <a:spcPct val="105000"/>
              </a:lnSpc>
              <a:spcBef>
                <a:spcPts val="0"/>
              </a:spcBef>
              <a:spcAft>
                <a:spcPts val="0"/>
              </a:spcAft>
            </a:pPr>
            <a:r>
              <a:rPr sz="2600" b="1">
                <a:solidFill>
                  <a:srgbClr val="002970"/>
                </a:solidFill>
                <a:latin typeface="Arial"/>
              </a:rPr>
              <a:t>Free for both sides. Paytm gains through the Soundbox.</a:t>
            </a:r>
          </a:p>
        </p:txBody>
      </p:sp>
      <p:sp>
        <p:nvSpPr>
          <p:cNvPr id="5" name="Rounded Rectangle 4"/>
          <p:cNvSpPr/>
          <p:nvPr/>
        </p:nvSpPr>
        <p:spPr>
          <a:xfrm>
            <a:off x="566928" y="1645920"/>
            <a:ext cx="6812280" cy="2103120"/>
          </a:xfrm>
          <a:prstGeom prst="roundRect">
            <a:avLst>
              <a:gd name="adj" fmla="val 6000"/>
            </a:avLst>
          </a:prstGeom>
          <a:solidFill>
            <a:srgbClr val="FFFFFF"/>
          </a:solidFill>
          <a:ln>
            <a:noFill/>
          </a:ln>
        </p:spPr>
        <p:txBody>
          <a:bodyPr rtlCol="0" anchor="ctr"/>
          <a:lstStyle/>
          <a:p>
            <a:pPr algn="ctr"/>
          </a:p>
        </p:txBody>
      </p:sp>
      <p:sp>
        <p:nvSpPr>
          <p:cNvPr id="6" name="Rounded Rectangle 5"/>
          <p:cNvSpPr/>
          <p:nvPr/>
        </p:nvSpPr>
        <p:spPr>
          <a:xfrm>
            <a:off x="841248" y="2423160"/>
            <a:ext cx="1463040" cy="914400"/>
          </a:xfrm>
          <a:prstGeom prst="roundRect">
            <a:avLst>
              <a:gd name="adj" fmla="val 12000"/>
            </a:avLst>
          </a:prstGeom>
          <a:solidFill>
            <a:srgbClr val="EAF6FC"/>
          </a:solidFill>
          <a:ln>
            <a:noFill/>
          </a:ln>
        </p:spPr>
        <p:txBody>
          <a:bodyPr rtlCol="0" anchor="ctr"/>
          <a:lstStyle/>
          <a:p>
            <a:pPr algn="ctr"/>
          </a:p>
        </p:txBody>
      </p:sp>
      <p:sp>
        <p:nvSpPr>
          <p:cNvPr id="7" name="TextBox 6"/>
          <p:cNvSpPr txBox="1"/>
          <p:nvPr/>
        </p:nvSpPr>
        <p:spPr>
          <a:xfrm>
            <a:off x="950976" y="2423160"/>
            <a:ext cx="1243584" cy="914400"/>
          </a:xfrm>
          <a:prstGeom prst="rect">
            <a:avLst/>
          </a:prstGeom>
          <a:noFill/>
        </p:spPr>
        <p:txBody>
          <a:bodyPr wrap="square" lIns="0" rIns="0" tIns="0" bIns="0" anchor="ctr">
            <a:spAutoFit/>
          </a:bodyPr>
          <a:lstStyle/>
          <a:p>
            <a:pPr algn="ctr">
              <a:lnSpc>
                <a:spcPct val="110000"/>
              </a:lnSpc>
              <a:spcBef>
                <a:spcPts val="0"/>
              </a:spcBef>
              <a:spcAft>
                <a:spcPts val="0"/>
              </a:spcAft>
            </a:pPr>
            <a:r>
              <a:rPr sz="1400" b="1">
                <a:solidFill>
                  <a:srgbClr val="002970"/>
                </a:solidFill>
                <a:latin typeface="Arial"/>
              </a:rPr>
              <a:t>Customer</a:t>
            </a:r>
          </a:p>
          <a:p>
            <a:pPr algn="ctr">
              <a:lnSpc>
                <a:spcPct val="120000"/>
              </a:lnSpc>
              <a:spcBef>
                <a:spcPts val="300"/>
              </a:spcBef>
              <a:spcAft>
                <a:spcPts val="0"/>
              </a:spcAft>
            </a:pPr>
            <a:r>
              <a:rPr sz="1100" b="0">
                <a:solidFill>
                  <a:srgbClr val="5B6675"/>
                </a:solidFill>
                <a:latin typeface="Arial"/>
              </a:rPr>
              <a:t>pays nothing extra</a:t>
            </a:r>
          </a:p>
        </p:txBody>
      </p:sp>
      <p:sp>
        <p:nvSpPr>
          <p:cNvPr id="8" name="Rounded Rectangle 7"/>
          <p:cNvSpPr/>
          <p:nvPr/>
        </p:nvSpPr>
        <p:spPr>
          <a:xfrm>
            <a:off x="3236976" y="2423160"/>
            <a:ext cx="1463040" cy="914400"/>
          </a:xfrm>
          <a:prstGeom prst="roundRect">
            <a:avLst>
              <a:gd name="adj" fmla="val 12000"/>
            </a:avLst>
          </a:prstGeom>
          <a:solidFill>
            <a:srgbClr val="EAF6FC"/>
          </a:solidFill>
          <a:ln>
            <a:noFill/>
          </a:ln>
        </p:spPr>
        <p:txBody>
          <a:bodyPr rtlCol="0" anchor="ctr"/>
          <a:lstStyle/>
          <a:p>
            <a:pPr algn="ctr"/>
          </a:p>
        </p:txBody>
      </p:sp>
      <p:sp>
        <p:nvSpPr>
          <p:cNvPr id="9" name="TextBox 8"/>
          <p:cNvSpPr txBox="1"/>
          <p:nvPr/>
        </p:nvSpPr>
        <p:spPr>
          <a:xfrm>
            <a:off x="3346704" y="2423160"/>
            <a:ext cx="1243584" cy="914400"/>
          </a:xfrm>
          <a:prstGeom prst="rect">
            <a:avLst/>
          </a:prstGeom>
          <a:noFill/>
        </p:spPr>
        <p:txBody>
          <a:bodyPr wrap="square" lIns="0" rIns="0" tIns="0" bIns="0" anchor="ctr">
            <a:spAutoFit/>
          </a:bodyPr>
          <a:lstStyle/>
          <a:p>
            <a:pPr algn="ctr">
              <a:lnSpc>
                <a:spcPct val="110000"/>
              </a:lnSpc>
              <a:spcBef>
                <a:spcPts val="0"/>
              </a:spcBef>
              <a:spcAft>
                <a:spcPts val="0"/>
              </a:spcAft>
            </a:pPr>
            <a:r>
              <a:rPr sz="1400" b="1">
                <a:solidFill>
                  <a:srgbClr val="002970"/>
                </a:solidFill>
                <a:latin typeface="Arial"/>
              </a:rPr>
              <a:t>Shopkeeper</a:t>
            </a:r>
          </a:p>
          <a:p>
            <a:pPr algn="ctr">
              <a:lnSpc>
                <a:spcPct val="120000"/>
              </a:lnSpc>
              <a:spcBef>
                <a:spcPts val="300"/>
              </a:spcBef>
              <a:spcAft>
                <a:spcPts val="0"/>
              </a:spcAft>
            </a:pPr>
            <a:r>
              <a:rPr sz="1100" b="0">
                <a:solidFill>
                  <a:srgbClr val="5B6675"/>
                </a:solidFill>
                <a:latin typeface="Arial"/>
              </a:rPr>
              <a:t>pays nothing extra</a:t>
            </a:r>
          </a:p>
        </p:txBody>
      </p:sp>
      <p:sp>
        <p:nvSpPr>
          <p:cNvPr id="10" name="Rounded Rectangle 9"/>
          <p:cNvSpPr/>
          <p:nvPr/>
        </p:nvSpPr>
        <p:spPr>
          <a:xfrm>
            <a:off x="5641848" y="2423160"/>
            <a:ext cx="1463040" cy="914400"/>
          </a:xfrm>
          <a:prstGeom prst="roundRect">
            <a:avLst>
              <a:gd name="adj" fmla="val 12000"/>
            </a:avLst>
          </a:prstGeom>
          <a:solidFill>
            <a:srgbClr val="002970"/>
          </a:solidFill>
          <a:ln>
            <a:noFill/>
          </a:ln>
        </p:spPr>
        <p:txBody>
          <a:bodyPr rtlCol="0" anchor="ctr"/>
          <a:lstStyle/>
          <a:p>
            <a:pPr algn="ctr"/>
          </a:p>
        </p:txBody>
      </p:sp>
      <p:sp>
        <p:nvSpPr>
          <p:cNvPr id="11" name="TextBox 10"/>
          <p:cNvSpPr txBox="1"/>
          <p:nvPr/>
        </p:nvSpPr>
        <p:spPr>
          <a:xfrm>
            <a:off x="5751576" y="2423160"/>
            <a:ext cx="1243584" cy="914400"/>
          </a:xfrm>
          <a:prstGeom prst="rect">
            <a:avLst/>
          </a:prstGeom>
          <a:noFill/>
        </p:spPr>
        <p:txBody>
          <a:bodyPr wrap="square" lIns="0" rIns="0" tIns="0" bIns="0" anchor="ctr">
            <a:spAutoFit/>
          </a:bodyPr>
          <a:lstStyle/>
          <a:p>
            <a:pPr algn="ctr">
              <a:lnSpc>
                <a:spcPct val="110000"/>
              </a:lnSpc>
              <a:spcBef>
                <a:spcPts val="0"/>
              </a:spcBef>
              <a:spcAft>
                <a:spcPts val="0"/>
              </a:spcAft>
            </a:pPr>
            <a:r>
              <a:rPr sz="1400" b="1">
                <a:solidFill>
                  <a:srgbClr val="FFFFFF"/>
                </a:solidFill>
                <a:latin typeface="Arial"/>
              </a:rPr>
              <a:t>Paytm</a:t>
            </a:r>
          </a:p>
          <a:p>
            <a:pPr algn="ctr">
              <a:lnSpc>
                <a:spcPct val="120000"/>
              </a:lnSpc>
              <a:spcBef>
                <a:spcPts val="300"/>
              </a:spcBef>
              <a:spcAft>
                <a:spcPts val="0"/>
              </a:spcAft>
            </a:pPr>
            <a:r>
              <a:rPr sz="1100" b="0">
                <a:solidFill>
                  <a:srgbClr val="C9D8EE"/>
                </a:solidFill>
                <a:latin typeface="Arial"/>
              </a:rPr>
              <a:t>UPI + Soundbox</a:t>
            </a:r>
          </a:p>
        </p:txBody>
      </p:sp>
      <p:cxnSp>
        <p:nvCxnSpPr>
          <p:cNvPr id="12" name="Connector 11"/>
          <p:cNvCxnSpPr/>
          <p:nvPr/>
        </p:nvCxnSpPr>
        <p:spPr>
          <a:xfrm>
            <a:off x="2377440" y="2880360"/>
            <a:ext cx="786384" cy="0"/>
          </a:xfrm>
          <a:prstGeom prst="line">
            <a:avLst/>
          </a:prstGeom>
          <a:ln w="25400">
            <a:solidFill>
              <a:srgbClr val="002970"/>
            </a:solidFill>
            <a:tailEnd type="triangle" w="med" len="med"/>
          </a:ln>
        </p:spPr>
      </p:cxnSp>
      <p:sp>
        <p:nvSpPr>
          <p:cNvPr id="13" name="TextBox 12"/>
          <p:cNvSpPr txBox="1"/>
          <p:nvPr/>
        </p:nvSpPr>
        <p:spPr>
          <a:xfrm>
            <a:off x="2304288" y="1947672"/>
            <a:ext cx="932688" cy="457200"/>
          </a:xfrm>
          <a:prstGeom prst="rect">
            <a:avLst/>
          </a:prstGeom>
          <a:noFill/>
        </p:spPr>
        <p:txBody>
          <a:bodyPr wrap="square" lIns="0" rIns="0" tIns="0" bIns="0" anchor="b">
            <a:spAutoFit/>
          </a:bodyPr>
          <a:lstStyle/>
          <a:p>
            <a:pPr algn="ctr">
              <a:lnSpc>
                <a:spcPct val="110000"/>
              </a:lnSpc>
              <a:spcBef>
                <a:spcPts val="0"/>
              </a:spcBef>
              <a:spcAft>
                <a:spcPts val="0"/>
              </a:spcAft>
            </a:pPr>
            <a:r>
              <a:rPr sz="1050" b="1">
                <a:solidFill>
                  <a:srgbClr val="002970"/>
                </a:solidFill>
                <a:latin typeface="Arial"/>
              </a:rPr>
              <a:t>clears udhaar</a:t>
            </a:r>
          </a:p>
          <a:p>
            <a:pPr algn="ctr">
              <a:lnSpc>
                <a:spcPct val="110000"/>
              </a:lnSpc>
              <a:spcBef>
                <a:spcPts val="0"/>
              </a:spcBef>
              <a:spcAft>
                <a:spcPts val="0"/>
              </a:spcAft>
            </a:pPr>
            <a:r>
              <a:rPr sz="1050" b="1">
                <a:solidFill>
                  <a:srgbClr val="002970"/>
                </a:solidFill>
                <a:latin typeface="Arial"/>
              </a:rPr>
              <a:t>by UPI</a:t>
            </a:r>
          </a:p>
        </p:txBody>
      </p:sp>
      <p:cxnSp>
        <p:nvCxnSpPr>
          <p:cNvPr id="14" name="Connector 13"/>
          <p:cNvCxnSpPr/>
          <p:nvPr/>
        </p:nvCxnSpPr>
        <p:spPr>
          <a:xfrm>
            <a:off x="4773168" y="2880360"/>
            <a:ext cx="795528" cy="0"/>
          </a:xfrm>
          <a:prstGeom prst="line">
            <a:avLst/>
          </a:prstGeom>
          <a:ln w="25400">
            <a:solidFill>
              <a:srgbClr val="002970"/>
            </a:solidFill>
            <a:tailEnd type="triangle" w="med" len="med"/>
          </a:ln>
        </p:spPr>
      </p:cxnSp>
      <p:sp>
        <p:nvSpPr>
          <p:cNvPr id="15" name="TextBox 14"/>
          <p:cNvSpPr txBox="1"/>
          <p:nvPr/>
        </p:nvSpPr>
        <p:spPr>
          <a:xfrm>
            <a:off x="4700016" y="1947672"/>
            <a:ext cx="941832" cy="457200"/>
          </a:xfrm>
          <a:prstGeom prst="rect">
            <a:avLst/>
          </a:prstGeom>
          <a:noFill/>
        </p:spPr>
        <p:txBody>
          <a:bodyPr wrap="square" lIns="0" rIns="0" tIns="0" bIns="0" anchor="b">
            <a:spAutoFit/>
          </a:bodyPr>
          <a:lstStyle/>
          <a:p>
            <a:pPr algn="ctr">
              <a:lnSpc>
                <a:spcPct val="110000"/>
              </a:lnSpc>
              <a:spcBef>
                <a:spcPts val="0"/>
              </a:spcBef>
              <a:spcAft>
                <a:spcPts val="0"/>
              </a:spcAft>
            </a:pPr>
            <a:r>
              <a:rPr sz="1050" b="1">
                <a:solidFill>
                  <a:srgbClr val="002970"/>
                </a:solidFill>
                <a:latin typeface="Arial"/>
              </a:rPr>
              <a:t>keeps his</a:t>
            </a:r>
          </a:p>
          <a:p>
            <a:pPr algn="ctr">
              <a:lnSpc>
                <a:spcPct val="110000"/>
              </a:lnSpc>
              <a:spcBef>
                <a:spcPts val="0"/>
              </a:spcBef>
              <a:spcAft>
                <a:spcPts val="0"/>
              </a:spcAft>
            </a:pPr>
            <a:r>
              <a:rPr sz="1050" b="1">
                <a:solidFill>
                  <a:srgbClr val="002970"/>
                </a:solidFill>
                <a:latin typeface="Arial"/>
              </a:rPr>
              <a:t>Soundbox</a:t>
            </a:r>
          </a:p>
        </p:txBody>
      </p:sp>
      <p:sp>
        <p:nvSpPr>
          <p:cNvPr id="16" name="TextBox 15"/>
          <p:cNvSpPr txBox="1"/>
          <p:nvPr/>
        </p:nvSpPr>
        <p:spPr>
          <a:xfrm>
            <a:off x="566928" y="4023360"/>
            <a:ext cx="6812280" cy="2103120"/>
          </a:xfrm>
          <a:prstGeom prst="rect">
            <a:avLst/>
          </a:prstGeom>
          <a:noFill/>
        </p:spPr>
        <p:txBody>
          <a:bodyPr wrap="square" lIns="0" rIns="0" tIns="0" bIns="0" anchor="t">
            <a:spAutoFit/>
          </a:bodyPr>
          <a:lstStyle/>
          <a:p>
            <a:pPr>
              <a:lnSpc>
                <a:spcPct val="130000"/>
              </a:lnSpc>
              <a:spcBef>
                <a:spcPts val="0"/>
              </a:spcBef>
              <a:spcAft>
                <a:spcPts val="200"/>
              </a:spcAft>
            </a:pPr>
            <a:r>
              <a:rPr sz="1500" b="1">
                <a:solidFill>
                  <a:srgbClr val="002970"/>
                </a:solidFill>
                <a:latin typeface="Arial"/>
              </a:rPr>
              <a:t>What Paytm gets</a:t>
            </a:r>
          </a:p>
          <a:p>
            <a:pPr>
              <a:lnSpc>
                <a:spcPct val="135000"/>
              </a:lnSpc>
              <a:spcBef>
                <a:spcPts val="900"/>
              </a:spcBef>
              <a:spcAft>
                <a:spcPts val="0"/>
              </a:spcAft>
            </a:pPr>
            <a:r>
              <a:rPr sz="1300" b="1">
                <a:solidFill>
                  <a:srgbClr val="0077A8"/>
                </a:solidFill>
                <a:latin typeface="Arial"/>
              </a:rPr>
              <a:t>—  </a:t>
            </a:r>
            <a:r>
              <a:rPr sz="1300" b="0">
                <a:solidFill>
                  <a:srgbClr val="1C1C1C"/>
                </a:solidFill>
                <a:latin typeface="Arial"/>
              </a:rPr>
              <a:t>Udhaar repayments move from cash to Paytm UPI.</a:t>
            </a:r>
          </a:p>
          <a:p>
            <a:pPr>
              <a:lnSpc>
                <a:spcPct val="135000"/>
              </a:lnSpc>
              <a:spcBef>
                <a:spcPts val="900"/>
              </a:spcBef>
              <a:spcAft>
                <a:spcPts val="0"/>
              </a:spcAft>
            </a:pPr>
            <a:r>
              <a:rPr sz="1300" b="1">
                <a:solidFill>
                  <a:srgbClr val="0077A8"/>
                </a:solidFill>
                <a:latin typeface="Arial"/>
              </a:rPr>
              <a:t>—  </a:t>
            </a:r>
            <a:r>
              <a:rPr sz="1300" b="0">
                <a:solidFill>
                  <a:srgbClr val="1C1C1C"/>
                </a:solidFill>
                <a:latin typeface="Arial"/>
              </a:rPr>
              <a:t>A reason for merchants to keep their Soundbox subscription.</a:t>
            </a:r>
          </a:p>
          <a:p>
            <a:pPr>
              <a:lnSpc>
                <a:spcPct val="135000"/>
              </a:lnSpc>
              <a:spcBef>
                <a:spcPts val="900"/>
              </a:spcBef>
              <a:spcAft>
                <a:spcPts val="0"/>
              </a:spcAft>
            </a:pPr>
            <a:r>
              <a:rPr sz="1300" b="1">
                <a:solidFill>
                  <a:srgbClr val="0077A8"/>
                </a:solidFill>
                <a:latin typeface="Arial"/>
              </a:rPr>
              <a:t>—  </a:t>
            </a:r>
            <a:r>
              <a:rPr sz="1300" b="0">
                <a:solidFill>
                  <a:srgbClr val="1C1C1C"/>
                </a:solidFill>
                <a:latin typeface="Arial"/>
              </a:rPr>
              <a:t>Later, with consent: a repayment history for people with no credit file. We only record it — licensed partners would lend.</a:t>
            </a:r>
          </a:p>
        </p:txBody>
      </p:sp>
      <p:sp>
        <p:nvSpPr>
          <p:cNvPr id="17" name="Rounded Rectangle 16"/>
          <p:cNvSpPr/>
          <p:nvPr/>
        </p:nvSpPr>
        <p:spPr>
          <a:xfrm>
            <a:off x="7653528" y="1645920"/>
            <a:ext cx="3971239" cy="2103120"/>
          </a:xfrm>
          <a:prstGeom prst="roundRect">
            <a:avLst>
              <a:gd name="adj" fmla="val 6000"/>
            </a:avLst>
          </a:prstGeom>
          <a:solidFill>
            <a:srgbClr val="FFFFFF"/>
          </a:solidFill>
          <a:ln>
            <a:noFill/>
          </a:ln>
        </p:spPr>
        <p:txBody>
          <a:bodyPr rtlCol="0" anchor="ctr"/>
          <a:lstStyle/>
          <a:p>
            <a:pPr algn="ctr"/>
          </a:p>
        </p:txBody>
      </p:sp>
      <p:sp>
        <p:nvSpPr>
          <p:cNvPr id="18" name="TextBox 17"/>
          <p:cNvSpPr txBox="1"/>
          <p:nvPr/>
        </p:nvSpPr>
        <p:spPr>
          <a:xfrm>
            <a:off x="7927848" y="1874520"/>
            <a:ext cx="3422599" cy="1737360"/>
          </a:xfrm>
          <a:prstGeom prst="rect">
            <a:avLst/>
          </a:prstGeom>
          <a:noFill/>
        </p:spPr>
        <p:txBody>
          <a:bodyPr wrap="square" lIns="0" rIns="0" tIns="0" bIns="0" anchor="t">
            <a:spAutoFit/>
          </a:bodyPr>
          <a:lstStyle/>
          <a:p>
            <a:pPr>
              <a:lnSpc>
                <a:spcPct val="100000"/>
              </a:lnSpc>
              <a:spcBef>
                <a:spcPts val="0"/>
              </a:spcBef>
              <a:spcAft>
                <a:spcPts val="0"/>
              </a:spcAft>
            </a:pPr>
            <a:r>
              <a:rPr sz="3600" b="1">
                <a:solidFill>
                  <a:srgbClr val="002970"/>
                </a:solidFill>
                <a:latin typeface="Arial"/>
              </a:rPr>
              <a:t>1.57 Cr</a:t>
            </a:r>
          </a:p>
          <a:p>
            <a:pPr>
              <a:lnSpc>
                <a:spcPct val="135000"/>
              </a:lnSpc>
              <a:spcBef>
                <a:spcPts val="800"/>
              </a:spcBef>
              <a:spcAft>
                <a:spcPts val="0"/>
              </a:spcAft>
            </a:pPr>
            <a:r>
              <a:rPr sz="1300" b="0">
                <a:solidFill>
                  <a:srgbClr val="1C1C1C"/>
                </a:solidFill>
                <a:latin typeface="Arial"/>
              </a:rPr>
              <a:t>storefronts already run a Paytm Soundbox — the counter BAHI lives on.</a:t>
            </a:r>
          </a:p>
          <a:p>
            <a:pPr>
              <a:lnSpc>
                <a:spcPct val="130000"/>
              </a:lnSpc>
              <a:spcBef>
                <a:spcPts val="800"/>
              </a:spcBef>
              <a:spcAft>
                <a:spcPts val="0"/>
              </a:spcAft>
            </a:pPr>
            <a:r>
              <a:rPr sz="950" b="0">
                <a:solidFill>
                  <a:srgbClr val="8B95A5"/>
                </a:solidFill>
                <a:latin typeface="Arial"/>
              </a:rPr>
              <a:t>Source: Paytm Q1 FY27 earnings release, Jul 2026</a:t>
            </a:r>
          </a:p>
        </p:txBody>
      </p:sp>
      <p:sp>
        <p:nvSpPr>
          <p:cNvPr id="19" name="Rounded Rectangle 18"/>
          <p:cNvSpPr/>
          <p:nvPr/>
        </p:nvSpPr>
        <p:spPr>
          <a:xfrm>
            <a:off x="7653528" y="3977640"/>
            <a:ext cx="3971239" cy="2103120"/>
          </a:xfrm>
          <a:prstGeom prst="roundRect">
            <a:avLst>
              <a:gd name="adj" fmla="val 6000"/>
            </a:avLst>
          </a:prstGeom>
          <a:solidFill>
            <a:srgbClr val="FFFFFF"/>
          </a:solidFill>
          <a:ln>
            <a:noFill/>
          </a:ln>
        </p:spPr>
        <p:txBody>
          <a:bodyPr rtlCol="0" anchor="ctr"/>
          <a:lstStyle/>
          <a:p>
            <a:pPr algn="ctr"/>
          </a:p>
        </p:txBody>
      </p:sp>
      <p:sp>
        <p:nvSpPr>
          <p:cNvPr id="20" name="TextBox 19"/>
          <p:cNvSpPr txBox="1"/>
          <p:nvPr/>
        </p:nvSpPr>
        <p:spPr>
          <a:xfrm>
            <a:off x="7927848" y="4206240"/>
            <a:ext cx="3422599" cy="1737360"/>
          </a:xfrm>
          <a:prstGeom prst="rect">
            <a:avLst/>
          </a:prstGeom>
          <a:noFill/>
        </p:spPr>
        <p:txBody>
          <a:bodyPr wrap="square" lIns="0" rIns="0" tIns="0" bIns="0" anchor="t">
            <a:spAutoFit/>
          </a:bodyPr>
          <a:lstStyle/>
          <a:p>
            <a:pPr>
              <a:lnSpc>
                <a:spcPct val="100000"/>
              </a:lnSpc>
              <a:spcBef>
                <a:spcPts val="0"/>
              </a:spcBef>
              <a:spcAft>
                <a:spcPts val="0"/>
              </a:spcAft>
            </a:pPr>
            <a:r>
              <a:rPr sz="3600" b="1">
                <a:solidFill>
                  <a:srgbClr val="002970"/>
                </a:solidFill>
                <a:latin typeface="Arial"/>
              </a:rPr>
              <a:t>₹116 Cr</a:t>
            </a:r>
          </a:p>
          <a:p>
            <a:pPr>
              <a:lnSpc>
                <a:spcPct val="135000"/>
              </a:lnSpc>
              <a:spcBef>
                <a:spcPts val="800"/>
              </a:spcBef>
              <a:spcAft>
                <a:spcPts val="0"/>
              </a:spcAft>
            </a:pPr>
            <a:r>
              <a:rPr sz="1300" b="0">
                <a:solidFill>
                  <a:srgbClr val="1C1C1C"/>
                </a:solidFill>
                <a:latin typeface="Arial"/>
              </a:rPr>
              <a:t>Khatabook’s FY24 loss, on ₹102.7 Cr revenue. Charging for a ledger has not worked, so we don’t.</a:t>
            </a:r>
          </a:p>
          <a:p>
            <a:pPr>
              <a:lnSpc>
                <a:spcPct val="130000"/>
              </a:lnSpc>
              <a:spcBef>
                <a:spcPts val="800"/>
              </a:spcBef>
              <a:spcAft>
                <a:spcPts val="0"/>
              </a:spcAft>
            </a:pPr>
            <a:r>
              <a:rPr sz="950" b="0">
                <a:solidFill>
                  <a:srgbClr val="8B95A5"/>
                </a:solidFill>
                <a:latin typeface="Arial"/>
              </a:rPr>
              <a:t>Source: YourStory, Nov 2024</a:t>
            </a:r>
          </a:p>
        </p:txBody>
      </p:sp>
      <p:sp>
        <p:nvSpPr>
          <p:cNvPr id="21" name="TextBox 20"/>
          <p:cNvSpPr txBox="1"/>
          <p:nvPr/>
        </p:nvSpPr>
        <p:spPr>
          <a:xfrm>
            <a:off x="10984687" y="6382512"/>
            <a:ext cx="640080" cy="274320"/>
          </a:xfrm>
          <a:prstGeom prst="rect">
            <a:avLst/>
          </a:prstGeom>
          <a:noFill/>
        </p:spPr>
        <p:txBody>
          <a:bodyPr wrap="square" lIns="0" rIns="0" tIns="0" bIns="0" anchor="t">
            <a:spAutoFit/>
          </a:bodyPr>
          <a:lstStyle/>
          <a:p>
            <a:pPr algn="r">
              <a:lnSpc>
                <a:spcPct val="130000"/>
              </a:lnSpc>
              <a:spcBef>
                <a:spcPts val="0"/>
              </a:spcBef>
              <a:spcAft>
                <a:spcPts val="0"/>
              </a:spcAft>
            </a:pPr>
            <a:r>
              <a:rPr sz="900" b="0">
                <a:solidFill>
                  <a:srgbClr val="8B95A5"/>
                </a:solidFill>
                <a:latin typeface="Arial"/>
              </a:rPr>
              <a:t>9 / 12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AF6FC"/>
          </a:solidFill>
          <a:ln>
            <a:noFill/>
          </a:ln>
        </p:spPr>
        <p:txBody>
          <a:bodyPr rtlCol="0" anchor="ctr"/>
          <a:lstStyle/>
          <a:p>
            <a:pPr algn="ctr"/>
          </a:p>
        </p:txBody>
      </p:sp>
      <p:sp>
        <p:nvSpPr>
          <p:cNvPr id="3" name="TextBox 2"/>
          <p:cNvSpPr txBox="1"/>
          <p:nvPr/>
        </p:nvSpPr>
        <p:spPr>
          <a:xfrm>
            <a:off x="566928" y="384048"/>
            <a:ext cx="11057839" cy="228600"/>
          </a:xfrm>
          <a:prstGeom prst="rect">
            <a:avLst/>
          </a:prstGeom>
          <a:noFill/>
        </p:spPr>
        <p:txBody>
          <a:bodyPr wrap="square" lIns="0" rIns="0" tIns="0" bIns="0" anchor="t">
            <a:spAutoFit/>
          </a:bodyPr>
          <a:lstStyle/>
          <a:p>
            <a:pPr>
              <a:lnSpc>
                <a:spcPct val="130000"/>
              </a:lnSpc>
              <a:spcBef>
                <a:spcPts val="0"/>
              </a:spcBef>
              <a:spcAft>
                <a:spcPts val="0"/>
              </a:spcAft>
            </a:pPr>
            <a:r>
              <a:rPr sz="1000" b="1" spc="140">
                <a:solidFill>
                  <a:srgbClr val="0077A8"/>
                </a:solidFill>
                <a:latin typeface="Arial"/>
              </a:rPr>
              <a:t>DESIGNED AROUND INDIAN LAW</a:t>
            </a:r>
          </a:p>
        </p:txBody>
      </p:sp>
      <p:sp>
        <p:nvSpPr>
          <p:cNvPr id="4" name="TextBox 3"/>
          <p:cNvSpPr txBox="1"/>
          <p:nvPr/>
        </p:nvSpPr>
        <p:spPr>
          <a:xfrm>
            <a:off x="566928" y="676656"/>
            <a:ext cx="11057839" cy="822960"/>
          </a:xfrm>
          <a:prstGeom prst="rect">
            <a:avLst/>
          </a:prstGeom>
          <a:noFill/>
        </p:spPr>
        <p:txBody>
          <a:bodyPr wrap="square" lIns="0" rIns="0" tIns="0" bIns="0" anchor="t">
            <a:spAutoFit/>
          </a:bodyPr>
          <a:lstStyle/>
          <a:p>
            <a:pPr>
              <a:lnSpc>
                <a:spcPct val="105000"/>
              </a:lnSpc>
              <a:spcBef>
                <a:spcPts val="0"/>
              </a:spcBef>
              <a:spcAft>
                <a:spcPts val="0"/>
              </a:spcAft>
            </a:pPr>
            <a:r>
              <a:rPr sz="2600" b="1">
                <a:solidFill>
                  <a:srgbClr val="002970"/>
                </a:solidFill>
                <a:latin typeface="Arial"/>
              </a:rPr>
              <a:t>Four things BAHI refuses to do, each from Indian law.</a:t>
            </a:r>
          </a:p>
        </p:txBody>
      </p:sp>
      <p:sp>
        <p:nvSpPr>
          <p:cNvPr id="5" name="Rounded Rectangle 4"/>
          <p:cNvSpPr/>
          <p:nvPr/>
        </p:nvSpPr>
        <p:spPr>
          <a:xfrm>
            <a:off x="566928" y="1645920"/>
            <a:ext cx="2599867" cy="4498848"/>
          </a:xfrm>
          <a:prstGeom prst="roundRect">
            <a:avLst>
              <a:gd name="adj" fmla="val 6000"/>
            </a:avLst>
          </a:prstGeom>
          <a:solidFill>
            <a:srgbClr val="FFFFFF"/>
          </a:solidFill>
          <a:ln>
            <a:noFill/>
          </a:ln>
        </p:spPr>
        <p:txBody>
          <a:bodyPr rtlCol="0" anchor="ctr"/>
          <a:lstStyle/>
          <a:p>
            <a:pPr algn="ctr"/>
          </a:p>
        </p:txBody>
      </p:sp>
      <p:sp>
        <p:nvSpPr>
          <p:cNvPr id="6" name="Oval 5"/>
          <p:cNvSpPr/>
          <p:nvPr/>
        </p:nvSpPr>
        <p:spPr>
          <a:xfrm>
            <a:off x="795528" y="1901952"/>
            <a:ext cx="420624" cy="420624"/>
          </a:xfrm>
          <a:prstGeom prst="ellipse">
            <a:avLst/>
          </a:prstGeom>
          <a:solidFill>
            <a:srgbClr val="002970"/>
          </a:solidFill>
          <a:ln>
            <a:noFill/>
          </a:ln>
        </p:spPr>
        <p:txBody>
          <a:bodyPr rtlCol="0" anchor="ctr"/>
          <a:lstStyle/>
          <a:p>
            <a:pPr algn="ctr"/>
          </a:p>
        </p:txBody>
      </p:sp>
      <p:sp>
        <p:nvSpPr>
          <p:cNvPr id="7" name="TextBox 6"/>
          <p:cNvSpPr txBox="1"/>
          <p:nvPr/>
        </p:nvSpPr>
        <p:spPr>
          <a:xfrm>
            <a:off x="795528" y="1901952"/>
            <a:ext cx="420624" cy="420624"/>
          </a:xfrm>
          <a:prstGeom prst="rect">
            <a:avLst/>
          </a:prstGeom>
          <a:noFill/>
        </p:spPr>
        <p:txBody>
          <a:bodyPr wrap="square" lIns="0" rIns="0" tIns="0" bIns="0" anchor="ctr">
            <a:spAutoFit/>
          </a:bodyPr>
          <a:lstStyle/>
          <a:p>
            <a:pPr algn="ctr">
              <a:lnSpc>
                <a:spcPct val="100000"/>
              </a:lnSpc>
              <a:spcBef>
                <a:spcPts val="0"/>
              </a:spcBef>
              <a:spcAft>
                <a:spcPts val="0"/>
              </a:spcAft>
            </a:pPr>
            <a:r>
              <a:rPr sz="1500" b="1">
                <a:solidFill>
                  <a:srgbClr val="FFFFFF"/>
                </a:solidFill>
                <a:latin typeface="Arial"/>
              </a:rPr>
              <a:t>1</a:t>
            </a:r>
          </a:p>
        </p:txBody>
      </p:sp>
      <p:sp>
        <p:nvSpPr>
          <p:cNvPr id="8" name="TextBox 7"/>
          <p:cNvSpPr txBox="1"/>
          <p:nvPr/>
        </p:nvSpPr>
        <p:spPr>
          <a:xfrm>
            <a:off x="795528" y="2514600"/>
            <a:ext cx="2142667" cy="2103120"/>
          </a:xfrm>
          <a:prstGeom prst="rect">
            <a:avLst/>
          </a:prstGeom>
          <a:noFill/>
        </p:spPr>
        <p:txBody>
          <a:bodyPr wrap="square" lIns="0" rIns="0" tIns="0" bIns="0" anchor="t">
            <a:spAutoFit/>
          </a:bodyPr>
          <a:lstStyle/>
          <a:p>
            <a:pPr>
              <a:lnSpc>
                <a:spcPct val="112000"/>
              </a:lnSpc>
              <a:spcBef>
                <a:spcPts val="0"/>
              </a:spcBef>
              <a:spcAft>
                <a:spcPts val="0"/>
              </a:spcAft>
            </a:pPr>
            <a:r>
              <a:rPr sz="1600" b="1">
                <a:solidFill>
                  <a:srgbClr val="002970"/>
                </a:solidFill>
                <a:latin typeface="Arial"/>
              </a:rPr>
              <a:t>No due dates</a:t>
            </a:r>
          </a:p>
          <a:p>
            <a:pPr>
              <a:lnSpc>
                <a:spcPct val="138000"/>
              </a:lnSpc>
              <a:spcBef>
                <a:spcPts val="1000"/>
              </a:spcBef>
              <a:spcAft>
                <a:spcPts val="0"/>
              </a:spcAft>
            </a:pPr>
            <a:r>
              <a:rPr sz="1300" b="0">
                <a:solidFill>
                  <a:srgbClr val="1C1C1C"/>
                </a:solidFill>
                <a:latin typeface="Arial"/>
              </a:rPr>
              <a:t>Customers tap “Yes, I owe ₹200” — never “I’ll pay by the 10th”.</a:t>
            </a:r>
          </a:p>
        </p:txBody>
      </p:sp>
      <p:sp>
        <p:nvSpPr>
          <p:cNvPr id="9" name="Rectangle 8"/>
          <p:cNvSpPr/>
          <p:nvPr/>
        </p:nvSpPr>
        <p:spPr>
          <a:xfrm>
            <a:off x="795528" y="4617720"/>
            <a:ext cx="2142667" cy="9525"/>
          </a:xfrm>
          <a:prstGeom prst="rect">
            <a:avLst/>
          </a:prstGeom>
          <a:solidFill>
            <a:srgbClr val="D9E4EC"/>
          </a:solidFill>
          <a:ln>
            <a:noFill/>
          </a:ln>
        </p:spPr>
        <p:txBody>
          <a:bodyPr rtlCol="0" anchor="ctr"/>
          <a:lstStyle/>
          <a:p>
            <a:pPr algn="ctr"/>
          </a:p>
        </p:txBody>
      </p:sp>
      <p:sp>
        <p:nvSpPr>
          <p:cNvPr id="10" name="TextBox 9"/>
          <p:cNvSpPr txBox="1"/>
          <p:nvPr/>
        </p:nvSpPr>
        <p:spPr>
          <a:xfrm>
            <a:off x="795528" y="4754880"/>
            <a:ext cx="2142667" cy="1325880"/>
          </a:xfrm>
          <a:prstGeom prst="rect">
            <a:avLst/>
          </a:prstGeom>
          <a:noFill/>
        </p:spPr>
        <p:txBody>
          <a:bodyPr wrap="square" lIns="0" rIns="0" tIns="0" bIns="0" anchor="t">
            <a:spAutoFit/>
          </a:bodyPr>
          <a:lstStyle/>
          <a:p>
            <a:pPr>
              <a:lnSpc>
                <a:spcPct val="135000"/>
              </a:lnSpc>
              <a:spcBef>
                <a:spcPts val="0"/>
              </a:spcBef>
              <a:spcAft>
                <a:spcPts val="0"/>
              </a:spcAft>
            </a:pPr>
            <a:r>
              <a:rPr sz="1200" b="1">
                <a:solidFill>
                  <a:srgbClr val="0077A8"/>
                </a:solidFill>
                <a:latin typeface="Arial"/>
              </a:rPr>
              <a:t>Why:  </a:t>
            </a:r>
            <a:r>
              <a:rPr sz="1200" b="0">
                <a:solidFill>
                  <a:srgbClr val="5B6675"/>
                </a:solidFill>
                <a:latin typeface="Arial"/>
              </a:rPr>
              <a:t>A dated promise can be a promissory note, which the IT Act does not cover.</a:t>
            </a:r>
          </a:p>
          <a:p>
            <a:pPr>
              <a:lnSpc>
                <a:spcPct val="125000"/>
              </a:lnSpc>
              <a:spcBef>
                <a:spcPts val="800"/>
              </a:spcBef>
              <a:spcAft>
                <a:spcPts val="0"/>
              </a:spcAft>
            </a:pPr>
            <a:r>
              <a:rPr sz="1000" b="1">
                <a:solidFill>
                  <a:srgbClr val="0077A8"/>
                </a:solidFill>
                <a:latin typeface="Arial"/>
              </a:rPr>
              <a:t>IT Act 2000, s.1(4) &amp; First Schedule</a:t>
            </a:r>
          </a:p>
        </p:txBody>
      </p:sp>
      <p:sp>
        <p:nvSpPr>
          <p:cNvPr id="11" name="Rounded Rectangle 10"/>
          <p:cNvSpPr/>
          <p:nvPr/>
        </p:nvSpPr>
        <p:spPr>
          <a:xfrm>
            <a:off x="3386251" y="1645920"/>
            <a:ext cx="2599867" cy="4498848"/>
          </a:xfrm>
          <a:prstGeom prst="roundRect">
            <a:avLst>
              <a:gd name="adj" fmla="val 6000"/>
            </a:avLst>
          </a:prstGeom>
          <a:solidFill>
            <a:srgbClr val="FFFFFF"/>
          </a:solidFill>
          <a:ln>
            <a:noFill/>
          </a:ln>
        </p:spPr>
        <p:txBody>
          <a:bodyPr rtlCol="0" anchor="ctr"/>
          <a:lstStyle/>
          <a:p>
            <a:pPr algn="ctr"/>
          </a:p>
        </p:txBody>
      </p:sp>
      <p:sp>
        <p:nvSpPr>
          <p:cNvPr id="12" name="Oval 11"/>
          <p:cNvSpPr/>
          <p:nvPr/>
        </p:nvSpPr>
        <p:spPr>
          <a:xfrm>
            <a:off x="3614851" y="1901952"/>
            <a:ext cx="420624" cy="420624"/>
          </a:xfrm>
          <a:prstGeom prst="ellipse">
            <a:avLst/>
          </a:prstGeom>
          <a:solidFill>
            <a:srgbClr val="002970"/>
          </a:solidFill>
          <a:ln>
            <a:noFill/>
          </a:ln>
        </p:spPr>
        <p:txBody>
          <a:bodyPr rtlCol="0" anchor="ctr"/>
          <a:lstStyle/>
          <a:p>
            <a:pPr algn="ctr"/>
          </a:p>
        </p:txBody>
      </p:sp>
      <p:sp>
        <p:nvSpPr>
          <p:cNvPr id="13" name="TextBox 12"/>
          <p:cNvSpPr txBox="1"/>
          <p:nvPr/>
        </p:nvSpPr>
        <p:spPr>
          <a:xfrm>
            <a:off x="3614851" y="1901952"/>
            <a:ext cx="420624" cy="420624"/>
          </a:xfrm>
          <a:prstGeom prst="rect">
            <a:avLst/>
          </a:prstGeom>
          <a:noFill/>
        </p:spPr>
        <p:txBody>
          <a:bodyPr wrap="square" lIns="0" rIns="0" tIns="0" bIns="0" anchor="ctr">
            <a:spAutoFit/>
          </a:bodyPr>
          <a:lstStyle/>
          <a:p>
            <a:pPr algn="ctr">
              <a:lnSpc>
                <a:spcPct val="100000"/>
              </a:lnSpc>
              <a:spcBef>
                <a:spcPts val="0"/>
              </a:spcBef>
              <a:spcAft>
                <a:spcPts val="0"/>
              </a:spcAft>
            </a:pPr>
            <a:r>
              <a:rPr sz="1500" b="1">
                <a:solidFill>
                  <a:srgbClr val="FFFFFF"/>
                </a:solidFill>
                <a:latin typeface="Arial"/>
              </a:rPr>
              <a:t>2</a:t>
            </a:r>
          </a:p>
        </p:txBody>
      </p:sp>
      <p:sp>
        <p:nvSpPr>
          <p:cNvPr id="14" name="TextBox 13"/>
          <p:cNvSpPr txBox="1"/>
          <p:nvPr/>
        </p:nvSpPr>
        <p:spPr>
          <a:xfrm>
            <a:off x="3614851" y="2514600"/>
            <a:ext cx="2142667" cy="2103120"/>
          </a:xfrm>
          <a:prstGeom prst="rect">
            <a:avLst/>
          </a:prstGeom>
          <a:noFill/>
        </p:spPr>
        <p:txBody>
          <a:bodyPr wrap="square" lIns="0" rIns="0" tIns="0" bIns="0" anchor="t">
            <a:spAutoFit/>
          </a:bodyPr>
          <a:lstStyle/>
          <a:p>
            <a:pPr>
              <a:lnSpc>
                <a:spcPct val="112000"/>
              </a:lnSpc>
              <a:spcBef>
                <a:spcPts val="0"/>
              </a:spcBef>
              <a:spcAft>
                <a:spcPts val="0"/>
              </a:spcAft>
            </a:pPr>
            <a:r>
              <a:rPr sz="1600" b="1">
                <a:solidFill>
                  <a:srgbClr val="002970"/>
                </a:solidFill>
                <a:latin typeface="Arial"/>
              </a:rPr>
              <a:t>No fees, no interest</a:t>
            </a:r>
          </a:p>
          <a:p>
            <a:pPr>
              <a:lnSpc>
                <a:spcPct val="138000"/>
              </a:lnSpc>
              <a:spcBef>
                <a:spcPts val="1000"/>
              </a:spcBef>
              <a:spcAft>
                <a:spcPts val="0"/>
              </a:spcAft>
            </a:pPr>
            <a:r>
              <a:rPr sz="1300" b="0">
                <a:solidFill>
                  <a:srgbClr val="1C1C1C"/>
                </a:solidFill>
                <a:latin typeface="Arial"/>
              </a:rPr>
              <a:t>Never a rupee above the price. There is no fee field anywhere.</a:t>
            </a:r>
          </a:p>
        </p:txBody>
      </p:sp>
      <p:sp>
        <p:nvSpPr>
          <p:cNvPr id="15" name="Rectangle 14"/>
          <p:cNvSpPr/>
          <p:nvPr/>
        </p:nvSpPr>
        <p:spPr>
          <a:xfrm>
            <a:off x="3614851" y="4617720"/>
            <a:ext cx="2142667" cy="9525"/>
          </a:xfrm>
          <a:prstGeom prst="rect">
            <a:avLst/>
          </a:prstGeom>
          <a:solidFill>
            <a:srgbClr val="D9E4EC"/>
          </a:solidFill>
          <a:ln>
            <a:noFill/>
          </a:ln>
        </p:spPr>
        <p:txBody>
          <a:bodyPr rtlCol="0" anchor="ctr"/>
          <a:lstStyle/>
          <a:p>
            <a:pPr algn="ctr"/>
          </a:p>
        </p:txBody>
      </p:sp>
      <p:sp>
        <p:nvSpPr>
          <p:cNvPr id="16" name="TextBox 15"/>
          <p:cNvSpPr txBox="1"/>
          <p:nvPr/>
        </p:nvSpPr>
        <p:spPr>
          <a:xfrm>
            <a:off x="3614851" y="4754880"/>
            <a:ext cx="2142667" cy="1325880"/>
          </a:xfrm>
          <a:prstGeom prst="rect">
            <a:avLst/>
          </a:prstGeom>
          <a:noFill/>
        </p:spPr>
        <p:txBody>
          <a:bodyPr wrap="square" lIns="0" rIns="0" tIns="0" bIns="0" anchor="t">
            <a:spAutoFit/>
          </a:bodyPr>
          <a:lstStyle/>
          <a:p>
            <a:pPr>
              <a:lnSpc>
                <a:spcPct val="135000"/>
              </a:lnSpc>
              <a:spcBef>
                <a:spcPts val="0"/>
              </a:spcBef>
              <a:spcAft>
                <a:spcPts val="0"/>
              </a:spcAft>
            </a:pPr>
            <a:r>
              <a:rPr sz="1200" b="1">
                <a:solidFill>
                  <a:srgbClr val="0077A8"/>
                </a:solidFill>
                <a:latin typeface="Arial"/>
              </a:rPr>
              <a:t>Why:  </a:t>
            </a:r>
            <a:r>
              <a:rPr sz="1200" b="0">
                <a:solidFill>
                  <a:srgbClr val="5B6675"/>
                </a:solidFill>
                <a:latin typeface="Arial"/>
              </a:rPr>
              <a:t>Money-lending laws define a loan by the interest it carries.</a:t>
            </a:r>
          </a:p>
          <a:p>
            <a:pPr>
              <a:lnSpc>
                <a:spcPct val="125000"/>
              </a:lnSpc>
              <a:spcBef>
                <a:spcPts val="800"/>
              </a:spcBef>
              <a:spcAft>
                <a:spcPts val="0"/>
              </a:spcAft>
            </a:pPr>
            <a:r>
              <a:rPr sz="1000" b="1">
                <a:solidFill>
                  <a:srgbClr val="0077A8"/>
                </a:solidFill>
                <a:latin typeface="Arial"/>
              </a:rPr>
              <a:t>e.g. Karnataka Money Lenders Act 1961, s.2(9)</a:t>
            </a:r>
          </a:p>
        </p:txBody>
      </p:sp>
      <p:sp>
        <p:nvSpPr>
          <p:cNvPr id="17" name="Rounded Rectangle 16"/>
          <p:cNvSpPr/>
          <p:nvPr/>
        </p:nvSpPr>
        <p:spPr>
          <a:xfrm>
            <a:off x="6205574" y="1645920"/>
            <a:ext cx="2599867" cy="4498848"/>
          </a:xfrm>
          <a:prstGeom prst="roundRect">
            <a:avLst>
              <a:gd name="adj" fmla="val 6000"/>
            </a:avLst>
          </a:prstGeom>
          <a:solidFill>
            <a:srgbClr val="FFFFFF"/>
          </a:solidFill>
          <a:ln>
            <a:noFill/>
          </a:ln>
        </p:spPr>
        <p:txBody>
          <a:bodyPr rtlCol="0" anchor="ctr"/>
          <a:lstStyle/>
          <a:p>
            <a:pPr algn="ctr"/>
          </a:p>
        </p:txBody>
      </p:sp>
      <p:sp>
        <p:nvSpPr>
          <p:cNvPr id="18" name="Oval 17"/>
          <p:cNvSpPr/>
          <p:nvPr/>
        </p:nvSpPr>
        <p:spPr>
          <a:xfrm>
            <a:off x="6434174" y="1901952"/>
            <a:ext cx="420624" cy="420624"/>
          </a:xfrm>
          <a:prstGeom prst="ellipse">
            <a:avLst/>
          </a:prstGeom>
          <a:solidFill>
            <a:srgbClr val="002970"/>
          </a:solidFill>
          <a:ln>
            <a:noFill/>
          </a:ln>
        </p:spPr>
        <p:txBody>
          <a:bodyPr rtlCol="0" anchor="ctr"/>
          <a:lstStyle/>
          <a:p>
            <a:pPr algn="ctr"/>
          </a:p>
        </p:txBody>
      </p:sp>
      <p:sp>
        <p:nvSpPr>
          <p:cNvPr id="19" name="TextBox 18"/>
          <p:cNvSpPr txBox="1"/>
          <p:nvPr/>
        </p:nvSpPr>
        <p:spPr>
          <a:xfrm>
            <a:off x="6434174" y="1901952"/>
            <a:ext cx="420624" cy="420624"/>
          </a:xfrm>
          <a:prstGeom prst="rect">
            <a:avLst/>
          </a:prstGeom>
          <a:noFill/>
        </p:spPr>
        <p:txBody>
          <a:bodyPr wrap="square" lIns="0" rIns="0" tIns="0" bIns="0" anchor="ctr">
            <a:spAutoFit/>
          </a:bodyPr>
          <a:lstStyle/>
          <a:p>
            <a:pPr algn="ctr">
              <a:lnSpc>
                <a:spcPct val="100000"/>
              </a:lnSpc>
              <a:spcBef>
                <a:spcPts val="0"/>
              </a:spcBef>
              <a:spcAft>
                <a:spcPts val="0"/>
              </a:spcAft>
            </a:pPr>
            <a:r>
              <a:rPr sz="1500" b="1">
                <a:solidFill>
                  <a:srgbClr val="FFFFFF"/>
                </a:solidFill>
                <a:latin typeface="Arial"/>
              </a:rPr>
              <a:t>3</a:t>
            </a:r>
          </a:p>
        </p:txBody>
      </p:sp>
      <p:sp>
        <p:nvSpPr>
          <p:cNvPr id="20" name="TextBox 19"/>
          <p:cNvSpPr txBox="1"/>
          <p:nvPr/>
        </p:nvSpPr>
        <p:spPr>
          <a:xfrm>
            <a:off x="6434174" y="2514600"/>
            <a:ext cx="2142667" cy="2103120"/>
          </a:xfrm>
          <a:prstGeom prst="rect">
            <a:avLst/>
          </a:prstGeom>
          <a:noFill/>
        </p:spPr>
        <p:txBody>
          <a:bodyPr wrap="square" lIns="0" rIns="0" tIns="0" bIns="0" anchor="t">
            <a:spAutoFit/>
          </a:bodyPr>
          <a:lstStyle/>
          <a:p>
            <a:pPr>
              <a:lnSpc>
                <a:spcPct val="112000"/>
              </a:lnSpc>
              <a:spcBef>
                <a:spcPts val="0"/>
              </a:spcBef>
              <a:spcAft>
                <a:spcPts val="0"/>
              </a:spcAft>
            </a:pPr>
            <a:r>
              <a:rPr sz="1600" b="1">
                <a:solidFill>
                  <a:srgbClr val="002970"/>
                </a:solidFill>
                <a:latin typeface="Arial"/>
              </a:rPr>
              <a:t>No debt kept alive forever</a:t>
            </a:r>
          </a:p>
          <a:p>
            <a:pPr>
              <a:lnSpc>
                <a:spcPct val="138000"/>
              </a:lnSpc>
              <a:spcBef>
                <a:spcPts val="1000"/>
              </a:spcBef>
              <a:spcAft>
                <a:spcPts val="0"/>
              </a:spcAft>
            </a:pPr>
            <a:r>
              <a:rPr sz="1300" b="0">
                <a:solidFill>
                  <a:srgbClr val="1C1C1C"/>
                </a:solidFill>
                <a:latin typeface="Arial"/>
              </a:rPr>
              <a:t>We never ask a customer to re-confirm an old debt just to keep it alive.</a:t>
            </a:r>
          </a:p>
        </p:txBody>
      </p:sp>
      <p:sp>
        <p:nvSpPr>
          <p:cNvPr id="21" name="Rectangle 20"/>
          <p:cNvSpPr/>
          <p:nvPr/>
        </p:nvSpPr>
        <p:spPr>
          <a:xfrm>
            <a:off x="6434174" y="4617720"/>
            <a:ext cx="2142667" cy="9525"/>
          </a:xfrm>
          <a:prstGeom prst="rect">
            <a:avLst/>
          </a:prstGeom>
          <a:solidFill>
            <a:srgbClr val="D9E4EC"/>
          </a:solidFill>
          <a:ln>
            <a:noFill/>
          </a:ln>
        </p:spPr>
        <p:txBody>
          <a:bodyPr rtlCol="0" anchor="ctr"/>
          <a:lstStyle/>
          <a:p>
            <a:pPr algn="ctr"/>
          </a:p>
        </p:txBody>
      </p:sp>
      <p:sp>
        <p:nvSpPr>
          <p:cNvPr id="22" name="TextBox 21"/>
          <p:cNvSpPr txBox="1"/>
          <p:nvPr/>
        </p:nvSpPr>
        <p:spPr>
          <a:xfrm>
            <a:off x="6434174" y="4754880"/>
            <a:ext cx="2142667" cy="1325880"/>
          </a:xfrm>
          <a:prstGeom prst="rect">
            <a:avLst/>
          </a:prstGeom>
          <a:noFill/>
        </p:spPr>
        <p:txBody>
          <a:bodyPr wrap="square" lIns="0" rIns="0" tIns="0" bIns="0" anchor="t">
            <a:spAutoFit/>
          </a:bodyPr>
          <a:lstStyle/>
          <a:p>
            <a:pPr>
              <a:lnSpc>
                <a:spcPct val="135000"/>
              </a:lnSpc>
              <a:spcBef>
                <a:spcPts val="0"/>
              </a:spcBef>
              <a:spcAft>
                <a:spcPts val="0"/>
              </a:spcAft>
            </a:pPr>
            <a:r>
              <a:rPr sz="1200" b="1">
                <a:solidFill>
                  <a:srgbClr val="0077A8"/>
                </a:solidFill>
                <a:latin typeface="Arial"/>
              </a:rPr>
              <a:t>Why:  </a:t>
            </a:r>
            <a:r>
              <a:rPr sz="1200" b="0">
                <a:solidFill>
                  <a:srgbClr val="5B6675"/>
                </a:solidFill>
                <a:latin typeface="Arial"/>
              </a:rPr>
              <a:t>Each written acknowledgment restarts the 3-year limit.</a:t>
            </a:r>
          </a:p>
          <a:p>
            <a:pPr>
              <a:lnSpc>
                <a:spcPct val="125000"/>
              </a:lnSpc>
              <a:spcBef>
                <a:spcPts val="800"/>
              </a:spcBef>
              <a:spcAft>
                <a:spcPts val="0"/>
              </a:spcAft>
            </a:pPr>
            <a:r>
              <a:rPr sz="1000" b="1">
                <a:solidFill>
                  <a:srgbClr val="0077A8"/>
                </a:solidFill>
                <a:latin typeface="Arial"/>
              </a:rPr>
              <a:t>Limitation Act 1963, s.18</a:t>
            </a:r>
          </a:p>
        </p:txBody>
      </p:sp>
      <p:sp>
        <p:nvSpPr>
          <p:cNvPr id="23" name="Rounded Rectangle 22"/>
          <p:cNvSpPr/>
          <p:nvPr/>
        </p:nvSpPr>
        <p:spPr>
          <a:xfrm>
            <a:off x="9024897" y="1645920"/>
            <a:ext cx="2599867" cy="4498848"/>
          </a:xfrm>
          <a:prstGeom prst="roundRect">
            <a:avLst>
              <a:gd name="adj" fmla="val 6000"/>
            </a:avLst>
          </a:prstGeom>
          <a:solidFill>
            <a:srgbClr val="FFFFFF"/>
          </a:solidFill>
          <a:ln>
            <a:noFill/>
          </a:ln>
        </p:spPr>
        <p:txBody>
          <a:bodyPr rtlCol="0" anchor="ctr"/>
          <a:lstStyle/>
          <a:p>
            <a:pPr algn="ctr"/>
          </a:p>
        </p:txBody>
      </p:sp>
      <p:sp>
        <p:nvSpPr>
          <p:cNvPr id="24" name="Oval 23"/>
          <p:cNvSpPr/>
          <p:nvPr/>
        </p:nvSpPr>
        <p:spPr>
          <a:xfrm>
            <a:off x="9253497" y="1901952"/>
            <a:ext cx="420624" cy="420624"/>
          </a:xfrm>
          <a:prstGeom prst="ellipse">
            <a:avLst/>
          </a:prstGeom>
          <a:solidFill>
            <a:srgbClr val="002970"/>
          </a:solidFill>
          <a:ln>
            <a:noFill/>
          </a:ln>
        </p:spPr>
        <p:txBody>
          <a:bodyPr rtlCol="0" anchor="ctr"/>
          <a:lstStyle/>
          <a:p>
            <a:pPr algn="ctr"/>
          </a:p>
        </p:txBody>
      </p:sp>
      <p:sp>
        <p:nvSpPr>
          <p:cNvPr id="25" name="TextBox 24"/>
          <p:cNvSpPr txBox="1"/>
          <p:nvPr/>
        </p:nvSpPr>
        <p:spPr>
          <a:xfrm>
            <a:off x="9253497" y="1901952"/>
            <a:ext cx="420624" cy="420624"/>
          </a:xfrm>
          <a:prstGeom prst="rect">
            <a:avLst/>
          </a:prstGeom>
          <a:noFill/>
        </p:spPr>
        <p:txBody>
          <a:bodyPr wrap="square" lIns="0" rIns="0" tIns="0" bIns="0" anchor="ctr">
            <a:spAutoFit/>
          </a:bodyPr>
          <a:lstStyle/>
          <a:p>
            <a:pPr algn="ctr">
              <a:lnSpc>
                <a:spcPct val="100000"/>
              </a:lnSpc>
              <a:spcBef>
                <a:spcPts val="0"/>
              </a:spcBef>
              <a:spcAft>
                <a:spcPts val="0"/>
              </a:spcAft>
            </a:pPr>
            <a:r>
              <a:rPr sz="1500" b="1">
                <a:solidFill>
                  <a:srgbClr val="FFFFFF"/>
                </a:solidFill>
                <a:latin typeface="Arial"/>
              </a:rPr>
              <a:t>4</a:t>
            </a:r>
          </a:p>
        </p:txBody>
      </p:sp>
      <p:sp>
        <p:nvSpPr>
          <p:cNvPr id="26" name="TextBox 25"/>
          <p:cNvSpPr txBox="1"/>
          <p:nvPr/>
        </p:nvSpPr>
        <p:spPr>
          <a:xfrm>
            <a:off x="9253497" y="2514600"/>
            <a:ext cx="2142667" cy="2103120"/>
          </a:xfrm>
          <a:prstGeom prst="rect">
            <a:avLst/>
          </a:prstGeom>
          <a:noFill/>
        </p:spPr>
        <p:txBody>
          <a:bodyPr wrap="square" lIns="0" rIns="0" tIns="0" bIns="0" anchor="t">
            <a:spAutoFit/>
          </a:bodyPr>
          <a:lstStyle/>
          <a:p>
            <a:pPr>
              <a:lnSpc>
                <a:spcPct val="112000"/>
              </a:lnSpc>
              <a:spcBef>
                <a:spcPts val="0"/>
              </a:spcBef>
              <a:spcAft>
                <a:spcPts val="0"/>
              </a:spcAft>
            </a:pPr>
            <a:r>
              <a:rPr sz="1600" b="1">
                <a:solidFill>
                  <a:srgbClr val="002970"/>
                </a:solidFill>
                <a:latin typeface="Arial"/>
              </a:rPr>
              <a:t>No shaming, no pressure</a:t>
            </a:r>
          </a:p>
          <a:p>
            <a:pPr>
              <a:lnSpc>
                <a:spcPct val="138000"/>
              </a:lnSpc>
              <a:spcBef>
                <a:spcPts val="1000"/>
              </a:spcBef>
              <a:spcAft>
                <a:spcPts val="0"/>
              </a:spcAft>
            </a:pPr>
            <a:r>
              <a:rPr sz="1300" b="0">
                <a:solidFill>
                  <a:srgbClr val="1C1C1C"/>
                </a:solidFill>
                <a:latin typeface="Arial"/>
              </a:rPr>
              <a:t>No defaulter lists, no public alerts, no “demand” button.</a:t>
            </a:r>
          </a:p>
        </p:txBody>
      </p:sp>
      <p:sp>
        <p:nvSpPr>
          <p:cNvPr id="27" name="Rectangle 26"/>
          <p:cNvSpPr/>
          <p:nvPr/>
        </p:nvSpPr>
        <p:spPr>
          <a:xfrm>
            <a:off x="9253497" y="4617720"/>
            <a:ext cx="2142667" cy="9525"/>
          </a:xfrm>
          <a:prstGeom prst="rect">
            <a:avLst/>
          </a:prstGeom>
          <a:solidFill>
            <a:srgbClr val="D9E4EC"/>
          </a:solidFill>
          <a:ln>
            <a:noFill/>
          </a:ln>
        </p:spPr>
        <p:txBody>
          <a:bodyPr rtlCol="0" anchor="ctr"/>
          <a:lstStyle/>
          <a:p>
            <a:pPr algn="ctr"/>
          </a:p>
        </p:txBody>
      </p:sp>
      <p:sp>
        <p:nvSpPr>
          <p:cNvPr id="28" name="TextBox 27"/>
          <p:cNvSpPr txBox="1"/>
          <p:nvPr/>
        </p:nvSpPr>
        <p:spPr>
          <a:xfrm>
            <a:off x="9253497" y="4754880"/>
            <a:ext cx="2142667" cy="1325880"/>
          </a:xfrm>
          <a:prstGeom prst="rect">
            <a:avLst/>
          </a:prstGeom>
          <a:noFill/>
        </p:spPr>
        <p:txBody>
          <a:bodyPr wrap="square" lIns="0" rIns="0" tIns="0" bIns="0" anchor="t">
            <a:spAutoFit/>
          </a:bodyPr>
          <a:lstStyle/>
          <a:p>
            <a:pPr>
              <a:lnSpc>
                <a:spcPct val="135000"/>
              </a:lnSpc>
              <a:spcBef>
                <a:spcPts val="0"/>
              </a:spcBef>
              <a:spcAft>
                <a:spcPts val="0"/>
              </a:spcAft>
            </a:pPr>
            <a:r>
              <a:rPr sz="1200" b="1">
                <a:solidFill>
                  <a:srgbClr val="0077A8"/>
                </a:solidFill>
                <a:latin typeface="Arial"/>
              </a:rPr>
              <a:t>Why:  </a:t>
            </a:r>
            <a:r>
              <a:rPr sz="1200" b="0">
                <a:solidFill>
                  <a:srgbClr val="5B6675"/>
                </a:solidFill>
                <a:latin typeface="Arial"/>
              </a:rPr>
              <a:t>Public labels risk defamation; repeated nudges for gain are “nagging”.</a:t>
            </a:r>
          </a:p>
          <a:p>
            <a:pPr>
              <a:lnSpc>
                <a:spcPct val="125000"/>
              </a:lnSpc>
              <a:spcBef>
                <a:spcPts val="800"/>
              </a:spcBef>
              <a:spcAft>
                <a:spcPts val="0"/>
              </a:spcAft>
            </a:pPr>
            <a:r>
              <a:rPr sz="1000" b="1">
                <a:solidFill>
                  <a:srgbClr val="0077A8"/>
                </a:solidFill>
                <a:latin typeface="Arial"/>
              </a:rPr>
              <a:t>BNS 2023, s.356  ·  CCPA Dark Patterns Guidelines 2023</a:t>
            </a:r>
          </a:p>
        </p:txBody>
      </p:sp>
      <p:sp>
        <p:nvSpPr>
          <p:cNvPr id="29" name="TextBox 28"/>
          <p:cNvSpPr txBox="1"/>
          <p:nvPr/>
        </p:nvSpPr>
        <p:spPr>
          <a:xfrm>
            <a:off x="566928" y="6382512"/>
            <a:ext cx="10326319" cy="274320"/>
          </a:xfrm>
          <a:prstGeom prst="rect">
            <a:avLst/>
          </a:prstGeom>
          <a:noFill/>
        </p:spPr>
        <p:txBody>
          <a:bodyPr wrap="square" lIns="0" rIns="0" tIns="0" bIns="0" anchor="t">
            <a:spAutoFit/>
          </a:bodyPr>
          <a:lstStyle/>
          <a:p>
            <a:pPr>
              <a:lnSpc>
                <a:spcPct val="120000"/>
              </a:lnSpc>
              <a:spcBef>
                <a:spcPts val="0"/>
              </a:spcBef>
              <a:spcAft>
                <a:spcPts val="0"/>
              </a:spcAft>
            </a:pPr>
            <a:r>
              <a:rPr sz="900" b="0">
                <a:solidFill>
                  <a:srgbClr val="8B95A5"/>
                </a:solidFill>
                <a:latin typeface="Arial"/>
              </a:rPr>
              <a:t>Each rule is enforced in the database schema and the API, not only on screen. Full citations on the last slide.</a:t>
            </a:r>
          </a:p>
        </p:txBody>
      </p:sp>
      <p:sp>
        <p:nvSpPr>
          <p:cNvPr id="30" name="TextBox 29"/>
          <p:cNvSpPr txBox="1"/>
          <p:nvPr/>
        </p:nvSpPr>
        <p:spPr>
          <a:xfrm>
            <a:off x="10984687" y="6382512"/>
            <a:ext cx="640080" cy="274320"/>
          </a:xfrm>
          <a:prstGeom prst="rect">
            <a:avLst/>
          </a:prstGeom>
          <a:noFill/>
        </p:spPr>
        <p:txBody>
          <a:bodyPr wrap="square" lIns="0" rIns="0" tIns="0" bIns="0" anchor="t">
            <a:spAutoFit/>
          </a:bodyPr>
          <a:lstStyle/>
          <a:p>
            <a:pPr algn="r">
              <a:lnSpc>
                <a:spcPct val="130000"/>
              </a:lnSpc>
              <a:spcBef>
                <a:spcPts val="0"/>
              </a:spcBef>
              <a:spcAft>
                <a:spcPts val="0"/>
              </a:spcAft>
            </a:pPr>
            <a:r>
              <a:rPr sz="900" b="0">
                <a:solidFill>
                  <a:srgbClr val="8B95A5"/>
                </a:solidFill>
                <a:latin typeface="Arial"/>
              </a:rPr>
              <a:t>10 / 12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AF6FC"/>
          </a:solidFill>
          <a:ln>
            <a:noFill/>
          </a:ln>
        </p:spPr>
        <p:txBody>
          <a:bodyPr rtlCol="0" anchor="ctr"/>
          <a:lstStyle/>
          <a:p>
            <a:pPr algn="ctr"/>
          </a:p>
        </p:txBody>
      </p:sp>
      <p:sp>
        <p:nvSpPr>
          <p:cNvPr id="3" name="TextBox 2"/>
          <p:cNvSpPr txBox="1"/>
          <p:nvPr/>
        </p:nvSpPr>
        <p:spPr>
          <a:xfrm>
            <a:off x="566928" y="384048"/>
            <a:ext cx="11057839" cy="228600"/>
          </a:xfrm>
          <a:prstGeom prst="rect">
            <a:avLst/>
          </a:prstGeom>
          <a:noFill/>
        </p:spPr>
        <p:txBody>
          <a:bodyPr wrap="square" lIns="0" rIns="0" tIns="0" bIns="0" anchor="t">
            <a:spAutoFit/>
          </a:bodyPr>
          <a:lstStyle/>
          <a:p>
            <a:pPr>
              <a:lnSpc>
                <a:spcPct val="130000"/>
              </a:lnSpc>
              <a:spcBef>
                <a:spcPts val="0"/>
              </a:spcBef>
              <a:spcAft>
                <a:spcPts val="0"/>
              </a:spcAft>
            </a:pPr>
            <a:r>
              <a:rPr sz="1000" b="1" spc="140">
                <a:solidFill>
                  <a:srgbClr val="0077A8"/>
                </a:solidFill>
                <a:latin typeface="Arial"/>
              </a:rPr>
              <a:t>PROOF</a:t>
            </a:r>
          </a:p>
        </p:txBody>
      </p:sp>
      <p:sp>
        <p:nvSpPr>
          <p:cNvPr id="4" name="TextBox 3"/>
          <p:cNvSpPr txBox="1"/>
          <p:nvPr/>
        </p:nvSpPr>
        <p:spPr>
          <a:xfrm>
            <a:off x="566928" y="676656"/>
            <a:ext cx="11057839" cy="822960"/>
          </a:xfrm>
          <a:prstGeom prst="rect">
            <a:avLst/>
          </a:prstGeom>
          <a:noFill/>
        </p:spPr>
        <p:txBody>
          <a:bodyPr wrap="square" lIns="0" rIns="0" tIns="0" bIns="0" anchor="t">
            <a:spAutoFit/>
          </a:bodyPr>
          <a:lstStyle/>
          <a:p>
            <a:pPr>
              <a:lnSpc>
                <a:spcPct val="105000"/>
              </a:lnSpc>
              <a:spcBef>
                <a:spcPts val="0"/>
              </a:spcBef>
              <a:spcAft>
                <a:spcPts val="0"/>
              </a:spcAft>
            </a:pPr>
            <a:r>
              <a:rPr sz="2600" b="1">
                <a:solidFill>
                  <a:srgbClr val="002970"/>
                </a:solidFill>
                <a:latin typeface="Arial"/>
              </a:rPr>
              <a:t>Tested on 1,338 recordings, and running end to end.</a:t>
            </a:r>
          </a:p>
        </p:txBody>
      </p:sp>
      <p:sp>
        <p:nvSpPr>
          <p:cNvPr id="5" name="Rounded Rectangle 4"/>
          <p:cNvSpPr/>
          <p:nvPr/>
        </p:nvSpPr>
        <p:spPr>
          <a:xfrm>
            <a:off x="566928" y="1645920"/>
            <a:ext cx="3931920" cy="4498848"/>
          </a:xfrm>
          <a:prstGeom prst="roundRect">
            <a:avLst>
              <a:gd name="adj" fmla="val 6000"/>
            </a:avLst>
          </a:prstGeom>
          <a:solidFill>
            <a:srgbClr val="002970"/>
          </a:solidFill>
          <a:ln>
            <a:noFill/>
          </a:ln>
        </p:spPr>
        <p:txBody>
          <a:bodyPr rtlCol="0" anchor="ctr"/>
          <a:lstStyle/>
          <a:p>
            <a:pPr algn="ctr"/>
          </a:p>
        </p:txBody>
      </p:sp>
      <p:sp>
        <p:nvSpPr>
          <p:cNvPr id="6" name="TextBox 5"/>
          <p:cNvSpPr txBox="1"/>
          <p:nvPr/>
        </p:nvSpPr>
        <p:spPr>
          <a:xfrm>
            <a:off x="886968" y="1965960"/>
            <a:ext cx="3291840" cy="4023360"/>
          </a:xfrm>
          <a:prstGeom prst="rect">
            <a:avLst/>
          </a:prstGeom>
          <a:noFill/>
        </p:spPr>
        <p:txBody>
          <a:bodyPr wrap="square" lIns="0" rIns="0" tIns="0" bIns="0" anchor="t">
            <a:spAutoFit/>
          </a:bodyPr>
          <a:lstStyle/>
          <a:p>
            <a:pPr>
              <a:lnSpc>
                <a:spcPct val="100000"/>
              </a:lnSpc>
              <a:spcBef>
                <a:spcPts val="0"/>
              </a:spcBef>
              <a:spcAft>
                <a:spcPts val="0"/>
              </a:spcAft>
            </a:pPr>
            <a:r>
              <a:rPr sz="5400" b="1">
                <a:solidFill>
                  <a:srgbClr val="FFFFFF"/>
                </a:solidFill>
                <a:latin typeface="Arial"/>
              </a:rPr>
              <a:t>2.1%</a:t>
            </a:r>
          </a:p>
          <a:p>
            <a:pPr>
              <a:lnSpc>
                <a:spcPct val="130000"/>
              </a:lnSpc>
              <a:spcBef>
                <a:spcPts val="1200"/>
              </a:spcBef>
              <a:spcAft>
                <a:spcPts val="0"/>
              </a:spcAft>
            </a:pPr>
            <a:r>
              <a:rPr sz="1400" b="1">
                <a:solidFill>
                  <a:srgbClr val="FFFFFF"/>
                </a:solidFill>
                <a:latin typeface="Arial"/>
              </a:rPr>
              <a:t>of spoken entries would have reached a phone wrong, and that one still needs the customer’s own yes.</a:t>
            </a:r>
          </a:p>
          <a:p>
            <a:pPr>
              <a:lnSpc>
                <a:spcPct val="130000"/>
              </a:lnSpc>
              <a:spcBef>
                <a:spcPts val="800"/>
              </a:spcBef>
              <a:spcAft>
                <a:spcPts val="0"/>
              </a:spcAft>
            </a:pPr>
            <a:r>
              <a:rPr sz="1300" b="1">
                <a:solidFill>
                  <a:srgbClr val="FFFFFF"/>
                </a:solidFill>
                <a:latin typeface="Arial"/>
              </a:rPr>
              <a:t>73.4%  </a:t>
            </a:r>
            <a:r>
              <a:rPr sz="1300" b="0">
                <a:solidFill>
                  <a:srgbClr val="C9D8EE"/>
                </a:solidFill>
                <a:latin typeface="Arial"/>
              </a:rPr>
              <a:t>right from the words alone</a:t>
            </a:r>
          </a:p>
          <a:p>
            <a:pPr>
              <a:lnSpc>
                <a:spcPct val="130000"/>
              </a:lnSpc>
              <a:spcBef>
                <a:spcPts val="800"/>
              </a:spcBef>
              <a:spcAft>
                <a:spcPts val="0"/>
              </a:spcAft>
            </a:pPr>
            <a:r>
              <a:rPr sz="1300" b="1">
                <a:solidFill>
                  <a:srgbClr val="FFFFFF"/>
                </a:solidFill>
                <a:latin typeface="Arial"/>
              </a:rPr>
              <a:t>16.9%  </a:t>
            </a:r>
            <a:r>
              <a:rPr sz="1300" b="0">
                <a:solidFill>
                  <a:srgbClr val="C9D8EE"/>
                </a:solidFill>
                <a:latin typeface="Arial"/>
              </a:rPr>
              <a:t>one tap to pick who</a:t>
            </a:r>
          </a:p>
          <a:p>
            <a:pPr>
              <a:lnSpc>
                <a:spcPct val="130000"/>
              </a:lnSpc>
              <a:spcBef>
                <a:spcPts val="800"/>
              </a:spcBef>
              <a:spcAft>
                <a:spcPts val="0"/>
              </a:spcAft>
            </a:pPr>
            <a:r>
              <a:rPr sz="1300" b="1">
                <a:solidFill>
                  <a:srgbClr val="FFFFFF"/>
                </a:solidFill>
                <a:latin typeface="Arial"/>
              </a:rPr>
              <a:t>7.6%  </a:t>
            </a:r>
            <a:r>
              <a:rPr sz="1300" b="0">
                <a:solidFill>
                  <a:srgbClr val="C9D8EE"/>
                </a:solidFill>
                <a:latin typeface="Arial"/>
              </a:rPr>
              <a:t>said again</a:t>
            </a:r>
          </a:p>
        </p:txBody>
      </p:sp>
      <p:sp>
        <p:nvSpPr>
          <p:cNvPr id="7" name="TextBox 6"/>
          <p:cNvSpPr txBox="1"/>
          <p:nvPr/>
        </p:nvSpPr>
        <p:spPr>
          <a:xfrm>
            <a:off x="886968" y="5367528"/>
            <a:ext cx="3291840" cy="640080"/>
          </a:xfrm>
          <a:prstGeom prst="rect">
            <a:avLst/>
          </a:prstGeom>
          <a:noFill/>
        </p:spPr>
        <p:txBody>
          <a:bodyPr wrap="square" lIns="0" rIns="0" tIns="0" bIns="0" anchor="t">
            <a:spAutoFit/>
          </a:bodyPr>
          <a:lstStyle/>
          <a:p>
            <a:pPr>
              <a:lnSpc>
                <a:spcPct val="130000"/>
              </a:lnSpc>
              <a:spcBef>
                <a:spcPts val="0"/>
              </a:spcBef>
              <a:spcAft>
                <a:spcPts val="0"/>
              </a:spcAft>
            </a:pPr>
            <a:r>
              <a:rPr sz="1000" b="0">
                <a:solidFill>
                  <a:srgbClr val="8FA4C6"/>
                </a:solidFill>
                <a:latin typeface="Arial"/>
              </a:rPr>
              <a:t>1,338 recordings: 42 lines, 12 voices, quiet, street noise and a second customer talking; 20 customers named Anubhav.</a:t>
            </a:r>
          </a:p>
        </p:txBody>
      </p:sp>
      <p:sp>
        <p:nvSpPr>
          <p:cNvPr id="8" name="Rounded Rectangle 7"/>
          <p:cNvSpPr/>
          <p:nvPr/>
        </p:nvSpPr>
        <p:spPr>
          <a:xfrm>
            <a:off x="4773168" y="1645920"/>
            <a:ext cx="3306927" cy="3246120"/>
          </a:xfrm>
          <a:prstGeom prst="roundRect">
            <a:avLst>
              <a:gd name="adj" fmla="val 6000"/>
            </a:avLst>
          </a:prstGeom>
          <a:solidFill>
            <a:srgbClr val="FFFFFF"/>
          </a:solidFill>
          <a:ln>
            <a:noFill/>
          </a:ln>
        </p:spPr>
        <p:txBody>
          <a:bodyPr rtlCol="0" anchor="ctr"/>
          <a:lstStyle/>
          <a:p>
            <a:pPr algn="ctr"/>
          </a:p>
        </p:txBody>
      </p:sp>
      <p:sp>
        <p:nvSpPr>
          <p:cNvPr id="9" name="Rectangle 8"/>
          <p:cNvSpPr/>
          <p:nvPr/>
        </p:nvSpPr>
        <p:spPr>
          <a:xfrm>
            <a:off x="5001768" y="1901952"/>
            <a:ext cx="365760" cy="38100"/>
          </a:xfrm>
          <a:prstGeom prst="rect">
            <a:avLst/>
          </a:prstGeom>
          <a:solidFill>
            <a:srgbClr val="00BAF2"/>
          </a:solidFill>
          <a:ln>
            <a:noFill/>
          </a:ln>
        </p:spPr>
        <p:txBody>
          <a:bodyPr rtlCol="0" anchor="ctr"/>
          <a:lstStyle/>
          <a:p>
            <a:pPr algn="ctr"/>
          </a:p>
        </p:txBody>
      </p:sp>
      <p:sp>
        <p:nvSpPr>
          <p:cNvPr id="10" name="TextBox 9"/>
          <p:cNvSpPr txBox="1"/>
          <p:nvPr/>
        </p:nvSpPr>
        <p:spPr>
          <a:xfrm>
            <a:off x="5001768" y="2029968"/>
            <a:ext cx="2849727" cy="2743200"/>
          </a:xfrm>
          <a:prstGeom prst="rect">
            <a:avLst/>
          </a:prstGeom>
          <a:noFill/>
        </p:spPr>
        <p:txBody>
          <a:bodyPr wrap="square" lIns="0" rIns="0" tIns="0" bIns="0" anchor="t">
            <a:spAutoFit/>
          </a:bodyPr>
          <a:lstStyle/>
          <a:p>
            <a:pPr>
              <a:lnSpc>
                <a:spcPct val="130000"/>
              </a:lnSpc>
              <a:spcBef>
                <a:spcPts val="0"/>
              </a:spcBef>
              <a:spcAft>
                <a:spcPts val="0"/>
              </a:spcAft>
            </a:pPr>
            <a:r>
              <a:rPr sz="1500" b="1">
                <a:solidFill>
                  <a:srgbClr val="002970"/>
                </a:solidFill>
                <a:latin typeface="Arial"/>
              </a:rPr>
              <a:t>Tested</a:t>
            </a:r>
          </a:p>
          <a:p>
            <a:pPr>
              <a:lnSpc>
                <a:spcPct val="135000"/>
              </a:lnSpc>
              <a:spcBef>
                <a:spcPts val="900"/>
              </a:spcBef>
              <a:spcAft>
                <a:spcPts val="0"/>
              </a:spcAft>
            </a:pPr>
            <a:r>
              <a:rPr sz="1200" b="0">
                <a:solidFill>
                  <a:srgbClr val="1C1C1C"/>
                </a:solidFill>
                <a:latin typeface="Arial"/>
              </a:rPr>
              <a:t>367 API tests: the schema’s rules on real Postgres, the arithmetic with no database.</a:t>
            </a:r>
          </a:p>
          <a:p>
            <a:pPr>
              <a:lnSpc>
                <a:spcPct val="135000"/>
              </a:lnSpc>
              <a:spcBef>
                <a:spcPts val="900"/>
              </a:spcBef>
              <a:spcAft>
                <a:spcPts val="0"/>
              </a:spcAft>
            </a:pPr>
            <a:r>
              <a:rPr sz="1200" b="0">
                <a:solidFill>
                  <a:srgbClr val="1C1C1C"/>
                </a:solidFill>
                <a:latin typeface="Arial"/>
              </a:rPr>
              <a:t>32 web tests: no amount typed into a screen, no shaming words, one palette.</a:t>
            </a:r>
          </a:p>
          <a:p>
            <a:pPr>
              <a:lnSpc>
                <a:spcPct val="135000"/>
              </a:lnSpc>
              <a:spcBef>
                <a:spcPts val="900"/>
              </a:spcBef>
              <a:spcAft>
                <a:spcPts val="0"/>
              </a:spcAft>
            </a:pPr>
            <a:r>
              <a:rPr sz="1200" b="0">
                <a:solidFill>
                  <a:srgbClr val="1C1C1C"/>
                </a:solidFill>
                <a:latin typeface="Arial"/>
              </a:rPr>
              <a:t>An agent eval: another model plays the shopkeeper with a hidden goal.</a:t>
            </a:r>
          </a:p>
        </p:txBody>
      </p:sp>
      <p:sp>
        <p:nvSpPr>
          <p:cNvPr id="11" name="Rounded Rectangle 10"/>
          <p:cNvSpPr/>
          <p:nvPr/>
        </p:nvSpPr>
        <p:spPr>
          <a:xfrm>
            <a:off x="8317839" y="1645920"/>
            <a:ext cx="3306927" cy="3246120"/>
          </a:xfrm>
          <a:prstGeom prst="roundRect">
            <a:avLst>
              <a:gd name="adj" fmla="val 6000"/>
            </a:avLst>
          </a:prstGeom>
          <a:solidFill>
            <a:srgbClr val="FFFFFF"/>
          </a:solidFill>
          <a:ln>
            <a:noFill/>
          </a:ln>
        </p:spPr>
        <p:txBody>
          <a:bodyPr rtlCol="0" anchor="ctr"/>
          <a:lstStyle/>
          <a:p>
            <a:pPr algn="ctr"/>
          </a:p>
        </p:txBody>
      </p:sp>
      <p:sp>
        <p:nvSpPr>
          <p:cNvPr id="12" name="Rectangle 11"/>
          <p:cNvSpPr/>
          <p:nvPr/>
        </p:nvSpPr>
        <p:spPr>
          <a:xfrm>
            <a:off x="8546439" y="1901952"/>
            <a:ext cx="365760" cy="38100"/>
          </a:xfrm>
          <a:prstGeom prst="rect">
            <a:avLst/>
          </a:prstGeom>
          <a:solidFill>
            <a:srgbClr val="00BAF2"/>
          </a:solidFill>
          <a:ln>
            <a:noFill/>
          </a:ln>
        </p:spPr>
        <p:txBody>
          <a:bodyPr rtlCol="0" anchor="ctr"/>
          <a:lstStyle/>
          <a:p>
            <a:pPr algn="ctr"/>
          </a:p>
        </p:txBody>
      </p:sp>
      <p:sp>
        <p:nvSpPr>
          <p:cNvPr id="13" name="TextBox 12"/>
          <p:cNvSpPr txBox="1"/>
          <p:nvPr/>
        </p:nvSpPr>
        <p:spPr>
          <a:xfrm>
            <a:off x="8546439" y="2029968"/>
            <a:ext cx="2849727" cy="2743200"/>
          </a:xfrm>
          <a:prstGeom prst="rect">
            <a:avLst/>
          </a:prstGeom>
          <a:noFill/>
        </p:spPr>
        <p:txBody>
          <a:bodyPr wrap="square" lIns="0" rIns="0" tIns="0" bIns="0" anchor="t">
            <a:spAutoFit/>
          </a:bodyPr>
          <a:lstStyle/>
          <a:p>
            <a:pPr>
              <a:lnSpc>
                <a:spcPct val="130000"/>
              </a:lnSpc>
              <a:spcBef>
                <a:spcPts val="0"/>
              </a:spcBef>
              <a:spcAft>
                <a:spcPts val="0"/>
              </a:spcAft>
            </a:pPr>
            <a:r>
              <a:rPr sz="1500" b="1">
                <a:solidFill>
                  <a:srgbClr val="002970"/>
                </a:solidFill>
                <a:latin typeface="Arial"/>
              </a:rPr>
              <a:t>Running</a:t>
            </a:r>
          </a:p>
          <a:p>
            <a:pPr>
              <a:lnSpc>
                <a:spcPct val="135000"/>
              </a:lnSpc>
              <a:spcBef>
                <a:spcPts val="900"/>
              </a:spcBef>
              <a:spcAft>
                <a:spcPts val="0"/>
              </a:spcAft>
            </a:pPr>
            <a:r>
              <a:rPr sz="1200" b="0">
                <a:solidFill>
                  <a:srgbClr val="1C1C1C"/>
                </a:solidFill>
                <a:latin typeface="Arial"/>
              </a:rPr>
              <a:t>Next.js on Vercel, the API on Render, the ledger on Supabase, all in Singapore.</a:t>
            </a:r>
          </a:p>
          <a:p>
            <a:pPr>
              <a:lnSpc>
                <a:spcPct val="135000"/>
              </a:lnSpc>
              <a:spcBef>
                <a:spcPts val="900"/>
              </a:spcBef>
              <a:spcAft>
                <a:spcPts val="0"/>
              </a:spcAft>
            </a:pPr>
            <a:r>
              <a:rPr sz="1200" b="0">
                <a:solidFill>
                  <a:srgbClr val="1C1C1C"/>
                </a:solidFill>
                <a:latin typeface="Arial"/>
              </a:rPr>
              <a:t>Row level security on every table: only our API reads the book.</a:t>
            </a:r>
          </a:p>
          <a:p>
            <a:pPr>
              <a:lnSpc>
                <a:spcPct val="135000"/>
              </a:lnSpc>
              <a:spcBef>
                <a:spcPts val="900"/>
              </a:spcBef>
              <a:spcAft>
                <a:spcPts val="0"/>
              </a:spcAft>
            </a:pPr>
            <a:r>
              <a:rPr sz="1200" b="0">
                <a:solidFill>
                  <a:srgbClr val="1C1C1C"/>
                </a:solidFill>
                <a:latin typeface="Arial"/>
              </a:rPr>
              <a:t>Demo data is synthetic and labelled. The Paytm account lookup and the UPI PIN are simulated.</a:t>
            </a:r>
          </a:p>
        </p:txBody>
      </p:sp>
      <p:sp>
        <p:nvSpPr>
          <p:cNvPr id="14" name="Rounded Rectangle 13"/>
          <p:cNvSpPr/>
          <p:nvPr/>
        </p:nvSpPr>
        <p:spPr>
          <a:xfrm>
            <a:off x="4773168" y="5074920"/>
            <a:ext cx="6851599" cy="1069848"/>
          </a:xfrm>
          <a:prstGeom prst="roundRect">
            <a:avLst>
              <a:gd name="adj" fmla="val 6000"/>
            </a:avLst>
          </a:prstGeom>
          <a:solidFill>
            <a:srgbClr val="FFFFFF"/>
          </a:solidFill>
          <a:ln>
            <a:noFill/>
          </a:ln>
        </p:spPr>
        <p:txBody>
          <a:bodyPr rtlCol="0" anchor="ctr"/>
          <a:lstStyle/>
          <a:p>
            <a:pPr algn="ctr"/>
          </a:p>
        </p:txBody>
      </p:sp>
      <p:sp>
        <p:nvSpPr>
          <p:cNvPr id="15" name="TextBox 14"/>
          <p:cNvSpPr txBox="1"/>
          <p:nvPr/>
        </p:nvSpPr>
        <p:spPr>
          <a:xfrm>
            <a:off x="5047488" y="5074920"/>
            <a:ext cx="6302959" cy="1069848"/>
          </a:xfrm>
          <a:prstGeom prst="rect">
            <a:avLst/>
          </a:prstGeom>
          <a:noFill/>
        </p:spPr>
        <p:txBody>
          <a:bodyPr wrap="square" lIns="0" rIns="0" tIns="0" bIns="0" anchor="ctr">
            <a:spAutoFit/>
          </a:bodyPr>
          <a:lstStyle/>
          <a:p>
            <a:pPr>
              <a:lnSpc>
                <a:spcPct val="130000"/>
              </a:lnSpc>
              <a:spcBef>
                <a:spcPts val="0"/>
              </a:spcBef>
              <a:spcAft>
                <a:spcPts val="0"/>
              </a:spcAft>
            </a:pPr>
            <a:r>
              <a:rPr sz="1300" b="1">
                <a:solidFill>
                  <a:srgbClr val="002970"/>
                </a:solidFill>
                <a:latin typeface="Arial"/>
              </a:rPr>
              <a:t>Code:  </a:t>
            </a:r>
            <a:r>
              <a:rPr sz="1300" b="1">
                <a:solidFill>
                  <a:srgbClr val="0077A8"/>
                </a:solidFill>
                <a:latin typeface="Arial"/>
              </a:rPr>
              <a:t>github.com/Uchiha-Itachi0/PAYTM-BAHI</a:t>
            </a:r>
          </a:p>
          <a:p>
            <a:pPr>
              <a:lnSpc>
                <a:spcPct val="130000"/>
              </a:lnSpc>
              <a:spcBef>
                <a:spcPts val="600"/>
              </a:spcBef>
              <a:spcAft>
                <a:spcPts val="0"/>
              </a:spcAft>
            </a:pPr>
            <a:r>
              <a:rPr sz="1200" b="0">
                <a:solidFill>
                  <a:srgbClr val="5B6675"/>
                </a:solidFill>
                <a:latin typeface="Arial"/>
              </a:rPr>
              <a:t>The live demo link is in our submission.</a:t>
            </a:r>
          </a:p>
        </p:txBody>
      </p:sp>
      <p:sp>
        <p:nvSpPr>
          <p:cNvPr id="16" name="TextBox 15"/>
          <p:cNvSpPr txBox="1"/>
          <p:nvPr/>
        </p:nvSpPr>
        <p:spPr>
          <a:xfrm>
            <a:off x="566928" y="6382512"/>
            <a:ext cx="10326319" cy="274320"/>
          </a:xfrm>
          <a:prstGeom prst="rect">
            <a:avLst/>
          </a:prstGeom>
          <a:noFill/>
        </p:spPr>
        <p:txBody>
          <a:bodyPr wrap="square" lIns="0" rIns="0" tIns="0" bIns="0" anchor="t">
            <a:spAutoFit/>
          </a:bodyPr>
          <a:lstStyle/>
          <a:p>
            <a:pPr>
              <a:lnSpc>
                <a:spcPct val="120000"/>
              </a:lnSpc>
              <a:spcBef>
                <a:spcPts val="0"/>
              </a:spcBef>
              <a:spcAft>
                <a:spcPts val="0"/>
              </a:spcAft>
            </a:pPr>
            <a:r>
              <a:rPr sz="900" b="0">
                <a:solidFill>
                  <a:srgbClr val="8B95A5"/>
                </a:solidFill>
                <a:latin typeface="Arial"/>
              </a:rPr>
              <a:t>Voice test: synthetic recordings (10 Sarvam and 2 Mac voices) replayed through our checker; graded on the entry the book would hold.</a:t>
            </a:r>
          </a:p>
        </p:txBody>
      </p:sp>
      <p:sp>
        <p:nvSpPr>
          <p:cNvPr id="17" name="TextBox 16"/>
          <p:cNvSpPr txBox="1"/>
          <p:nvPr/>
        </p:nvSpPr>
        <p:spPr>
          <a:xfrm>
            <a:off x="10984687" y="6382512"/>
            <a:ext cx="640080" cy="274320"/>
          </a:xfrm>
          <a:prstGeom prst="rect">
            <a:avLst/>
          </a:prstGeom>
          <a:noFill/>
        </p:spPr>
        <p:txBody>
          <a:bodyPr wrap="square" lIns="0" rIns="0" tIns="0" bIns="0" anchor="t">
            <a:spAutoFit/>
          </a:bodyPr>
          <a:lstStyle/>
          <a:p>
            <a:pPr algn="r">
              <a:lnSpc>
                <a:spcPct val="130000"/>
              </a:lnSpc>
              <a:spcBef>
                <a:spcPts val="0"/>
              </a:spcBef>
              <a:spcAft>
                <a:spcPts val="0"/>
              </a:spcAft>
            </a:pPr>
            <a:r>
              <a:rPr sz="900" b="0">
                <a:solidFill>
                  <a:srgbClr val="8B95A5"/>
                </a:solidFill>
                <a:latin typeface="Arial"/>
              </a:rPr>
              <a:t>11 / 12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AF6FC"/>
          </a:solidFill>
          <a:ln>
            <a:noFill/>
          </a:ln>
        </p:spPr>
        <p:txBody>
          <a:bodyPr rtlCol="0" anchor="ctr"/>
          <a:lstStyle/>
          <a:p>
            <a:pPr algn="ctr"/>
          </a:p>
        </p:txBody>
      </p:sp>
      <p:sp>
        <p:nvSpPr>
          <p:cNvPr id="3" name="TextBox 2"/>
          <p:cNvSpPr txBox="1"/>
          <p:nvPr/>
        </p:nvSpPr>
        <p:spPr>
          <a:xfrm>
            <a:off x="566928" y="384048"/>
            <a:ext cx="11057839" cy="228600"/>
          </a:xfrm>
          <a:prstGeom prst="rect">
            <a:avLst/>
          </a:prstGeom>
          <a:noFill/>
        </p:spPr>
        <p:txBody>
          <a:bodyPr wrap="square" lIns="0" rIns="0" tIns="0" bIns="0" anchor="t">
            <a:spAutoFit/>
          </a:bodyPr>
          <a:lstStyle/>
          <a:p>
            <a:pPr>
              <a:lnSpc>
                <a:spcPct val="130000"/>
              </a:lnSpc>
              <a:spcBef>
                <a:spcPts val="0"/>
              </a:spcBef>
              <a:spcAft>
                <a:spcPts val="0"/>
              </a:spcAft>
            </a:pPr>
            <a:r>
              <a:rPr sz="1000" b="1" spc="140">
                <a:solidFill>
                  <a:srgbClr val="0077A8"/>
                </a:solidFill>
                <a:latin typeface="Arial"/>
              </a:rPr>
              <a:t>SOURCES</a:t>
            </a:r>
          </a:p>
        </p:txBody>
      </p:sp>
      <p:sp>
        <p:nvSpPr>
          <p:cNvPr id="4" name="TextBox 3"/>
          <p:cNvSpPr txBox="1"/>
          <p:nvPr/>
        </p:nvSpPr>
        <p:spPr>
          <a:xfrm>
            <a:off x="566928" y="676656"/>
            <a:ext cx="11057839" cy="822960"/>
          </a:xfrm>
          <a:prstGeom prst="rect">
            <a:avLst/>
          </a:prstGeom>
          <a:noFill/>
        </p:spPr>
        <p:txBody>
          <a:bodyPr wrap="square" lIns="0" rIns="0" tIns="0" bIns="0" anchor="t">
            <a:spAutoFit/>
          </a:bodyPr>
          <a:lstStyle/>
          <a:p>
            <a:pPr>
              <a:lnSpc>
                <a:spcPct val="105000"/>
              </a:lnSpc>
              <a:spcBef>
                <a:spcPts val="0"/>
              </a:spcBef>
              <a:spcAft>
                <a:spcPts val="0"/>
              </a:spcAft>
            </a:pPr>
            <a:r>
              <a:rPr sz="2600" b="1">
                <a:solidFill>
                  <a:srgbClr val="002970"/>
                </a:solidFill>
                <a:latin typeface="Arial"/>
              </a:rPr>
              <a:t>Where every fact in this deck comes from.</a:t>
            </a:r>
          </a:p>
        </p:txBody>
      </p:sp>
      <p:sp>
        <p:nvSpPr>
          <p:cNvPr id="5" name="Rounded Rectangle 4"/>
          <p:cNvSpPr/>
          <p:nvPr/>
        </p:nvSpPr>
        <p:spPr>
          <a:xfrm>
            <a:off x="566928" y="1645920"/>
            <a:ext cx="5346039" cy="4498848"/>
          </a:xfrm>
          <a:prstGeom prst="roundRect">
            <a:avLst>
              <a:gd name="adj" fmla="val 6000"/>
            </a:avLst>
          </a:prstGeom>
          <a:solidFill>
            <a:srgbClr val="FFFFFF"/>
          </a:solidFill>
          <a:ln>
            <a:noFill/>
          </a:ln>
        </p:spPr>
        <p:txBody>
          <a:bodyPr rtlCol="0" anchor="ctr"/>
          <a:lstStyle/>
          <a:p>
            <a:pPr algn="ctr"/>
          </a:p>
        </p:txBody>
      </p:sp>
      <p:sp>
        <p:nvSpPr>
          <p:cNvPr id="6" name="Rounded Rectangle 5"/>
          <p:cNvSpPr/>
          <p:nvPr/>
        </p:nvSpPr>
        <p:spPr>
          <a:xfrm>
            <a:off x="6278727" y="1645920"/>
            <a:ext cx="5346039" cy="4498848"/>
          </a:xfrm>
          <a:prstGeom prst="roundRect">
            <a:avLst>
              <a:gd name="adj" fmla="val 6000"/>
            </a:avLst>
          </a:prstGeom>
          <a:solidFill>
            <a:srgbClr val="FFFFFF"/>
          </a:solidFill>
          <a:ln>
            <a:noFill/>
          </a:ln>
        </p:spPr>
        <p:txBody>
          <a:bodyPr rtlCol="0" anchor="ctr"/>
          <a:lstStyle/>
          <a:p>
            <a:pPr algn="ctr"/>
          </a:p>
        </p:txBody>
      </p:sp>
      <p:sp>
        <p:nvSpPr>
          <p:cNvPr id="7" name="TextBox 6"/>
          <p:cNvSpPr txBox="1"/>
          <p:nvPr/>
        </p:nvSpPr>
        <p:spPr>
          <a:xfrm>
            <a:off x="841248" y="1874520"/>
            <a:ext cx="4797399" cy="4133088"/>
          </a:xfrm>
          <a:prstGeom prst="rect">
            <a:avLst/>
          </a:prstGeom>
          <a:noFill/>
        </p:spPr>
        <p:txBody>
          <a:bodyPr wrap="square" lIns="0" rIns="0" tIns="0" bIns="0" anchor="t">
            <a:spAutoFit/>
          </a:bodyPr>
          <a:lstStyle/>
          <a:p>
            <a:pPr>
              <a:lnSpc>
                <a:spcPct val="130000"/>
              </a:lnSpc>
              <a:spcBef>
                <a:spcPts val="0"/>
              </a:spcBef>
              <a:spcAft>
                <a:spcPts val="200"/>
              </a:spcAft>
            </a:pPr>
            <a:r>
              <a:rPr sz="950" b="1" spc="120">
                <a:solidFill>
                  <a:srgbClr val="0077A8"/>
                </a:solidFill>
                <a:latin typeface="Arial"/>
              </a:rPr>
              <a:t>MARKET AND PRODUCTS</a:t>
            </a:r>
          </a:p>
          <a:p>
            <a:pPr>
              <a:lnSpc>
                <a:spcPct val="120000"/>
              </a:lnSpc>
              <a:spcBef>
                <a:spcPts val="900"/>
              </a:spcBef>
              <a:spcAft>
                <a:spcPts val="0"/>
              </a:spcAft>
            </a:pPr>
            <a:r>
              <a:rPr sz="1150" b="1">
                <a:solidFill>
                  <a:srgbClr val="1C1C1C"/>
                </a:solidFill>
                <a:latin typeface="Arial"/>
              </a:rPr>
              <a:t>Khatabook — 5 Cr+ downloads; customers get SMS / WhatsApp</a:t>
            </a:r>
          </a:p>
          <a:p>
            <a:pPr>
              <a:lnSpc>
                <a:spcPct val="120000"/>
              </a:lnSpc>
              <a:spcBef>
                <a:spcPts val="100"/>
              </a:spcBef>
              <a:spcAft>
                <a:spcPts val="0"/>
              </a:spcAft>
            </a:pPr>
            <a:r>
              <a:rPr sz="1000" b="0">
                <a:solidFill>
                  <a:srgbClr val="5B6675"/>
                </a:solidFill>
                <a:latin typeface="Arial"/>
                <a:hlinkClick r:id="rId2"/>
              </a:rPr>
              <a:t>Google Play, checked 23 Sep 2026</a:t>
            </a:r>
          </a:p>
          <a:p>
            <a:pPr>
              <a:lnSpc>
                <a:spcPct val="120000"/>
              </a:lnSpc>
              <a:spcBef>
                <a:spcPts val="900"/>
              </a:spcBef>
              <a:spcAft>
                <a:spcPts val="0"/>
              </a:spcAft>
            </a:pPr>
            <a:r>
              <a:rPr sz="1150" b="1">
                <a:solidFill>
                  <a:srgbClr val="1C1C1C"/>
                </a:solidFill>
                <a:latin typeface="Arial"/>
              </a:rPr>
              <a:t>OkCredit — 1 Cr+ downloads; “They don’t need the app”</a:t>
            </a:r>
          </a:p>
          <a:p>
            <a:pPr>
              <a:lnSpc>
                <a:spcPct val="120000"/>
              </a:lnSpc>
              <a:spcBef>
                <a:spcPts val="100"/>
              </a:spcBef>
              <a:spcAft>
                <a:spcPts val="0"/>
              </a:spcAft>
            </a:pPr>
            <a:r>
              <a:rPr sz="1000" b="0">
                <a:solidFill>
                  <a:srgbClr val="5B6675"/>
                </a:solidFill>
                <a:latin typeface="Arial"/>
                <a:hlinkClick r:id="rId3"/>
              </a:rPr>
              <a:t>Google Play and okcredit.in, checked 23 Sep 2026</a:t>
            </a:r>
          </a:p>
          <a:p>
            <a:pPr>
              <a:lnSpc>
                <a:spcPct val="120000"/>
              </a:lnSpc>
              <a:spcBef>
                <a:spcPts val="900"/>
              </a:spcBef>
              <a:spcAft>
                <a:spcPts val="0"/>
              </a:spcAft>
            </a:pPr>
            <a:r>
              <a:rPr sz="1150" b="1">
                <a:solidFill>
                  <a:srgbClr val="1C1C1C"/>
                </a:solidFill>
                <a:latin typeface="Arial"/>
              </a:rPr>
              <a:t>Done — 100+ downloads; entries confirmed by OTP</a:t>
            </a:r>
          </a:p>
          <a:p>
            <a:pPr>
              <a:lnSpc>
                <a:spcPct val="120000"/>
              </a:lnSpc>
              <a:spcBef>
                <a:spcPts val="100"/>
              </a:spcBef>
              <a:spcAft>
                <a:spcPts val="0"/>
              </a:spcAft>
            </a:pPr>
            <a:r>
              <a:rPr sz="1000" b="0">
                <a:solidFill>
                  <a:srgbClr val="5B6675"/>
                </a:solidFill>
                <a:latin typeface="Arial"/>
                <a:hlinkClick r:id="rId4"/>
              </a:rPr>
              <a:t>Google Play, checked 23 Sep 2026</a:t>
            </a:r>
          </a:p>
          <a:p>
            <a:pPr>
              <a:lnSpc>
                <a:spcPct val="120000"/>
              </a:lnSpc>
              <a:spcBef>
                <a:spcPts val="900"/>
              </a:spcBef>
              <a:spcAft>
                <a:spcPts val="0"/>
              </a:spcAft>
            </a:pPr>
            <a:r>
              <a:rPr sz="1150" b="1">
                <a:solidFill>
                  <a:srgbClr val="1C1C1C"/>
                </a:solidFill>
                <a:latin typeface="Arial"/>
              </a:rPr>
              <a:t>Paytm Business Khata — customer reminders by SMS with a pay link</a:t>
            </a:r>
          </a:p>
          <a:p>
            <a:pPr>
              <a:lnSpc>
                <a:spcPct val="120000"/>
              </a:lnSpc>
              <a:spcBef>
                <a:spcPts val="100"/>
              </a:spcBef>
              <a:spcAft>
                <a:spcPts val="0"/>
              </a:spcAft>
            </a:pPr>
            <a:r>
              <a:rPr sz="1000" b="0">
                <a:solidFill>
                  <a:srgbClr val="5B6675"/>
                </a:solidFill>
                <a:latin typeface="Arial"/>
                <a:hlinkClick r:id="rId5"/>
              </a:rPr>
              <a:t>business.paytm.com, checked 23 Sep 2026</a:t>
            </a:r>
          </a:p>
          <a:p>
            <a:pPr>
              <a:lnSpc>
                <a:spcPct val="120000"/>
              </a:lnSpc>
              <a:spcBef>
                <a:spcPts val="900"/>
              </a:spcBef>
              <a:spcAft>
                <a:spcPts val="0"/>
              </a:spcAft>
            </a:pPr>
            <a:r>
              <a:rPr sz="1150" b="1">
                <a:solidFill>
                  <a:srgbClr val="1C1C1C"/>
                </a:solidFill>
                <a:latin typeface="Arial"/>
              </a:rPr>
              <a:t>Paytm Soundbox “deployed at 1.57 Cr storefronts”</a:t>
            </a:r>
          </a:p>
          <a:p>
            <a:pPr>
              <a:lnSpc>
                <a:spcPct val="120000"/>
              </a:lnSpc>
              <a:spcBef>
                <a:spcPts val="100"/>
              </a:spcBef>
              <a:spcAft>
                <a:spcPts val="0"/>
              </a:spcAft>
            </a:pPr>
            <a:r>
              <a:rPr sz="1000" b="0">
                <a:solidFill>
                  <a:srgbClr val="5B6675"/>
                </a:solidFill>
                <a:latin typeface="Arial"/>
                <a:hlinkClick r:id="rId6"/>
              </a:rPr>
              <a:t>Paytm Q1 FY2027 earnings release, 20 Jul 2026</a:t>
            </a:r>
          </a:p>
          <a:p>
            <a:pPr>
              <a:lnSpc>
                <a:spcPct val="120000"/>
              </a:lnSpc>
              <a:spcBef>
                <a:spcPts val="900"/>
              </a:spcBef>
              <a:spcAft>
                <a:spcPts val="0"/>
              </a:spcAft>
            </a:pPr>
            <a:r>
              <a:rPr sz="1150" b="1">
                <a:solidFill>
                  <a:srgbClr val="1C1C1C"/>
                </a:solidFill>
                <a:latin typeface="Arial"/>
              </a:rPr>
              <a:t>Khatabook FY24 — ₹102.7 Cr revenue, ₹116 Cr loss</a:t>
            </a:r>
          </a:p>
          <a:p>
            <a:pPr>
              <a:lnSpc>
                <a:spcPct val="120000"/>
              </a:lnSpc>
              <a:spcBef>
                <a:spcPts val="100"/>
              </a:spcBef>
              <a:spcAft>
                <a:spcPts val="0"/>
              </a:spcAft>
            </a:pPr>
            <a:r>
              <a:rPr sz="1000" b="0">
                <a:solidFill>
                  <a:srgbClr val="5B6675"/>
                </a:solidFill>
                <a:latin typeface="Arial"/>
                <a:hlinkClick r:id="rId7"/>
              </a:rPr>
              <a:t>YourStory, Nov 2024</a:t>
            </a:r>
          </a:p>
        </p:txBody>
      </p:sp>
      <p:sp>
        <p:nvSpPr>
          <p:cNvPr id="8" name="TextBox 7"/>
          <p:cNvSpPr txBox="1"/>
          <p:nvPr/>
        </p:nvSpPr>
        <p:spPr>
          <a:xfrm>
            <a:off x="6553047" y="1874520"/>
            <a:ext cx="4797399" cy="4133088"/>
          </a:xfrm>
          <a:prstGeom prst="rect">
            <a:avLst/>
          </a:prstGeom>
          <a:noFill/>
        </p:spPr>
        <p:txBody>
          <a:bodyPr wrap="square" lIns="0" rIns="0" tIns="0" bIns="0" anchor="t">
            <a:spAutoFit/>
          </a:bodyPr>
          <a:lstStyle/>
          <a:p>
            <a:pPr>
              <a:lnSpc>
                <a:spcPct val="130000"/>
              </a:lnSpc>
              <a:spcBef>
                <a:spcPts val="0"/>
              </a:spcBef>
              <a:spcAft>
                <a:spcPts val="200"/>
              </a:spcAft>
            </a:pPr>
            <a:r>
              <a:rPr sz="950" b="1" spc="120">
                <a:solidFill>
                  <a:srgbClr val="0077A8"/>
                </a:solidFill>
                <a:latin typeface="Arial"/>
              </a:rPr>
              <a:t>LAW</a:t>
            </a:r>
          </a:p>
          <a:p>
            <a:pPr>
              <a:lnSpc>
                <a:spcPct val="120000"/>
              </a:lnSpc>
              <a:spcBef>
                <a:spcPts val="900"/>
              </a:spcBef>
              <a:spcAft>
                <a:spcPts val="0"/>
              </a:spcAft>
            </a:pPr>
            <a:r>
              <a:rPr sz="1150" b="1">
                <a:solidFill>
                  <a:srgbClr val="1C1C1C"/>
                </a:solidFill>
                <a:latin typeface="Arial"/>
              </a:rPr>
              <a:t>Information Technology Act 2000, s.1(4) and First Schedule, entry 1 (as amended 2022)</a:t>
            </a:r>
          </a:p>
          <a:p>
            <a:pPr>
              <a:lnSpc>
                <a:spcPct val="120000"/>
              </a:lnSpc>
              <a:spcBef>
                <a:spcPts val="100"/>
              </a:spcBef>
              <a:spcAft>
                <a:spcPts val="0"/>
              </a:spcAft>
            </a:pPr>
            <a:r>
              <a:rPr sz="1000" b="0">
                <a:solidFill>
                  <a:srgbClr val="5B6675"/>
                </a:solidFill>
                <a:latin typeface="Arial"/>
              </a:rPr>
              <a:t>Negotiable instruments other than cheques are outside the Act.</a:t>
            </a:r>
          </a:p>
          <a:p>
            <a:pPr>
              <a:lnSpc>
                <a:spcPct val="120000"/>
              </a:lnSpc>
              <a:spcBef>
                <a:spcPts val="900"/>
              </a:spcBef>
              <a:spcAft>
                <a:spcPts val="0"/>
              </a:spcAft>
            </a:pPr>
            <a:r>
              <a:rPr sz="1150" b="1">
                <a:solidFill>
                  <a:srgbClr val="1C1C1C"/>
                </a:solidFill>
                <a:latin typeface="Arial"/>
              </a:rPr>
              <a:t>Karnataka Money Lenders Act 1961, s.2(9)</a:t>
            </a:r>
          </a:p>
          <a:p>
            <a:pPr>
              <a:lnSpc>
                <a:spcPct val="120000"/>
              </a:lnSpc>
              <a:spcBef>
                <a:spcPts val="100"/>
              </a:spcBef>
              <a:spcAft>
                <a:spcPts val="0"/>
              </a:spcAft>
            </a:pPr>
            <a:r>
              <a:rPr sz="1000" b="0">
                <a:solidFill>
                  <a:srgbClr val="5B6675"/>
                </a:solidFill>
                <a:latin typeface="Arial"/>
              </a:rPr>
              <a:t>A “loan” is an advance at interest, of money or in kind.</a:t>
            </a:r>
          </a:p>
          <a:p>
            <a:pPr>
              <a:lnSpc>
                <a:spcPct val="120000"/>
              </a:lnSpc>
              <a:spcBef>
                <a:spcPts val="900"/>
              </a:spcBef>
              <a:spcAft>
                <a:spcPts val="0"/>
              </a:spcAft>
            </a:pPr>
            <a:r>
              <a:rPr sz="1150" b="1">
                <a:solidFill>
                  <a:srgbClr val="1C1C1C"/>
                </a:solidFill>
                <a:latin typeface="Arial"/>
              </a:rPr>
              <a:t>Limitation Act 1963, s.18</a:t>
            </a:r>
          </a:p>
          <a:p>
            <a:pPr>
              <a:lnSpc>
                <a:spcPct val="120000"/>
              </a:lnSpc>
              <a:spcBef>
                <a:spcPts val="100"/>
              </a:spcBef>
              <a:spcAft>
                <a:spcPts val="0"/>
              </a:spcAft>
            </a:pPr>
            <a:r>
              <a:rPr sz="1000" b="0">
                <a:solidFill>
                  <a:srgbClr val="5B6675"/>
                </a:solidFill>
                <a:latin typeface="Arial"/>
              </a:rPr>
              <a:t>A written acknowledgment starts a fresh limitation period.</a:t>
            </a:r>
          </a:p>
          <a:p>
            <a:pPr>
              <a:lnSpc>
                <a:spcPct val="120000"/>
              </a:lnSpc>
              <a:spcBef>
                <a:spcPts val="900"/>
              </a:spcBef>
              <a:spcAft>
                <a:spcPts val="0"/>
              </a:spcAft>
            </a:pPr>
            <a:r>
              <a:rPr sz="1150" b="1">
                <a:solidFill>
                  <a:srgbClr val="1C1C1C"/>
                </a:solidFill>
                <a:latin typeface="Arial"/>
              </a:rPr>
              <a:t>Bharatiya Nyaya Sanhita 2023, s.356</a:t>
            </a:r>
          </a:p>
          <a:p>
            <a:pPr>
              <a:lnSpc>
                <a:spcPct val="120000"/>
              </a:lnSpc>
              <a:spcBef>
                <a:spcPts val="100"/>
              </a:spcBef>
              <a:spcAft>
                <a:spcPts val="0"/>
              </a:spcAft>
            </a:pPr>
            <a:r>
              <a:rPr sz="1000" b="0">
                <a:solidFill>
                  <a:srgbClr val="5B6675"/>
                </a:solidFill>
                <a:latin typeface="Arial"/>
              </a:rPr>
              <a:t>Defamation.</a:t>
            </a:r>
          </a:p>
          <a:p>
            <a:pPr>
              <a:lnSpc>
                <a:spcPct val="120000"/>
              </a:lnSpc>
              <a:spcBef>
                <a:spcPts val="900"/>
              </a:spcBef>
              <a:spcAft>
                <a:spcPts val="0"/>
              </a:spcAft>
            </a:pPr>
            <a:r>
              <a:rPr sz="1150" b="1">
                <a:solidFill>
                  <a:srgbClr val="1C1C1C"/>
                </a:solidFill>
                <a:latin typeface="Arial"/>
              </a:rPr>
              <a:t>CCPA Guidelines for Prevention and Regulation of Dark Patterns 2023, Annexure 1, item 10</a:t>
            </a:r>
          </a:p>
          <a:p>
            <a:pPr>
              <a:lnSpc>
                <a:spcPct val="120000"/>
              </a:lnSpc>
              <a:spcBef>
                <a:spcPts val="100"/>
              </a:spcBef>
              <a:spcAft>
                <a:spcPts val="0"/>
              </a:spcAft>
            </a:pPr>
            <a:r>
              <a:rPr sz="1000" b="0">
                <a:solidFill>
                  <a:srgbClr val="5B6675"/>
                </a:solidFill>
                <a:latin typeface="Arial"/>
              </a:rPr>
              <a:t>“Nagging”.</a:t>
            </a:r>
          </a:p>
        </p:txBody>
      </p:sp>
      <p:sp>
        <p:nvSpPr>
          <p:cNvPr id="9" name="TextBox 8"/>
          <p:cNvSpPr txBox="1"/>
          <p:nvPr/>
        </p:nvSpPr>
        <p:spPr>
          <a:xfrm>
            <a:off x="566928" y="6382512"/>
            <a:ext cx="10326319" cy="274320"/>
          </a:xfrm>
          <a:prstGeom prst="rect">
            <a:avLst/>
          </a:prstGeom>
          <a:noFill/>
        </p:spPr>
        <p:txBody>
          <a:bodyPr wrap="square" lIns="0" rIns="0" tIns="0" bIns="0" anchor="t">
            <a:spAutoFit/>
          </a:bodyPr>
          <a:lstStyle/>
          <a:p>
            <a:pPr>
              <a:lnSpc>
                <a:spcPct val="120000"/>
              </a:lnSpc>
              <a:spcBef>
                <a:spcPts val="0"/>
              </a:spcBef>
              <a:spcAft>
                <a:spcPts val="0"/>
              </a:spcAft>
            </a:pPr>
            <a:r>
              <a:rPr sz="900" b="0">
                <a:solidFill>
                  <a:srgbClr val="8B95A5"/>
                </a:solidFill>
                <a:latin typeface="Arial"/>
              </a:rPr>
              <a:t>Every shop and customer name in this deck is synthetic demo data. Click a source line to open it.</a:t>
            </a:r>
          </a:p>
        </p:txBody>
      </p:sp>
      <p:sp>
        <p:nvSpPr>
          <p:cNvPr id="10" name="TextBox 9"/>
          <p:cNvSpPr txBox="1"/>
          <p:nvPr/>
        </p:nvSpPr>
        <p:spPr>
          <a:xfrm>
            <a:off x="10984687" y="6382512"/>
            <a:ext cx="640080" cy="274320"/>
          </a:xfrm>
          <a:prstGeom prst="rect">
            <a:avLst/>
          </a:prstGeom>
          <a:noFill/>
        </p:spPr>
        <p:txBody>
          <a:bodyPr wrap="square" lIns="0" rIns="0" tIns="0" bIns="0" anchor="t">
            <a:spAutoFit/>
          </a:bodyPr>
          <a:lstStyle/>
          <a:p>
            <a:pPr algn="r">
              <a:lnSpc>
                <a:spcPct val="130000"/>
              </a:lnSpc>
              <a:spcBef>
                <a:spcPts val="0"/>
              </a:spcBef>
              <a:spcAft>
                <a:spcPts val="0"/>
              </a:spcAft>
            </a:pPr>
            <a:r>
              <a:rPr sz="900" b="0">
                <a:solidFill>
                  <a:srgbClr val="8B95A5"/>
                </a:solidFill>
                <a:latin typeface="Arial"/>
              </a:rPr>
              <a:t>12 / 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77A8"/>
      </a:hlink>
      <a:folHlink>
        <a:srgbClr val="0077A8"/>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