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p:spPr>
        <p:txBody>
          <a:bodyPr rtlCol="0" anchor="ctr"/>
          <a:lstStyle/>
          <a:p>
            <a:pPr algn="ctr"/>
          </a:p>
        </p:txBody>
      </p:sp>
      <p:sp>
        <p:nvSpPr>
          <p:cNvPr id="3" name="Rectangle 2"/>
          <p:cNvSpPr/>
          <p:nvPr/>
        </p:nvSpPr>
        <p:spPr>
          <a:xfrm>
            <a:off x="0" y="0"/>
            <a:ext cx="12191695" cy="101600"/>
          </a:xfrm>
          <a:prstGeom prst="rect">
            <a:avLst/>
          </a:prstGeom>
          <a:solidFill>
            <a:srgbClr val="00BAF2"/>
          </a:solidFill>
          <a:ln>
            <a:noFill/>
          </a:ln>
        </p:spPr>
        <p:txBody>
          <a:bodyPr rtlCol="0" anchor="ctr"/>
          <a:lstStyle/>
          <a:p>
            <a:pPr algn="ctr"/>
          </a:p>
        </p:txBody>
      </p:sp>
      <p:sp>
        <p:nvSpPr>
          <p:cNvPr id="4" name="Rounded Rectangle 3"/>
          <p:cNvSpPr/>
          <p:nvPr/>
        </p:nvSpPr>
        <p:spPr>
          <a:xfrm>
            <a:off x="566928" y="777240"/>
            <a:ext cx="6812280" cy="365760"/>
          </a:xfrm>
          <a:prstGeom prst="roundRect">
            <a:avLst>
              <a:gd name="adj" fmla="val 50000"/>
            </a:avLst>
          </a:prstGeom>
          <a:solidFill>
            <a:srgbClr val="00BAF2"/>
          </a:solidFill>
          <a:ln>
            <a:noFill/>
          </a:ln>
        </p:spPr>
        <p:txBody>
          <a:bodyPr rtlCol="0" anchor="ctr"/>
          <a:lstStyle/>
          <a:p>
            <a:pPr algn="ctr"/>
          </a:p>
        </p:txBody>
      </p:sp>
      <p:sp>
        <p:nvSpPr>
          <p:cNvPr id="5" name="TextBox 4"/>
          <p:cNvSpPr txBox="1"/>
          <p:nvPr/>
        </p:nvSpPr>
        <p:spPr>
          <a:xfrm>
            <a:off x="566928" y="777240"/>
            <a:ext cx="6812280" cy="365760"/>
          </a:xfrm>
          <a:prstGeom prst="rect">
            <a:avLst/>
          </a:prstGeom>
          <a:noFill/>
        </p:spPr>
        <p:txBody>
          <a:bodyPr wrap="square" lIns="0" rIns="0" tIns="0" bIns="0" anchor="ctr">
            <a:spAutoFit/>
          </a:bodyPr>
          <a:lstStyle/>
          <a:p>
            <a:pPr algn="ctr">
              <a:lnSpc>
                <a:spcPct val="100000"/>
              </a:lnSpc>
              <a:spcBef>
                <a:spcPts val="0"/>
              </a:spcBef>
              <a:spcAft>
                <a:spcPts val="0"/>
              </a:spcAft>
            </a:pPr>
            <a:r>
              <a:rPr sz="1200" b="1">
                <a:solidFill>
                  <a:srgbClr val="002970"/>
                </a:solidFill>
                <a:latin typeface="Arial"/>
              </a:rPr>
              <a:t>This idea was selected in the top 10 at the Paytm Build for India AI Hackathon, Mumbai</a:t>
            </a:r>
          </a:p>
        </p:txBody>
      </p:sp>
      <p:sp>
        <p:nvSpPr>
          <p:cNvPr id="6" name="TextBox 5"/>
          <p:cNvSpPr txBox="1"/>
          <p:nvPr/>
        </p:nvSpPr>
        <p:spPr>
          <a:xfrm>
            <a:off x="566928" y="1325880"/>
            <a:ext cx="6400800" cy="4206240"/>
          </a:xfrm>
          <a:prstGeom prst="rect">
            <a:avLst/>
          </a:prstGeom>
          <a:noFill/>
        </p:spPr>
        <p:txBody>
          <a:bodyPr wrap="square" lIns="0" rIns="0" tIns="0" bIns="0" anchor="t">
            <a:spAutoFit/>
          </a:bodyPr>
          <a:lstStyle/>
          <a:p>
            <a:pPr>
              <a:lnSpc>
                <a:spcPct val="95000"/>
              </a:lnSpc>
              <a:spcBef>
                <a:spcPts val="0"/>
              </a:spcBef>
              <a:spcAft>
                <a:spcPts val="0"/>
              </a:spcAft>
            </a:pPr>
            <a:r>
              <a:rPr sz="7000" b="1">
                <a:solidFill>
                  <a:srgbClr val="FFFFFF"/>
                </a:solidFill>
                <a:latin typeface="Arial"/>
              </a:rPr>
              <a:t>BAHI</a:t>
            </a:r>
          </a:p>
          <a:p>
            <a:pPr>
              <a:lnSpc>
                <a:spcPct val="110000"/>
              </a:lnSpc>
              <a:spcBef>
                <a:spcPts val="1000"/>
              </a:spcBef>
              <a:spcAft>
                <a:spcPts val="0"/>
              </a:spcAft>
            </a:pPr>
            <a:r>
              <a:rPr sz="2800" b="1">
                <a:solidFill>
                  <a:srgbClr val="FFFFFF"/>
                </a:solidFill>
                <a:latin typeface="Arial"/>
              </a:rPr>
              <a:t>The khata both sides can see.</a:t>
            </a:r>
          </a:p>
          <a:p>
            <a:pPr>
              <a:lnSpc>
                <a:spcPct val="140000"/>
              </a:lnSpc>
              <a:spcBef>
                <a:spcPts val="1800"/>
              </a:spcBef>
              <a:spcAft>
                <a:spcPts val="0"/>
              </a:spcAft>
            </a:pPr>
            <a:r>
              <a:rPr sz="1500" b="0">
                <a:solidFill>
                  <a:srgbClr val="C9D8EE"/>
                </a:solidFill>
                <a:latin typeface="Arial"/>
              </a:rPr>
              <a:t>The customer scans the shop’s udhaar QR, or asks for udhaar on her own phone. The shopkeeper tells his AI munshi the amount, and nothing is written until both sides say yes. Every night, plain code decides who actually needs a reminder.</a:t>
            </a:r>
          </a:p>
        </p:txBody>
      </p:sp>
      <p:sp>
        <p:nvSpPr>
          <p:cNvPr id="7" name="Rectangle 6"/>
          <p:cNvSpPr/>
          <p:nvPr/>
        </p:nvSpPr>
        <p:spPr>
          <a:xfrm>
            <a:off x="566928" y="5074920"/>
            <a:ext cx="457200" cy="38100"/>
          </a:xfrm>
          <a:prstGeom prst="rect">
            <a:avLst/>
          </a:prstGeom>
          <a:solidFill>
            <a:srgbClr val="00BAF2"/>
          </a:solidFill>
          <a:ln>
            <a:noFill/>
          </a:ln>
        </p:spPr>
        <p:txBody>
          <a:bodyPr rtlCol="0" anchor="ctr"/>
          <a:lstStyle/>
          <a:p>
            <a:pPr algn="ctr"/>
          </a:p>
        </p:txBody>
      </p:sp>
      <p:sp>
        <p:nvSpPr>
          <p:cNvPr id="8" name="TextBox 7"/>
          <p:cNvSpPr txBox="1"/>
          <p:nvPr/>
        </p:nvSpPr>
        <p:spPr>
          <a:xfrm>
            <a:off x="566928" y="5257800"/>
            <a:ext cx="6675120" cy="731520"/>
          </a:xfrm>
          <a:prstGeom prst="rect">
            <a:avLst/>
          </a:prstGeom>
          <a:noFill/>
        </p:spPr>
        <p:txBody>
          <a:bodyPr wrap="square" lIns="0" rIns="0" tIns="0" bIns="0" anchor="t">
            <a:spAutoFit/>
          </a:bodyPr>
          <a:lstStyle/>
          <a:p>
            <a:pPr>
              <a:lnSpc>
                <a:spcPct val="130000"/>
              </a:lnSpc>
              <a:spcBef>
                <a:spcPts val="0"/>
              </a:spcBef>
              <a:spcAft>
                <a:spcPts val="0"/>
              </a:spcAft>
            </a:pPr>
            <a:r>
              <a:rPr sz="1200" b="0">
                <a:solidFill>
                  <a:srgbClr val="FFFFFF"/>
                </a:solidFill>
                <a:latin typeface="Arial"/>
              </a:rPr>
              <a:t>Paytm Build for India AI Hackathon  ·  Mumbai, 3 October 2026</a:t>
            </a:r>
          </a:p>
          <a:p>
            <a:pPr>
              <a:lnSpc>
                <a:spcPct val="130000"/>
              </a:lnSpc>
              <a:spcBef>
                <a:spcPts val="400"/>
              </a:spcBef>
              <a:spcAft>
                <a:spcPts val="0"/>
              </a:spcAft>
            </a:pPr>
            <a:r>
              <a:rPr sz="1200" b="0">
                <a:solidFill>
                  <a:srgbClr val="FFFFFF"/>
                </a:solidFill>
                <a:latin typeface="Arial"/>
              </a:rPr>
              <a:t>Track 2: AI-Powered Financial Journeys</a:t>
            </a:r>
          </a:p>
          <a:p>
            <a:pPr>
              <a:lnSpc>
                <a:spcPct val="130000"/>
              </a:lnSpc>
              <a:spcBef>
                <a:spcPts val="1000"/>
              </a:spcBef>
              <a:spcAft>
                <a:spcPts val="0"/>
              </a:spcAft>
            </a:pPr>
            <a:r>
              <a:rPr sz="1200" b="0">
                <a:solidFill>
                  <a:srgbClr val="8FA4C6"/>
                </a:solidFill>
                <a:latin typeface="Arial"/>
              </a:rPr>
              <a:t>Team Hustlers  ·  picked by the Paytm panel as a top 10 project</a:t>
            </a:r>
          </a:p>
        </p:txBody>
      </p:sp>
      <p:sp>
        <p:nvSpPr>
          <p:cNvPr id="9" name="Rounded Rectangle 8"/>
          <p:cNvSpPr/>
          <p:nvPr/>
        </p:nvSpPr>
        <p:spPr>
          <a:xfrm>
            <a:off x="755142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m-popup.png"/>
          <p:cNvPicPr>
            <a:picLocks noChangeAspect="1"/>
          </p:cNvPicPr>
          <p:nvPr/>
        </p:nvPicPr>
        <p:blipFill>
          <a:blip r:embed="rId2"/>
          <a:stretch>
            <a:fillRect/>
          </a:stretch>
        </p:blipFill>
        <p:spPr>
          <a:xfrm>
            <a:off x="7589520" y="914400"/>
            <a:ext cx="2011680" cy="3971778"/>
          </a:xfrm>
          <a:prstGeom prst="rect">
            <a:avLst/>
          </a:prstGeom>
        </p:spPr>
      </p:pic>
      <p:sp>
        <p:nvSpPr>
          <p:cNvPr id="11" name="Rounded Rectangle 10"/>
          <p:cNvSpPr/>
          <p:nvPr/>
        </p:nvSpPr>
        <p:spPr>
          <a:xfrm>
            <a:off x="979170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2" name="Picture 11" descr="c-chat.png"/>
          <p:cNvPicPr>
            <a:picLocks noChangeAspect="1"/>
          </p:cNvPicPr>
          <p:nvPr/>
        </p:nvPicPr>
        <p:blipFill>
          <a:blip r:embed="rId3"/>
          <a:stretch>
            <a:fillRect/>
          </a:stretch>
        </p:blipFill>
        <p:spPr>
          <a:xfrm>
            <a:off x="9829800" y="914400"/>
            <a:ext cx="2011680" cy="3971778"/>
          </a:xfrm>
          <a:prstGeom prst="rect">
            <a:avLst/>
          </a:prstGeom>
        </p:spPr>
      </p:pic>
      <p:sp>
        <p:nvSpPr>
          <p:cNvPr id="13" name="TextBox 12"/>
          <p:cNvSpPr txBox="1"/>
          <p:nvPr/>
        </p:nvSpPr>
        <p:spPr>
          <a:xfrm>
            <a:off x="7589520" y="5138928"/>
            <a:ext cx="425196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8FA4C6"/>
                </a:solidFill>
                <a:latin typeface="Arial"/>
              </a:rPr>
              <a:t>Shopkeeper  ·  Customer  ·  our working app, demo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WHAT PAYTM GETS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More revenue from merchants and customers Paytm already has.</a:t>
            </a:r>
          </a:p>
        </p:txBody>
      </p:sp>
      <p:sp>
        <p:nvSpPr>
          <p:cNvPr id="5" name="Rounded Rectangle 4"/>
          <p:cNvSpPr/>
          <p:nvPr/>
        </p:nvSpPr>
        <p:spPr>
          <a:xfrm>
            <a:off x="566928" y="1645920"/>
            <a:ext cx="3749039" cy="4498848"/>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11680"/>
            <a:ext cx="3108959" cy="3840480"/>
          </a:xfrm>
          <a:prstGeom prst="rect">
            <a:avLst/>
          </a:prstGeom>
          <a:noFill/>
        </p:spPr>
        <p:txBody>
          <a:bodyPr wrap="square" lIns="0" rIns="0" tIns="0" bIns="0" anchor="t">
            <a:spAutoFit/>
          </a:bodyPr>
          <a:lstStyle/>
          <a:p>
            <a:pPr>
              <a:lnSpc>
                <a:spcPct val="100000"/>
              </a:lnSpc>
              <a:spcBef>
                <a:spcPts val="0"/>
              </a:spcBef>
              <a:spcAft>
                <a:spcPts val="0"/>
              </a:spcAft>
            </a:pPr>
            <a:r>
              <a:rPr sz="6000" b="1">
                <a:solidFill>
                  <a:srgbClr val="FFFFFF"/>
                </a:solidFill>
                <a:latin typeface="Arial"/>
              </a:rPr>
              <a:t>₹9</a:t>
            </a:r>
          </a:p>
          <a:p>
            <a:pPr>
              <a:lnSpc>
                <a:spcPct val="130000"/>
              </a:lnSpc>
              <a:spcBef>
                <a:spcPts val="1200"/>
              </a:spcBef>
              <a:spcAft>
                <a:spcPts val="0"/>
              </a:spcAft>
            </a:pPr>
            <a:r>
              <a:rPr sz="1600" b="1">
                <a:solidFill>
                  <a:srgbClr val="FFFFFF"/>
                </a:solidFill>
                <a:latin typeface="Arial"/>
              </a:rPr>
              <a:t>a month, added to the Soundbox plan the merchant already pays.</a:t>
            </a:r>
          </a:p>
          <a:p>
            <a:pPr>
              <a:lnSpc>
                <a:spcPct val="140000"/>
              </a:lnSpc>
              <a:spcBef>
                <a:spcPts val="1400"/>
              </a:spcBef>
              <a:spcAft>
                <a:spcPts val="0"/>
              </a:spcAft>
            </a:pPr>
            <a:r>
              <a:rPr sz="1300" b="0">
                <a:solidFill>
                  <a:srgbClr val="C9D8EE"/>
                </a:solidFill>
                <a:latin typeface="Arial"/>
              </a:rPr>
              <a:t>The customer pays nothing. There is no new device to ship and no new app to install.</a:t>
            </a:r>
          </a:p>
        </p:txBody>
      </p:sp>
      <p:sp>
        <p:nvSpPr>
          <p:cNvPr id="7" name="TextBox 6"/>
          <p:cNvSpPr txBox="1"/>
          <p:nvPr/>
        </p:nvSpPr>
        <p:spPr>
          <a:xfrm>
            <a:off x="886968" y="5458968"/>
            <a:ext cx="3108959" cy="54864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proposed price. The numbers behind it are on slide 13.</a:t>
            </a:r>
          </a:p>
        </p:txBody>
      </p:sp>
      <p:sp>
        <p:nvSpPr>
          <p:cNvPr id="8" name="Rounded Rectangle 7"/>
          <p:cNvSpPr/>
          <p:nvPr/>
        </p:nvSpPr>
        <p:spPr>
          <a:xfrm>
            <a:off x="4590287" y="1645920"/>
            <a:ext cx="7034480" cy="1426464"/>
          </a:xfrm>
          <a:prstGeom prst="roundRect">
            <a:avLst>
              <a:gd name="adj" fmla="val 6000"/>
            </a:avLst>
          </a:prstGeom>
          <a:solidFill>
            <a:srgbClr val="FFFFFF"/>
          </a:solidFill>
          <a:ln>
            <a:noFill/>
          </a:ln>
        </p:spPr>
        <p:txBody>
          <a:bodyPr rtlCol="0" anchor="ctr"/>
          <a:lstStyle/>
          <a:p>
            <a:pPr algn="ctr"/>
          </a:p>
        </p:txBody>
      </p:sp>
      <p:sp>
        <p:nvSpPr>
          <p:cNvPr id="9" name="Oval 8"/>
          <p:cNvSpPr/>
          <p:nvPr/>
        </p:nvSpPr>
        <p:spPr>
          <a:xfrm>
            <a:off x="4864607" y="2167128"/>
            <a:ext cx="384048" cy="384048"/>
          </a:xfrm>
          <a:prstGeom prst="ellipse">
            <a:avLst/>
          </a:prstGeom>
          <a:solidFill>
            <a:srgbClr val="002970"/>
          </a:solidFill>
          <a:ln>
            <a:noFill/>
          </a:ln>
        </p:spPr>
        <p:txBody>
          <a:bodyPr rtlCol="0" anchor="ctr"/>
          <a:lstStyle/>
          <a:p>
            <a:pPr algn="ctr"/>
          </a:p>
        </p:txBody>
      </p:sp>
      <p:sp>
        <p:nvSpPr>
          <p:cNvPr id="10" name="TextBox 9"/>
          <p:cNvSpPr txBox="1"/>
          <p:nvPr/>
        </p:nvSpPr>
        <p:spPr>
          <a:xfrm>
            <a:off x="4864607" y="2167128"/>
            <a:ext cx="384048" cy="384048"/>
          </a:xfrm>
          <a:prstGeom prst="rect">
            <a:avLst/>
          </a:prstGeom>
          <a:noFill/>
        </p:spPr>
        <p:txBody>
          <a:bodyPr wrap="square" lIns="0" rIns="0" tIns="0" bIns="0" anchor="ctr">
            <a:spAutoFit/>
          </a:bodyPr>
          <a:lstStyle/>
          <a:p>
            <a:pPr algn="ctr">
              <a:lnSpc>
                <a:spcPct val="100000"/>
              </a:lnSpc>
              <a:spcBef>
                <a:spcPts val="0"/>
              </a:spcBef>
              <a:spcAft>
                <a:spcPts val="0"/>
              </a:spcAft>
            </a:pPr>
            <a:r>
              <a:rPr sz="1400" b="1">
                <a:solidFill>
                  <a:srgbClr val="FFFFFF"/>
                </a:solidFill>
                <a:latin typeface="Arial"/>
              </a:rPr>
              <a:t>1</a:t>
            </a:r>
          </a:p>
        </p:txBody>
      </p:sp>
      <p:sp>
        <p:nvSpPr>
          <p:cNvPr id="11" name="TextBox 10"/>
          <p:cNvSpPr txBox="1"/>
          <p:nvPr/>
        </p:nvSpPr>
        <p:spPr>
          <a:xfrm>
            <a:off x="5458967" y="1645920"/>
            <a:ext cx="5891480" cy="1426464"/>
          </a:xfrm>
          <a:prstGeom prst="rect">
            <a:avLst/>
          </a:prstGeom>
          <a:noFill/>
        </p:spPr>
        <p:txBody>
          <a:bodyPr wrap="square" lIns="0" rIns="0" tIns="0" bIns="0" anchor="ctr">
            <a:spAutoFit/>
          </a:bodyPr>
          <a:lstStyle/>
          <a:p>
            <a:pPr>
              <a:lnSpc>
                <a:spcPct val="115000"/>
              </a:lnSpc>
              <a:spcBef>
                <a:spcPts val="0"/>
              </a:spcBef>
              <a:spcAft>
                <a:spcPts val="0"/>
              </a:spcAft>
            </a:pPr>
            <a:r>
              <a:rPr sz="1600" b="1">
                <a:solidFill>
                  <a:srgbClr val="002970"/>
                </a:solidFill>
                <a:latin typeface="Arial"/>
              </a:rPr>
              <a:t>Customer acquisition is already done</a:t>
            </a:r>
          </a:p>
          <a:p>
            <a:pPr>
              <a:lnSpc>
                <a:spcPct val="135000"/>
              </a:lnSpc>
              <a:spcBef>
                <a:spcPts val="500"/>
              </a:spcBef>
              <a:spcAft>
                <a:spcPts val="0"/>
              </a:spcAft>
            </a:pPr>
            <a:r>
              <a:rPr sz="1250" b="0">
                <a:solidFill>
                  <a:srgbClr val="5B6675"/>
                </a:solidFill>
                <a:latin typeface="Arial"/>
              </a:rPr>
              <a:t>1.57 Cr storefronts run a Paytm Soundbox, and their customers pay with Paytm. BAHI is sold to people Paytm has already won.</a:t>
            </a:r>
          </a:p>
        </p:txBody>
      </p:sp>
      <p:sp>
        <p:nvSpPr>
          <p:cNvPr id="12" name="Rounded Rectangle 11"/>
          <p:cNvSpPr/>
          <p:nvPr/>
        </p:nvSpPr>
        <p:spPr>
          <a:xfrm>
            <a:off x="4590287" y="3182112"/>
            <a:ext cx="7034480" cy="1426464"/>
          </a:xfrm>
          <a:prstGeom prst="roundRect">
            <a:avLst>
              <a:gd name="adj" fmla="val 6000"/>
            </a:avLst>
          </a:prstGeom>
          <a:solidFill>
            <a:srgbClr val="FFFFFF"/>
          </a:solidFill>
          <a:ln>
            <a:noFill/>
          </a:ln>
        </p:spPr>
        <p:txBody>
          <a:bodyPr rtlCol="0" anchor="ctr"/>
          <a:lstStyle/>
          <a:p>
            <a:pPr algn="ctr"/>
          </a:p>
        </p:txBody>
      </p:sp>
      <p:sp>
        <p:nvSpPr>
          <p:cNvPr id="13" name="Oval 12"/>
          <p:cNvSpPr/>
          <p:nvPr/>
        </p:nvSpPr>
        <p:spPr>
          <a:xfrm>
            <a:off x="4864607" y="3703320"/>
            <a:ext cx="384048" cy="384048"/>
          </a:xfrm>
          <a:prstGeom prst="ellipse">
            <a:avLst/>
          </a:prstGeom>
          <a:solidFill>
            <a:srgbClr val="002970"/>
          </a:solidFill>
          <a:ln>
            <a:noFill/>
          </a:ln>
        </p:spPr>
        <p:txBody>
          <a:bodyPr rtlCol="0" anchor="ctr"/>
          <a:lstStyle/>
          <a:p>
            <a:pPr algn="ctr"/>
          </a:p>
        </p:txBody>
      </p:sp>
      <p:sp>
        <p:nvSpPr>
          <p:cNvPr id="14" name="TextBox 13"/>
          <p:cNvSpPr txBox="1"/>
          <p:nvPr/>
        </p:nvSpPr>
        <p:spPr>
          <a:xfrm>
            <a:off x="4864607" y="3703320"/>
            <a:ext cx="384048" cy="384048"/>
          </a:xfrm>
          <a:prstGeom prst="rect">
            <a:avLst/>
          </a:prstGeom>
          <a:noFill/>
        </p:spPr>
        <p:txBody>
          <a:bodyPr wrap="square" lIns="0" rIns="0" tIns="0" bIns="0" anchor="ctr">
            <a:spAutoFit/>
          </a:bodyPr>
          <a:lstStyle/>
          <a:p>
            <a:pPr algn="ctr">
              <a:lnSpc>
                <a:spcPct val="100000"/>
              </a:lnSpc>
              <a:spcBef>
                <a:spcPts val="0"/>
              </a:spcBef>
              <a:spcAft>
                <a:spcPts val="0"/>
              </a:spcAft>
            </a:pPr>
            <a:r>
              <a:rPr sz="1400" b="1">
                <a:solidFill>
                  <a:srgbClr val="FFFFFF"/>
                </a:solidFill>
                <a:latin typeface="Arial"/>
              </a:rPr>
              <a:t>2</a:t>
            </a:r>
          </a:p>
        </p:txBody>
      </p:sp>
      <p:sp>
        <p:nvSpPr>
          <p:cNvPr id="15" name="TextBox 14"/>
          <p:cNvSpPr txBox="1"/>
          <p:nvPr/>
        </p:nvSpPr>
        <p:spPr>
          <a:xfrm>
            <a:off x="5458967" y="3182112"/>
            <a:ext cx="5891480" cy="1426464"/>
          </a:xfrm>
          <a:prstGeom prst="rect">
            <a:avLst/>
          </a:prstGeom>
          <a:noFill/>
        </p:spPr>
        <p:txBody>
          <a:bodyPr wrap="square" lIns="0" rIns="0" tIns="0" bIns="0" anchor="ctr">
            <a:spAutoFit/>
          </a:bodyPr>
          <a:lstStyle/>
          <a:p>
            <a:pPr>
              <a:lnSpc>
                <a:spcPct val="115000"/>
              </a:lnSpc>
              <a:spcBef>
                <a:spcPts val="0"/>
              </a:spcBef>
              <a:spcAft>
                <a:spcPts val="0"/>
              </a:spcAft>
            </a:pPr>
            <a:r>
              <a:rPr sz="1600" b="1">
                <a:solidFill>
                  <a:srgbClr val="002970"/>
                </a:solidFill>
                <a:latin typeface="Arial"/>
              </a:rPr>
              <a:t>Paytm Business Khata, made two-sided</a:t>
            </a:r>
          </a:p>
          <a:p>
            <a:pPr>
              <a:lnSpc>
                <a:spcPct val="135000"/>
              </a:lnSpc>
              <a:spcBef>
                <a:spcPts val="500"/>
              </a:spcBef>
              <a:spcAft>
                <a:spcPts val="0"/>
              </a:spcAft>
            </a:pPr>
            <a:r>
              <a:rPr sz="1250" b="0">
                <a:solidFill>
                  <a:srgbClr val="5B6675"/>
                </a:solidFill>
                <a:latin typeface="Arial"/>
              </a:rPr>
              <a:t>Business Khata already keeps the shop’s udhaar. BAHI adds the customer’s own copy, the AI munshi and the Soundbox voice.</a:t>
            </a:r>
          </a:p>
        </p:txBody>
      </p:sp>
      <p:sp>
        <p:nvSpPr>
          <p:cNvPr id="16" name="Rounded Rectangle 15"/>
          <p:cNvSpPr/>
          <p:nvPr/>
        </p:nvSpPr>
        <p:spPr>
          <a:xfrm>
            <a:off x="4590287" y="4718304"/>
            <a:ext cx="7034480" cy="1426464"/>
          </a:xfrm>
          <a:prstGeom prst="roundRect">
            <a:avLst>
              <a:gd name="adj" fmla="val 6000"/>
            </a:avLst>
          </a:prstGeom>
          <a:solidFill>
            <a:srgbClr val="FFFFFF"/>
          </a:solidFill>
          <a:ln>
            <a:noFill/>
          </a:ln>
        </p:spPr>
        <p:txBody>
          <a:bodyPr rtlCol="0" anchor="ctr"/>
          <a:lstStyle/>
          <a:p>
            <a:pPr algn="ctr"/>
          </a:p>
        </p:txBody>
      </p:sp>
      <p:sp>
        <p:nvSpPr>
          <p:cNvPr id="17" name="Oval 16"/>
          <p:cNvSpPr/>
          <p:nvPr/>
        </p:nvSpPr>
        <p:spPr>
          <a:xfrm>
            <a:off x="4864607" y="5239512"/>
            <a:ext cx="384048" cy="384048"/>
          </a:xfrm>
          <a:prstGeom prst="ellipse">
            <a:avLst/>
          </a:prstGeom>
          <a:solidFill>
            <a:srgbClr val="002970"/>
          </a:solidFill>
          <a:ln>
            <a:noFill/>
          </a:ln>
        </p:spPr>
        <p:txBody>
          <a:bodyPr rtlCol="0" anchor="ctr"/>
          <a:lstStyle/>
          <a:p>
            <a:pPr algn="ctr"/>
          </a:p>
        </p:txBody>
      </p:sp>
      <p:sp>
        <p:nvSpPr>
          <p:cNvPr id="18" name="TextBox 17"/>
          <p:cNvSpPr txBox="1"/>
          <p:nvPr/>
        </p:nvSpPr>
        <p:spPr>
          <a:xfrm>
            <a:off x="4864607" y="5239512"/>
            <a:ext cx="384048" cy="384048"/>
          </a:xfrm>
          <a:prstGeom prst="rect">
            <a:avLst/>
          </a:prstGeom>
          <a:noFill/>
        </p:spPr>
        <p:txBody>
          <a:bodyPr wrap="square" lIns="0" rIns="0" tIns="0" bIns="0" anchor="ctr">
            <a:spAutoFit/>
          </a:bodyPr>
          <a:lstStyle/>
          <a:p>
            <a:pPr algn="ctr">
              <a:lnSpc>
                <a:spcPct val="100000"/>
              </a:lnSpc>
              <a:spcBef>
                <a:spcPts val="0"/>
              </a:spcBef>
              <a:spcAft>
                <a:spcPts val="0"/>
              </a:spcAft>
            </a:pPr>
            <a:r>
              <a:rPr sz="1400" b="1">
                <a:solidFill>
                  <a:srgbClr val="FFFFFF"/>
                </a:solidFill>
                <a:latin typeface="Arial"/>
              </a:rPr>
              <a:t>3</a:t>
            </a:r>
          </a:p>
        </p:txBody>
      </p:sp>
      <p:sp>
        <p:nvSpPr>
          <p:cNvPr id="19" name="TextBox 18"/>
          <p:cNvSpPr txBox="1"/>
          <p:nvPr/>
        </p:nvSpPr>
        <p:spPr>
          <a:xfrm>
            <a:off x="5458967" y="4718304"/>
            <a:ext cx="5891480" cy="1426464"/>
          </a:xfrm>
          <a:prstGeom prst="rect">
            <a:avLst/>
          </a:prstGeom>
          <a:noFill/>
        </p:spPr>
        <p:txBody>
          <a:bodyPr wrap="square" lIns="0" rIns="0" tIns="0" bIns="0" anchor="ctr">
            <a:spAutoFit/>
          </a:bodyPr>
          <a:lstStyle/>
          <a:p>
            <a:pPr>
              <a:lnSpc>
                <a:spcPct val="115000"/>
              </a:lnSpc>
              <a:spcBef>
                <a:spcPts val="0"/>
              </a:spcBef>
              <a:spcAft>
                <a:spcPts val="0"/>
              </a:spcAft>
            </a:pPr>
            <a:r>
              <a:rPr sz="1600" b="1">
                <a:solidFill>
                  <a:srgbClr val="002970"/>
                </a:solidFill>
                <a:latin typeface="Arial"/>
              </a:rPr>
              <a:t>Udhaar moves from cash to Paytm UPI</a:t>
            </a:r>
          </a:p>
          <a:p>
            <a:pPr>
              <a:lnSpc>
                <a:spcPct val="135000"/>
              </a:lnSpc>
              <a:spcBef>
                <a:spcPts val="500"/>
              </a:spcBef>
              <a:spcAft>
                <a:spcPts val="0"/>
              </a:spcAft>
            </a:pPr>
            <a:r>
              <a:rPr sz="1250" b="0">
                <a:solidFill>
                  <a:srgbClr val="5B6675"/>
                </a:solidFill>
                <a:latin typeface="Arial"/>
              </a:rPr>
              <a:t>Every repayment is a tap in the customer’s chat with the shop, paid by Paytm UPI.</a:t>
            </a:r>
          </a:p>
        </p:txBody>
      </p:sp>
      <p:sp>
        <p:nvSpPr>
          <p:cNvPr id="20" name="TextBox 1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Paytm Q1 FY27 earnings release (1.57 Cr Soundbox storefronts); business.paytm.com/business-khata, checked 23 Sep 2026.</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THE PROBLEM</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udhaar book has one author. The customer never sees it.</a:t>
            </a:r>
          </a:p>
        </p:txBody>
      </p:sp>
      <p:sp>
        <p:nvSpPr>
          <p:cNvPr id="5" name="Rounded Rectangle 4"/>
          <p:cNvSpPr/>
          <p:nvPr/>
        </p:nvSpPr>
        <p:spPr>
          <a:xfrm>
            <a:off x="566928" y="1645920"/>
            <a:ext cx="11057839" cy="1874519"/>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978408" y="2011680"/>
            <a:ext cx="2468880" cy="11430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1088136"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Shopkeeper</a:t>
            </a:r>
          </a:p>
          <a:p>
            <a:pPr algn="ctr">
              <a:lnSpc>
                <a:spcPct val="120000"/>
              </a:lnSpc>
              <a:spcBef>
                <a:spcPts val="300"/>
              </a:spcBef>
              <a:spcAft>
                <a:spcPts val="0"/>
              </a:spcAft>
            </a:pPr>
            <a:r>
              <a:rPr sz="1200" b="0">
                <a:solidFill>
                  <a:srgbClr val="5B6675"/>
                </a:solidFill>
                <a:latin typeface="Arial"/>
              </a:rPr>
              <a:t>writes every entry</a:t>
            </a:r>
          </a:p>
        </p:txBody>
      </p:sp>
      <p:sp>
        <p:nvSpPr>
          <p:cNvPr id="8" name="Rounded Rectangle 7"/>
          <p:cNvSpPr/>
          <p:nvPr/>
        </p:nvSpPr>
        <p:spPr>
          <a:xfrm>
            <a:off x="4855464" y="2011680"/>
            <a:ext cx="2468880" cy="11430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49651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The udhaar book</a:t>
            </a:r>
          </a:p>
          <a:p>
            <a:pPr algn="ctr">
              <a:lnSpc>
                <a:spcPct val="120000"/>
              </a:lnSpc>
              <a:spcBef>
                <a:spcPts val="300"/>
              </a:spcBef>
              <a:spcAft>
                <a:spcPts val="0"/>
              </a:spcAft>
            </a:pPr>
            <a:r>
              <a:rPr sz="1200" b="0">
                <a:solidFill>
                  <a:srgbClr val="5B6675"/>
                </a:solidFill>
                <a:latin typeface="Arial"/>
              </a:rPr>
              <a:t>a notebook, or a ledger app</a:t>
            </a:r>
          </a:p>
        </p:txBody>
      </p:sp>
      <p:sp>
        <p:nvSpPr>
          <p:cNvPr id="10" name="Rounded Rectangle 9"/>
          <p:cNvSpPr/>
          <p:nvPr/>
        </p:nvSpPr>
        <p:spPr>
          <a:xfrm>
            <a:off x="8741664" y="2011680"/>
            <a:ext cx="2468880" cy="1143000"/>
          </a:xfrm>
          <a:prstGeom prst="roundRect">
            <a:avLst>
              <a:gd name="adj" fmla="val 12000"/>
            </a:avLst>
          </a:prstGeom>
          <a:solidFill>
            <a:srgbClr val="FFFFFF"/>
          </a:solidFill>
          <a:ln w="15875">
            <a:solidFill>
              <a:srgbClr val="8B95A5"/>
            </a:solidFill>
            <a:prstDash val="dash"/>
          </a:ln>
        </p:spPr>
        <p:txBody>
          <a:bodyPr rtlCol="0" anchor="ctr"/>
          <a:lstStyle/>
          <a:p>
            <a:pPr algn="ctr"/>
          </a:p>
        </p:txBody>
      </p:sp>
      <p:sp>
        <p:nvSpPr>
          <p:cNvPr id="11" name="TextBox 10"/>
          <p:cNvSpPr txBox="1"/>
          <p:nvPr/>
        </p:nvSpPr>
        <p:spPr>
          <a:xfrm>
            <a:off x="88513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5B6675"/>
                </a:solidFill>
                <a:latin typeface="Arial"/>
              </a:rPr>
              <a:t>Customer</a:t>
            </a:r>
          </a:p>
          <a:p>
            <a:pPr algn="ctr">
              <a:lnSpc>
                <a:spcPct val="120000"/>
              </a:lnSpc>
              <a:spcBef>
                <a:spcPts val="300"/>
              </a:spcBef>
              <a:spcAft>
                <a:spcPts val="0"/>
              </a:spcAft>
            </a:pPr>
            <a:r>
              <a:rPr sz="1200" b="0">
                <a:solidFill>
                  <a:srgbClr val="5B6675"/>
                </a:solidFill>
                <a:latin typeface="Arial"/>
              </a:rPr>
              <a:t>no copy  ·  no total  ·  no proof</a:t>
            </a:r>
          </a:p>
        </p:txBody>
      </p:sp>
      <p:cxnSp>
        <p:nvCxnSpPr>
          <p:cNvPr id="12" name="Connector 11"/>
          <p:cNvCxnSpPr/>
          <p:nvPr/>
        </p:nvCxnSpPr>
        <p:spPr>
          <a:xfrm>
            <a:off x="3538728" y="2583180"/>
            <a:ext cx="1225296" cy="0"/>
          </a:xfrm>
          <a:prstGeom prst="line">
            <a:avLst/>
          </a:prstGeom>
          <a:ln w="25400">
            <a:solidFill>
              <a:srgbClr val="002970"/>
            </a:solidFill>
            <a:tailEnd type="triangle" w="med" len="med"/>
          </a:ln>
        </p:spPr>
      </p:cxnSp>
      <p:cxnSp>
        <p:nvCxnSpPr>
          <p:cNvPr id="13" name="Connector 12"/>
          <p:cNvCxnSpPr/>
          <p:nvPr/>
        </p:nvCxnSpPr>
        <p:spPr>
          <a:xfrm>
            <a:off x="7415784" y="2583180"/>
            <a:ext cx="1234440" cy="0"/>
          </a:xfrm>
          <a:prstGeom prst="line">
            <a:avLst/>
          </a:prstGeom>
          <a:ln w="25400">
            <a:solidFill>
              <a:srgbClr val="8B95A5"/>
            </a:solidFill>
            <a:prstDash val="dash"/>
            <a:tailEnd type="triangle" w="med" len="med"/>
          </a:ln>
        </p:spPr>
      </p:cxnSp>
      <p:sp>
        <p:nvSpPr>
          <p:cNvPr id="14" name="TextBox 13"/>
          <p:cNvSpPr txBox="1"/>
          <p:nvPr/>
        </p:nvSpPr>
        <p:spPr>
          <a:xfrm>
            <a:off x="3447288" y="2253996"/>
            <a:ext cx="1408176"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1">
                <a:solidFill>
                  <a:srgbClr val="002970"/>
                </a:solidFill>
                <a:latin typeface="Arial"/>
              </a:rPr>
              <a:t>writes</a:t>
            </a:r>
          </a:p>
        </p:txBody>
      </p:sp>
      <p:sp>
        <p:nvSpPr>
          <p:cNvPr id="15" name="TextBox 14"/>
          <p:cNvSpPr txBox="1"/>
          <p:nvPr/>
        </p:nvSpPr>
        <p:spPr>
          <a:xfrm>
            <a:off x="7324344" y="2253996"/>
            <a:ext cx="1417320"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0">
                <a:solidFill>
                  <a:srgbClr val="5B6675"/>
                </a:solidFill>
                <a:latin typeface="Arial"/>
              </a:rPr>
              <a:t>an SMS, at best</a:t>
            </a:r>
          </a:p>
        </p:txBody>
      </p:sp>
      <p:sp>
        <p:nvSpPr>
          <p:cNvPr id="16" name="Rectangle 15"/>
          <p:cNvSpPr/>
          <p:nvPr/>
        </p:nvSpPr>
        <p:spPr>
          <a:xfrm>
            <a:off x="566928" y="3913632"/>
            <a:ext cx="365760" cy="38100"/>
          </a:xfrm>
          <a:prstGeom prst="rect">
            <a:avLst/>
          </a:prstGeom>
          <a:solidFill>
            <a:srgbClr val="00BAF2"/>
          </a:solidFill>
          <a:ln>
            <a:noFill/>
          </a:ln>
        </p:spPr>
        <p:txBody>
          <a:bodyPr rtlCol="0" anchor="ctr"/>
          <a:lstStyle/>
          <a:p>
            <a:pPr algn="ctr"/>
          </a:p>
        </p:txBody>
      </p:sp>
      <p:sp>
        <p:nvSpPr>
          <p:cNvPr id="17" name="TextBox 16"/>
          <p:cNvSpPr txBox="1"/>
          <p:nvPr/>
        </p:nvSpPr>
        <p:spPr>
          <a:xfrm>
            <a:off x="566928"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can’t see patterns</a:t>
            </a:r>
          </a:p>
          <a:p>
            <a:pPr>
              <a:lnSpc>
                <a:spcPct val="140000"/>
              </a:lnSpc>
              <a:spcBef>
                <a:spcPts val="800"/>
              </a:spcBef>
              <a:spcAft>
                <a:spcPts val="0"/>
              </a:spcAft>
            </a:pPr>
            <a:r>
              <a:rPr sz="1300" b="0">
                <a:solidFill>
                  <a:srgbClr val="5B6675"/>
                </a:solidFill>
                <a:latin typeface="Arial"/>
              </a:rPr>
              <a:t>Someone who always pays on day 9 and someone quietly drifting away look the same in a notebook. So everyone is chased the same way.</a:t>
            </a:r>
          </a:p>
        </p:txBody>
      </p:sp>
      <p:sp>
        <p:nvSpPr>
          <p:cNvPr id="18" name="Rectangle 17"/>
          <p:cNvSpPr/>
          <p:nvPr/>
        </p:nvSpPr>
        <p:spPr>
          <a:xfrm>
            <a:off x="4374794" y="3913632"/>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374794"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The customer has no record</a:t>
            </a:r>
          </a:p>
          <a:p>
            <a:pPr>
              <a:lnSpc>
                <a:spcPct val="140000"/>
              </a:lnSpc>
              <a:spcBef>
                <a:spcPts val="800"/>
              </a:spcBef>
              <a:spcAft>
                <a:spcPts val="0"/>
              </a:spcAft>
            </a:pPr>
            <a:r>
              <a:rPr sz="1300" b="0">
                <a:solidFill>
                  <a:srgbClr val="5B6675"/>
                </a:solidFill>
                <a:latin typeface="Arial"/>
              </a:rPr>
              <a:t>He can’t see what he owes across shops. If the book says ₹500 and he remembers ₹300, he has nothing to show.</a:t>
            </a:r>
          </a:p>
        </p:txBody>
      </p:sp>
      <p:sp>
        <p:nvSpPr>
          <p:cNvPr id="20" name="Rectangle 19"/>
          <p:cNvSpPr/>
          <p:nvPr/>
        </p:nvSpPr>
        <p:spPr>
          <a:xfrm>
            <a:off x="8182660" y="3913632"/>
            <a:ext cx="365760" cy="38100"/>
          </a:xfrm>
          <a:prstGeom prst="rect">
            <a:avLst/>
          </a:prstGeom>
          <a:solidFill>
            <a:srgbClr val="00BAF2"/>
          </a:solidFill>
          <a:ln>
            <a:noFill/>
          </a:ln>
        </p:spPr>
        <p:txBody>
          <a:bodyPr rtlCol="0" anchor="ctr"/>
          <a:lstStyle/>
          <a:p>
            <a:pPr algn="ctr"/>
          </a:p>
        </p:txBody>
      </p:sp>
      <p:sp>
        <p:nvSpPr>
          <p:cNvPr id="21" name="TextBox 20"/>
          <p:cNvSpPr txBox="1"/>
          <p:nvPr/>
        </p:nvSpPr>
        <p:spPr>
          <a:xfrm>
            <a:off x="8182660"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Apps went digital on one side only</a:t>
            </a:r>
          </a:p>
          <a:p>
            <a:pPr>
              <a:lnSpc>
                <a:spcPct val="140000"/>
              </a:lnSpc>
              <a:spcBef>
                <a:spcPts val="800"/>
              </a:spcBef>
              <a:spcAft>
                <a:spcPts val="0"/>
              </a:spcAft>
            </a:pPr>
            <a:r>
              <a:rPr sz="1300" b="0">
                <a:solidFill>
                  <a:srgbClr val="5B6675"/>
                </a:solidFill>
                <a:latin typeface="Arial"/>
              </a:rPr>
              <a:t>Khatabook alone has 5 Cr+ downloads. Its customers still get only an SMS — no app of their own, and no say in the entry.</a:t>
            </a:r>
          </a:p>
        </p:txBody>
      </p:sp>
      <p:sp>
        <p:nvSpPr>
          <p:cNvPr id="22" name="TextBox 21"/>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 Khatabook on Google Play (5 Cr+ downloads) and khatabook.com, checked 23 Sep 2026.</a:t>
            </a:r>
          </a:p>
        </p:txBody>
      </p:sp>
      <p:sp>
        <p:nvSpPr>
          <p:cNvPr id="23" name="TextBox 22"/>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THE SOLUTION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One entry, agreed by both sides, inside the Paytm they already use.</a:t>
            </a:r>
          </a:p>
        </p:txBody>
      </p:sp>
      <p:sp>
        <p:nvSpPr>
          <p:cNvPr id="5" name="Rounded Rectangle 4"/>
          <p:cNvSpPr/>
          <p:nvPr/>
        </p:nvSpPr>
        <p:spPr>
          <a:xfrm>
            <a:off x="820795"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c-ask.png"/>
          <p:cNvPicPr>
            <a:picLocks noChangeAspect="1"/>
          </p:cNvPicPr>
          <p:nvPr/>
        </p:nvPicPr>
        <p:blipFill>
          <a:blip r:embed="rId2"/>
          <a:stretch>
            <a:fillRect/>
          </a:stretch>
        </p:blipFill>
        <p:spPr>
          <a:xfrm>
            <a:off x="858895" y="1481328"/>
            <a:ext cx="1481328" cy="2924673"/>
          </a:xfrm>
          <a:prstGeom prst="rect">
            <a:avLst/>
          </a:prstGeom>
        </p:spPr>
      </p:pic>
      <p:sp>
        <p:nvSpPr>
          <p:cNvPr id="7" name="Oval 6"/>
          <p:cNvSpPr/>
          <p:nvPr/>
        </p:nvSpPr>
        <p:spPr>
          <a:xfrm>
            <a:off x="603504" y="4572000"/>
            <a:ext cx="292608" cy="292608"/>
          </a:xfrm>
          <a:prstGeom prst="ellipse">
            <a:avLst/>
          </a:prstGeom>
          <a:solidFill>
            <a:srgbClr val="002970"/>
          </a:solidFill>
          <a:ln>
            <a:noFill/>
          </a:ln>
        </p:spPr>
        <p:txBody>
          <a:bodyPr rtlCol="0" anchor="ctr"/>
          <a:lstStyle/>
          <a:p>
            <a:pPr algn="ctr"/>
          </a:p>
        </p:txBody>
      </p:sp>
      <p:sp>
        <p:nvSpPr>
          <p:cNvPr id="8" name="TextBox 7"/>
          <p:cNvSpPr txBox="1"/>
          <p:nvPr/>
        </p:nvSpPr>
        <p:spPr>
          <a:xfrm>
            <a:off x="603504"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9" name="TextBox 8"/>
          <p:cNvSpPr txBox="1"/>
          <p:nvPr/>
        </p:nvSpPr>
        <p:spPr>
          <a:xfrm>
            <a:off x="969264"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She scans, and can ask</a:t>
            </a:r>
          </a:p>
          <a:p>
            <a:pPr>
              <a:lnSpc>
                <a:spcPct val="130000"/>
              </a:lnSpc>
              <a:spcBef>
                <a:spcPts val="400"/>
              </a:spcBef>
              <a:spcAft>
                <a:spcPts val="0"/>
              </a:spcAft>
            </a:pPr>
            <a:r>
              <a:rPr sz="1150" b="0">
                <a:solidFill>
                  <a:srgbClr val="5B6675"/>
                </a:solidFill>
                <a:latin typeface="Arial"/>
              </a:rPr>
              <a:t>A separate udhaar QR. She may say how much, and what for.</a:t>
            </a:r>
          </a:p>
        </p:txBody>
      </p:sp>
      <p:sp>
        <p:nvSpPr>
          <p:cNvPr id="10" name="Rounded Rectangle 9"/>
          <p:cNvSpPr/>
          <p:nvPr/>
        </p:nvSpPr>
        <p:spPr>
          <a:xfrm>
            <a:off x="3068938"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1" name="Picture 10" descr="m-popup.png"/>
          <p:cNvPicPr>
            <a:picLocks noChangeAspect="1"/>
          </p:cNvPicPr>
          <p:nvPr/>
        </p:nvPicPr>
        <p:blipFill>
          <a:blip r:embed="rId3"/>
          <a:stretch>
            <a:fillRect/>
          </a:stretch>
        </p:blipFill>
        <p:spPr>
          <a:xfrm>
            <a:off x="3107038" y="1481328"/>
            <a:ext cx="1481328" cy="2924673"/>
          </a:xfrm>
          <a:prstGeom prst="rect">
            <a:avLst/>
          </a:prstGeom>
        </p:spPr>
      </p:pic>
      <p:sp>
        <p:nvSpPr>
          <p:cNvPr id="12" name="Oval 11"/>
          <p:cNvSpPr/>
          <p:nvPr/>
        </p:nvSpPr>
        <p:spPr>
          <a:xfrm>
            <a:off x="2851647" y="4572000"/>
            <a:ext cx="292608" cy="292608"/>
          </a:xfrm>
          <a:prstGeom prst="ellipse">
            <a:avLst/>
          </a:prstGeom>
          <a:solidFill>
            <a:srgbClr val="002970"/>
          </a:solidFill>
          <a:ln>
            <a:noFill/>
          </a:ln>
        </p:spPr>
        <p:txBody>
          <a:bodyPr rtlCol="0" anchor="ctr"/>
          <a:lstStyle/>
          <a:p>
            <a:pPr algn="ctr"/>
          </a:p>
        </p:txBody>
      </p:sp>
      <p:sp>
        <p:nvSpPr>
          <p:cNvPr id="13" name="TextBox 12"/>
          <p:cNvSpPr txBox="1"/>
          <p:nvPr/>
        </p:nvSpPr>
        <p:spPr>
          <a:xfrm>
            <a:off x="2851647"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4" name="TextBox 13"/>
          <p:cNvSpPr txBox="1"/>
          <p:nvPr/>
        </p:nvSpPr>
        <p:spPr>
          <a:xfrm>
            <a:off x="3217407"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shop says yes</a:t>
            </a:r>
          </a:p>
          <a:p>
            <a:pPr>
              <a:lnSpc>
                <a:spcPct val="130000"/>
              </a:lnSpc>
              <a:spcBef>
                <a:spcPts val="400"/>
              </a:spcBef>
              <a:spcAft>
                <a:spcPts val="0"/>
              </a:spcAft>
            </a:pPr>
            <a:r>
              <a:rPr sz="1150" b="0">
                <a:solidFill>
                  <a:srgbClr val="5B6675"/>
                </a:solidFill>
                <a:latin typeface="Arial"/>
              </a:rPr>
              <a:t>Or says the amount to the munshi. Nothing is written before his yes.</a:t>
            </a:r>
          </a:p>
        </p:txBody>
      </p:sp>
      <p:sp>
        <p:nvSpPr>
          <p:cNvPr id="15" name="Rounded Rectangle 14"/>
          <p:cNvSpPr/>
          <p:nvPr/>
        </p:nvSpPr>
        <p:spPr>
          <a:xfrm>
            <a:off x="5317081"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6" name="Picture 15" descr="c-agreed.png"/>
          <p:cNvPicPr>
            <a:picLocks noChangeAspect="1"/>
          </p:cNvPicPr>
          <p:nvPr/>
        </p:nvPicPr>
        <p:blipFill>
          <a:blip r:embed="rId4"/>
          <a:stretch>
            <a:fillRect/>
          </a:stretch>
        </p:blipFill>
        <p:spPr>
          <a:xfrm>
            <a:off x="5355181" y="1481328"/>
            <a:ext cx="1481328" cy="2924673"/>
          </a:xfrm>
          <a:prstGeom prst="rect">
            <a:avLst/>
          </a:prstGeom>
        </p:spPr>
      </p:pic>
      <p:sp>
        <p:nvSpPr>
          <p:cNvPr id="17" name="Oval 16"/>
          <p:cNvSpPr/>
          <p:nvPr/>
        </p:nvSpPr>
        <p:spPr>
          <a:xfrm>
            <a:off x="5099790" y="4572000"/>
            <a:ext cx="292608" cy="292608"/>
          </a:xfrm>
          <a:prstGeom prst="ellipse">
            <a:avLst/>
          </a:prstGeom>
          <a:solidFill>
            <a:srgbClr val="002970"/>
          </a:solidFill>
          <a:ln>
            <a:noFill/>
          </a:ln>
        </p:spPr>
        <p:txBody>
          <a:bodyPr rtlCol="0" anchor="ctr"/>
          <a:lstStyle/>
          <a:p>
            <a:pPr algn="ctr"/>
          </a:p>
        </p:txBody>
      </p:sp>
      <p:sp>
        <p:nvSpPr>
          <p:cNvPr id="18" name="TextBox 17"/>
          <p:cNvSpPr txBox="1"/>
          <p:nvPr/>
        </p:nvSpPr>
        <p:spPr>
          <a:xfrm>
            <a:off x="5099790"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9" name="TextBox 18"/>
          <p:cNvSpPr txBox="1"/>
          <p:nvPr/>
        </p:nvSpPr>
        <p:spPr>
          <a:xfrm>
            <a:off x="5465550"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In both books</a:t>
            </a:r>
          </a:p>
          <a:p>
            <a:pPr>
              <a:lnSpc>
                <a:spcPct val="130000"/>
              </a:lnSpc>
              <a:spcBef>
                <a:spcPts val="400"/>
              </a:spcBef>
              <a:spcAft>
                <a:spcPts val="0"/>
              </a:spcAft>
            </a:pPr>
            <a:r>
              <a:rPr sz="1150" b="0">
                <a:solidFill>
                  <a:srgbClr val="5B6675"/>
                </a:solidFill>
                <a:latin typeface="Arial"/>
              </a:rPr>
              <a:t>Her ask was her yes. Otherwise: “Yes, I owe ₹200” on her phone.</a:t>
            </a:r>
          </a:p>
        </p:txBody>
      </p:sp>
      <p:sp>
        <p:nvSpPr>
          <p:cNvPr id="20" name="Rounded Rectangle 19"/>
          <p:cNvSpPr/>
          <p:nvPr/>
        </p:nvSpPr>
        <p:spPr>
          <a:xfrm>
            <a:off x="7565224"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1" name="Picture 20" descr="c-chat.png"/>
          <p:cNvPicPr>
            <a:picLocks noChangeAspect="1"/>
          </p:cNvPicPr>
          <p:nvPr/>
        </p:nvPicPr>
        <p:blipFill>
          <a:blip r:embed="rId5"/>
          <a:stretch>
            <a:fillRect/>
          </a:stretch>
        </p:blipFill>
        <p:spPr>
          <a:xfrm>
            <a:off x="7603324" y="1481328"/>
            <a:ext cx="1481328" cy="2924673"/>
          </a:xfrm>
          <a:prstGeom prst="rect">
            <a:avLst/>
          </a:prstGeom>
        </p:spPr>
      </p:pic>
      <p:sp>
        <p:nvSpPr>
          <p:cNvPr id="22" name="Oval 21"/>
          <p:cNvSpPr/>
          <p:nvPr/>
        </p:nvSpPr>
        <p:spPr>
          <a:xfrm>
            <a:off x="7347933" y="4572000"/>
            <a:ext cx="292608" cy="292608"/>
          </a:xfrm>
          <a:prstGeom prst="ellipse">
            <a:avLst/>
          </a:prstGeom>
          <a:solidFill>
            <a:srgbClr val="002970"/>
          </a:solidFill>
          <a:ln>
            <a:noFill/>
          </a:ln>
        </p:spPr>
        <p:txBody>
          <a:bodyPr rtlCol="0" anchor="ctr"/>
          <a:lstStyle/>
          <a:p>
            <a:pPr algn="ctr"/>
          </a:p>
        </p:txBody>
      </p:sp>
      <p:sp>
        <p:nvSpPr>
          <p:cNvPr id="23" name="TextBox 22"/>
          <p:cNvSpPr txBox="1"/>
          <p:nvPr/>
        </p:nvSpPr>
        <p:spPr>
          <a:xfrm>
            <a:off x="7347933"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24" name="TextBox 23"/>
          <p:cNvSpPr txBox="1"/>
          <p:nvPr/>
        </p:nvSpPr>
        <p:spPr>
          <a:xfrm>
            <a:off x="7713693"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A chat like a passbook</a:t>
            </a:r>
          </a:p>
          <a:p>
            <a:pPr>
              <a:lnSpc>
                <a:spcPct val="130000"/>
              </a:lnSpc>
              <a:spcBef>
                <a:spcPts val="400"/>
              </a:spcBef>
              <a:spcAft>
                <a:spcPts val="0"/>
              </a:spcAft>
            </a:pPr>
            <a:r>
              <a:rPr sz="1150" b="0">
                <a:solidFill>
                  <a:srgbClr val="5B6675"/>
                </a:solidFill>
                <a:latin typeface="Arial"/>
              </a:rPr>
              <a:t>Every udhaar and payment shows the total before and after it.</a:t>
            </a:r>
          </a:p>
        </p:txBody>
      </p:sp>
      <p:sp>
        <p:nvSpPr>
          <p:cNvPr id="25" name="Rounded Rectangle 24"/>
          <p:cNvSpPr/>
          <p:nvPr/>
        </p:nvSpPr>
        <p:spPr>
          <a:xfrm>
            <a:off x="9813367"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6" name="Picture 25" descr="m-tonight.png"/>
          <p:cNvPicPr>
            <a:picLocks noChangeAspect="1"/>
          </p:cNvPicPr>
          <p:nvPr/>
        </p:nvPicPr>
        <p:blipFill>
          <a:blip r:embed="rId6"/>
          <a:stretch>
            <a:fillRect/>
          </a:stretch>
        </p:blipFill>
        <p:spPr>
          <a:xfrm>
            <a:off x="9851467" y="1481328"/>
            <a:ext cx="1481328" cy="2924673"/>
          </a:xfrm>
          <a:prstGeom prst="rect">
            <a:avLst/>
          </a:prstGeom>
        </p:spPr>
      </p:pic>
      <p:sp>
        <p:nvSpPr>
          <p:cNvPr id="27" name="Oval 26"/>
          <p:cNvSpPr/>
          <p:nvPr/>
        </p:nvSpPr>
        <p:spPr>
          <a:xfrm>
            <a:off x="9596076" y="4572000"/>
            <a:ext cx="292608" cy="292608"/>
          </a:xfrm>
          <a:prstGeom prst="ellipse">
            <a:avLst/>
          </a:prstGeom>
          <a:solidFill>
            <a:srgbClr val="002970"/>
          </a:solidFill>
          <a:ln>
            <a:noFill/>
          </a:ln>
        </p:spPr>
        <p:txBody>
          <a:bodyPr rtlCol="0" anchor="ctr"/>
          <a:lstStyle/>
          <a:p>
            <a:pPr algn="ctr"/>
          </a:p>
        </p:txBody>
      </p:sp>
      <p:sp>
        <p:nvSpPr>
          <p:cNvPr id="28" name="TextBox 27"/>
          <p:cNvSpPr txBox="1"/>
          <p:nvPr/>
        </p:nvSpPr>
        <p:spPr>
          <a:xfrm>
            <a:off x="9596076"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9" name="TextBox 28"/>
          <p:cNvSpPr txBox="1"/>
          <p:nvPr/>
        </p:nvSpPr>
        <p:spPr>
          <a:xfrm>
            <a:off x="9961836"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Code picks who hears</a:t>
            </a:r>
          </a:p>
          <a:p>
            <a:pPr>
              <a:lnSpc>
                <a:spcPct val="130000"/>
              </a:lnSpc>
              <a:spcBef>
                <a:spcPts val="400"/>
              </a:spcBef>
              <a:spcAft>
                <a:spcPts val="0"/>
              </a:spcAft>
            </a:pPr>
            <a:r>
              <a:rPr sz="1150" b="0">
                <a:solidFill>
                  <a:srgbClr val="5B6675"/>
                </a:solidFill>
                <a:latin typeface="Arial"/>
              </a:rPr>
              <a:t>Only people past their own longest gap. Everyone else is held, with why.</a:t>
            </a:r>
          </a:p>
        </p:txBody>
      </p:sp>
      <p:sp>
        <p:nvSpPr>
          <p:cNvPr id="30" name="TextBox 2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31" name="TextBox 3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THE SOLUTION / PAID IN CASH</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Paid in cash? He says so, and that udhaar is gone.</a:t>
            </a:r>
          </a:p>
        </p:txBody>
      </p:sp>
      <p:sp>
        <p:nvSpPr>
          <p:cNvPr id="5" name="Rounded Rectangle 4"/>
          <p:cNvSpPr/>
          <p:nvPr/>
        </p:nvSpPr>
        <p:spPr>
          <a:xfrm>
            <a:off x="574548" y="1443228"/>
            <a:ext cx="1648968" cy="318140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cash-card.png"/>
          <p:cNvPicPr>
            <a:picLocks noChangeAspect="1"/>
          </p:cNvPicPr>
          <p:nvPr/>
        </p:nvPicPr>
        <p:blipFill>
          <a:blip r:embed="rId2"/>
          <a:stretch>
            <a:fillRect/>
          </a:stretch>
        </p:blipFill>
        <p:spPr>
          <a:xfrm>
            <a:off x="612648" y="1481328"/>
            <a:ext cx="1572768" cy="3105208"/>
          </a:xfrm>
          <a:prstGeom prst="rect">
            <a:avLst/>
          </a:prstGeom>
        </p:spPr>
      </p:pic>
      <p:sp>
        <p:nvSpPr>
          <p:cNvPr id="7" name="Oval 6"/>
          <p:cNvSpPr/>
          <p:nvPr/>
        </p:nvSpPr>
        <p:spPr>
          <a:xfrm>
            <a:off x="2505456" y="1554480"/>
            <a:ext cx="365760" cy="365760"/>
          </a:xfrm>
          <a:prstGeom prst="ellipse">
            <a:avLst/>
          </a:prstGeom>
          <a:solidFill>
            <a:srgbClr val="002970"/>
          </a:solidFill>
          <a:ln>
            <a:noFill/>
          </a:ln>
        </p:spPr>
        <p:txBody>
          <a:bodyPr rtlCol="0" anchor="ctr"/>
          <a:lstStyle/>
          <a:p>
            <a:pPr algn="ctr"/>
          </a:p>
        </p:txBody>
      </p:sp>
      <p:sp>
        <p:nvSpPr>
          <p:cNvPr id="8" name="TextBox 7"/>
          <p:cNvSpPr txBox="1"/>
          <p:nvPr/>
        </p:nvSpPr>
        <p:spPr>
          <a:xfrm>
            <a:off x="2505456" y="1554480"/>
            <a:ext cx="365760"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a:solidFill>
                  <a:srgbClr val="FFFFFF"/>
                </a:solidFill>
                <a:latin typeface="Arial"/>
              </a:rPr>
              <a:t>1</a:t>
            </a:r>
          </a:p>
        </p:txBody>
      </p:sp>
      <p:sp>
        <p:nvSpPr>
          <p:cNvPr id="9" name="TextBox 8"/>
          <p:cNvSpPr txBox="1"/>
          <p:nvPr/>
        </p:nvSpPr>
        <p:spPr>
          <a:xfrm>
            <a:off x="2505456" y="2103120"/>
            <a:ext cx="1503578" cy="329184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says it</a:t>
            </a:r>
          </a:p>
          <a:p>
            <a:pPr>
              <a:lnSpc>
                <a:spcPct val="140000"/>
              </a:lnSpc>
              <a:spcBef>
                <a:spcPts val="800"/>
              </a:spcBef>
              <a:spcAft>
                <a:spcPts val="0"/>
              </a:spcAft>
            </a:pPr>
            <a:r>
              <a:rPr sz="1250" b="0">
                <a:solidFill>
                  <a:srgbClr val="5B6675"/>
                </a:solidFill>
                <a:latin typeface="Arial"/>
              </a:rPr>
              <a:t>“Sharma ne 200 cash diye.” The munshi finds Sharma and puts up a जमा card for ₹200.</a:t>
            </a:r>
          </a:p>
        </p:txBody>
      </p:sp>
      <p:sp>
        <p:nvSpPr>
          <p:cNvPr id="10" name="Rounded Rectangle 9"/>
          <p:cNvSpPr/>
          <p:nvPr/>
        </p:nvSpPr>
        <p:spPr>
          <a:xfrm>
            <a:off x="4382414" y="1443228"/>
            <a:ext cx="1648968" cy="318140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1" name="Picture 10" descr="m-cash-done.png"/>
          <p:cNvPicPr>
            <a:picLocks noChangeAspect="1"/>
          </p:cNvPicPr>
          <p:nvPr/>
        </p:nvPicPr>
        <p:blipFill>
          <a:blip r:embed="rId3"/>
          <a:stretch>
            <a:fillRect/>
          </a:stretch>
        </p:blipFill>
        <p:spPr>
          <a:xfrm>
            <a:off x="4420514" y="1481328"/>
            <a:ext cx="1572768" cy="3105208"/>
          </a:xfrm>
          <a:prstGeom prst="rect">
            <a:avLst/>
          </a:prstGeom>
        </p:spPr>
      </p:pic>
      <p:sp>
        <p:nvSpPr>
          <p:cNvPr id="12" name="Oval 11"/>
          <p:cNvSpPr/>
          <p:nvPr/>
        </p:nvSpPr>
        <p:spPr>
          <a:xfrm>
            <a:off x="6313322" y="1554480"/>
            <a:ext cx="365760" cy="365760"/>
          </a:xfrm>
          <a:prstGeom prst="ellipse">
            <a:avLst/>
          </a:prstGeom>
          <a:solidFill>
            <a:srgbClr val="002970"/>
          </a:solidFill>
          <a:ln>
            <a:noFill/>
          </a:ln>
        </p:spPr>
        <p:txBody>
          <a:bodyPr rtlCol="0" anchor="ctr"/>
          <a:lstStyle/>
          <a:p>
            <a:pPr algn="ctr"/>
          </a:p>
        </p:txBody>
      </p:sp>
      <p:sp>
        <p:nvSpPr>
          <p:cNvPr id="13" name="TextBox 12"/>
          <p:cNvSpPr txBox="1"/>
          <p:nvPr/>
        </p:nvSpPr>
        <p:spPr>
          <a:xfrm>
            <a:off x="6313322" y="1554480"/>
            <a:ext cx="365760"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a:solidFill>
                  <a:srgbClr val="FFFFFF"/>
                </a:solidFill>
                <a:latin typeface="Arial"/>
              </a:rPr>
              <a:t>2</a:t>
            </a:r>
          </a:p>
        </p:txBody>
      </p:sp>
      <p:sp>
        <p:nvSpPr>
          <p:cNvPr id="14" name="TextBox 13"/>
          <p:cNvSpPr txBox="1"/>
          <p:nvPr/>
        </p:nvSpPr>
        <p:spPr>
          <a:xfrm>
            <a:off x="6313322" y="2103120"/>
            <a:ext cx="1503578" cy="329184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His yes writes it</a:t>
            </a:r>
          </a:p>
          <a:p>
            <a:pPr>
              <a:lnSpc>
                <a:spcPct val="140000"/>
              </a:lnSpc>
              <a:spcBef>
                <a:spcPts val="800"/>
              </a:spcBef>
              <a:spcAft>
                <a:spcPts val="0"/>
              </a:spcAft>
            </a:pPr>
            <a:r>
              <a:rPr sz="1250" b="0">
                <a:solidFill>
                  <a:srgbClr val="5B6675"/>
                </a:solidFill>
                <a:latin typeface="Arial"/>
              </a:rPr>
              <a:t>The cash clears Sharma’s oldest open udhaar first. The munshi says it is written and sent.</a:t>
            </a:r>
          </a:p>
        </p:txBody>
      </p:sp>
      <p:sp>
        <p:nvSpPr>
          <p:cNvPr id="15" name="Rounded Rectangle 14"/>
          <p:cNvSpPr/>
          <p:nvPr/>
        </p:nvSpPr>
        <p:spPr>
          <a:xfrm>
            <a:off x="8190280" y="1443228"/>
            <a:ext cx="1648968" cy="318140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6" name="Picture 15" descr="c-cash-chat.png"/>
          <p:cNvPicPr>
            <a:picLocks noChangeAspect="1"/>
          </p:cNvPicPr>
          <p:nvPr/>
        </p:nvPicPr>
        <p:blipFill>
          <a:blip r:embed="rId4"/>
          <a:stretch>
            <a:fillRect/>
          </a:stretch>
        </p:blipFill>
        <p:spPr>
          <a:xfrm>
            <a:off x="8228380" y="1481328"/>
            <a:ext cx="1572768" cy="3105208"/>
          </a:xfrm>
          <a:prstGeom prst="rect">
            <a:avLst/>
          </a:prstGeom>
        </p:spPr>
      </p:pic>
      <p:sp>
        <p:nvSpPr>
          <p:cNvPr id="17" name="Oval 16"/>
          <p:cNvSpPr/>
          <p:nvPr/>
        </p:nvSpPr>
        <p:spPr>
          <a:xfrm>
            <a:off x="10121188" y="1554480"/>
            <a:ext cx="365760" cy="365760"/>
          </a:xfrm>
          <a:prstGeom prst="ellipse">
            <a:avLst/>
          </a:prstGeom>
          <a:solidFill>
            <a:srgbClr val="002970"/>
          </a:solidFill>
          <a:ln>
            <a:noFill/>
          </a:ln>
        </p:spPr>
        <p:txBody>
          <a:bodyPr rtlCol="0" anchor="ctr"/>
          <a:lstStyle/>
          <a:p>
            <a:pPr algn="ctr"/>
          </a:p>
        </p:txBody>
      </p:sp>
      <p:sp>
        <p:nvSpPr>
          <p:cNvPr id="18" name="TextBox 17"/>
          <p:cNvSpPr txBox="1"/>
          <p:nvPr/>
        </p:nvSpPr>
        <p:spPr>
          <a:xfrm>
            <a:off x="10121188" y="1554480"/>
            <a:ext cx="365760"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a:solidFill>
                  <a:srgbClr val="FFFFFF"/>
                </a:solidFill>
                <a:latin typeface="Arial"/>
              </a:rPr>
              <a:t>3</a:t>
            </a:r>
          </a:p>
        </p:txBody>
      </p:sp>
      <p:sp>
        <p:nvSpPr>
          <p:cNvPr id="19" name="TextBox 18"/>
          <p:cNvSpPr txBox="1"/>
          <p:nvPr/>
        </p:nvSpPr>
        <p:spPr>
          <a:xfrm>
            <a:off x="10121188" y="2103120"/>
            <a:ext cx="1503578" cy="329184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Gone on both sides</a:t>
            </a:r>
          </a:p>
          <a:p>
            <a:pPr>
              <a:lnSpc>
                <a:spcPct val="140000"/>
              </a:lnSpc>
              <a:spcBef>
                <a:spcPts val="800"/>
              </a:spcBef>
              <a:spcAft>
                <a:spcPts val="0"/>
              </a:spcAft>
            </a:pPr>
            <a:r>
              <a:rPr sz="1250" b="0">
                <a:solidFill>
                  <a:srgbClr val="5B6675"/>
                </a:solidFill>
                <a:latin typeface="Arial"/>
              </a:rPr>
              <a:t>Sharma’s own chat shows “Paid in cash”, and his udhaar goes from ₹200 to nothing left.</a:t>
            </a:r>
          </a:p>
        </p:txBody>
      </p:sp>
      <p:sp>
        <p:nvSpPr>
          <p:cNvPr id="20" name="TextBox 1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from our working app, with the munshi live on Sarvam. Only money the customer handed over is जमा; a mistake is taken back, never cleared with a जमा.</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THE SOLUTION / MORE THAT A NOTEBOOK CAN’T DO</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Nicknames, customers with no phone, and paying without cash.</a:t>
            </a:r>
          </a:p>
        </p:txBody>
      </p:sp>
      <p:sp>
        <p:nvSpPr>
          <p:cNvPr id="5" name="Rounded Rectangle 4"/>
          <p:cNvSpPr/>
          <p:nvPr/>
        </p:nvSpPr>
        <p:spPr>
          <a:xfrm>
            <a:off x="574548" y="1443228"/>
            <a:ext cx="1648968" cy="318140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nickname.png"/>
          <p:cNvPicPr>
            <a:picLocks noChangeAspect="1"/>
          </p:cNvPicPr>
          <p:nvPr/>
        </p:nvPicPr>
        <p:blipFill>
          <a:blip r:embed="rId2"/>
          <a:stretch>
            <a:fillRect/>
          </a:stretch>
        </p:blipFill>
        <p:spPr>
          <a:xfrm>
            <a:off x="612648" y="1481328"/>
            <a:ext cx="1572768" cy="3105208"/>
          </a:xfrm>
          <a:prstGeom prst="rect">
            <a:avLst/>
          </a:prstGeom>
        </p:spPr>
      </p:pic>
      <p:sp>
        <p:nvSpPr>
          <p:cNvPr id="7" name="Oval 6"/>
          <p:cNvSpPr/>
          <p:nvPr/>
        </p:nvSpPr>
        <p:spPr>
          <a:xfrm>
            <a:off x="2505456" y="1554480"/>
            <a:ext cx="365760" cy="365760"/>
          </a:xfrm>
          <a:prstGeom prst="ellipse">
            <a:avLst/>
          </a:prstGeom>
          <a:solidFill>
            <a:srgbClr val="002970"/>
          </a:solidFill>
          <a:ln>
            <a:noFill/>
          </a:ln>
        </p:spPr>
        <p:txBody>
          <a:bodyPr rtlCol="0" anchor="ctr"/>
          <a:lstStyle/>
          <a:p>
            <a:pPr algn="ctr"/>
          </a:p>
        </p:txBody>
      </p:sp>
      <p:sp>
        <p:nvSpPr>
          <p:cNvPr id="8" name="TextBox 7"/>
          <p:cNvSpPr txBox="1"/>
          <p:nvPr/>
        </p:nvSpPr>
        <p:spPr>
          <a:xfrm>
            <a:off x="2505456" y="1554480"/>
            <a:ext cx="365760"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a:solidFill>
                  <a:srgbClr val="FFFFFF"/>
                </a:solidFill>
                <a:latin typeface="Arial"/>
              </a:rPr>
              <a:t>1</a:t>
            </a:r>
          </a:p>
        </p:txBody>
      </p:sp>
      <p:sp>
        <p:nvSpPr>
          <p:cNvPr id="9" name="TextBox 8"/>
          <p:cNvSpPr txBox="1"/>
          <p:nvPr/>
        </p:nvSpPr>
        <p:spPr>
          <a:xfrm>
            <a:off x="2505456" y="2103120"/>
            <a:ext cx="1503578" cy="329184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Nicknames</a:t>
            </a:r>
          </a:p>
          <a:p>
            <a:pPr>
              <a:lnSpc>
                <a:spcPct val="140000"/>
              </a:lnSpc>
              <a:spcBef>
                <a:spcPts val="800"/>
              </a:spcBef>
              <a:spcAft>
                <a:spcPts val="0"/>
              </a:spcAft>
            </a:pPr>
            <a:r>
              <a:rPr sz="1250" b="0">
                <a:solidFill>
                  <a:srgbClr val="5B6675"/>
                </a:solidFill>
                <a:latin typeface="Arial"/>
              </a:rPr>
              <a:t>He says “Golu”. The munshi asks who that is, and remembers. Next time, “Golu” finds Sharma straight away.</a:t>
            </a:r>
          </a:p>
        </p:txBody>
      </p:sp>
      <p:sp>
        <p:nvSpPr>
          <p:cNvPr id="10" name="Rounded Rectangle 9"/>
          <p:cNvSpPr/>
          <p:nvPr/>
        </p:nvSpPr>
        <p:spPr>
          <a:xfrm>
            <a:off x="4382414" y="1443228"/>
            <a:ext cx="1648968" cy="318140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1" name="Picture 10" descr="m-nameonly.png"/>
          <p:cNvPicPr>
            <a:picLocks noChangeAspect="1"/>
          </p:cNvPicPr>
          <p:nvPr/>
        </p:nvPicPr>
        <p:blipFill>
          <a:blip r:embed="rId3"/>
          <a:stretch>
            <a:fillRect/>
          </a:stretch>
        </p:blipFill>
        <p:spPr>
          <a:xfrm>
            <a:off x="4420514" y="1481328"/>
            <a:ext cx="1572768" cy="3105208"/>
          </a:xfrm>
          <a:prstGeom prst="rect">
            <a:avLst/>
          </a:prstGeom>
        </p:spPr>
      </p:pic>
      <p:sp>
        <p:nvSpPr>
          <p:cNvPr id="12" name="Oval 11"/>
          <p:cNvSpPr/>
          <p:nvPr/>
        </p:nvSpPr>
        <p:spPr>
          <a:xfrm>
            <a:off x="6313322" y="1554480"/>
            <a:ext cx="365760" cy="365760"/>
          </a:xfrm>
          <a:prstGeom prst="ellipse">
            <a:avLst/>
          </a:prstGeom>
          <a:solidFill>
            <a:srgbClr val="002970"/>
          </a:solidFill>
          <a:ln>
            <a:noFill/>
          </a:ln>
        </p:spPr>
        <p:txBody>
          <a:bodyPr rtlCol="0" anchor="ctr"/>
          <a:lstStyle/>
          <a:p>
            <a:pPr algn="ctr"/>
          </a:p>
        </p:txBody>
      </p:sp>
      <p:sp>
        <p:nvSpPr>
          <p:cNvPr id="13" name="TextBox 12"/>
          <p:cNvSpPr txBox="1"/>
          <p:nvPr/>
        </p:nvSpPr>
        <p:spPr>
          <a:xfrm>
            <a:off x="6313322" y="1554480"/>
            <a:ext cx="365760"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a:solidFill>
                  <a:srgbClr val="FFFFFF"/>
                </a:solidFill>
                <a:latin typeface="Arial"/>
              </a:rPr>
              <a:t>2</a:t>
            </a:r>
          </a:p>
        </p:txBody>
      </p:sp>
      <p:sp>
        <p:nvSpPr>
          <p:cNvPr id="14" name="TextBox 13"/>
          <p:cNvSpPr txBox="1"/>
          <p:nvPr/>
        </p:nvSpPr>
        <p:spPr>
          <a:xfrm>
            <a:off x="6313322" y="2103120"/>
            <a:ext cx="1503578" cy="329184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No phone needed</a:t>
            </a:r>
          </a:p>
          <a:p>
            <a:pPr>
              <a:lnSpc>
                <a:spcPct val="140000"/>
              </a:lnSpc>
              <a:spcBef>
                <a:spcPts val="800"/>
              </a:spcBef>
              <a:spcAft>
                <a:spcPts val="0"/>
              </a:spcAft>
            </a:pPr>
            <a:r>
              <a:rPr sz="1250" b="0">
                <a:solidFill>
                  <a:srgbClr val="5B6675"/>
                </a:solidFill>
                <a:latin typeface="Arial"/>
              </a:rPr>
              <a:t>A customer with no phone is kept by name, like the notebook. Add their number later and every open entry goes to them for a yes.</a:t>
            </a:r>
          </a:p>
        </p:txBody>
      </p:sp>
      <p:sp>
        <p:nvSpPr>
          <p:cNvPr id="15" name="Rounded Rectangle 14"/>
          <p:cNvSpPr/>
          <p:nvPr/>
        </p:nvSpPr>
        <p:spPr>
          <a:xfrm>
            <a:off x="8190280" y="1443228"/>
            <a:ext cx="1648968" cy="318140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6" name="Picture 15" descr="c-pay.png"/>
          <p:cNvPicPr>
            <a:picLocks noChangeAspect="1"/>
          </p:cNvPicPr>
          <p:nvPr/>
        </p:nvPicPr>
        <p:blipFill>
          <a:blip r:embed="rId4"/>
          <a:stretch>
            <a:fillRect/>
          </a:stretch>
        </p:blipFill>
        <p:spPr>
          <a:xfrm>
            <a:off x="8228380" y="1481328"/>
            <a:ext cx="1572768" cy="3105208"/>
          </a:xfrm>
          <a:prstGeom prst="rect">
            <a:avLst/>
          </a:prstGeom>
        </p:spPr>
      </p:pic>
      <p:sp>
        <p:nvSpPr>
          <p:cNvPr id="17" name="Oval 16"/>
          <p:cNvSpPr/>
          <p:nvPr/>
        </p:nvSpPr>
        <p:spPr>
          <a:xfrm>
            <a:off x="10121188" y="1554480"/>
            <a:ext cx="365760" cy="365760"/>
          </a:xfrm>
          <a:prstGeom prst="ellipse">
            <a:avLst/>
          </a:prstGeom>
          <a:solidFill>
            <a:srgbClr val="002970"/>
          </a:solidFill>
          <a:ln>
            <a:noFill/>
          </a:ln>
        </p:spPr>
        <p:txBody>
          <a:bodyPr rtlCol="0" anchor="ctr"/>
          <a:lstStyle/>
          <a:p>
            <a:pPr algn="ctr"/>
          </a:p>
        </p:txBody>
      </p:sp>
      <p:sp>
        <p:nvSpPr>
          <p:cNvPr id="18" name="TextBox 17"/>
          <p:cNvSpPr txBox="1"/>
          <p:nvPr/>
        </p:nvSpPr>
        <p:spPr>
          <a:xfrm>
            <a:off x="10121188" y="1554480"/>
            <a:ext cx="365760"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a:solidFill>
                  <a:srgbClr val="FFFFFF"/>
                </a:solidFill>
                <a:latin typeface="Arial"/>
              </a:rPr>
              <a:t>3</a:t>
            </a:r>
          </a:p>
        </p:txBody>
      </p:sp>
      <p:sp>
        <p:nvSpPr>
          <p:cNvPr id="19" name="TextBox 18"/>
          <p:cNvSpPr txBox="1"/>
          <p:nvPr/>
        </p:nvSpPr>
        <p:spPr>
          <a:xfrm>
            <a:off x="10121188" y="2103120"/>
            <a:ext cx="1503578" cy="329184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Cashless</a:t>
            </a:r>
          </a:p>
          <a:p>
            <a:pPr>
              <a:lnSpc>
                <a:spcPct val="140000"/>
              </a:lnSpc>
              <a:spcBef>
                <a:spcPts val="800"/>
              </a:spcBef>
              <a:spcAft>
                <a:spcPts val="0"/>
              </a:spcAft>
            </a:pPr>
            <a:r>
              <a:rPr sz="1250" b="0">
                <a:solidFill>
                  <a:srgbClr val="5B6675"/>
                </a:solidFill>
                <a:latin typeface="Arial"/>
              </a:rPr>
              <a:t>The customer pays from her chat by UPI, all of it or part. The shop is told what is left.</a:t>
            </a:r>
          </a:p>
        </p:txBody>
      </p:sp>
      <p:sp>
        <p:nvSpPr>
          <p:cNvPr id="20" name="TextBox 1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AI IN BAHI</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Five jobs for AI: hear, understand, speak, remember, predict.</a:t>
            </a:r>
          </a:p>
        </p:txBody>
      </p:sp>
      <p:sp>
        <p:nvSpPr>
          <p:cNvPr id="5" name="TextBox 4"/>
          <p:cNvSpPr txBox="1"/>
          <p:nvPr/>
        </p:nvSpPr>
        <p:spPr>
          <a:xfrm>
            <a:off x="566928" y="1600200"/>
            <a:ext cx="1600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THE JOB</a:t>
            </a:r>
          </a:p>
        </p:txBody>
      </p:sp>
      <p:sp>
        <p:nvSpPr>
          <p:cNvPr id="6" name="TextBox 5"/>
          <p:cNvSpPr txBox="1"/>
          <p:nvPr/>
        </p:nvSpPr>
        <p:spPr>
          <a:xfrm>
            <a:off x="2167128" y="1600200"/>
            <a:ext cx="224028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MODEL</a:t>
            </a:r>
          </a:p>
        </p:txBody>
      </p:sp>
      <p:sp>
        <p:nvSpPr>
          <p:cNvPr id="7" name="TextBox 6"/>
          <p:cNvSpPr txBox="1"/>
          <p:nvPr/>
        </p:nvSpPr>
        <p:spPr>
          <a:xfrm>
            <a:off x="4407408" y="1600200"/>
            <a:ext cx="43434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WHAT IT DOES</a:t>
            </a:r>
          </a:p>
        </p:txBody>
      </p:sp>
      <p:sp>
        <p:nvSpPr>
          <p:cNvPr id="8" name="TextBox 7"/>
          <p:cNvSpPr txBox="1"/>
          <p:nvPr/>
        </p:nvSpPr>
        <p:spPr>
          <a:xfrm>
            <a:off x="8750808" y="160020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WHERE YOU SEE IT</a:t>
            </a:r>
          </a:p>
        </p:txBody>
      </p:sp>
      <p:sp>
        <p:nvSpPr>
          <p:cNvPr id="9" name="Rectangle 8"/>
          <p:cNvSpPr/>
          <p:nvPr/>
        </p:nvSpPr>
        <p:spPr>
          <a:xfrm>
            <a:off x="566928" y="1892808"/>
            <a:ext cx="11057839" cy="19050"/>
          </a:xfrm>
          <a:prstGeom prst="rect">
            <a:avLst/>
          </a:prstGeom>
          <a:solidFill>
            <a:srgbClr val="00BAF2"/>
          </a:solidFill>
          <a:ln>
            <a:noFill/>
          </a:ln>
        </p:spPr>
        <p:txBody>
          <a:bodyPr rtlCol="0" anchor="ctr"/>
          <a:lstStyle/>
          <a:p>
            <a:pPr algn="ctr"/>
          </a:p>
        </p:txBody>
      </p:sp>
      <p:sp>
        <p:nvSpPr>
          <p:cNvPr id="10" name="Rounded Rectangle 9"/>
          <p:cNvSpPr/>
          <p:nvPr/>
        </p:nvSpPr>
        <p:spPr>
          <a:xfrm>
            <a:off x="493776" y="1984248"/>
            <a:ext cx="11204143" cy="731520"/>
          </a:xfrm>
          <a:prstGeom prst="roundRect">
            <a:avLst>
              <a:gd name="adj" fmla="val 12000"/>
            </a:avLst>
          </a:prstGeom>
          <a:solidFill>
            <a:srgbClr val="FFFFFF"/>
          </a:solidFill>
          <a:ln>
            <a:noFill/>
          </a:ln>
        </p:spPr>
        <p:txBody>
          <a:bodyPr rtlCol="0" anchor="ctr"/>
          <a:lstStyle/>
          <a:p>
            <a:pPr algn="ctr"/>
          </a:p>
        </p:txBody>
      </p:sp>
      <p:sp>
        <p:nvSpPr>
          <p:cNvPr id="11" name="TextBox 10"/>
          <p:cNvSpPr txBox="1"/>
          <p:nvPr/>
        </p:nvSpPr>
        <p:spPr>
          <a:xfrm>
            <a:off x="658368" y="1947672"/>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Hear</a:t>
            </a:r>
          </a:p>
        </p:txBody>
      </p:sp>
      <p:sp>
        <p:nvSpPr>
          <p:cNvPr id="12" name="TextBox 11"/>
          <p:cNvSpPr txBox="1"/>
          <p:nvPr/>
        </p:nvSpPr>
        <p:spPr>
          <a:xfrm>
            <a:off x="2258568" y="1947672"/>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Sarvam Saaras v4</a:t>
            </a:r>
          </a:p>
        </p:txBody>
      </p:sp>
      <p:sp>
        <p:nvSpPr>
          <p:cNvPr id="13" name="TextBox 12"/>
          <p:cNvSpPr txBox="1"/>
          <p:nvPr/>
        </p:nvSpPr>
        <p:spPr>
          <a:xfrm>
            <a:off x="4498848" y="1947672"/>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Speech to text in whatever language is spoken, with the shop’s customer names as hints.</a:t>
            </a:r>
          </a:p>
        </p:txBody>
      </p:sp>
      <p:sp>
        <p:nvSpPr>
          <p:cNvPr id="14" name="TextBox 13"/>
          <p:cNvSpPr txBox="1"/>
          <p:nvPr/>
        </p:nvSpPr>
        <p:spPr>
          <a:xfrm>
            <a:off x="8842248" y="1947672"/>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Add udhaar by voice, the munshi</a:t>
            </a:r>
          </a:p>
        </p:txBody>
      </p:sp>
      <p:sp>
        <p:nvSpPr>
          <p:cNvPr id="15" name="Rounded Rectangle 14"/>
          <p:cNvSpPr/>
          <p:nvPr/>
        </p:nvSpPr>
        <p:spPr>
          <a:xfrm>
            <a:off x="493776" y="2788920"/>
            <a:ext cx="11204143" cy="731520"/>
          </a:xfrm>
          <a:prstGeom prst="roundRect">
            <a:avLst>
              <a:gd name="adj" fmla="val 12000"/>
            </a:avLst>
          </a:prstGeom>
          <a:solidFill>
            <a:srgbClr val="FFFFFF"/>
          </a:solidFill>
          <a:ln>
            <a:noFill/>
          </a:ln>
        </p:spPr>
        <p:txBody>
          <a:bodyPr rtlCol="0" anchor="ctr"/>
          <a:lstStyle/>
          <a:p>
            <a:pPr algn="ctr"/>
          </a:p>
        </p:txBody>
      </p:sp>
      <p:sp>
        <p:nvSpPr>
          <p:cNvPr id="16" name="TextBox 15"/>
          <p:cNvSpPr txBox="1"/>
          <p:nvPr/>
        </p:nvSpPr>
        <p:spPr>
          <a:xfrm>
            <a:off x="658368" y="2752344"/>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Understand</a:t>
            </a:r>
          </a:p>
        </p:txBody>
      </p:sp>
      <p:sp>
        <p:nvSpPr>
          <p:cNvPr id="17" name="TextBox 16"/>
          <p:cNvSpPr txBox="1"/>
          <p:nvPr/>
        </p:nvSpPr>
        <p:spPr>
          <a:xfrm>
            <a:off x="2258568" y="2752344"/>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Sarvam-105B</a:t>
            </a:r>
          </a:p>
        </p:txBody>
      </p:sp>
      <p:sp>
        <p:nvSpPr>
          <p:cNvPr id="18" name="TextBox 17"/>
          <p:cNvSpPr txBox="1"/>
          <p:nvPr/>
        </p:nvSpPr>
        <p:spPr>
          <a:xfrm>
            <a:off x="4498848" y="2752344"/>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The munshi: works out what he meant and calls our tools to find a customer, put an entry on a card or look something up.</a:t>
            </a:r>
          </a:p>
        </p:txBody>
      </p:sp>
      <p:sp>
        <p:nvSpPr>
          <p:cNvPr id="19" name="TextBox 18"/>
          <p:cNvSpPr txBox="1"/>
          <p:nvPr/>
        </p:nvSpPr>
        <p:spPr>
          <a:xfrm>
            <a:off x="8842248" y="2752344"/>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Paytm Assistant, voice entries</a:t>
            </a:r>
          </a:p>
        </p:txBody>
      </p:sp>
      <p:sp>
        <p:nvSpPr>
          <p:cNvPr id="20" name="Rounded Rectangle 19"/>
          <p:cNvSpPr/>
          <p:nvPr/>
        </p:nvSpPr>
        <p:spPr>
          <a:xfrm>
            <a:off x="493776" y="3593592"/>
            <a:ext cx="11204143" cy="731520"/>
          </a:xfrm>
          <a:prstGeom prst="roundRect">
            <a:avLst>
              <a:gd name="adj" fmla="val 12000"/>
            </a:avLst>
          </a:prstGeom>
          <a:solidFill>
            <a:srgbClr val="FFFFFF"/>
          </a:solidFill>
          <a:ln>
            <a:noFill/>
          </a:ln>
        </p:spPr>
        <p:txBody>
          <a:bodyPr rtlCol="0" anchor="ctr"/>
          <a:lstStyle/>
          <a:p>
            <a:pPr algn="ctr"/>
          </a:p>
        </p:txBody>
      </p:sp>
      <p:sp>
        <p:nvSpPr>
          <p:cNvPr id="21" name="TextBox 20"/>
          <p:cNvSpPr txBox="1"/>
          <p:nvPr/>
        </p:nvSpPr>
        <p:spPr>
          <a:xfrm>
            <a:off x="658368" y="3557016"/>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Speak</a:t>
            </a:r>
          </a:p>
        </p:txBody>
      </p:sp>
      <p:sp>
        <p:nvSpPr>
          <p:cNvPr id="22" name="TextBox 21"/>
          <p:cNvSpPr txBox="1"/>
          <p:nvPr/>
        </p:nvSpPr>
        <p:spPr>
          <a:xfrm>
            <a:off x="2258568" y="3557016"/>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Sarvam Bulbul v3</a:t>
            </a:r>
          </a:p>
        </p:txBody>
      </p:sp>
      <p:sp>
        <p:nvSpPr>
          <p:cNvPr id="23" name="TextBox 22"/>
          <p:cNvSpPr txBox="1"/>
          <p:nvPr/>
        </p:nvSpPr>
        <p:spPr>
          <a:xfrm>
            <a:off x="4498848" y="3557016"/>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Says amounts on the Soundbox and reads the munshi’s replies aloud.</a:t>
            </a:r>
          </a:p>
        </p:txBody>
      </p:sp>
      <p:sp>
        <p:nvSpPr>
          <p:cNvPr id="24" name="TextBox 23"/>
          <p:cNvSpPr txBox="1"/>
          <p:nvPr/>
        </p:nvSpPr>
        <p:spPr>
          <a:xfrm>
            <a:off x="8842248" y="3557016"/>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Soundbox, Assistant</a:t>
            </a:r>
          </a:p>
        </p:txBody>
      </p:sp>
      <p:sp>
        <p:nvSpPr>
          <p:cNvPr id="25" name="Rounded Rectangle 24"/>
          <p:cNvSpPr/>
          <p:nvPr/>
        </p:nvSpPr>
        <p:spPr>
          <a:xfrm>
            <a:off x="493776" y="4398264"/>
            <a:ext cx="11204143" cy="731520"/>
          </a:xfrm>
          <a:prstGeom prst="roundRect">
            <a:avLst>
              <a:gd name="adj" fmla="val 12000"/>
            </a:avLst>
          </a:prstGeom>
          <a:solidFill>
            <a:srgbClr val="FFFFFF"/>
          </a:solidFill>
          <a:ln>
            <a:noFill/>
          </a:ln>
        </p:spPr>
        <p:txBody>
          <a:bodyPr rtlCol="0" anchor="ctr"/>
          <a:lstStyle/>
          <a:p>
            <a:pPr algn="ctr"/>
          </a:p>
        </p:txBody>
      </p:sp>
      <p:sp>
        <p:nvSpPr>
          <p:cNvPr id="26" name="TextBox 25"/>
          <p:cNvSpPr txBox="1"/>
          <p:nvPr/>
        </p:nvSpPr>
        <p:spPr>
          <a:xfrm>
            <a:off x="658368" y="4361688"/>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Remember</a:t>
            </a:r>
          </a:p>
        </p:txBody>
      </p:sp>
      <p:sp>
        <p:nvSpPr>
          <p:cNvPr id="27" name="TextBox 26"/>
          <p:cNvSpPr txBox="1"/>
          <p:nvPr/>
        </p:nvSpPr>
        <p:spPr>
          <a:xfrm>
            <a:off x="2258568" y="4361688"/>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Cognee + pgvector</a:t>
            </a:r>
          </a:p>
        </p:txBody>
      </p:sp>
      <p:sp>
        <p:nvSpPr>
          <p:cNvPr id="28" name="TextBox 27"/>
          <p:cNvSpPr txBox="1"/>
          <p:nvPr/>
        </p:nvSpPr>
        <p:spPr>
          <a:xfrm>
            <a:off x="4498848" y="4361688"/>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Turns notes, promises and nicknames into a knowledge graph per shop, and recalls them by meaning.</a:t>
            </a:r>
          </a:p>
        </p:txBody>
      </p:sp>
      <p:sp>
        <p:nvSpPr>
          <p:cNvPr id="29" name="TextBox 28"/>
          <p:cNvSpPr txBox="1"/>
          <p:nvPr/>
        </p:nvSpPr>
        <p:spPr>
          <a:xfrm>
            <a:off x="8842248" y="4361688"/>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“Salary on the 7th”, “Pappu is Prakash”</a:t>
            </a:r>
          </a:p>
        </p:txBody>
      </p:sp>
      <p:sp>
        <p:nvSpPr>
          <p:cNvPr id="30" name="Rounded Rectangle 29"/>
          <p:cNvSpPr/>
          <p:nvPr/>
        </p:nvSpPr>
        <p:spPr>
          <a:xfrm>
            <a:off x="493776" y="5202936"/>
            <a:ext cx="11204143" cy="731520"/>
          </a:xfrm>
          <a:prstGeom prst="roundRect">
            <a:avLst>
              <a:gd name="adj" fmla="val 12000"/>
            </a:avLst>
          </a:prstGeom>
          <a:solidFill>
            <a:srgbClr val="FFFFFF"/>
          </a:solidFill>
          <a:ln>
            <a:noFill/>
          </a:ln>
        </p:spPr>
        <p:txBody>
          <a:bodyPr rtlCol="0" anchor="ctr"/>
          <a:lstStyle/>
          <a:p>
            <a:pPr algn="ctr"/>
          </a:p>
        </p:txBody>
      </p:sp>
      <p:sp>
        <p:nvSpPr>
          <p:cNvPr id="31" name="TextBox 30"/>
          <p:cNvSpPr txBox="1"/>
          <p:nvPr/>
        </p:nvSpPr>
        <p:spPr>
          <a:xfrm>
            <a:off x="658368" y="5166360"/>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Predict</a:t>
            </a:r>
          </a:p>
        </p:txBody>
      </p:sp>
      <p:sp>
        <p:nvSpPr>
          <p:cNvPr id="32" name="TextBox 31"/>
          <p:cNvSpPr txBox="1"/>
          <p:nvPr/>
        </p:nvSpPr>
        <p:spPr>
          <a:xfrm>
            <a:off x="2258568" y="5166360"/>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Pattern engine + Sarvam-105B</a:t>
            </a:r>
          </a:p>
        </p:txBody>
      </p:sp>
      <p:sp>
        <p:nvSpPr>
          <p:cNvPr id="33" name="TextBox 32"/>
          <p:cNvSpPr txBox="1"/>
          <p:nvPr/>
        </p:nvSpPr>
        <p:spPr>
          <a:xfrm>
            <a:off x="4498848" y="5166360"/>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When each customer will likely pay, and who is drifting. The munshi says it as a guess.</a:t>
            </a:r>
          </a:p>
        </p:txBody>
      </p:sp>
      <p:sp>
        <p:nvSpPr>
          <p:cNvPr id="34" name="TextBox 33"/>
          <p:cNvSpPr txBox="1"/>
          <p:nvPr/>
        </p:nvSpPr>
        <p:spPr>
          <a:xfrm>
            <a:off x="8842248" y="5166360"/>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Customer card, Tomorrow, “इस हफ़्ते कौन देगा?”</a:t>
            </a:r>
          </a:p>
        </p:txBody>
      </p:sp>
      <p:sp>
        <p:nvSpPr>
          <p:cNvPr id="35" name="TextBox 34"/>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Prediction is arithmetic on the customer’s own ledger, so every figure can be checked by hand; no model ever produces a number. Cognee runs in our local build and is off in the hosted demo.</a:t>
            </a:r>
          </a:p>
        </p:txBody>
      </p:sp>
      <p:sp>
        <p:nvSpPr>
          <p:cNvPr id="36" name="TextBox 35"/>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AI IN BAHI / THE MUNSHI</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An AI munshi that does the work, and never writes without a yes.</a:t>
            </a:r>
          </a:p>
        </p:txBody>
      </p:sp>
      <p:sp>
        <p:nvSpPr>
          <p:cNvPr id="5" name="Rounded Rectangle 4"/>
          <p:cNvSpPr/>
          <p:nvPr/>
        </p:nvSpPr>
        <p:spPr>
          <a:xfrm>
            <a:off x="574548"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assistant.png"/>
          <p:cNvPicPr>
            <a:picLocks noChangeAspect="1"/>
          </p:cNvPicPr>
          <p:nvPr/>
        </p:nvPicPr>
        <p:blipFill>
          <a:blip r:embed="rId2"/>
          <a:stretch>
            <a:fillRect/>
          </a:stretch>
        </p:blipFill>
        <p:spPr>
          <a:xfrm>
            <a:off x="612648" y="1645920"/>
            <a:ext cx="1874519" cy="3700973"/>
          </a:xfrm>
          <a:prstGeom prst="rect">
            <a:avLst/>
          </a:prstGeom>
        </p:spPr>
      </p:pic>
      <p:sp>
        <p:nvSpPr>
          <p:cNvPr id="7" name="Rounded Rectangle 6"/>
          <p:cNvSpPr/>
          <p:nvPr/>
        </p:nvSpPr>
        <p:spPr>
          <a:xfrm>
            <a:off x="2723387"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chat.png"/>
          <p:cNvPicPr>
            <a:picLocks noChangeAspect="1"/>
          </p:cNvPicPr>
          <p:nvPr/>
        </p:nvPicPr>
        <p:blipFill>
          <a:blip r:embed="rId3"/>
          <a:stretch>
            <a:fillRect/>
          </a:stretch>
        </p:blipFill>
        <p:spPr>
          <a:xfrm>
            <a:off x="2761487" y="1645920"/>
            <a:ext cx="1874519" cy="3700973"/>
          </a:xfrm>
          <a:prstGeom prst="rect">
            <a:avLst/>
          </a:prstGeom>
        </p:spPr>
      </p:pic>
      <p:sp>
        <p:nvSpPr>
          <p:cNvPr id="9" name="Rounded Rectangle 8"/>
          <p:cNvSpPr/>
          <p:nvPr/>
        </p:nvSpPr>
        <p:spPr>
          <a:xfrm>
            <a:off x="5001766" y="1645920"/>
            <a:ext cx="6623001" cy="3017520"/>
          </a:xfrm>
          <a:prstGeom prst="roundRect">
            <a:avLst>
              <a:gd name="adj" fmla="val 6000"/>
            </a:avLst>
          </a:prstGeom>
          <a:solidFill>
            <a:srgbClr val="FFFFFF"/>
          </a:solidFill>
          <a:ln>
            <a:noFill/>
          </a:ln>
        </p:spPr>
        <p:txBody>
          <a:bodyPr rtlCol="0" anchor="ctr"/>
          <a:lstStyle/>
          <a:p>
            <a:pPr algn="ctr"/>
          </a:p>
        </p:txBody>
      </p:sp>
      <p:sp>
        <p:nvSpPr>
          <p:cNvPr id="10" name="TextBox 9"/>
          <p:cNvSpPr txBox="1"/>
          <p:nvPr/>
        </p:nvSpPr>
        <p:spPr>
          <a:xfrm>
            <a:off x="5276086" y="1874520"/>
            <a:ext cx="6074361" cy="274320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it does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Talk or type, in Hindi, English, Marathi or a mix. Sarvam hears any of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Finds the customer by the sound of a name, or how the shop describes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Asks before reading names; then says only the names.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Puts every change on a card: an entry, a payment, a correction, taking one back, new details, a message. Only his yes writes it.</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Paytm Assistant: ask anything about the book. The chat is kept.</a:t>
            </a:r>
          </a:p>
        </p:txBody>
      </p:sp>
      <p:sp>
        <p:nvSpPr>
          <p:cNvPr id="11" name="Rounded Rectangle 10"/>
          <p:cNvSpPr/>
          <p:nvPr/>
        </p:nvSpPr>
        <p:spPr>
          <a:xfrm>
            <a:off x="5001766" y="4846320"/>
            <a:ext cx="6623001" cy="1298448"/>
          </a:xfrm>
          <a:prstGeom prst="roundRect">
            <a:avLst>
              <a:gd name="adj" fmla="val 6000"/>
            </a:avLst>
          </a:prstGeom>
          <a:solidFill>
            <a:srgbClr val="002970"/>
          </a:solidFill>
          <a:ln>
            <a:noFill/>
          </a:ln>
        </p:spPr>
        <p:txBody>
          <a:bodyPr rtlCol="0" anchor="ctr"/>
          <a:lstStyle/>
          <a:p>
            <a:pPr algn="ctr"/>
          </a:p>
        </p:txBody>
      </p:sp>
      <p:sp>
        <p:nvSpPr>
          <p:cNvPr id="12" name="TextBox 11"/>
          <p:cNvSpPr txBox="1"/>
          <p:nvPr/>
        </p:nvSpPr>
        <p:spPr>
          <a:xfrm>
            <a:off x="5276086" y="5010912"/>
            <a:ext cx="6074361" cy="1188720"/>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FFFFFF"/>
                </a:solidFill>
                <a:latin typeface="Arial"/>
              </a:rPr>
              <a:t>Its tools are our code</a:t>
            </a:r>
          </a:p>
          <a:p>
            <a:pPr>
              <a:lnSpc>
                <a:spcPct val="135000"/>
              </a:lnSpc>
              <a:spcBef>
                <a:spcPts val="600"/>
              </a:spcBef>
              <a:spcAft>
                <a:spcPts val="0"/>
              </a:spcAft>
            </a:pPr>
            <a:r>
              <a:rPr sz="1100" b="0">
                <a:solidFill>
                  <a:srgbClr val="C9D8EE"/>
                </a:solidFill>
                <a:latin typeface="Arial"/>
              </a:rPr>
              <a:t>find_customer  ·  counter  ·  customer_card  ·  propose_entry  ·  propose_correction  ·  propose_removal  ·  propose_details  ·  propose_message  ·  remember  ·  recall  ·  expected_payments  ·  tonight</a:t>
            </a:r>
          </a:p>
        </p:txBody>
      </p:sp>
      <p:sp>
        <p:nvSpPr>
          <p:cNvPr id="13" name="TextBox 12"/>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Replies shown are from our live test with Sarvam. An ordinary card goes in 3 s unless he says no; a close-sounding name, ₹5,000+ or 3× his usual waits for a clear हाँ.</a:t>
            </a:r>
          </a:p>
        </p:txBody>
      </p:sp>
      <p:sp>
        <p:nvSpPr>
          <p:cNvPr id="14" name="TextBox 13"/>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FOR THE CUSTOMER</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Her own copy of every udhaar, inside the Paytm app she already has.</a:t>
            </a:r>
          </a:p>
        </p:txBody>
      </p:sp>
      <p:sp>
        <p:nvSpPr>
          <p:cNvPr id="5" name="Rounded Rectangle 4"/>
          <p:cNvSpPr/>
          <p:nvPr/>
        </p:nvSpPr>
        <p:spPr>
          <a:xfrm>
            <a:off x="574548"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c-ask.png"/>
          <p:cNvPicPr>
            <a:picLocks noChangeAspect="1"/>
          </p:cNvPicPr>
          <p:nvPr/>
        </p:nvPicPr>
        <p:blipFill>
          <a:blip r:embed="rId2"/>
          <a:stretch>
            <a:fillRect/>
          </a:stretch>
        </p:blipFill>
        <p:spPr>
          <a:xfrm>
            <a:off x="612648" y="1645920"/>
            <a:ext cx="1481328" cy="2924673"/>
          </a:xfrm>
          <a:prstGeom prst="rect">
            <a:avLst/>
          </a:prstGeom>
        </p:spPr>
      </p:pic>
      <p:sp>
        <p:nvSpPr>
          <p:cNvPr id="7" name="Rounded Rectangle 6"/>
          <p:cNvSpPr/>
          <p:nvPr/>
        </p:nvSpPr>
        <p:spPr>
          <a:xfrm>
            <a:off x="2257044"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c-agreed.png"/>
          <p:cNvPicPr>
            <a:picLocks noChangeAspect="1"/>
          </p:cNvPicPr>
          <p:nvPr/>
        </p:nvPicPr>
        <p:blipFill>
          <a:blip r:embed="rId3"/>
          <a:stretch>
            <a:fillRect/>
          </a:stretch>
        </p:blipFill>
        <p:spPr>
          <a:xfrm>
            <a:off x="2295144" y="1645920"/>
            <a:ext cx="1481328" cy="2924673"/>
          </a:xfrm>
          <a:prstGeom prst="rect">
            <a:avLst/>
          </a:prstGeom>
        </p:spPr>
      </p:pic>
      <p:sp>
        <p:nvSpPr>
          <p:cNvPr id="9" name="Rounded Rectangle 8"/>
          <p:cNvSpPr/>
          <p:nvPr/>
        </p:nvSpPr>
        <p:spPr>
          <a:xfrm>
            <a:off x="3939540"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c-mybook.png"/>
          <p:cNvPicPr>
            <a:picLocks noChangeAspect="1"/>
          </p:cNvPicPr>
          <p:nvPr/>
        </p:nvPicPr>
        <p:blipFill>
          <a:blip r:embed="rId4"/>
          <a:stretch>
            <a:fillRect/>
          </a:stretch>
        </p:blipFill>
        <p:spPr>
          <a:xfrm>
            <a:off x="3977640" y="1645920"/>
            <a:ext cx="1481328" cy="2924673"/>
          </a:xfrm>
          <a:prstGeom prst="rect">
            <a:avLst/>
          </a:prstGeom>
        </p:spPr>
      </p:pic>
      <p:sp>
        <p:nvSpPr>
          <p:cNvPr id="11" name="TextBox 10"/>
          <p:cNvSpPr txBox="1"/>
          <p:nvPr/>
        </p:nvSpPr>
        <p:spPr>
          <a:xfrm>
            <a:off x="566928" y="4681728"/>
            <a:ext cx="484632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5B6675"/>
                </a:solidFill>
                <a:latin typeface="Arial"/>
              </a:rPr>
              <a:t>Ask  ·  Agreed  ·  My udhaar</a:t>
            </a:r>
          </a:p>
        </p:txBody>
      </p:sp>
      <p:sp>
        <p:nvSpPr>
          <p:cNvPr id="12" name="Rounded Rectangle 11"/>
          <p:cNvSpPr/>
          <p:nvPr/>
        </p:nvSpPr>
        <p:spPr>
          <a:xfrm>
            <a:off x="5824728" y="1645920"/>
            <a:ext cx="5800039" cy="4498848"/>
          </a:xfrm>
          <a:prstGeom prst="roundRect">
            <a:avLst>
              <a:gd name="adj" fmla="val 6000"/>
            </a:avLst>
          </a:prstGeom>
          <a:solidFill>
            <a:srgbClr val="FFFFFF"/>
          </a:solidFill>
          <a:ln>
            <a:noFill/>
          </a:ln>
        </p:spPr>
        <p:txBody>
          <a:bodyPr rtlCol="0" anchor="ctr"/>
          <a:lstStyle/>
          <a:p>
            <a:pPr algn="ctr"/>
          </a:p>
        </p:txBody>
      </p:sp>
      <p:sp>
        <p:nvSpPr>
          <p:cNvPr id="13" name="TextBox 12"/>
          <p:cNvSpPr txBox="1"/>
          <p:nvPr/>
        </p:nvSpPr>
        <p:spPr>
          <a:xfrm>
            <a:off x="6144768" y="1920240"/>
            <a:ext cx="5159959"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What the customer can do</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Scan the shop’s udhaar QR. Nothing to download: it is Paytm.</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Ask for udhaar herself: how much, and what for.</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Say yes to each entry, or tap “Not mine” or “Wrong amount”.</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 chat with each shop that reads like a passbook: the total before and after every entry.</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See what she owes across every shop, and pay by UPI, all or part.</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Reminders come privately, in her language, with no due date and no interest.</a:t>
            </a:r>
          </a:p>
        </p:txBody>
      </p:sp>
      <p:sp>
        <p:nvSpPr>
          <p:cNvPr id="14" name="TextBox 1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15" name="TextBox 1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FOR THE SHOPKEEPER</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He says it once. The munshi, the Soundbox and the code do the rest.</a:t>
            </a:r>
          </a:p>
        </p:txBody>
      </p:sp>
      <p:sp>
        <p:nvSpPr>
          <p:cNvPr id="5" name="Rounded Rectangle 4"/>
          <p:cNvSpPr/>
          <p:nvPr/>
        </p:nvSpPr>
        <p:spPr>
          <a:xfrm>
            <a:off x="574548"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home.png"/>
          <p:cNvPicPr>
            <a:picLocks noChangeAspect="1"/>
          </p:cNvPicPr>
          <p:nvPr/>
        </p:nvPicPr>
        <p:blipFill>
          <a:blip r:embed="rId2"/>
          <a:stretch>
            <a:fillRect/>
          </a:stretch>
        </p:blipFill>
        <p:spPr>
          <a:xfrm>
            <a:off x="612648" y="1645920"/>
            <a:ext cx="1481328" cy="2924673"/>
          </a:xfrm>
          <a:prstGeom prst="rect">
            <a:avLst/>
          </a:prstGeom>
        </p:spPr>
      </p:pic>
      <p:sp>
        <p:nvSpPr>
          <p:cNvPr id="7" name="Rounded Rectangle 6"/>
          <p:cNvSpPr/>
          <p:nvPr/>
        </p:nvSpPr>
        <p:spPr>
          <a:xfrm>
            <a:off x="2257044"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popup.png"/>
          <p:cNvPicPr>
            <a:picLocks noChangeAspect="1"/>
          </p:cNvPicPr>
          <p:nvPr/>
        </p:nvPicPr>
        <p:blipFill>
          <a:blip r:embed="rId3"/>
          <a:stretch>
            <a:fillRect/>
          </a:stretch>
        </p:blipFill>
        <p:spPr>
          <a:xfrm>
            <a:off x="2295144" y="1645920"/>
            <a:ext cx="1481328" cy="2924673"/>
          </a:xfrm>
          <a:prstGeom prst="rect">
            <a:avLst/>
          </a:prstGeom>
        </p:spPr>
      </p:pic>
      <p:sp>
        <p:nvSpPr>
          <p:cNvPr id="9" name="Rounded Rectangle 8"/>
          <p:cNvSpPr/>
          <p:nvPr/>
        </p:nvSpPr>
        <p:spPr>
          <a:xfrm>
            <a:off x="3939540"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m-tonight.png"/>
          <p:cNvPicPr>
            <a:picLocks noChangeAspect="1"/>
          </p:cNvPicPr>
          <p:nvPr/>
        </p:nvPicPr>
        <p:blipFill>
          <a:blip r:embed="rId4"/>
          <a:stretch>
            <a:fillRect/>
          </a:stretch>
        </p:blipFill>
        <p:spPr>
          <a:xfrm>
            <a:off x="3977640" y="1645920"/>
            <a:ext cx="1481328" cy="2924673"/>
          </a:xfrm>
          <a:prstGeom prst="rect">
            <a:avLst/>
          </a:prstGeom>
        </p:spPr>
      </p:pic>
      <p:sp>
        <p:nvSpPr>
          <p:cNvPr id="11" name="TextBox 10"/>
          <p:cNvSpPr txBox="1"/>
          <p:nvPr/>
        </p:nvSpPr>
        <p:spPr>
          <a:xfrm>
            <a:off x="566928" y="4681728"/>
            <a:ext cx="484632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5B6675"/>
                </a:solidFill>
                <a:latin typeface="Arial"/>
              </a:rPr>
              <a:t>Home  ·  A customer asks  ·  Tomorrow</a:t>
            </a:r>
          </a:p>
        </p:txBody>
      </p:sp>
      <p:sp>
        <p:nvSpPr>
          <p:cNvPr id="12" name="Rounded Rectangle 11"/>
          <p:cNvSpPr/>
          <p:nvPr/>
        </p:nvSpPr>
        <p:spPr>
          <a:xfrm>
            <a:off x="5824728" y="1645920"/>
            <a:ext cx="5800039" cy="4498848"/>
          </a:xfrm>
          <a:prstGeom prst="roundRect">
            <a:avLst>
              <a:gd name="adj" fmla="val 6000"/>
            </a:avLst>
          </a:prstGeom>
          <a:solidFill>
            <a:srgbClr val="FFFFFF"/>
          </a:solidFill>
          <a:ln>
            <a:noFill/>
          </a:ln>
        </p:spPr>
        <p:txBody>
          <a:bodyPr rtlCol="0" anchor="ctr"/>
          <a:lstStyle/>
          <a:p>
            <a:pPr algn="ctr"/>
          </a:p>
        </p:txBody>
      </p:sp>
      <p:sp>
        <p:nvSpPr>
          <p:cNvPr id="13" name="TextBox 12"/>
          <p:cNvSpPr txBox="1"/>
          <p:nvPr/>
        </p:nvSpPr>
        <p:spPr>
          <a:xfrm>
            <a:off x="6144768" y="1920240"/>
            <a:ext cx="5159959"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What the shopkeeper can do</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Say the amount to the munshi in any language, or tap the keypad.</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 customer’s ask pops up on his screen: Yes, No or Change amount.</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The Soundbox says the amount aloud, and never a name.</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Correct an entry or take it back, in the open.</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Ask anything: “कितना बाकी है?”, “इस हफ़्ते कौन देगा?”</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BAHI remembers promises and notes, and holds a reminder for them.</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Only people late by their own pattern get a reminder. He can rewrite, move, stop or pause it.</a:t>
            </a:r>
          </a:p>
        </p:txBody>
      </p:sp>
      <p:sp>
        <p:nvSpPr>
          <p:cNvPr id="14" name="TextBox 1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15" name="TextBox 1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TECHNOLOGY</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AI understands the words. Plain code decides every number.</a:t>
            </a:r>
          </a:p>
        </p:txBody>
      </p:sp>
      <p:sp>
        <p:nvSpPr>
          <p:cNvPr id="5" name="TextBox 4"/>
          <p:cNvSpPr txBox="1"/>
          <p:nvPr/>
        </p:nvSpPr>
        <p:spPr>
          <a:xfrm>
            <a:off x="566928" y="157276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DURING THE DAY — RECORDING AN ENTRY</a:t>
            </a:r>
          </a:p>
        </p:txBody>
      </p:sp>
      <p:sp>
        <p:nvSpPr>
          <p:cNvPr id="6" name="Rounded Rectangle 5"/>
          <p:cNvSpPr/>
          <p:nvPr/>
        </p:nvSpPr>
        <p:spPr>
          <a:xfrm>
            <a:off x="566928" y="1938528"/>
            <a:ext cx="1831177" cy="960120"/>
          </a:xfrm>
          <a:prstGeom prst="roundRect">
            <a:avLst>
              <a:gd name="adj" fmla="val 12000"/>
            </a:avLst>
          </a:prstGeom>
          <a:solidFill>
            <a:srgbClr val="FFFFFF"/>
          </a:solidFill>
          <a:ln>
            <a:noFill/>
          </a:ln>
        </p:spPr>
        <p:txBody>
          <a:bodyPr rtlCol="0" anchor="ctr"/>
          <a:lstStyle/>
          <a:p>
            <a:pPr algn="ctr"/>
          </a:p>
        </p:txBody>
      </p:sp>
      <p:sp>
        <p:nvSpPr>
          <p:cNvPr id="7" name="TextBox 6"/>
          <p:cNvSpPr txBox="1"/>
          <p:nvPr/>
        </p:nvSpPr>
        <p:spPr>
          <a:xfrm>
            <a:off x="67665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Shopkeeper speaks</a:t>
            </a:r>
          </a:p>
          <a:p>
            <a:pPr algn="ctr">
              <a:lnSpc>
                <a:spcPct val="120000"/>
              </a:lnSpc>
              <a:spcBef>
                <a:spcPts val="300"/>
              </a:spcBef>
              <a:spcAft>
                <a:spcPts val="0"/>
              </a:spcAft>
            </a:pPr>
            <a:r>
              <a:rPr sz="1100" b="0">
                <a:solidFill>
                  <a:srgbClr val="5B6675"/>
                </a:solidFill>
                <a:latin typeface="Arial"/>
              </a:rPr>
              <a:t>“Kavita ko do sau”</a:t>
            </a:r>
          </a:p>
        </p:txBody>
      </p:sp>
      <p:cxnSp>
        <p:nvCxnSpPr>
          <p:cNvPr id="8" name="Connector 7"/>
          <p:cNvCxnSpPr/>
          <p:nvPr/>
        </p:nvCxnSpPr>
        <p:spPr>
          <a:xfrm>
            <a:off x="2462113" y="2418588"/>
            <a:ext cx="347472" cy="0"/>
          </a:xfrm>
          <a:prstGeom prst="line">
            <a:avLst/>
          </a:prstGeom>
          <a:ln w="22225">
            <a:solidFill>
              <a:srgbClr val="002970"/>
            </a:solidFill>
            <a:tailEnd type="triangle" w="med" len="med"/>
          </a:ln>
        </p:spPr>
      </p:cxnSp>
      <p:sp>
        <p:nvSpPr>
          <p:cNvPr id="9" name="Rounded Rectangle 8"/>
          <p:cNvSpPr/>
          <p:nvPr/>
        </p:nvSpPr>
        <p:spPr>
          <a:xfrm>
            <a:off x="2873593" y="1938528"/>
            <a:ext cx="1831177" cy="960120"/>
          </a:xfrm>
          <a:prstGeom prst="roundRect">
            <a:avLst>
              <a:gd name="adj" fmla="val 12000"/>
            </a:avLst>
          </a:prstGeom>
          <a:solidFill>
            <a:srgbClr val="FFFFFF"/>
          </a:solidFill>
          <a:ln>
            <a:noFill/>
          </a:ln>
        </p:spPr>
        <p:txBody>
          <a:bodyPr rtlCol="0" anchor="ctr"/>
          <a:lstStyle/>
          <a:p>
            <a:pPr algn="ctr"/>
          </a:p>
        </p:txBody>
      </p:sp>
      <p:sp>
        <p:nvSpPr>
          <p:cNvPr id="10" name="TextBox 9"/>
          <p:cNvSpPr txBox="1"/>
          <p:nvPr/>
        </p:nvSpPr>
        <p:spPr>
          <a:xfrm>
            <a:off x="298332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Sarvam Saaras v4</a:t>
            </a:r>
          </a:p>
          <a:p>
            <a:pPr algn="ctr">
              <a:lnSpc>
                <a:spcPct val="120000"/>
              </a:lnSpc>
              <a:spcBef>
                <a:spcPts val="300"/>
              </a:spcBef>
              <a:spcAft>
                <a:spcPts val="0"/>
              </a:spcAft>
            </a:pPr>
            <a:r>
              <a:rPr sz="1100" b="0">
                <a:solidFill>
                  <a:srgbClr val="5B6675"/>
                </a:solidFill>
                <a:latin typeface="Arial"/>
              </a:rPr>
              <a:t>speech → text, any language</a:t>
            </a:r>
          </a:p>
        </p:txBody>
      </p:sp>
      <p:sp>
        <p:nvSpPr>
          <p:cNvPr id="11" name="Rounded Rectangle 10"/>
          <p:cNvSpPr/>
          <p:nvPr/>
        </p:nvSpPr>
        <p:spPr>
          <a:xfrm>
            <a:off x="3001609" y="1819656"/>
            <a:ext cx="420624" cy="237744"/>
          </a:xfrm>
          <a:prstGeom prst="roundRect">
            <a:avLst>
              <a:gd name="adj" fmla="val 50000"/>
            </a:avLst>
          </a:prstGeom>
          <a:solidFill>
            <a:srgbClr val="00BAF2"/>
          </a:solidFill>
          <a:ln>
            <a:noFill/>
          </a:ln>
        </p:spPr>
        <p:txBody>
          <a:bodyPr rtlCol="0" anchor="ctr"/>
          <a:lstStyle/>
          <a:p>
            <a:pPr algn="ctr"/>
          </a:p>
        </p:txBody>
      </p:sp>
      <p:sp>
        <p:nvSpPr>
          <p:cNvPr id="12" name="TextBox 11"/>
          <p:cNvSpPr txBox="1"/>
          <p:nvPr/>
        </p:nvSpPr>
        <p:spPr>
          <a:xfrm>
            <a:off x="3001609"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3" name="Connector 12"/>
          <p:cNvCxnSpPr/>
          <p:nvPr/>
        </p:nvCxnSpPr>
        <p:spPr>
          <a:xfrm>
            <a:off x="4768778" y="2418588"/>
            <a:ext cx="347472" cy="0"/>
          </a:xfrm>
          <a:prstGeom prst="line">
            <a:avLst/>
          </a:prstGeom>
          <a:ln w="22225">
            <a:solidFill>
              <a:srgbClr val="002970"/>
            </a:solidFill>
            <a:tailEnd type="triangle" w="med" len="med"/>
          </a:ln>
        </p:spPr>
      </p:cxnSp>
      <p:sp>
        <p:nvSpPr>
          <p:cNvPr id="14" name="Rounded Rectangle 13"/>
          <p:cNvSpPr/>
          <p:nvPr/>
        </p:nvSpPr>
        <p:spPr>
          <a:xfrm>
            <a:off x="5180258" y="1938528"/>
            <a:ext cx="1831177" cy="960120"/>
          </a:xfrm>
          <a:prstGeom prst="roundRect">
            <a:avLst>
              <a:gd name="adj" fmla="val 12000"/>
            </a:avLst>
          </a:prstGeom>
          <a:solidFill>
            <a:srgbClr val="FFFFFF"/>
          </a:solidFill>
          <a:ln>
            <a:noFill/>
          </a:ln>
        </p:spPr>
        <p:txBody>
          <a:bodyPr rtlCol="0" anchor="ctr"/>
          <a:lstStyle/>
          <a:p>
            <a:pPr algn="ctr"/>
          </a:p>
        </p:txBody>
      </p:sp>
      <p:sp>
        <p:nvSpPr>
          <p:cNvPr id="15" name="TextBox 14"/>
          <p:cNvSpPr txBox="1"/>
          <p:nvPr/>
        </p:nvSpPr>
        <p:spPr>
          <a:xfrm>
            <a:off x="528998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a:t>
            </a:r>
          </a:p>
          <a:p>
            <a:pPr algn="ctr">
              <a:lnSpc>
                <a:spcPct val="120000"/>
              </a:lnSpc>
              <a:spcBef>
                <a:spcPts val="300"/>
              </a:spcBef>
              <a:spcAft>
                <a:spcPts val="0"/>
              </a:spcAft>
            </a:pPr>
            <a:r>
              <a:rPr sz="1100" b="0">
                <a:solidFill>
                  <a:srgbClr val="5B6675"/>
                </a:solidFill>
                <a:latin typeface="Arial"/>
              </a:rPr>
              <a:t>Sarvam-105B calls our tools</a:t>
            </a:r>
          </a:p>
        </p:txBody>
      </p:sp>
      <p:sp>
        <p:nvSpPr>
          <p:cNvPr id="16" name="Rounded Rectangle 15"/>
          <p:cNvSpPr/>
          <p:nvPr/>
        </p:nvSpPr>
        <p:spPr>
          <a:xfrm>
            <a:off x="5308274" y="1819656"/>
            <a:ext cx="420624" cy="237744"/>
          </a:xfrm>
          <a:prstGeom prst="roundRect">
            <a:avLst>
              <a:gd name="adj" fmla="val 50000"/>
            </a:avLst>
          </a:prstGeom>
          <a:solidFill>
            <a:srgbClr val="00BAF2"/>
          </a:solidFill>
          <a:ln>
            <a:noFill/>
          </a:ln>
        </p:spPr>
        <p:txBody>
          <a:bodyPr rtlCol="0" anchor="ctr"/>
          <a:lstStyle/>
          <a:p>
            <a:pPr algn="ctr"/>
          </a:p>
        </p:txBody>
      </p:sp>
      <p:sp>
        <p:nvSpPr>
          <p:cNvPr id="17" name="TextBox 16"/>
          <p:cNvSpPr txBox="1"/>
          <p:nvPr/>
        </p:nvSpPr>
        <p:spPr>
          <a:xfrm>
            <a:off x="5308274"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8" name="Connector 17"/>
          <p:cNvCxnSpPr/>
          <p:nvPr/>
        </p:nvCxnSpPr>
        <p:spPr>
          <a:xfrm>
            <a:off x="7075443" y="2418588"/>
            <a:ext cx="347472" cy="0"/>
          </a:xfrm>
          <a:prstGeom prst="line">
            <a:avLst/>
          </a:prstGeom>
          <a:ln w="22225">
            <a:solidFill>
              <a:srgbClr val="002970"/>
            </a:solidFill>
            <a:tailEnd type="triangle" w="med" len="med"/>
          </a:ln>
        </p:spPr>
      </p:cxnSp>
      <p:sp>
        <p:nvSpPr>
          <p:cNvPr id="19" name="Rounded Rectangle 18"/>
          <p:cNvSpPr/>
          <p:nvPr/>
        </p:nvSpPr>
        <p:spPr>
          <a:xfrm>
            <a:off x="7486923" y="1938528"/>
            <a:ext cx="1831177" cy="960120"/>
          </a:xfrm>
          <a:prstGeom prst="roundRect">
            <a:avLst>
              <a:gd name="adj" fmla="val 12000"/>
            </a:avLst>
          </a:prstGeom>
          <a:solidFill>
            <a:srgbClr val="FFFFFF"/>
          </a:solidFill>
          <a:ln>
            <a:noFill/>
          </a:ln>
        </p:spPr>
        <p:txBody>
          <a:bodyPr rtlCol="0" anchor="ctr"/>
          <a:lstStyle/>
          <a:p>
            <a:pPr algn="ctr"/>
          </a:p>
        </p:txBody>
      </p:sp>
      <p:sp>
        <p:nvSpPr>
          <p:cNvPr id="20" name="TextBox 19"/>
          <p:cNvSpPr txBox="1"/>
          <p:nvPr/>
        </p:nvSpPr>
        <p:spPr>
          <a:xfrm>
            <a:off x="759665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checks</a:t>
            </a:r>
          </a:p>
          <a:p>
            <a:pPr algn="ctr">
              <a:lnSpc>
                <a:spcPct val="120000"/>
              </a:lnSpc>
              <a:spcBef>
                <a:spcPts val="300"/>
              </a:spcBef>
              <a:spcAft>
                <a:spcPts val="0"/>
              </a:spcAft>
            </a:pPr>
            <a:r>
              <a:rPr sz="1100" b="0">
                <a:solidFill>
                  <a:srgbClr val="5B6675"/>
                </a:solidFill>
                <a:latin typeface="Arial"/>
              </a:rPr>
              <a:t>finds by sound; the rupees match the words</a:t>
            </a:r>
          </a:p>
        </p:txBody>
      </p:sp>
      <p:sp>
        <p:nvSpPr>
          <p:cNvPr id="21" name="Rounded Rectangle 20"/>
          <p:cNvSpPr/>
          <p:nvPr/>
        </p:nvSpPr>
        <p:spPr>
          <a:xfrm>
            <a:off x="7614939" y="1819656"/>
            <a:ext cx="603504" cy="237744"/>
          </a:xfrm>
          <a:prstGeom prst="roundRect">
            <a:avLst>
              <a:gd name="adj" fmla="val 50000"/>
            </a:avLst>
          </a:prstGeom>
          <a:solidFill>
            <a:srgbClr val="002970"/>
          </a:solidFill>
          <a:ln>
            <a:noFill/>
          </a:ln>
        </p:spPr>
        <p:txBody>
          <a:bodyPr rtlCol="0" anchor="ctr"/>
          <a:lstStyle/>
          <a:p>
            <a:pPr algn="ctr"/>
          </a:p>
        </p:txBody>
      </p:sp>
      <p:sp>
        <p:nvSpPr>
          <p:cNvPr id="22" name="TextBox 21"/>
          <p:cNvSpPr txBox="1"/>
          <p:nvPr/>
        </p:nvSpPr>
        <p:spPr>
          <a:xfrm>
            <a:off x="7614939"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23" name="Connector 22"/>
          <p:cNvCxnSpPr/>
          <p:nvPr/>
        </p:nvCxnSpPr>
        <p:spPr>
          <a:xfrm>
            <a:off x="9382108" y="2418588"/>
            <a:ext cx="347472" cy="0"/>
          </a:xfrm>
          <a:prstGeom prst="line">
            <a:avLst/>
          </a:prstGeom>
          <a:ln w="22225">
            <a:solidFill>
              <a:srgbClr val="002970"/>
            </a:solidFill>
            <a:tailEnd type="triangle" w="med" len="med"/>
          </a:ln>
        </p:spPr>
      </p:cxnSp>
      <p:sp>
        <p:nvSpPr>
          <p:cNvPr id="24" name="Rounded Rectangle 23"/>
          <p:cNvSpPr/>
          <p:nvPr/>
        </p:nvSpPr>
        <p:spPr>
          <a:xfrm>
            <a:off x="9793588" y="1938528"/>
            <a:ext cx="1831177" cy="960120"/>
          </a:xfrm>
          <a:prstGeom prst="roundRect">
            <a:avLst>
              <a:gd name="adj" fmla="val 12000"/>
            </a:avLst>
          </a:prstGeom>
          <a:solidFill>
            <a:srgbClr val="FFFFFF"/>
          </a:solidFill>
          <a:ln>
            <a:noFill/>
          </a:ln>
        </p:spPr>
        <p:txBody>
          <a:bodyPr rtlCol="0" anchor="ctr"/>
          <a:lstStyle/>
          <a:p>
            <a:pPr algn="ctr"/>
          </a:p>
        </p:txBody>
      </p:sp>
      <p:sp>
        <p:nvSpPr>
          <p:cNvPr id="25" name="TextBox 24"/>
          <p:cNvSpPr txBox="1"/>
          <p:nvPr/>
        </p:nvSpPr>
        <p:spPr>
          <a:xfrm>
            <a:off x="990331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Two yeses</a:t>
            </a:r>
          </a:p>
          <a:p>
            <a:pPr algn="ctr">
              <a:lnSpc>
                <a:spcPct val="120000"/>
              </a:lnSpc>
              <a:spcBef>
                <a:spcPts val="300"/>
              </a:spcBef>
              <a:spcAft>
                <a:spcPts val="0"/>
              </a:spcAft>
            </a:pPr>
            <a:r>
              <a:rPr sz="1100" b="0">
                <a:solidFill>
                  <a:srgbClr val="5B6675"/>
                </a:solidFill>
                <a:latin typeface="Arial"/>
              </a:rPr>
              <a:t>his, then hers, then the ledger</a:t>
            </a:r>
          </a:p>
        </p:txBody>
      </p:sp>
      <p:sp>
        <p:nvSpPr>
          <p:cNvPr id="26" name="TextBox 25"/>
          <p:cNvSpPr txBox="1"/>
          <p:nvPr/>
        </p:nvSpPr>
        <p:spPr>
          <a:xfrm>
            <a:off x="566928" y="3246120"/>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EVERY NIGHT — DECIDING WHO HEARS FROM US</a:t>
            </a:r>
          </a:p>
        </p:txBody>
      </p:sp>
      <p:sp>
        <p:nvSpPr>
          <p:cNvPr id="27" name="Rounded Rectangle 26"/>
          <p:cNvSpPr/>
          <p:nvPr/>
        </p:nvSpPr>
        <p:spPr>
          <a:xfrm>
            <a:off x="566928" y="3611880"/>
            <a:ext cx="2407843" cy="960120"/>
          </a:xfrm>
          <a:prstGeom prst="roundRect">
            <a:avLst>
              <a:gd name="adj" fmla="val 12000"/>
            </a:avLst>
          </a:prstGeom>
          <a:solidFill>
            <a:srgbClr val="FFFFFF"/>
          </a:solidFill>
          <a:ln>
            <a:noFill/>
          </a:ln>
        </p:spPr>
        <p:txBody>
          <a:bodyPr rtlCol="0" anchor="ctr"/>
          <a:lstStyle/>
          <a:p>
            <a:pPr algn="ctr"/>
          </a:p>
        </p:txBody>
      </p:sp>
      <p:sp>
        <p:nvSpPr>
          <p:cNvPr id="28" name="TextBox 27"/>
          <p:cNvSpPr txBox="1"/>
          <p:nvPr/>
        </p:nvSpPr>
        <p:spPr>
          <a:xfrm>
            <a:off x="676656"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Timing engine</a:t>
            </a:r>
          </a:p>
          <a:p>
            <a:pPr algn="ctr">
              <a:lnSpc>
                <a:spcPct val="120000"/>
              </a:lnSpc>
              <a:spcBef>
                <a:spcPts val="300"/>
              </a:spcBef>
              <a:spcAft>
                <a:spcPts val="0"/>
              </a:spcAft>
            </a:pPr>
            <a:r>
              <a:rPr sz="1100" b="0">
                <a:solidFill>
                  <a:srgbClr val="5B6675"/>
                </a:solidFill>
                <a:latin typeface="Arial"/>
              </a:rPr>
              <a:t>each customer’s own longest gap</a:t>
            </a:r>
          </a:p>
        </p:txBody>
      </p:sp>
      <p:sp>
        <p:nvSpPr>
          <p:cNvPr id="29" name="Rounded Rectangle 28"/>
          <p:cNvSpPr/>
          <p:nvPr/>
        </p:nvSpPr>
        <p:spPr>
          <a:xfrm>
            <a:off x="694944" y="3493008"/>
            <a:ext cx="603504" cy="237744"/>
          </a:xfrm>
          <a:prstGeom prst="roundRect">
            <a:avLst>
              <a:gd name="adj" fmla="val 50000"/>
            </a:avLst>
          </a:prstGeom>
          <a:solidFill>
            <a:srgbClr val="002970"/>
          </a:solidFill>
          <a:ln>
            <a:noFill/>
          </a:ln>
        </p:spPr>
        <p:txBody>
          <a:bodyPr rtlCol="0" anchor="ctr"/>
          <a:lstStyle/>
          <a:p>
            <a:pPr algn="ctr"/>
          </a:p>
        </p:txBody>
      </p:sp>
      <p:sp>
        <p:nvSpPr>
          <p:cNvPr id="30" name="TextBox 29"/>
          <p:cNvSpPr txBox="1"/>
          <p:nvPr/>
        </p:nvSpPr>
        <p:spPr>
          <a:xfrm>
            <a:off x="694944"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1" name="Connector 30"/>
          <p:cNvCxnSpPr/>
          <p:nvPr/>
        </p:nvCxnSpPr>
        <p:spPr>
          <a:xfrm>
            <a:off x="3038779" y="4091940"/>
            <a:ext cx="347472" cy="0"/>
          </a:xfrm>
          <a:prstGeom prst="line">
            <a:avLst/>
          </a:prstGeom>
          <a:ln w="22225">
            <a:solidFill>
              <a:srgbClr val="002970"/>
            </a:solidFill>
            <a:tailEnd type="triangle" w="med" len="med"/>
          </a:ln>
        </p:spPr>
      </p:cxnSp>
      <p:sp>
        <p:nvSpPr>
          <p:cNvPr id="32" name="Rounded Rectangle 31"/>
          <p:cNvSpPr/>
          <p:nvPr/>
        </p:nvSpPr>
        <p:spPr>
          <a:xfrm>
            <a:off x="3450259" y="3611880"/>
            <a:ext cx="2407843" cy="960120"/>
          </a:xfrm>
          <a:prstGeom prst="roundRect">
            <a:avLst>
              <a:gd name="adj" fmla="val 12000"/>
            </a:avLst>
          </a:prstGeom>
          <a:solidFill>
            <a:srgbClr val="FFFFFF"/>
          </a:solidFill>
          <a:ln>
            <a:noFill/>
          </a:ln>
        </p:spPr>
        <p:txBody>
          <a:bodyPr rtlCol="0" anchor="ctr"/>
          <a:lstStyle/>
          <a:p>
            <a:pPr algn="ctr"/>
          </a:p>
        </p:txBody>
      </p:sp>
      <p:sp>
        <p:nvSpPr>
          <p:cNvPr id="33" name="TextBox 32"/>
          <p:cNvSpPr txBox="1"/>
          <p:nvPr/>
        </p:nvSpPr>
        <p:spPr>
          <a:xfrm>
            <a:off x="3559987"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What was said</a:t>
            </a:r>
          </a:p>
          <a:p>
            <a:pPr algn="ctr">
              <a:lnSpc>
                <a:spcPct val="120000"/>
              </a:lnSpc>
              <a:spcBef>
                <a:spcPts val="300"/>
              </a:spcBef>
              <a:spcAft>
                <a:spcPts val="0"/>
              </a:spcAft>
            </a:pPr>
            <a:r>
              <a:rPr sz="1100" b="0">
                <a:solidFill>
                  <a:srgbClr val="5B6675"/>
                </a:solidFill>
                <a:latin typeface="Arial"/>
              </a:rPr>
              <a:t>a promise or a note holds it</a:t>
            </a:r>
          </a:p>
        </p:txBody>
      </p:sp>
      <p:sp>
        <p:nvSpPr>
          <p:cNvPr id="34" name="Rounded Rectangle 33"/>
          <p:cNvSpPr/>
          <p:nvPr/>
        </p:nvSpPr>
        <p:spPr>
          <a:xfrm>
            <a:off x="3578275" y="3493008"/>
            <a:ext cx="603504" cy="237744"/>
          </a:xfrm>
          <a:prstGeom prst="roundRect">
            <a:avLst>
              <a:gd name="adj" fmla="val 50000"/>
            </a:avLst>
          </a:prstGeom>
          <a:solidFill>
            <a:srgbClr val="002970"/>
          </a:solidFill>
          <a:ln>
            <a:noFill/>
          </a:ln>
        </p:spPr>
        <p:txBody>
          <a:bodyPr rtlCol="0" anchor="ctr"/>
          <a:lstStyle/>
          <a:p>
            <a:pPr algn="ctr"/>
          </a:p>
        </p:txBody>
      </p:sp>
      <p:sp>
        <p:nvSpPr>
          <p:cNvPr id="35" name="TextBox 34"/>
          <p:cNvSpPr txBox="1"/>
          <p:nvPr/>
        </p:nvSpPr>
        <p:spPr>
          <a:xfrm>
            <a:off x="3578275"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6" name="Connector 35"/>
          <p:cNvCxnSpPr/>
          <p:nvPr/>
        </p:nvCxnSpPr>
        <p:spPr>
          <a:xfrm>
            <a:off x="5922110" y="4091940"/>
            <a:ext cx="347472" cy="0"/>
          </a:xfrm>
          <a:prstGeom prst="line">
            <a:avLst/>
          </a:prstGeom>
          <a:ln w="22225">
            <a:solidFill>
              <a:srgbClr val="002970"/>
            </a:solidFill>
            <a:tailEnd type="triangle" w="med" len="med"/>
          </a:ln>
        </p:spPr>
      </p:cxnSp>
      <p:sp>
        <p:nvSpPr>
          <p:cNvPr id="37" name="Rounded Rectangle 36"/>
          <p:cNvSpPr/>
          <p:nvPr/>
        </p:nvSpPr>
        <p:spPr>
          <a:xfrm>
            <a:off x="6333590" y="3611880"/>
            <a:ext cx="2407843" cy="960120"/>
          </a:xfrm>
          <a:prstGeom prst="roundRect">
            <a:avLst>
              <a:gd name="adj" fmla="val 12000"/>
            </a:avLst>
          </a:prstGeom>
          <a:solidFill>
            <a:srgbClr val="FFFFFF"/>
          </a:solidFill>
          <a:ln>
            <a:noFill/>
          </a:ln>
        </p:spPr>
        <p:txBody>
          <a:bodyPr rtlCol="0" anchor="ctr"/>
          <a:lstStyle/>
          <a:p>
            <a:pPr algn="ctr"/>
          </a:p>
        </p:txBody>
      </p:sp>
      <p:sp>
        <p:nvSpPr>
          <p:cNvPr id="38" name="TextBox 37"/>
          <p:cNvSpPr txBox="1"/>
          <p:nvPr/>
        </p:nvSpPr>
        <p:spPr>
          <a:xfrm>
            <a:off x="6443318"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 writes</a:t>
            </a:r>
          </a:p>
          <a:p>
            <a:pPr algn="ctr">
              <a:lnSpc>
                <a:spcPct val="120000"/>
              </a:lnSpc>
              <a:spcBef>
                <a:spcPts val="300"/>
              </a:spcBef>
              <a:spcAft>
                <a:spcPts val="0"/>
              </a:spcAft>
            </a:pPr>
            <a:r>
              <a:rPr sz="1100" b="0">
                <a:solidFill>
                  <a:srgbClr val="5B6675"/>
                </a:solidFill>
                <a:latin typeface="Arial"/>
              </a:rPr>
              <a:t>the words, in her language</a:t>
            </a:r>
          </a:p>
        </p:txBody>
      </p:sp>
      <p:sp>
        <p:nvSpPr>
          <p:cNvPr id="39" name="Rounded Rectangle 38"/>
          <p:cNvSpPr/>
          <p:nvPr/>
        </p:nvSpPr>
        <p:spPr>
          <a:xfrm>
            <a:off x="6461606" y="3493008"/>
            <a:ext cx="420624" cy="237744"/>
          </a:xfrm>
          <a:prstGeom prst="roundRect">
            <a:avLst>
              <a:gd name="adj" fmla="val 50000"/>
            </a:avLst>
          </a:prstGeom>
          <a:solidFill>
            <a:srgbClr val="00BAF2"/>
          </a:solidFill>
          <a:ln>
            <a:noFill/>
          </a:ln>
        </p:spPr>
        <p:txBody>
          <a:bodyPr rtlCol="0" anchor="ctr"/>
          <a:lstStyle/>
          <a:p>
            <a:pPr algn="ctr"/>
          </a:p>
        </p:txBody>
      </p:sp>
      <p:sp>
        <p:nvSpPr>
          <p:cNvPr id="40" name="TextBox 39"/>
          <p:cNvSpPr txBox="1"/>
          <p:nvPr/>
        </p:nvSpPr>
        <p:spPr>
          <a:xfrm>
            <a:off x="6461606" y="3493008"/>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41" name="Connector 40"/>
          <p:cNvCxnSpPr/>
          <p:nvPr/>
        </p:nvCxnSpPr>
        <p:spPr>
          <a:xfrm>
            <a:off x="8805441" y="4091940"/>
            <a:ext cx="347472" cy="0"/>
          </a:xfrm>
          <a:prstGeom prst="line">
            <a:avLst/>
          </a:prstGeom>
          <a:ln w="22225">
            <a:solidFill>
              <a:srgbClr val="002970"/>
            </a:solidFill>
            <a:tailEnd type="triangle" w="med" len="med"/>
          </a:ln>
        </p:spPr>
      </p:cxnSp>
      <p:sp>
        <p:nvSpPr>
          <p:cNvPr id="42" name="Rounded Rectangle 41"/>
          <p:cNvSpPr/>
          <p:nvPr/>
        </p:nvSpPr>
        <p:spPr>
          <a:xfrm>
            <a:off x="9216921" y="3611880"/>
            <a:ext cx="2407843" cy="960120"/>
          </a:xfrm>
          <a:prstGeom prst="roundRect">
            <a:avLst>
              <a:gd name="adj" fmla="val 12000"/>
            </a:avLst>
          </a:prstGeom>
          <a:solidFill>
            <a:srgbClr val="FFFFFF"/>
          </a:solidFill>
          <a:ln>
            <a:noFill/>
          </a:ln>
        </p:spPr>
        <p:txBody>
          <a:bodyPr rtlCol="0" anchor="ctr"/>
          <a:lstStyle/>
          <a:p>
            <a:pPr algn="ctr"/>
          </a:p>
        </p:txBody>
      </p:sp>
      <p:sp>
        <p:nvSpPr>
          <p:cNvPr id="43" name="TextBox 42"/>
          <p:cNvSpPr txBox="1"/>
          <p:nvPr/>
        </p:nvSpPr>
        <p:spPr>
          <a:xfrm>
            <a:off x="9326649"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a:t>
            </a:r>
          </a:p>
          <a:p>
            <a:pPr algn="ctr">
              <a:lnSpc>
                <a:spcPct val="120000"/>
              </a:lnSpc>
              <a:spcBef>
                <a:spcPts val="300"/>
              </a:spcBef>
              <a:spcAft>
                <a:spcPts val="0"/>
              </a:spcAft>
            </a:pPr>
            <a:r>
              <a:rPr sz="1100" b="0">
                <a:solidFill>
                  <a:srgbClr val="5B6675"/>
                </a:solidFill>
                <a:latin typeface="Arial"/>
              </a:rPr>
              <a:t>the only figure is her balance</a:t>
            </a:r>
          </a:p>
        </p:txBody>
      </p:sp>
      <p:sp>
        <p:nvSpPr>
          <p:cNvPr id="44" name="Rounded Rectangle 43"/>
          <p:cNvSpPr/>
          <p:nvPr/>
        </p:nvSpPr>
        <p:spPr>
          <a:xfrm>
            <a:off x="9344937" y="3493008"/>
            <a:ext cx="603504" cy="237744"/>
          </a:xfrm>
          <a:prstGeom prst="roundRect">
            <a:avLst>
              <a:gd name="adj" fmla="val 50000"/>
            </a:avLst>
          </a:prstGeom>
          <a:solidFill>
            <a:srgbClr val="002970"/>
          </a:solidFill>
          <a:ln>
            <a:noFill/>
          </a:ln>
        </p:spPr>
        <p:txBody>
          <a:bodyPr rtlCol="0" anchor="ctr"/>
          <a:lstStyle/>
          <a:p>
            <a:pPr algn="ctr"/>
          </a:p>
        </p:txBody>
      </p:sp>
      <p:sp>
        <p:nvSpPr>
          <p:cNvPr id="45" name="TextBox 44"/>
          <p:cNvSpPr txBox="1"/>
          <p:nvPr/>
        </p:nvSpPr>
        <p:spPr>
          <a:xfrm>
            <a:off x="9344937"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sp>
        <p:nvSpPr>
          <p:cNvPr id="46" name="Rounded Rectangle 45"/>
          <p:cNvSpPr/>
          <p:nvPr/>
        </p:nvSpPr>
        <p:spPr>
          <a:xfrm>
            <a:off x="566928" y="4892040"/>
            <a:ext cx="11057839" cy="713232"/>
          </a:xfrm>
          <a:prstGeom prst="roundRect">
            <a:avLst>
              <a:gd name="adj" fmla="val 6000"/>
            </a:avLst>
          </a:prstGeom>
          <a:solidFill>
            <a:srgbClr val="FFFFFF"/>
          </a:solidFill>
          <a:ln>
            <a:noFill/>
          </a:ln>
        </p:spPr>
        <p:txBody>
          <a:bodyPr rtlCol="0" anchor="ctr"/>
          <a:lstStyle/>
          <a:p>
            <a:pPr algn="ctr"/>
          </a:p>
        </p:txBody>
      </p:sp>
      <p:sp>
        <p:nvSpPr>
          <p:cNvPr id="47" name="TextBox 46"/>
          <p:cNvSpPr txBox="1"/>
          <p:nvPr/>
        </p:nvSpPr>
        <p:spPr>
          <a:xfrm>
            <a:off x="795528" y="4892040"/>
            <a:ext cx="10600639" cy="713232"/>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How we prove it:  </a:t>
            </a:r>
            <a:r>
              <a:rPr sz="1300" b="0">
                <a:solidFill>
                  <a:srgbClr val="1C1C1C"/>
                </a:solidFill>
                <a:latin typeface="Arial"/>
              </a:rPr>
              <a:t>a test fails the build if the core logic imports anything outside Python’s standard library. The model only ever returns words.</a:t>
            </a:r>
          </a:p>
        </p:txBody>
      </p:sp>
      <p:sp>
        <p:nvSpPr>
          <p:cNvPr id="48" name="TextBox 47"/>
          <p:cNvSpPr txBox="1"/>
          <p:nvPr/>
        </p:nvSpPr>
        <p:spPr>
          <a:xfrm>
            <a:off x="566928" y="5815584"/>
            <a:ext cx="731520" cy="274320"/>
          </a:xfrm>
          <a:prstGeom prst="rect">
            <a:avLst/>
          </a:prstGeom>
          <a:noFill/>
        </p:spPr>
        <p:txBody>
          <a:bodyPr wrap="square" lIns="0" rIns="0" tIns="0" bIns="0" anchor="ctr">
            <a:spAutoFit/>
          </a:bodyPr>
          <a:lstStyle/>
          <a:p>
            <a:pPr>
              <a:lnSpc>
                <a:spcPct val="130000"/>
              </a:lnSpc>
              <a:spcBef>
                <a:spcPts val="0"/>
              </a:spcBef>
              <a:spcAft>
                <a:spcPts val="0"/>
              </a:spcAft>
            </a:pPr>
            <a:r>
              <a:rPr sz="950" b="1" spc="120">
                <a:solidFill>
                  <a:srgbClr val="5B6675"/>
                </a:solidFill>
                <a:latin typeface="Arial"/>
              </a:rPr>
              <a:t>STACK</a:t>
            </a:r>
          </a:p>
        </p:txBody>
      </p:sp>
      <p:sp>
        <p:nvSpPr>
          <p:cNvPr id="49" name="Rounded Rectangle 48"/>
          <p:cNvSpPr/>
          <p:nvPr/>
        </p:nvSpPr>
        <p:spPr>
          <a:xfrm>
            <a:off x="1298448" y="5815584"/>
            <a:ext cx="886968" cy="274320"/>
          </a:xfrm>
          <a:prstGeom prst="roundRect">
            <a:avLst>
              <a:gd name="adj" fmla="val 50000"/>
            </a:avLst>
          </a:prstGeom>
          <a:solidFill>
            <a:srgbClr val="FFFFFF"/>
          </a:solidFill>
          <a:ln>
            <a:noFill/>
          </a:ln>
        </p:spPr>
        <p:txBody>
          <a:bodyPr rtlCol="0" anchor="ctr"/>
          <a:lstStyle/>
          <a:p>
            <a:pPr algn="ctr"/>
          </a:p>
        </p:txBody>
      </p:sp>
      <p:sp>
        <p:nvSpPr>
          <p:cNvPr id="50" name="TextBox 49"/>
          <p:cNvSpPr txBox="1"/>
          <p:nvPr/>
        </p:nvSpPr>
        <p:spPr>
          <a:xfrm>
            <a:off x="1298448"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Next.js 16</a:t>
            </a:r>
          </a:p>
        </p:txBody>
      </p:sp>
      <p:sp>
        <p:nvSpPr>
          <p:cNvPr id="51" name="Rounded Rectangle 50"/>
          <p:cNvSpPr/>
          <p:nvPr/>
        </p:nvSpPr>
        <p:spPr>
          <a:xfrm>
            <a:off x="2258568" y="5815584"/>
            <a:ext cx="749808" cy="274320"/>
          </a:xfrm>
          <a:prstGeom prst="roundRect">
            <a:avLst>
              <a:gd name="adj" fmla="val 50000"/>
            </a:avLst>
          </a:prstGeom>
          <a:solidFill>
            <a:srgbClr val="FFFFFF"/>
          </a:solidFill>
          <a:ln>
            <a:noFill/>
          </a:ln>
        </p:spPr>
        <p:txBody>
          <a:bodyPr rtlCol="0" anchor="ctr"/>
          <a:lstStyle/>
          <a:p>
            <a:pPr algn="ctr"/>
          </a:p>
        </p:txBody>
      </p:sp>
      <p:sp>
        <p:nvSpPr>
          <p:cNvPr id="52" name="TextBox 51"/>
          <p:cNvSpPr txBox="1"/>
          <p:nvPr/>
        </p:nvSpPr>
        <p:spPr>
          <a:xfrm>
            <a:off x="2258568" y="5815584"/>
            <a:ext cx="7498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React 19</a:t>
            </a:r>
          </a:p>
        </p:txBody>
      </p:sp>
      <p:sp>
        <p:nvSpPr>
          <p:cNvPr id="53" name="Rounded Rectangle 52"/>
          <p:cNvSpPr/>
          <p:nvPr/>
        </p:nvSpPr>
        <p:spPr>
          <a:xfrm>
            <a:off x="3081528" y="5815584"/>
            <a:ext cx="681228" cy="274320"/>
          </a:xfrm>
          <a:prstGeom prst="roundRect">
            <a:avLst>
              <a:gd name="adj" fmla="val 50000"/>
            </a:avLst>
          </a:prstGeom>
          <a:solidFill>
            <a:srgbClr val="FFFFFF"/>
          </a:solidFill>
          <a:ln>
            <a:noFill/>
          </a:ln>
        </p:spPr>
        <p:txBody>
          <a:bodyPr rtlCol="0" anchor="ctr"/>
          <a:lstStyle/>
          <a:p>
            <a:pPr algn="ctr"/>
          </a:p>
        </p:txBody>
      </p:sp>
      <p:sp>
        <p:nvSpPr>
          <p:cNvPr id="54" name="TextBox 53"/>
          <p:cNvSpPr txBox="1"/>
          <p:nvPr/>
        </p:nvSpPr>
        <p:spPr>
          <a:xfrm>
            <a:off x="3081528" y="5815584"/>
            <a:ext cx="68122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FastAPI</a:t>
            </a:r>
          </a:p>
        </p:txBody>
      </p:sp>
      <p:sp>
        <p:nvSpPr>
          <p:cNvPr id="55" name="Rounded Rectangle 54"/>
          <p:cNvSpPr/>
          <p:nvPr/>
        </p:nvSpPr>
        <p:spPr>
          <a:xfrm>
            <a:off x="3835908" y="5815584"/>
            <a:ext cx="955547" cy="274320"/>
          </a:xfrm>
          <a:prstGeom prst="roundRect">
            <a:avLst>
              <a:gd name="adj" fmla="val 50000"/>
            </a:avLst>
          </a:prstGeom>
          <a:solidFill>
            <a:srgbClr val="FFFFFF"/>
          </a:solidFill>
          <a:ln>
            <a:noFill/>
          </a:ln>
        </p:spPr>
        <p:txBody>
          <a:bodyPr rtlCol="0" anchor="ctr"/>
          <a:lstStyle/>
          <a:p>
            <a:pPr algn="ctr"/>
          </a:p>
        </p:txBody>
      </p:sp>
      <p:sp>
        <p:nvSpPr>
          <p:cNvPr id="56" name="TextBox 55"/>
          <p:cNvSpPr txBox="1"/>
          <p:nvPr/>
        </p:nvSpPr>
        <p:spPr>
          <a:xfrm>
            <a:off x="3835908"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Python 3.13</a:t>
            </a:r>
          </a:p>
        </p:txBody>
      </p:sp>
      <p:sp>
        <p:nvSpPr>
          <p:cNvPr id="57" name="Rounded Rectangle 56"/>
          <p:cNvSpPr/>
          <p:nvPr/>
        </p:nvSpPr>
        <p:spPr>
          <a:xfrm>
            <a:off x="4864607" y="5815584"/>
            <a:ext cx="886968" cy="274320"/>
          </a:xfrm>
          <a:prstGeom prst="roundRect">
            <a:avLst>
              <a:gd name="adj" fmla="val 50000"/>
            </a:avLst>
          </a:prstGeom>
          <a:solidFill>
            <a:srgbClr val="FFFFFF"/>
          </a:solidFill>
          <a:ln>
            <a:noFill/>
          </a:ln>
        </p:spPr>
        <p:txBody>
          <a:bodyPr rtlCol="0" anchor="ctr"/>
          <a:lstStyle/>
          <a:p>
            <a:pPr algn="ctr"/>
          </a:p>
        </p:txBody>
      </p:sp>
      <p:sp>
        <p:nvSpPr>
          <p:cNvPr id="58" name="TextBox 57"/>
          <p:cNvSpPr txBox="1"/>
          <p:nvPr/>
        </p:nvSpPr>
        <p:spPr>
          <a:xfrm>
            <a:off x="4864607"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PostgreSQL</a:t>
            </a:r>
          </a:p>
        </p:txBody>
      </p:sp>
      <p:sp>
        <p:nvSpPr>
          <p:cNvPr id="59" name="Rounded Rectangle 58"/>
          <p:cNvSpPr/>
          <p:nvPr/>
        </p:nvSpPr>
        <p:spPr>
          <a:xfrm>
            <a:off x="5824727" y="5815584"/>
            <a:ext cx="1092708" cy="274320"/>
          </a:xfrm>
          <a:prstGeom prst="roundRect">
            <a:avLst>
              <a:gd name="adj" fmla="val 50000"/>
            </a:avLst>
          </a:prstGeom>
          <a:solidFill>
            <a:srgbClr val="FFFFFF"/>
          </a:solidFill>
          <a:ln>
            <a:noFill/>
          </a:ln>
        </p:spPr>
        <p:txBody>
          <a:bodyPr rtlCol="0" anchor="ctr"/>
          <a:lstStyle/>
          <a:p>
            <a:pPr algn="ctr"/>
          </a:p>
        </p:txBody>
      </p:sp>
      <p:sp>
        <p:nvSpPr>
          <p:cNvPr id="60" name="TextBox 59"/>
          <p:cNvSpPr txBox="1"/>
          <p:nvPr/>
        </p:nvSpPr>
        <p:spPr>
          <a:xfrm>
            <a:off x="5824727" y="5815584"/>
            <a:ext cx="10927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 Saaras</a:t>
            </a:r>
          </a:p>
        </p:txBody>
      </p:sp>
      <p:sp>
        <p:nvSpPr>
          <p:cNvPr id="61" name="Rounded Rectangle 60"/>
          <p:cNvSpPr/>
          <p:nvPr/>
        </p:nvSpPr>
        <p:spPr>
          <a:xfrm>
            <a:off x="6990587" y="5815584"/>
            <a:ext cx="955547" cy="274320"/>
          </a:xfrm>
          <a:prstGeom prst="roundRect">
            <a:avLst>
              <a:gd name="adj" fmla="val 50000"/>
            </a:avLst>
          </a:prstGeom>
          <a:solidFill>
            <a:srgbClr val="FFFFFF"/>
          </a:solidFill>
          <a:ln>
            <a:noFill/>
          </a:ln>
        </p:spPr>
        <p:txBody>
          <a:bodyPr rtlCol="0" anchor="ctr"/>
          <a:lstStyle/>
          <a:p>
            <a:pPr algn="ctr"/>
          </a:p>
        </p:txBody>
      </p:sp>
      <p:sp>
        <p:nvSpPr>
          <p:cNvPr id="62" name="TextBox 61"/>
          <p:cNvSpPr txBox="1"/>
          <p:nvPr/>
        </p:nvSpPr>
        <p:spPr>
          <a:xfrm>
            <a:off x="6990587"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Sarvam-105B</a:t>
            </a:r>
          </a:p>
        </p:txBody>
      </p:sp>
      <p:sp>
        <p:nvSpPr>
          <p:cNvPr id="63" name="Rounded Rectangle 62"/>
          <p:cNvSpPr/>
          <p:nvPr/>
        </p:nvSpPr>
        <p:spPr>
          <a:xfrm>
            <a:off x="8019286" y="5815584"/>
            <a:ext cx="818387" cy="274320"/>
          </a:xfrm>
          <a:prstGeom prst="roundRect">
            <a:avLst>
              <a:gd name="adj" fmla="val 50000"/>
            </a:avLst>
          </a:prstGeom>
          <a:solidFill>
            <a:srgbClr val="FFFFFF"/>
          </a:solidFill>
          <a:ln>
            <a:noFill/>
          </a:ln>
        </p:spPr>
        <p:txBody>
          <a:bodyPr rtlCol="0" anchor="ctr"/>
          <a:lstStyle/>
          <a:p>
            <a:pPr algn="ctr"/>
          </a:p>
        </p:txBody>
      </p:sp>
      <p:sp>
        <p:nvSpPr>
          <p:cNvPr id="64" name="TextBox 63"/>
          <p:cNvSpPr txBox="1"/>
          <p:nvPr/>
        </p:nvSpPr>
        <p:spPr>
          <a:xfrm>
            <a:off x="8019286" y="5815584"/>
            <a:ext cx="81838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Bulbul v3</a:t>
            </a:r>
          </a:p>
        </p:txBody>
      </p:sp>
      <p:sp>
        <p:nvSpPr>
          <p:cNvPr id="65" name="Rounded Rectangle 64"/>
          <p:cNvSpPr/>
          <p:nvPr/>
        </p:nvSpPr>
        <p:spPr>
          <a:xfrm>
            <a:off x="8910825" y="5815584"/>
            <a:ext cx="612647" cy="274320"/>
          </a:xfrm>
          <a:prstGeom prst="roundRect">
            <a:avLst>
              <a:gd name="adj" fmla="val 50000"/>
            </a:avLst>
          </a:prstGeom>
          <a:solidFill>
            <a:srgbClr val="FFFFFF"/>
          </a:solidFill>
          <a:ln>
            <a:noFill/>
          </a:ln>
        </p:spPr>
        <p:txBody>
          <a:bodyPr rtlCol="0" anchor="ctr"/>
          <a:lstStyle/>
          <a:p>
            <a:pPr algn="ctr"/>
          </a:p>
        </p:txBody>
      </p:sp>
      <p:sp>
        <p:nvSpPr>
          <p:cNvPr id="66" name="TextBox 65"/>
          <p:cNvSpPr txBox="1"/>
          <p:nvPr/>
        </p:nvSpPr>
        <p:spPr>
          <a:xfrm>
            <a:off x="8910825" y="5815584"/>
            <a:ext cx="6126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Cognee</a:t>
            </a:r>
          </a:p>
        </p:txBody>
      </p:sp>
      <p:sp>
        <p:nvSpPr>
          <p:cNvPr id="67" name="Rounded Rectangle 66"/>
          <p:cNvSpPr/>
          <p:nvPr/>
        </p:nvSpPr>
        <p:spPr>
          <a:xfrm>
            <a:off x="9596624" y="5815584"/>
            <a:ext cx="1984248" cy="274320"/>
          </a:xfrm>
          <a:prstGeom prst="roundRect">
            <a:avLst>
              <a:gd name="adj" fmla="val 50000"/>
            </a:avLst>
          </a:prstGeom>
          <a:solidFill>
            <a:srgbClr val="FFFFFF"/>
          </a:solidFill>
          <a:ln>
            <a:noFill/>
          </a:ln>
        </p:spPr>
        <p:txBody>
          <a:bodyPr rtlCol="0" anchor="ctr"/>
          <a:lstStyle/>
          <a:p>
            <a:pPr algn="ctr"/>
          </a:p>
        </p:txBody>
      </p:sp>
      <p:sp>
        <p:nvSpPr>
          <p:cNvPr id="68" name="TextBox 67"/>
          <p:cNvSpPr txBox="1"/>
          <p:nvPr/>
        </p:nvSpPr>
        <p:spPr>
          <a:xfrm>
            <a:off x="9596624" y="5815584"/>
            <a:ext cx="198424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Vercel · Render · Supabase</a:t>
            </a:r>
          </a:p>
        </p:txBody>
      </p:sp>
      <p:sp>
        <p:nvSpPr>
          <p:cNvPr id="69" name="TextBox 68"/>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UNIQUE SELLING PROPOSITION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 udhaar app serves the shopkeeper. We add the customer.</a:t>
            </a:r>
          </a:p>
        </p:txBody>
      </p:sp>
      <p:sp>
        <p:nvSpPr>
          <p:cNvPr id="5" name="TextBox 4"/>
          <p:cNvSpPr txBox="1"/>
          <p:nvPr/>
        </p:nvSpPr>
        <p:spPr>
          <a:xfrm>
            <a:off x="566928" y="1645920"/>
            <a:ext cx="2743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
            </a:r>
          </a:p>
        </p:txBody>
      </p:sp>
      <p:sp>
        <p:nvSpPr>
          <p:cNvPr id="6" name="TextBox 5"/>
          <p:cNvSpPr txBox="1"/>
          <p:nvPr/>
        </p:nvSpPr>
        <p:spPr>
          <a:xfrm>
            <a:off x="3310128" y="1645920"/>
            <a:ext cx="23774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DOWNLOADS</a:t>
            </a:r>
          </a:p>
        </p:txBody>
      </p:sp>
      <p:sp>
        <p:nvSpPr>
          <p:cNvPr id="7" name="TextBox 6"/>
          <p:cNvSpPr txBox="1"/>
          <p:nvPr/>
        </p:nvSpPr>
        <p:spPr>
          <a:xfrm>
            <a:off x="5687568" y="1645920"/>
            <a:ext cx="30632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HAS AN APP</a:t>
            </a:r>
          </a:p>
        </p:txBody>
      </p:sp>
      <p:sp>
        <p:nvSpPr>
          <p:cNvPr id="8" name="TextBox 7"/>
          <p:cNvSpPr txBox="1"/>
          <p:nvPr/>
        </p:nvSpPr>
        <p:spPr>
          <a:xfrm>
            <a:off x="8750808" y="164592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CONFIRMS ENTRIES</a:t>
            </a:r>
          </a:p>
        </p:txBody>
      </p:sp>
      <p:sp>
        <p:nvSpPr>
          <p:cNvPr id="9" name="Rectangle 8"/>
          <p:cNvSpPr/>
          <p:nvPr/>
        </p:nvSpPr>
        <p:spPr>
          <a:xfrm>
            <a:off x="566928" y="1956816"/>
            <a:ext cx="11057839" cy="19050"/>
          </a:xfrm>
          <a:prstGeom prst="rect">
            <a:avLst/>
          </a:prstGeom>
          <a:solidFill>
            <a:srgbClr val="00BAF2"/>
          </a:solidFill>
          <a:ln>
            <a:noFill/>
          </a:ln>
        </p:spPr>
        <p:txBody>
          <a:bodyPr rtlCol="0" anchor="ctr"/>
          <a:lstStyle/>
          <a:p>
            <a:pPr algn="ctr"/>
          </a:p>
        </p:txBody>
      </p:sp>
      <p:sp>
        <p:nvSpPr>
          <p:cNvPr id="10" name="TextBox 9"/>
          <p:cNvSpPr txBox="1"/>
          <p:nvPr/>
        </p:nvSpPr>
        <p:spPr>
          <a:xfrm>
            <a:off x="566928" y="20299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Khatabook</a:t>
            </a:r>
          </a:p>
        </p:txBody>
      </p:sp>
      <p:sp>
        <p:nvSpPr>
          <p:cNvPr id="11" name="TextBox 10"/>
          <p:cNvSpPr txBox="1"/>
          <p:nvPr/>
        </p:nvSpPr>
        <p:spPr>
          <a:xfrm>
            <a:off x="3328416" y="20299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5 Cr+</a:t>
            </a:r>
          </a:p>
        </p:txBody>
      </p:sp>
      <p:sp>
        <p:nvSpPr>
          <p:cNvPr id="12" name="TextBox 11"/>
          <p:cNvSpPr txBox="1"/>
          <p:nvPr/>
        </p:nvSpPr>
        <p:spPr>
          <a:xfrm>
            <a:off x="5705856" y="20299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 WhatsApp</a:t>
            </a:r>
          </a:p>
        </p:txBody>
      </p:sp>
      <p:sp>
        <p:nvSpPr>
          <p:cNvPr id="13" name="TextBox 12"/>
          <p:cNvSpPr txBox="1"/>
          <p:nvPr/>
        </p:nvSpPr>
        <p:spPr>
          <a:xfrm>
            <a:off x="8769096" y="20299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4" name="Rectangle 13"/>
          <p:cNvSpPr/>
          <p:nvPr/>
        </p:nvSpPr>
        <p:spPr>
          <a:xfrm>
            <a:off x="566928" y="2480818"/>
            <a:ext cx="11057839" cy="9525"/>
          </a:xfrm>
          <a:prstGeom prst="rect">
            <a:avLst/>
          </a:prstGeom>
          <a:solidFill>
            <a:srgbClr val="D9E4EC"/>
          </a:solidFill>
          <a:ln>
            <a:noFill/>
          </a:ln>
        </p:spPr>
        <p:txBody>
          <a:bodyPr rtlCol="0" anchor="ctr"/>
          <a:lstStyle/>
          <a:p>
            <a:pPr algn="ctr"/>
          </a:p>
        </p:txBody>
      </p:sp>
      <p:sp>
        <p:nvSpPr>
          <p:cNvPr id="15" name="TextBox 14"/>
          <p:cNvSpPr txBox="1"/>
          <p:nvPr/>
        </p:nvSpPr>
        <p:spPr>
          <a:xfrm>
            <a:off x="566928" y="24871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OkCredit</a:t>
            </a:r>
          </a:p>
        </p:txBody>
      </p:sp>
      <p:sp>
        <p:nvSpPr>
          <p:cNvPr id="16" name="TextBox 15"/>
          <p:cNvSpPr txBox="1"/>
          <p:nvPr/>
        </p:nvSpPr>
        <p:spPr>
          <a:xfrm>
            <a:off x="3328416" y="24871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 Cr+</a:t>
            </a:r>
          </a:p>
        </p:txBody>
      </p:sp>
      <p:sp>
        <p:nvSpPr>
          <p:cNvPr id="17" name="TextBox 16"/>
          <p:cNvSpPr txBox="1"/>
          <p:nvPr/>
        </p:nvSpPr>
        <p:spPr>
          <a:xfrm>
            <a:off x="5705856" y="24871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“They don’t need the app”</a:t>
            </a:r>
          </a:p>
        </p:txBody>
      </p:sp>
      <p:sp>
        <p:nvSpPr>
          <p:cNvPr id="18" name="TextBox 17"/>
          <p:cNvSpPr txBox="1"/>
          <p:nvPr/>
        </p:nvSpPr>
        <p:spPr>
          <a:xfrm>
            <a:off x="8769096" y="24871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9" name="Rectangle 18"/>
          <p:cNvSpPr/>
          <p:nvPr/>
        </p:nvSpPr>
        <p:spPr>
          <a:xfrm>
            <a:off x="566928" y="2938018"/>
            <a:ext cx="11057839" cy="9525"/>
          </a:xfrm>
          <a:prstGeom prst="rect">
            <a:avLst/>
          </a:prstGeom>
          <a:solidFill>
            <a:srgbClr val="D9E4EC"/>
          </a:solidFill>
          <a:ln>
            <a:noFill/>
          </a:ln>
        </p:spPr>
        <p:txBody>
          <a:bodyPr rtlCol="0" anchor="ctr"/>
          <a:lstStyle/>
          <a:p>
            <a:pPr algn="ctr"/>
          </a:p>
        </p:txBody>
      </p:sp>
      <p:sp>
        <p:nvSpPr>
          <p:cNvPr id="20" name="TextBox 19"/>
          <p:cNvSpPr txBox="1"/>
          <p:nvPr/>
        </p:nvSpPr>
        <p:spPr>
          <a:xfrm>
            <a:off x="566928" y="29443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Paytm Business Khata</a:t>
            </a:r>
          </a:p>
        </p:txBody>
      </p:sp>
      <p:sp>
        <p:nvSpPr>
          <p:cNvPr id="21" name="TextBox 20"/>
          <p:cNvSpPr txBox="1"/>
          <p:nvPr/>
        </p:nvSpPr>
        <p:spPr>
          <a:xfrm>
            <a:off x="3328416" y="29443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Inside Paytm for Business</a:t>
            </a:r>
          </a:p>
        </p:txBody>
      </p:sp>
      <p:sp>
        <p:nvSpPr>
          <p:cNvPr id="22" name="TextBox 21"/>
          <p:cNvSpPr txBox="1"/>
          <p:nvPr/>
        </p:nvSpPr>
        <p:spPr>
          <a:xfrm>
            <a:off x="5705856" y="29443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with a pay link</a:t>
            </a:r>
          </a:p>
        </p:txBody>
      </p:sp>
      <p:sp>
        <p:nvSpPr>
          <p:cNvPr id="23" name="TextBox 22"/>
          <p:cNvSpPr txBox="1"/>
          <p:nvPr/>
        </p:nvSpPr>
        <p:spPr>
          <a:xfrm>
            <a:off x="8769096" y="29443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24" name="Rectangle 23"/>
          <p:cNvSpPr/>
          <p:nvPr/>
        </p:nvSpPr>
        <p:spPr>
          <a:xfrm>
            <a:off x="566928" y="3395218"/>
            <a:ext cx="11057839" cy="9525"/>
          </a:xfrm>
          <a:prstGeom prst="rect">
            <a:avLst/>
          </a:prstGeom>
          <a:solidFill>
            <a:srgbClr val="D9E4EC"/>
          </a:solidFill>
          <a:ln>
            <a:noFill/>
          </a:ln>
        </p:spPr>
        <p:txBody>
          <a:bodyPr rtlCol="0" anchor="ctr"/>
          <a:lstStyle/>
          <a:p>
            <a:pPr algn="ctr"/>
          </a:p>
        </p:txBody>
      </p:sp>
      <p:sp>
        <p:nvSpPr>
          <p:cNvPr id="25" name="Rounded Rectangle 24"/>
          <p:cNvSpPr/>
          <p:nvPr/>
        </p:nvSpPr>
        <p:spPr>
          <a:xfrm>
            <a:off x="475488" y="3401568"/>
            <a:ext cx="11240719" cy="457200"/>
          </a:xfrm>
          <a:prstGeom prst="roundRect">
            <a:avLst>
              <a:gd name="adj" fmla="val 20000"/>
            </a:avLst>
          </a:prstGeom>
          <a:solidFill>
            <a:srgbClr val="FFFFFF"/>
          </a:solidFill>
          <a:ln>
            <a:noFill/>
          </a:ln>
        </p:spPr>
        <p:txBody>
          <a:bodyPr rtlCol="0" anchor="ctr"/>
          <a:lstStyle/>
          <a:p>
            <a:pPr algn="ctr"/>
          </a:p>
        </p:txBody>
      </p:sp>
      <p:sp>
        <p:nvSpPr>
          <p:cNvPr id="26" name="TextBox 25"/>
          <p:cNvSpPr txBox="1"/>
          <p:nvPr/>
        </p:nvSpPr>
        <p:spPr>
          <a:xfrm>
            <a:off x="566928" y="34015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BAHI</a:t>
            </a:r>
          </a:p>
        </p:txBody>
      </p:sp>
      <p:sp>
        <p:nvSpPr>
          <p:cNvPr id="27" name="TextBox 26"/>
          <p:cNvSpPr txBox="1"/>
          <p:nvPr/>
        </p:nvSpPr>
        <p:spPr>
          <a:xfrm>
            <a:off x="3328416" y="34015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5B6675"/>
                </a:solidFill>
                <a:latin typeface="Arial"/>
              </a:rPr>
              <a:t>—</a:t>
            </a:r>
          </a:p>
        </p:txBody>
      </p:sp>
      <p:sp>
        <p:nvSpPr>
          <p:cNvPr id="28" name="TextBox 27"/>
          <p:cNvSpPr txBox="1"/>
          <p:nvPr/>
        </p:nvSpPr>
        <p:spPr>
          <a:xfrm>
            <a:off x="5705856" y="34015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inside the Paytm app</a:t>
            </a:r>
          </a:p>
        </p:txBody>
      </p:sp>
      <p:sp>
        <p:nvSpPr>
          <p:cNvPr id="29" name="TextBox 28"/>
          <p:cNvSpPr txBox="1"/>
          <p:nvPr/>
        </p:nvSpPr>
        <p:spPr>
          <a:xfrm>
            <a:off x="8769096" y="34015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one tap</a:t>
            </a:r>
          </a:p>
        </p:txBody>
      </p:sp>
      <p:sp>
        <p:nvSpPr>
          <p:cNvPr id="30" name="Rounded Rectangle 29"/>
          <p:cNvSpPr/>
          <p:nvPr/>
        </p:nvSpPr>
        <p:spPr>
          <a:xfrm>
            <a:off x="566928" y="4617720"/>
            <a:ext cx="3503066" cy="1417320"/>
          </a:xfrm>
          <a:prstGeom prst="roundRect">
            <a:avLst>
              <a:gd name="adj" fmla="val 6000"/>
            </a:avLst>
          </a:prstGeom>
          <a:solidFill>
            <a:srgbClr val="FFFFFF"/>
          </a:solidFill>
          <a:ln>
            <a:noFill/>
          </a:ln>
        </p:spPr>
        <p:txBody>
          <a:bodyPr rtlCol="0" anchor="ctr"/>
          <a:lstStyle/>
          <a:p>
            <a:pPr algn="ctr"/>
          </a:p>
        </p:txBody>
      </p:sp>
      <p:sp>
        <p:nvSpPr>
          <p:cNvPr id="31" name="Rectangle 30"/>
          <p:cNvSpPr/>
          <p:nvPr/>
        </p:nvSpPr>
        <p:spPr>
          <a:xfrm>
            <a:off x="795528" y="4828032"/>
            <a:ext cx="365760" cy="38100"/>
          </a:xfrm>
          <a:prstGeom prst="rect">
            <a:avLst/>
          </a:prstGeom>
          <a:solidFill>
            <a:srgbClr val="00BAF2"/>
          </a:solidFill>
          <a:ln>
            <a:noFill/>
          </a:ln>
        </p:spPr>
        <p:txBody>
          <a:bodyPr rtlCol="0" anchor="ctr"/>
          <a:lstStyle/>
          <a:p>
            <a:pPr algn="ctr"/>
          </a:p>
        </p:txBody>
      </p:sp>
      <p:sp>
        <p:nvSpPr>
          <p:cNvPr id="32" name="TextBox 31"/>
          <p:cNvSpPr txBox="1"/>
          <p:nvPr/>
        </p:nvSpPr>
        <p:spPr>
          <a:xfrm>
            <a:off x="795528"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Two-sided</a:t>
            </a:r>
          </a:p>
          <a:p>
            <a:pPr>
              <a:lnSpc>
                <a:spcPct val="135000"/>
              </a:lnSpc>
              <a:spcBef>
                <a:spcPts val="500"/>
              </a:spcBef>
              <a:spcAft>
                <a:spcPts val="0"/>
              </a:spcAft>
            </a:pPr>
            <a:r>
              <a:rPr sz="1250" b="0">
                <a:solidFill>
                  <a:srgbClr val="5B6675"/>
                </a:solidFill>
                <a:latin typeface="Arial"/>
              </a:rPr>
              <a:t>An entry becomes a fact only when the customer confirms it.</a:t>
            </a:r>
          </a:p>
        </p:txBody>
      </p:sp>
      <p:sp>
        <p:nvSpPr>
          <p:cNvPr id="33" name="Rounded Rectangle 32"/>
          <p:cNvSpPr/>
          <p:nvPr/>
        </p:nvSpPr>
        <p:spPr>
          <a:xfrm>
            <a:off x="4344314" y="4617720"/>
            <a:ext cx="3503066" cy="1417320"/>
          </a:xfrm>
          <a:prstGeom prst="roundRect">
            <a:avLst>
              <a:gd name="adj" fmla="val 6000"/>
            </a:avLst>
          </a:prstGeom>
          <a:solidFill>
            <a:srgbClr val="FFFFFF"/>
          </a:solidFill>
          <a:ln>
            <a:noFill/>
          </a:ln>
        </p:spPr>
        <p:txBody>
          <a:bodyPr rtlCol="0" anchor="ctr"/>
          <a:lstStyle/>
          <a:p>
            <a:pPr algn="ctr"/>
          </a:p>
        </p:txBody>
      </p:sp>
      <p:sp>
        <p:nvSpPr>
          <p:cNvPr id="34" name="Rectangle 33"/>
          <p:cNvSpPr/>
          <p:nvPr/>
        </p:nvSpPr>
        <p:spPr>
          <a:xfrm>
            <a:off x="4572914" y="4828032"/>
            <a:ext cx="365760" cy="38100"/>
          </a:xfrm>
          <a:prstGeom prst="rect">
            <a:avLst/>
          </a:prstGeom>
          <a:solidFill>
            <a:srgbClr val="00BAF2"/>
          </a:solidFill>
          <a:ln>
            <a:noFill/>
          </a:ln>
        </p:spPr>
        <p:txBody>
          <a:bodyPr rtlCol="0" anchor="ctr"/>
          <a:lstStyle/>
          <a:p>
            <a:pPr algn="ctr"/>
          </a:p>
        </p:txBody>
      </p:sp>
      <p:sp>
        <p:nvSpPr>
          <p:cNvPr id="35" name="TextBox 34"/>
          <p:cNvSpPr txBox="1"/>
          <p:nvPr/>
        </p:nvSpPr>
        <p:spPr>
          <a:xfrm>
            <a:off x="4572914"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Scan, then speak</a:t>
            </a:r>
          </a:p>
          <a:p>
            <a:pPr>
              <a:lnSpc>
                <a:spcPct val="135000"/>
              </a:lnSpc>
              <a:spcBef>
                <a:spcPts val="500"/>
              </a:spcBef>
              <a:spcAft>
                <a:spcPts val="0"/>
              </a:spcAft>
            </a:pPr>
            <a:r>
              <a:rPr sz="1250" b="0">
                <a:solidFill>
                  <a:srgbClr val="5B6675"/>
                </a:solidFill>
                <a:latin typeface="Arial"/>
              </a:rPr>
              <a:t>The QR says who, his voice says how much. Nothing to type.</a:t>
            </a:r>
          </a:p>
        </p:txBody>
      </p:sp>
      <p:sp>
        <p:nvSpPr>
          <p:cNvPr id="36" name="Rounded Rectangle 35"/>
          <p:cNvSpPr/>
          <p:nvPr/>
        </p:nvSpPr>
        <p:spPr>
          <a:xfrm>
            <a:off x="8121700" y="4617720"/>
            <a:ext cx="3503066" cy="1417320"/>
          </a:xfrm>
          <a:prstGeom prst="roundRect">
            <a:avLst>
              <a:gd name="adj" fmla="val 6000"/>
            </a:avLst>
          </a:prstGeom>
          <a:solidFill>
            <a:srgbClr val="FFFFFF"/>
          </a:solidFill>
          <a:ln>
            <a:noFill/>
          </a:ln>
        </p:spPr>
        <p:txBody>
          <a:bodyPr rtlCol="0" anchor="ctr"/>
          <a:lstStyle/>
          <a:p>
            <a:pPr algn="ctr"/>
          </a:p>
        </p:txBody>
      </p:sp>
      <p:sp>
        <p:nvSpPr>
          <p:cNvPr id="37" name="Rectangle 36"/>
          <p:cNvSpPr/>
          <p:nvPr/>
        </p:nvSpPr>
        <p:spPr>
          <a:xfrm>
            <a:off x="8350300" y="4828032"/>
            <a:ext cx="365760" cy="38100"/>
          </a:xfrm>
          <a:prstGeom prst="rect">
            <a:avLst/>
          </a:prstGeom>
          <a:solidFill>
            <a:srgbClr val="00BAF2"/>
          </a:solidFill>
          <a:ln>
            <a:noFill/>
          </a:ln>
        </p:spPr>
        <p:txBody>
          <a:bodyPr rtlCol="0" anchor="ctr"/>
          <a:lstStyle/>
          <a:p>
            <a:pPr algn="ctr"/>
          </a:p>
        </p:txBody>
      </p:sp>
      <p:sp>
        <p:nvSpPr>
          <p:cNvPr id="38" name="TextBox 37"/>
          <p:cNvSpPr txBox="1"/>
          <p:nvPr/>
        </p:nvSpPr>
        <p:spPr>
          <a:xfrm>
            <a:off x="8350300"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Timed per person</a:t>
            </a:r>
          </a:p>
          <a:p>
            <a:pPr>
              <a:lnSpc>
                <a:spcPct val="135000"/>
              </a:lnSpc>
              <a:spcBef>
                <a:spcPts val="500"/>
              </a:spcBef>
              <a:spcAft>
                <a:spcPts val="0"/>
              </a:spcAft>
            </a:pPr>
            <a:r>
              <a:rPr sz="1250" b="0">
                <a:solidFill>
                  <a:srgbClr val="5B6675"/>
                </a:solidFill>
                <a:latin typeface="Arial"/>
              </a:rPr>
              <a:t>Reminders follow each customer’s own repayment pattern.</a:t>
            </a:r>
          </a:p>
        </p:txBody>
      </p:sp>
      <p:sp>
        <p:nvSpPr>
          <p:cNvPr id="39" name="TextBox 3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Google Play listings, okcredit.in, khatabook.com and business.paytm.com, checked 23 Sep 2026.</a:t>
            </a:r>
          </a:p>
        </p:txBody>
      </p:sp>
      <p:sp>
        <p:nvSpPr>
          <p:cNvPr id="40" name="TextBox 3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BUSINESS MODEL</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No new hardware, and ₹9 more a month from each merchant.</a:t>
            </a:r>
          </a:p>
        </p:txBody>
      </p:sp>
      <p:sp>
        <p:nvSpPr>
          <p:cNvPr id="5" name="Rounded Rectangle 4"/>
          <p:cNvSpPr/>
          <p:nvPr/>
        </p:nvSpPr>
        <p:spPr>
          <a:xfrm>
            <a:off x="566928" y="1645920"/>
            <a:ext cx="4572000" cy="4498848"/>
          </a:xfrm>
          <a:prstGeom prst="roundRect">
            <a:avLst>
              <a:gd name="adj" fmla="val 6000"/>
            </a:avLst>
          </a:prstGeom>
          <a:solidFill>
            <a:srgbClr val="FFFFFF"/>
          </a:solidFill>
          <a:ln>
            <a:noFill/>
          </a:ln>
        </p:spPr>
        <p:txBody>
          <a:bodyPr rtlCol="0" anchor="ctr"/>
          <a:lstStyle/>
          <a:p>
            <a:pPr algn="ctr"/>
          </a:p>
        </p:txBody>
      </p:sp>
      <p:sp>
        <p:nvSpPr>
          <p:cNvPr id="6" name="TextBox 5"/>
          <p:cNvSpPr txBox="1"/>
          <p:nvPr/>
        </p:nvSpPr>
        <p:spPr>
          <a:xfrm>
            <a:off x="886968" y="1920240"/>
            <a:ext cx="3931920"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Easy to build and sell</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Software only. No new hardware: the Soundbox already says amounts aloud.</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Built on what Paytm has: the Paytm app, its chats, UPI, the Soundbox and Business Khata.</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Sold as an add-on line on the merchant’s existing Soundbox bill, through the Paytm for Business app and the field team.</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A standalone ledger app lost ₹116 Cr in FY24 (Khatabook). BAHI needs no app of its own and no new customers.</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We built it working, end to end, during the hackathon.</a:t>
            </a:r>
          </a:p>
        </p:txBody>
      </p:sp>
      <p:sp>
        <p:nvSpPr>
          <p:cNvPr id="7" name="Rounded Rectangle 6"/>
          <p:cNvSpPr/>
          <p:nvPr/>
        </p:nvSpPr>
        <p:spPr>
          <a:xfrm>
            <a:off x="5413248" y="1645920"/>
            <a:ext cx="6211519" cy="1417320"/>
          </a:xfrm>
          <a:prstGeom prst="roundRect">
            <a:avLst>
              <a:gd name="adj" fmla="val 6000"/>
            </a:avLst>
          </a:prstGeom>
          <a:solidFill>
            <a:srgbClr val="002970"/>
          </a:solidFill>
          <a:ln>
            <a:noFill/>
          </a:ln>
        </p:spPr>
        <p:txBody>
          <a:bodyPr rtlCol="0" anchor="ctr"/>
          <a:lstStyle/>
          <a:p>
            <a:pPr algn="ctr"/>
          </a:p>
        </p:txBody>
      </p:sp>
      <p:sp>
        <p:nvSpPr>
          <p:cNvPr id="8" name="TextBox 7"/>
          <p:cNvSpPr txBox="1"/>
          <p:nvPr/>
        </p:nvSpPr>
        <p:spPr>
          <a:xfrm>
            <a:off x="5733288" y="1645920"/>
            <a:ext cx="5571439" cy="1417320"/>
          </a:xfrm>
          <a:prstGeom prst="rect">
            <a:avLst/>
          </a:prstGeom>
          <a:noFill/>
        </p:spPr>
        <p:txBody>
          <a:bodyPr wrap="square" lIns="0" rIns="0" tIns="0" bIns="0" anchor="ctr">
            <a:spAutoFit/>
          </a:bodyPr>
          <a:lstStyle/>
          <a:p>
            <a:pPr>
              <a:lnSpc>
                <a:spcPct val="100000"/>
              </a:lnSpc>
              <a:spcBef>
                <a:spcPts val="0"/>
              </a:spcBef>
              <a:spcAft>
                <a:spcPts val="0"/>
              </a:spcAft>
            </a:pPr>
            <a:r>
              <a:rPr sz="3400" b="1">
                <a:solidFill>
                  <a:srgbClr val="FFFFFF"/>
                </a:solidFill>
                <a:latin typeface="Arial"/>
              </a:rPr>
              <a:t>₹90  →  ₹99</a:t>
            </a:r>
          </a:p>
          <a:p>
            <a:pPr>
              <a:lnSpc>
                <a:spcPct val="135000"/>
              </a:lnSpc>
              <a:spcBef>
                <a:spcPts val="800"/>
              </a:spcBef>
              <a:spcAft>
                <a:spcPts val="0"/>
              </a:spcAft>
            </a:pPr>
            <a:r>
              <a:rPr sz="1200" b="0">
                <a:solidFill>
                  <a:srgbClr val="C9D8EE"/>
                </a:solidFill>
                <a:latin typeface="Arial"/>
              </a:rPr>
              <a:t>a month from the same merchant, with no hardware delivered. Paytm’s Soundbox plan earned about ₹90 a device a month in Q4 FY24.</a:t>
            </a:r>
          </a:p>
        </p:txBody>
      </p:sp>
      <p:sp>
        <p:nvSpPr>
          <p:cNvPr id="9" name="Rounded Rectangle 8"/>
          <p:cNvSpPr/>
          <p:nvPr/>
        </p:nvSpPr>
        <p:spPr>
          <a:xfrm>
            <a:off x="5413248" y="3246120"/>
            <a:ext cx="6211519" cy="2898648"/>
          </a:xfrm>
          <a:prstGeom prst="roundRect">
            <a:avLst>
              <a:gd name="adj" fmla="val 6000"/>
            </a:avLst>
          </a:prstGeom>
          <a:solidFill>
            <a:srgbClr val="FFFFFF"/>
          </a:solidFill>
          <a:ln>
            <a:noFill/>
          </a:ln>
        </p:spPr>
        <p:txBody>
          <a:bodyPr rtlCol="0" anchor="ctr"/>
          <a:lstStyle/>
          <a:p>
            <a:pPr algn="ctr"/>
          </a:p>
        </p:txBody>
      </p:sp>
      <p:sp>
        <p:nvSpPr>
          <p:cNvPr id="10" name="TextBox 9"/>
          <p:cNvSpPr txBox="1"/>
          <p:nvPr/>
        </p:nvSpPr>
        <p:spPr>
          <a:xfrm>
            <a:off x="5733288" y="3447288"/>
            <a:ext cx="5571439" cy="548640"/>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Our guesstimate: merchants who add BAHI</a:t>
            </a:r>
          </a:p>
          <a:p>
            <a:pPr>
              <a:lnSpc>
                <a:spcPct val="130000"/>
              </a:lnSpc>
              <a:spcBef>
                <a:spcPts val="300"/>
              </a:spcBef>
              <a:spcAft>
                <a:spcPts val="0"/>
              </a:spcAft>
            </a:pPr>
            <a:r>
              <a:rPr sz="1100" b="0">
                <a:solidFill>
                  <a:srgbClr val="5B6675"/>
                </a:solidFill>
                <a:latin typeface="Arial"/>
              </a:rPr>
              <a:t>Out of 1.24 Cr merchants paying for a Paytm device, at ₹9 a month.</a:t>
            </a:r>
          </a:p>
        </p:txBody>
      </p:sp>
      <p:sp>
        <p:nvSpPr>
          <p:cNvPr id="11" name="TextBox 10"/>
          <p:cNvSpPr txBox="1"/>
          <p:nvPr/>
        </p:nvSpPr>
        <p:spPr>
          <a:xfrm>
            <a:off x="5733288" y="4160520"/>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950" b="1" spc="100">
                <a:solidFill>
                  <a:srgbClr val="0077A8"/>
                </a:solidFill>
                <a:latin typeface="Arial"/>
              </a:rPr>
              <a:t>TAKE-UP</a:t>
            </a:r>
          </a:p>
        </p:txBody>
      </p:sp>
      <p:sp>
        <p:nvSpPr>
          <p:cNvPr id="12" name="TextBox 11"/>
          <p:cNvSpPr txBox="1"/>
          <p:nvPr/>
        </p:nvSpPr>
        <p:spPr>
          <a:xfrm>
            <a:off x="7470648" y="4160520"/>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950" b="1" spc="100">
                <a:solidFill>
                  <a:srgbClr val="0077A8"/>
                </a:solidFill>
                <a:latin typeface="Arial"/>
              </a:rPr>
              <a:t>MERCHANTS</a:t>
            </a:r>
          </a:p>
        </p:txBody>
      </p:sp>
      <p:sp>
        <p:nvSpPr>
          <p:cNvPr id="13" name="TextBox 12"/>
          <p:cNvSpPr txBox="1"/>
          <p:nvPr/>
        </p:nvSpPr>
        <p:spPr>
          <a:xfrm>
            <a:off x="9299448" y="4160520"/>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950" b="1" spc="100">
                <a:solidFill>
                  <a:srgbClr val="0077A8"/>
                </a:solidFill>
                <a:latin typeface="Arial"/>
              </a:rPr>
              <a:t>NEW REVENUE A YEAR</a:t>
            </a:r>
          </a:p>
        </p:txBody>
      </p:sp>
      <p:sp>
        <p:nvSpPr>
          <p:cNvPr id="14" name="Rectangle 13"/>
          <p:cNvSpPr/>
          <p:nvPr/>
        </p:nvSpPr>
        <p:spPr>
          <a:xfrm>
            <a:off x="5733288" y="4477004"/>
            <a:ext cx="5571439" cy="19050"/>
          </a:xfrm>
          <a:prstGeom prst="rect">
            <a:avLst/>
          </a:prstGeom>
          <a:solidFill>
            <a:srgbClr val="00BAF2"/>
          </a:solidFill>
          <a:ln>
            <a:noFill/>
          </a:ln>
        </p:spPr>
        <p:txBody>
          <a:bodyPr rtlCol="0" anchor="ctr"/>
          <a:lstStyle/>
          <a:p>
            <a:pPr algn="ctr"/>
          </a:p>
        </p:txBody>
      </p:sp>
      <p:sp>
        <p:nvSpPr>
          <p:cNvPr id="15" name="TextBox 14"/>
          <p:cNvSpPr txBox="1"/>
          <p:nvPr/>
        </p:nvSpPr>
        <p:spPr>
          <a:xfrm>
            <a:off x="5733288" y="4489704"/>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5%</a:t>
            </a:r>
          </a:p>
        </p:txBody>
      </p:sp>
      <p:sp>
        <p:nvSpPr>
          <p:cNvPr id="16" name="TextBox 15"/>
          <p:cNvSpPr txBox="1"/>
          <p:nvPr/>
        </p:nvSpPr>
        <p:spPr>
          <a:xfrm>
            <a:off x="7470648" y="4489704"/>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6.2 lakh</a:t>
            </a:r>
          </a:p>
        </p:txBody>
      </p:sp>
      <p:sp>
        <p:nvSpPr>
          <p:cNvPr id="17" name="TextBox 16"/>
          <p:cNvSpPr txBox="1"/>
          <p:nvPr/>
        </p:nvSpPr>
        <p:spPr>
          <a:xfrm>
            <a:off x="9299448" y="4489704"/>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1500" b="1">
                <a:solidFill>
                  <a:srgbClr val="002970"/>
                </a:solidFill>
                <a:latin typeface="Arial"/>
              </a:rPr>
              <a:t>₹6.7 Cr</a:t>
            </a:r>
          </a:p>
        </p:txBody>
      </p:sp>
      <p:sp>
        <p:nvSpPr>
          <p:cNvPr id="18" name="Rectangle 17"/>
          <p:cNvSpPr/>
          <p:nvPr/>
        </p:nvSpPr>
        <p:spPr>
          <a:xfrm>
            <a:off x="5733288" y="4861052"/>
            <a:ext cx="5571439" cy="9525"/>
          </a:xfrm>
          <a:prstGeom prst="rect">
            <a:avLst/>
          </a:prstGeom>
          <a:solidFill>
            <a:srgbClr val="D9E4EC"/>
          </a:solidFill>
          <a:ln>
            <a:noFill/>
          </a:ln>
        </p:spPr>
        <p:txBody>
          <a:bodyPr rtlCol="0" anchor="ctr"/>
          <a:lstStyle/>
          <a:p>
            <a:pPr algn="ctr"/>
          </a:p>
        </p:txBody>
      </p:sp>
      <p:sp>
        <p:nvSpPr>
          <p:cNvPr id="19" name="TextBox 18"/>
          <p:cNvSpPr txBox="1"/>
          <p:nvPr/>
        </p:nvSpPr>
        <p:spPr>
          <a:xfrm>
            <a:off x="5733288" y="4873752"/>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10%</a:t>
            </a:r>
          </a:p>
        </p:txBody>
      </p:sp>
      <p:sp>
        <p:nvSpPr>
          <p:cNvPr id="20" name="TextBox 19"/>
          <p:cNvSpPr txBox="1"/>
          <p:nvPr/>
        </p:nvSpPr>
        <p:spPr>
          <a:xfrm>
            <a:off x="7470648" y="4873752"/>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12.4 lakh</a:t>
            </a:r>
          </a:p>
        </p:txBody>
      </p:sp>
      <p:sp>
        <p:nvSpPr>
          <p:cNvPr id="21" name="TextBox 20"/>
          <p:cNvSpPr txBox="1"/>
          <p:nvPr/>
        </p:nvSpPr>
        <p:spPr>
          <a:xfrm>
            <a:off x="9299448" y="4873752"/>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1500" b="1">
                <a:solidFill>
                  <a:srgbClr val="002970"/>
                </a:solidFill>
                <a:latin typeface="Arial"/>
              </a:rPr>
              <a:t>₹13.4 Cr</a:t>
            </a:r>
          </a:p>
        </p:txBody>
      </p:sp>
      <p:sp>
        <p:nvSpPr>
          <p:cNvPr id="22" name="Rectangle 21"/>
          <p:cNvSpPr/>
          <p:nvPr/>
        </p:nvSpPr>
        <p:spPr>
          <a:xfrm>
            <a:off x="5733288" y="5245100"/>
            <a:ext cx="5571439" cy="9525"/>
          </a:xfrm>
          <a:prstGeom prst="rect">
            <a:avLst/>
          </a:prstGeom>
          <a:solidFill>
            <a:srgbClr val="D9E4EC"/>
          </a:solidFill>
          <a:ln>
            <a:noFill/>
          </a:ln>
        </p:spPr>
        <p:txBody>
          <a:bodyPr rtlCol="0" anchor="ctr"/>
          <a:lstStyle/>
          <a:p>
            <a:pPr algn="ctr"/>
          </a:p>
        </p:txBody>
      </p:sp>
      <p:sp>
        <p:nvSpPr>
          <p:cNvPr id="23" name="TextBox 22"/>
          <p:cNvSpPr txBox="1"/>
          <p:nvPr/>
        </p:nvSpPr>
        <p:spPr>
          <a:xfrm>
            <a:off x="5733288" y="5257800"/>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25%</a:t>
            </a:r>
          </a:p>
        </p:txBody>
      </p:sp>
      <p:sp>
        <p:nvSpPr>
          <p:cNvPr id="24" name="TextBox 23"/>
          <p:cNvSpPr txBox="1"/>
          <p:nvPr/>
        </p:nvSpPr>
        <p:spPr>
          <a:xfrm>
            <a:off x="7470648" y="5257800"/>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31 lakh</a:t>
            </a:r>
          </a:p>
        </p:txBody>
      </p:sp>
      <p:sp>
        <p:nvSpPr>
          <p:cNvPr id="25" name="TextBox 24"/>
          <p:cNvSpPr txBox="1"/>
          <p:nvPr/>
        </p:nvSpPr>
        <p:spPr>
          <a:xfrm>
            <a:off x="9299448" y="5257800"/>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1500" b="1">
                <a:solidFill>
                  <a:srgbClr val="002970"/>
                </a:solidFill>
                <a:latin typeface="Arial"/>
              </a:rPr>
              <a:t>₹33.5 Cr</a:t>
            </a:r>
          </a:p>
        </p:txBody>
      </p:sp>
      <p:sp>
        <p:nvSpPr>
          <p:cNvPr id="26" name="Rectangle 25"/>
          <p:cNvSpPr/>
          <p:nvPr/>
        </p:nvSpPr>
        <p:spPr>
          <a:xfrm>
            <a:off x="5733288" y="5629148"/>
            <a:ext cx="5571439" cy="9525"/>
          </a:xfrm>
          <a:prstGeom prst="rect">
            <a:avLst/>
          </a:prstGeom>
          <a:solidFill>
            <a:srgbClr val="D9E4EC"/>
          </a:solidFill>
          <a:ln>
            <a:noFill/>
          </a:ln>
        </p:spPr>
        <p:txBody>
          <a:bodyPr rtlCol="0" anchor="ctr"/>
          <a:lstStyle/>
          <a:p>
            <a:pPr algn="ctr"/>
          </a:p>
        </p:txBody>
      </p:sp>
      <p:sp>
        <p:nvSpPr>
          <p:cNvPr id="27" name="TextBox 26"/>
          <p:cNvSpPr txBox="1"/>
          <p:nvPr/>
        </p:nvSpPr>
        <p:spPr>
          <a:xfrm>
            <a:off x="5733288" y="5705856"/>
            <a:ext cx="5571439" cy="320040"/>
          </a:xfrm>
          <a:prstGeom prst="rect">
            <a:avLst/>
          </a:prstGeom>
          <a:noFill/>
        </p:spPr>
        <p:txBody>
          <a:bodyPr wrap="square" lIns="0" rIns="0" tIns="0" bIns="0" anchor="t">
            <a:spAutoFit/>
          </a:bodyPr>
          <a:lstStyle/>
          <a:p>
            <a:pPr>
              <a:lnSpc>
                <a:spcPct val="130000"/>
              </a:lnSpc>
              <a:spcBef>
                <a:spcPts val="0"/>
              </a:spcBef>
              <a:spcAft>
                <a:spcPts val="0"/>
              </a:spcAft>
            </a:pPr>
            <a:r>
              <a:rPr sz="1050" b="0">
                <a:solidFill>
                  <a:srgbClr val="5B6675"/>
                </a:solidFill>
                <a:latin typeface="Arial"/>
              </a:rPr>
              <a:t>Not counted: udhaar repayments moving from cash to Paytm UPI.</a:t>
            </a:r>
          </a:p>
        </p:txBody>
      </p:sp>
      <p:sp>
        <p:nvSpPr>
          <p:cNvPr id="28" name="TextBox 27"/>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Our estimate, not a forecast. ₹90/device/month: Paytm, Q4 FY24 (Business Standard, May 2024). 1.24 Cr device subscribers: Paytm FY25 Annual Report.</a:t>
            </a:r>
          </a:p>
        </p:txBody>
      </p:sp>
      <p:sp>
        <p:nvSpPr>
          <p:cNvPr id="29" name="TextBox 28"/>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IMPACT</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Fewer reminders, sent only to people who are actually late.</a:t>
            </a:r>
          </a:p>
        </p:txBody>
      </p:sp>
      <p:sp>
        <p:nvSpPr>
          <p:cNvPr id="5" name="Rounded Rectangle 4"/>
          <p:cNvSpPr/>
          <p:nvPr/>
        </p:nvSpPr>
        <p:spPr>
          <a:xfrm>
            <a:off x="566928" y="1645920"/>
            <a:ext cx="3429000" cy="4434840"/>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57400"/>
            <a:ext cx="2788920" cy="384048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4 of 38</a:t>
            </a:r>
          </a:p>
          <a:p>
            <a:pPr>
              <a:lnSpc>
                <a:spcPct val="130000"/>
              </a:lnSpc>
              <a:spcBef>
                <a:spcPts val="1400"/>
              </a:spcBef>
              <a:spcAft>
                <a:spcPts val="0"/>
              </a:spcAft>
            </a:pPr>
            <a:r>
              <a:rPr sz="1500" b="1">
                <a:solidFill>
                  <a:srgbClr val="FFFFFF"/>
                </a:solidFill>
                <a:latin typeface="Arial"/>
              </a:rPr>
              <a:t>customers who owe get a reminder tonight.</a:t>
            </a:r>
          </a:p>
          <a:p>
            <a:pPr>
              <a:lnSpc>
                <a:spcPct val="140000"/>
              </a:lnSpc>
              <a:spcBef>
                <a:spcPts val="1200"/>
              </a:spcBef>
              <a:spcAft>
                <a:spcPts val="0"/>
              </a:spcAft>
            </a:pPr>
            <a:r>
              <a:rPr sz="1300" b="0">
                <a:solidFill>
                  <a:srgbClr val="C9D8EE"/>
                </a:solidFill>
                <a:latin typeface="Arial"/>
              </a:rPr>
              <a:t>The other 34 are not late by their own pattern, so they hear nothing.</a:t>
            </a:r>
          </a:p>
        </p:txBody>
      </p:sp>
      <p:sp>
        <p:nvSpPr>
          <p:cNvPr id="7" name="TextBox 6"/>
          <p:cNvSpPr txBox="1"/>
          <p:nvPr/>
        </p:nvSpPr>
        <p:spPr>
          <a:xfrm>
            <a:off x="886968" y="5486400"/>
            <a:ext cx="2788920" cy="45720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demo shop: 60 customers, six months of synthetic data.</a:t>
            </a:r>
          </a:p>
        </p:txBody>
      </p:sp>
      <p:sp>
        <p:nvSpPr>
          <p:cNvPr id="8" name="Rounded Rectangle 7"/>
          <p:cNvSpPr/>
          <p:nvPr/>
        </p:nvSpPr>
        <p:spPr>
          <a:xfrm>
            <a:off x="4270248" y="1645920"/>
            <a:ext cx="2293010" cy="443484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49884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498848"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shopkeeper</a:t>
            </a:r>
          </a:p>
          <a:p>
            <a:pPr>
              <a:lnSpc>
                <a:spcPct val="135000"/>
              </a:lnSpc>
              <a:spcBef>
                <a:spcPts val="1200"/>
              </a:spcBef>
              <a:spcAft>
                <a:spcPts val="0"/>
              </a:spcAft>
            </a:pPr>
            <a:r>
              <a:rPr sz="1300" b="0">
                <a:solidFill>
                  <a:srgbClr val="1C1C1C"/>
                </a:solidFill>
                <a:latin typeface="Arial"/>
              </a:rPr>
              <a:t>Stops chasing people who always pay.</a:t>
            </a:r>
          </a:p>
          <a:p>
            <a:pPr>
              <a:lnSpc>
                <a:spcPct val="135000"/>
              </a:lnSpc>
              <a:spcBef>
                <a:spcPts val="1200"/>
              </a:spcBef>
              <a:spcAft>
                <a:spcPts val="0"/>
              </a:spcAft>
            </a:pPr>
            <a:r>
              <a:rPr sz="1300" b="0">
                <a:solidFill>
                  <a:srgbClr val="1C1C1C"/>
                </a:solidFill>
                <a:latin typeface="Arial"/>
              </a:rPr>
              <a:t>Spots the ones who are drifting.</a:t>
            </a:r>
          </a:p>
          <a:p>
            <a:pPr>
              <a:lnSpc>
                <a:spcPct val="135000"/>
              </a:lnSpc>
              <a:spcBef>
                <a:spcPts val="1200"/>
              </a:spcBef>
              <a:spcAft>
                <a:spcPts val="0"/>
              </a:spcAft>
            </a:pPr>
            <a:r>
              <a:rPr sz="1300" b="0">
                <a:solidFill>
                  <a:srgbClr val="1C1C1C"/>
                </a:solidFill>
                <a:latin typeface="Arial"/>
              </a:rPr>
              <a:t>Records by voice, so the queue keeps moving.</a:t>
            </a:r>
          </a:p>
        </p:txBody>
      </p:sp>
      <p:sp>
        <p:nvSpPr>
          <p:cNvPr id="11" name="Rounded Rectangle 10"/>
          <p:cNvSpPr/>
          <p:nvPr/>
        </p:nvSpPr>
        <p:spPr>
          <a:xfrm>
            <a:off x="6801002" y="1645920"/>
            <a:ext cx="2293010" cy="443484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7029602"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7029602"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customer</a:t>
            </a:r>
          </a:p>
          <a:p>
            <a:pPr>
              <a:lnSpc>
                <a:spcPct val="135000"/>
              </a:lnSpc>
              <a:spcBef>
                <a:spcPts val="1200"/>
              </a:spcBef>
              <a:spcAft>
                <a:spcPts val="0"/>
              </a:spcAft>
            </a:pPr>
            <a:r>
              <a:rPr sz="1300" b="0">
                <a:solidFill>
                  <a:srgbClr val="1C1C1C"/>
                </a:solidFill>
                <a:latin typeface="Arial"/>
              </a:rPr>
              <a:t>Sees his total across every shop.</a:t>
            </a:r>
          </a:p>
          <a:p>
            <a:pPr>
              <a:lnSpc>
                <a:spcPct val="135000"/>
              </a:lnSpc>
              <a:spcBef>
                <a:spcPts val="1200"/>
              </a:spcBef>
              <a:spcAft>
                <a:spcPts val="0"/>
              </a:spcAft>
            </a:pPr>
            <a:r>
              <a:rPr sz="1300" b="0">
                <a:solidFill>
                  <a:srgbClr val="1C1C1C"/>
                </a:solidFill>
                <a:latin typeface="Arial"/>
              </a:rPr>
              <a:t>Has proof of every entry.</a:t>
            </a:r>
          </a:p>
          <a:p>
            <a:pPr>
              <a:lnSpc>
                <a:spcPct val="135000"/>
              </a:lnSpc>
              <a:spcBef>
                <a:spcPts val="1200"/>
              </a:spcBef>
              <a:spcAft>
                <a:spcPts val="0"/>
              </a:spcAft>
            </a:pPr>
            <a:r>
              <a:rPr sz="1300" b="0">
                <a:solidFill>
                  <a:srgbClr val="1C1C1C"/>
                </a:solidFill>
                <a:latin typeface="Arial"/>
              </a:rPr>
              <a:t>Is reminded privately, not at the counter.</a:t>
            </a:r>
          </a:p>
        </p:txBody>
      </p:sp>
      <p:sp>
        <p:nvSpPr>
          <p:cNvPr id="14" name="Rounded Rectangle 13"/>
          <p:cNvSpPr/>
          <p:nvPr/>
        </p:nvSpPr>
        <p:spPr>
          <a:xfrm>
            <a:off x="9331756" y="1645920"/>
            <a:ext cx="2293010" cy="4434840"/>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9560356" y="1901952"/>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9560356"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Paytm</a:t>
            </a:r>
          </a:p>
          <a:p>
            <a:pPr>
              <a:lnSpc>
                <a:spcPct val="135000"/>
              </a:lnSpc>
              <a:spcBef>
                <a:spcPts val="1200"/>
              </a:spcBef>
              <a:spcAft>
                <a:spcPts val="0"/>
              </a:spcAft>
            </a:pPr>
            <a:r>
              <a:rPr sz="1300" b="0">
                <a:solidFill>
                  <a:srgbClr val="1C1C1C"/>
                </a:solidFill>
                <a:latin typeface="Arial"/>
              </a:rPr>
              <a:t>Udhaar settled in cash moves to UPI.</a:t>
            </a:r>
          </a:p>
          <a:p>
            <a:pPr>
              <a:lnSpc>
                <a:spcPct val="135000"/>
              </a:lnSpc>
              <a:spcBef>
                <a:spcPts val="1200"/>
              </a:spcBef>
              <a:spcAft>
                <a:spcPts val="0"/>
              </a:spcAft>
            </a:pPr>
            <a:r>
              <a:rPr sz="1300" b="0">
                <a:solidFill>
                  <a:srgbClr val="1C1C1C"/>
                </a:solidFill>
                <a:latin typeface="Arial"/>
              </a:rPr>
              <a:t>A daily reason to use the Soundbox.</a:t>
            </a:r>
          </a:p>
          <a:p>
            <a:pPr>
              <a:lnSpc>
                <a:spcPct val="135000"/>
              </a:lnSpc>
              <a:spcBef>
                <a:spcPts val="1200"/>
              </a:spcBef>
              <a:spcAft>
                <a:spcPts val="0"/>
              </a:spcAft>
            </a:pPr>
            <a:r>
              <a:rPr sz="1300" b="0">
                <a:solidFill>
                  <a:srgbClr val="1C1C1C"/>
                </a:solidFill>
                <a:latin typeface="Arial"/>
              </a:rPr>
              <a:t>A new reason to open the Paytm app.</a:t>
            </a:r>
          </a:p>
        </p:txBody>
      </p:sp>
      <p:sp>
        <p:nvSpPr>
          <p:cNvPr id="17" name="TextBox 16"/>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These are the outcomes we expect; a pilot would measure them. “4 of 38” is computed from our synthetic demo shop.</a:t>
            </a:r>
          </a:p>
        </p:txBody>
      </p:sp>
      <p:sp>
        <p:nvSpPr>
          <p:cNvPr id="18" name="TextBox 17"/>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PROOF</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We tested the voice on 1,338 recordings. It gets it right, or it asks.</a:t>
            </a:r>
          </a:p>
        </p:txBody>
      </p:sp>
      <p:sp>
        <p:nvSpPr>
          <p:cNvPr id="5" name="Rounded Rectangle 4"/>
          <p:cNvSpPr/>
          <p:nvPr/>
        </p:nvSpPr>
        <p:spPr>
          <a:xfrm>
            <a:off x="566928" y="1645920"/>
            <a:ext cx="4754880" cy="4498848"/>
          </a:xfrm>
          <a:prstGeom prst="roundRect">
            <a:avLst>
              <a:gd name="adj" fmla="val 6000"/>
            </a:avLst>
          </a:prstGeom>
          <a:solidFill>
            <a:srgbClr val="FFFFFF"/>
          </a:solidFill>
          <a:ln>
            <a:noFill/>
          </a:ln>
        </p:spPr>
        <p:txBody>
          <a:bodyPr rtlCol="0" anchor="ctr"/>
          <a:lstStyle/>
          <a:p>
            <a:pPr algn="ctr"/>
          </a:p>
        </p:txBody>
      </p:sp>
      <p:sp>
        <p:nvSpPr>
          <p:cNvPr id="6" name="TextBox 5"/>
          <p:cNvSpPr txBox="1"/>
          <p:nvPr/>
        </p:nvSpPr>
        <p:spPr>
          <a:xfrm>
            <a:off x="886968" y="1920240"/>
            <a:ext cx="4114800"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How we made the 1,338 recordings</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We wrote 42 things a shopkeeper says, like “Sharma ko do sau” or “B wing wale Kamat ne 300 diye”.</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12 voices spoke them: 10 Sarvam voices and 2 Mac voices.</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Each was played three ways: in a quiet shop, over street noise, and with a second customer talking.</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The test book had 68 customers, 20 of them named Anubhav, so picking the right person was hard.</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Every recording went through the app’s own path: Sarvam turned it into text, and our checks decided the entry.</a:t>
            </a:r>
          </a:p>
        </p:txBody>
      </p:sp>
      <p:sp>
        <p:nvSpPr>
          <p:cNvPr id="7" name="Rounded Rectangle 6"/>
          <p:cNvSpPr/>
          <p:nvPr/>
        </p:nvSpPr>
        <p:spPr>
          <a:xfrm>
            <a:off x="5596128" y="1645920"/>
            <a:ext cx="6028639" cy="1042416"/>
          </a:xfrm>
          <a:prstGeom prst="roundRect">
            <a:avLst>
              <a:gd name="adj" fmla="val 6000"/>
            </a:avLst>
          </a:prstGeom>
          <a:solidFill>
            <a:srgbClr val="FFFFFF"/>
          </a:solidFill>
          <a:ln>
            <a:noFill/>
          </a:ln>
        </p:spPr>
        <p:txBody>
          <a:bodyPr rtlCol="0" anchor="ctr"/>
          <a:lstStyle/>
          <a:p>
            <a:pPr algn="ctr"/>
          </a:p>
        </p:txBody>
      </p:sp>
      <p:sp>
        <p:nvSpPr>
          <p:cNvPr id="8" name="TextBox 7"/>
          <p:cNvSpPr txBox="1"/>
          <p:nvPr/>
        </p:nvSpPr>
        <p:spPr>
          <a:xfrm>
            <a:off x="5870448" y="1645920"/>
            <a:ext cx="1188720" cy="1042416"/>
          </a:xfrm>
          <a:prstGeom prst="rect">
            <a:avLst/>
          </a:prstGeom>
          <a:noFill/>
        </p:spPr>
        <p:txBody>
          <a:bodyPr wrap="square" lIns="0" rIns="0" tIns="0" bIns="0" anchor="ctr">
            <a:spAutoFit/>
          </a:bodyPr>
          <a:lstStyle/>
          <a:p>
            <a:pPr>
              <a:lnSpc>
                <a:spcPct val="130000"/>
              </a:lnSpc>
              <a:spcBef>
                <a:spcPts val="0"/>
              </a:spcBef>
              <a:spcAft>
                <a:spcPts val="0"/>
              </a:spcAft>
            </a:pPr>
            <a:r>
              <a:rPr sz="3000" b="1">
                <a:solidFill>
                  <a:srgbClr val="002970"/>
                </a:solidFill>
                <a:latin typeface="Arial"/>
              </a:rPr>
              <a:t>73%</a:t>
            </a:r>
          </a:p>
        </p:txBody>
      </p:sp>
      <p:sp>
        <p:nvSpPr>
          <p:cNvPr id="9" name="TextBox 8"/>
          <p:cNvSpPr txBox="1"/>
          <p:nvPr/>
        </p:nvSpPr>
        <p:spPr>
          <a:xfrm>
            <a:off x="7104888" y="1645920"/>
            <a:ext cx="4245559" cy="1042416"/>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right the first time</a:t>
            </a:r>
          </a:p>
          <a:p>
            <a:pPr>
              <a:lnSpc>
                <a:spcPct val="130000"/>
              </a:lnSpc>
              <a:spcBef>
                <a:spcPts val="300"/>
              </a:spcBef>
              <a:spcAft>
                <a:spcPts val="0"/>
              </a:spcAft>
            </a:pPr>
            <a:r>
              <a:rPr sz="1200" b="0">
                <a:solidFill>
                  <a:srgbClr val="5B6675"/>
                </a:solidFill>
                <a:latin typeface="Arial"/>
              </a:rPr>
              <a:t>The right person and amount, from the words alone.</a:t>
            </a:r>
          </a:p>
        </p:txBody>
      </p:sp>
      <p:sp>
        <p:nvSpPr>
          <p:cNvPr id="10" name="Rounded Rectangle 9"/>
          <p:cNvSpPr/>
          <p:nvPr/>
        </p:nvSpPr>
        <p:spPr>
          <a:xfrm>
            <a:off x="5596128" y="2798064"/>
            <a:ext cx="6028639" cy="1042416"/>
          </a:xfrm>
          <a:prstGeom prst="roundRect">
            <a:avLst>
              <a:gd name="adj" fmla="val 6000"/>
            </a:avLst>
          </a:prstGeom>
          <a:solidFill>
            <a:srgbClr val="FFFFFF"/>
          </a:solidFill>
          <a:ln>
            <a:noFill/>
          </a:ln>
        </p:spPr>
        <p:txBody>
          <a:bodyPr rtlCol="0" anchor="ctr"/>
          <a:lstStyle/>
          <a:p>
            <a:pPr algn="ctr"/>
          </a:p>
        </p:txBody>
      </p:sp>
      <p:sp>
        <p:nvSpPr>
          <p:cNvPr id="11" name="TextBox 10"/>
          <p:cNvSpPr txBox="1"/>
          <p:nvPr/>
        </p:nvSpPr>
        <p:spPr>
          <a:xfrm>
            <a:off x="5870448" y="2798064"/>
            <a:ext cx="1188720" cy="1042416"/>
          </a:xfrm>
          <a:prstGeom prst="rect">
            <a:avLst/>
          </a:prstGeom>
          <a:noFill/>
        </p:spPr>
        <p:txBody>
          <a:bodyPr wrap="square" lIns="0" rIns="0" tIns="0" bIns="0" anchor="ctr">
            <a:spAutoFit/>
          </a:bodyPr>
          <a:lstStyle/>
          <a:p>
            <a:pPr>
              <a:lnSpc>
                <a:spcPct val="130000"/>
              </a:lnSpc>
              <a:spcBef>
                <a:spcPts val="0"/>
              </a:spcBef>
              <a:spcAft>
                <a:spcPts val="0"/>
              </a:spcAft>
            </a:pPr>
            <a:r>
              <a:rPr sz="3000" b="1">
                <a:solidFill>
                  <a:srgbClr val="002970"/>
                </a:solidFill>
                <a:latin typeface="Arial"/>
              </a:rPr>
              <a:t>17%</a:t>
            </a:r>
          </a:p>
        </p:txBody>
      </p:sp>
      <p:sp>
        <p:nvSpPr>
          <p:cNvPr id="12" name="TextBox 11"/>
          <p:cNvSpPr txBox="1"/>
          <p:nvPr/>
        </p:nvSpPr>
        <p:spPr>
          <a:xfrm>
            <a:off x="7104888" y="2798064"/>
            <a:ext cx="4245559" cy="1042416"/>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one tap</a:t>
            </a:r>
          </a:p>
          <a:p>
            <a:pPr>
              <a:lnSpc>
                <a:spcPct val="130000"/>
              </a:lnSpc>
              <a:spcBef>
                <a:spcPts val="300"/>
              </a:spcBef>
              <a:spcAft>
                <a:spcPts val="0"/>
              </a:spcAft>
            </a:pPr>
            <a:r>
              <a:rPr sz="1200" b="0">
                <a:solidFill>
                  <a:srgbClr val="5B6675"/>
                </a:solidFill>
                <a:latin typeface="Arial"/>
              </a:rPr>
              <a:t>Two people fit, so it asks “Kaunse Anubhav?” and he taps the right one.</a:t>
            </a:r>
          </a:p>
        </p:txBody>
      </p:sp>
      <p:sp>
        <p:nvSpPr>
          <p:cNvPr id="13" name="Rounded Rectangle 12"/>
          <p:cNvSpPr/>
          <p:nvPr/>
        </p:nvSpPr>
        <p:spPr>
          <a:xfrm>
            <a:off x="5596128" y="3950208"/>
            <a:ext cx="6028639" cy="1042416"/>
          </a:xfrm>
          <a:prstGeom prst="roundRect">
            <a:avLst>
              <a:gd name="adj" fmla="val 6000"/>
            </a:avLst>
          </a:prstGeom>
          <a:solidFill>
            <a:srgbClr val="FFFFFF"/>
          </a:solidFill>
          <a:ln>
            <a:noFill/>
          </a:ln>
        </p:spPr>
        <p:txBody>
          <a:bodyPr rtlCol="0" anchor="ctr"/>
          <a:lstStyle/>
          <a:p>
            <a:pPr algn="ctr"/>
          </a:p>
        </p:txBody>
      </p:sp>
      <p:sp>
        <p:nvSpPr>
          <p:cNvPr id="14" name="TextBox 13"/>
          <p:cNvSpPr txBox="1"/>
          <p:nvPr/>
        </p:nvSpPr>
        <p:spPr>
          <a:xfrm>
            <a:off x="5870448" y="3950208"/>
            <a:ext cx="1188720" cy="1042416"/>
          </a:xfrm>
          <a:prstGeom prst="rect">
            <a:avLst/>
          </a:prstGeom>
          <a:noFill/>
        </p:spPr>
        <p:txBody>
          <a:bodyPr wrap="square" lIns="0" rIns="0" tIns="0" bIns="0" anchor="ctr">
            <a:spAutoFit/>
          </a:bodyPr>
          <a:lstStyle/>
          <a:p>
            <a:pPr>
              <a:lnSpc>
                <a:spcPct val="130000"/>
              </a:lnSpc>
              <a:spcBef>
                <a:spcPts val="0"/>
              </a:spcBef>
              <a:spcAft>
                <a:spcPts val="0"/>
              </a:spcAft>
            </a:pPr>
            <a:r>
              <a:rPr sz="3000" b="1">
                <a:solidFill>
                  <a:srgbClr val="002970"/>
                </a:solidFill>
                <a:latin typeface="Arial"/>
              </a:rPr>
              <a:t>8%</a:t>
            </a:r>
          </a:p>
        </p:txBody>
      </p:sp>
      <p:sp>
        <p:nvSpPr>
          <p:cNvPr id="15" name="TextBox 14"/>
          <p:cNvSpPr txBox="1"/>
          <p:nvPr/>
        </p:nvSpPr>
        <p:spPr>
          <a:xfrm>
            <a:off x="7104888" y="3950208"/>
            <a:ext cx="4245559" cy="1042416"/>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said again</a:t>
            </a:r>
          </a:p>
          <a:p>
            <a:pPr>
              <a:lnSpc>
                <a:spcPct val="130000"/>
              </a:lnSpc>
              <a:spcBef>
                <a:spcPts val="300"/>
              </a:spcBef>
              <a:spcAft>
                <a:spcPts val="0"/>
              </a:spcAft>
            </a:pPr>
            <a:r>
              <a:rPr sz="1200" b="0">
                <a:solidFill>
                  <a:srgbClr val="5B6675"/>
                </a:solidFill>
                <a:latin typeface="Arial"/>
              </a:rPr>
              <a:t>It wasn’t sure, so it asked him to repeat it.</a:t>
            </a:r>
          </a:p>
        </p:txBody>
      </p:sp>
      <p:sp>
        <p:nvSpPr>
          <p:cNvPr id="16" name="Rounded Rectangle 15"/>
          <p:cNvSpPr/>
          <p:nvPr/>
        </p:nvSpPr>
        <p:spPr>
          <a:xfrm>
            <a:off x="5596128" y="5102352"/>
            <a:ext cx="6028639" cy="1042416"/>
          </a:xfrm>
          <a:prstGeom prst="roundRect">
            <a:avLst>
              <a:gd name="adj" fmla="val 6000"/>
            </a:avLst>
          </a:prstGeom>
          <a:solidFill>
            <a:srgbClr val="FFFFFF"/>
          </a:solidFill>
          <a:ln>
            <a:noFill/>
          </a:ln>
        </p:spPr>
        <p:txBody>
          <a:bodyPr rtlCol="0" anchor="ctr"/>
          <a:lstStyle/>
          <a:p>
            <a:pPr algn="ctr"/>
          </a:p>
        </p:txBody>
      </p:sp>
      <p:sp>
        <p:nvSpPr>
          <p:cNvPr id="17" name="TextBox 16"/>
          <p:cNvSpPr txBox="1"/>
          <p:nvPr/>
        </p:nvSpPr>
        <p:spPr>
          <a:xfrm>
            <a:off x="5870448" y="5102352"/>
            <a:ext cx="1188720" cy="1042416"/>
          </a:xfrm>
          <a:prstGeom prst="rect">
            <a:avLst/>
          </a:prstGeom>
          <a:noFill/>
        </p:spPr>
        <p:txBody>
          <a:bodyPr wrap="square" lIns="0" rIns="0" tIns="0" bIns="0" anchor="ctr">
            <a:spAutoFit/>
          </a:bodyPr>
          <a:lstStyle/>
          <a:p>
            <a:pPr>
              <a:lnSpc>
                <a:spcPct val="130000"/>
              </a:lnSpc>
              <a:spcBef>
                <a:spcPts val="0"/>
              </a:spcBef>
              <a:spcAft>
                <a:spcPts val="0"/>
              </a:spcAft>
            </a:pPr>
            <a:r>
              <a:rPr sz="3000" b="1">
                <a:solidFill>
                  <a:srgbClr val="B3261E"/>
                </a:solidFill>
                <a:latin typeface="Arial"/>
              </a:rPr>
              <a:t>2%</a:t>
            </a:r>
          </a:p>
        </p:txBody>
      </p:sp>
      <p:sp>
        <p:nvSpPr>
          <p:cNvPr id="18" name="TextBox 17"/>
          <p:cNvSpPr txBox="1"/>
          <p:nvPr/>
        </p:nvSpPr>
        <p:spPr>
          <a:xfrm>
            <a:off x="7104888" y="5102352"/>
            <a:ext cx="4245559" cy="1042416"/>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B3261E"/>
                </a:solidFill>
                <a:latin typeface="Arial"/>
              </a:rPr>
              <a:t>wrong</a:t>
            </a:r>
          </a:p>
          <a:p>
            <a:pPr>
              <a:lnSpc>
                <a:spcPct val="130000"/>
              </a:lnSpc>
              <a:spcBef>
                <a:spcPts val="300"/>
              </a:spcBef>
              <a:spcAft>
                <a:spcPts val="0"/>
              </a:spcAft>
            </a:pPr>
            <a:r>
              <a:rPr sz="1200" b="0">
                <a:solidFill>
                  <a:srgbClr val="5B6675"/>
                </a:solidFill>
                <a:latin typeface="Arial"/>
              </a:rPr>
              <a:t>And even then, the customer still has to say yes on her phone before it counts.</a:t>
            </a:r>
          </a:p>
        </p:txBody>
      </p:sp>
      <p:sp>
        <p:nvSpPr>
          <p:cNvPr id="19" name="TextBox 1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Run again any time with make voice-eval. Code: github.com/Uchiha-Itachi0/PAYTM-BAHI</a:t>
            </a:r>
          </a:p>
        </p:txBody>
      </p:sp>
      <p:sp>
        <p:nvSpPr>
          <p:cNvPr id="20" name="TextBox 1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7A8"/>
      </a:hlink>
      <a:folHlink>
        <a:srgbClr val="0077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