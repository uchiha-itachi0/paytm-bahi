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ay.google.com/store/apps/details?id=com.vaibhavkalpe.android.khatabook" TargetMode="External"/><Relationship Id="rId3" Type="http://schemas.openxmlformats.org/officeDocument/2006/relationships/hyperlink" Target="https://okcredit.in" TargetMode="External"/><Relationship Id="rId4" Type="http://schemas.openxmlformats.org/officeDocument/2006/relationships/hyperlink" Target="https://play.google.com/store/apps/details?id=com.doneapp.cpma" TargetMode="External"/><Relationship Id="rId5" Type="http://schemas.openxmlformats.org/officeDocument/2006/relationships/hyperlink" Target="https://business.paytm.com/business-khata" TargetMode="External"/><Relationship Id="rId6" Type="http://schemas.openxmlformats.org/officeDocument/2006/relationships/hyperlink" Target="https://paytm.com/document/ir/financial-results/fy2026-27/Paytm_Earning-Release_Q1-FY-2027_INR.pdf" TargetMode="External"/><Relationship Id="rId7" Type="http://schemas.openxmlformats.org/officeDocument/2006/relationships/hyperlink" Target="https://yourstory.com/2024/11/ms-dhoni-backed-khatabook-clocks-rs-1027-cr-revenue-cuts-losses-7-in-fy24"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970"/>
          </a:solidFill>
          <a:ln>
            <a:noFill/>
          </a:ln>
        </p:spPr>
        <p:txBody>
          <a:bodyPr rtlCol="0" anchor="ctr"/>
          <a:lstStyle/>
          <a:p>
            <a:pPr algn="ctr"/>
          </a:p>
        </p:txBody>
      </p:sp>
      <p:sp>
        <p:nvSpPr>
          <p:cNvPr id="3" name="Rectangle 2"/>
          <p:cNvSpPr/>
          <p:nvPr/>
        </p:nvSpPr>
        <p:spPr>
          <a:xfrm>
            <a:off x="0" y="0"/>
            <a:ext cx="12191695" cy="101600"/>
          </a:xfrm>
          <a:prstGeom prst="rect">
            <a:avLst/>
          </a:prstGeom>
          <a:solidFill>
            <a:srgbClr val="00BAF2"/>
          </a:solidFill>
          <a:ln>
            <a:noFill/>
          </a:ln>
        </p:spPr>
        <p:txBody>
          <a:bodyPr rtlCol="0" anchor="ctr"/>
          <a:lstStyle/>
          <a:p>
            <a:pPr algn="ctr"/>
          </a:p>
        </p:txBody>
      </p:sp>
      <p:sp>
        <p:nvSpPr>
          <p:cNvPr id="4" name="TextBox 3"/>
          <p:cNvSpPr txBox="1"/>
          <p:nvPr/>
        </p:nvSpPr>
        <p:spPr>
          <a:xfrm>
            <a:off x="566928" y="1417320"/>
            <a:ext cx="6400800" cy="4206240"/>
          </a:xfrm>
          <a:prstGeom prst="rect">
            <a:avLst/>
          </a:prstGeom>
          <a:noFill/>
        </p:spPr>
        <p:txBody>
          <a:bodyPr wrap="square" lIns="0" rIns="0" tIns="0" bIns="0" anchor="t">
            <a:spAutoFit/>
          </a:bodyPr>
          <a:lstStyle/>
          <a:p>
            <a:pPr>
              <a:lnSpc>
                <a:spcPct val="95000"/>
              </a:lnSpc>
              <a:spcBef>
                <a:spcPts val="0"/>
              </a:spcBef>
              <a:spcAft>
                <a:spcPts val="0"/>
              </a:spcAft>
            </a:pPr>
            <a:r>
              <a:rPr sz="7000" b="1">
                <a:solidFill>
                  <a:srgbClr val="FFFFFF"/>
                </a:solidFill>
                <a:latin typeface="Arial"/>
              </a:rPr>
              <a:t>BAHI</a:t>
            </a:r>
          </a:p>
          <a:p>
            <a:pPr>
              <a:lnSpc>
                <a:spcPct val="110000"/>
              </a:lnSpc>
              <a:spcBef>
                <a:spcPts val="1000"/>
              </a:spcBef>
              <a:spcAft>
                <a:spcPts val="0"/>
              </a:spcAft>
            </a:pPr>
            <a:r>
              <a:rPr sz="2800" b="1">
                <a:solidFill>
                  <a:srgbClr val="FFFFFF"/>
                </a:solidFill>
                <a:latin typeface="Arial"/>
              </a:rPr>
              <a:t>Udhaar, confirmed by both sides.</a:t>
            </a:r>
          </a:p>
          <a:p>
            <a:pPr>
              <a:lnSpc>
                <a:spcPct val="140000"/>
              </a:lnSpc>
              <a:spcBef>
                <a:spcPts val="1800"/>
              </a:spcBef>
              <a:spcAft>
                <a:spcPts val="0"/>
              </a:spcAft>
            </a:pPr>
            <a:r>
              <a:rPr sz="1500" b="0">
                <a:solidFill>
                  <a:srgbClr val="C9D8EE"/>
                </a:solidFill>
                <a:latin typeface="Arial"/>
              </a:rPr>
              <a:t>The customer scans the shop’s Paytm QR and chooses udhaar. The shopkeeper says the amount to his Soundbox, and the customer confirms it on his own phone. Every night, an agent decides who actually needs a reminder.</a:t>
            </a:r>
          </a:p>
        </p:txBody>
      </p:sp>
      <p:sp>
        <p:nvSpPr>
          <p:cNvPr id="5" name="Rectangle 4"/>
          <p:cNvSpPr/>
          <p:nvPr/>
        </p:nvSpPr>
        <p:spPr>
          <a:xfrm>
            <a:off x="566928" y="5074920"/>
            <a:ext cx="457200" cy="38100"/>
          </a:xfrm>
          <a:prstGeom prst="rect">
            <a:avLst/>
          </a:prstGeom>
          <a:solidFill>
            <a:srgbClr val="00BAF2"/>
          </a:solidFill>
          <a:ln>
            <a:noFill/>
          </a:ln>
        </p:spPr>
        <p:txBody>
          <a:bodyPr rtlCol="0" anchor="ctr"/>
          <a:lstStyle/>
          <a:p>
            <a:pPr algn="ctr"/>
          </a:p>
        </p:txBody>
      </p:sp>
      <p:sp>
        <p:nvSpPr>
          <p:cNvPr id="6" name="TextBox 5"/>
          <p:cNvSpPr txBox="1"/>
          <p:nvPr/>
        </p:nvSpPr>
        <p:spPr>
          <a:xfrm>
            <a:off x="566928" y="5257800"/>
            <a:ext cx="6675120" cy="731520"/>
          </a:xfrm>
          <a:prstGeom prst="rect">
            <a:avLst/>
          </a:prstGeom>
          <a:noFill/>
        </p:spPr>
        <p:txBody>
          <a:bodyPr wrap="square" lIns="0" rIns="0" tIns="0" bIns="0" anchor="t">
            <a:spAutoFit/>
          </a:bodyPr>
          <a:lstStyle/>
          <a:p>
            <a:pPr>
              <a:lnSpc>
                <a:spcPct val="130000"/>
              </a:lnSpc>
              <a:spcBef>
                <a:spcPts val="0"/>
              </a:spcBef>
              <a:spcAft>
                <a:spcPts val="0"/>
              </a:spcAft>
            </a:pPr>
            <a:r>
              <a:rPr sz="1200" b="0">
                <a:solidFill>
                  <a:srgbClr val="FFFFFF"/>
                </a:solidFill>
                <a:latin typeface="Arial"/>
              </a:rPr>
              <a:t>Paytm Build for India AI Hackathon  ·  Mumbai, 3 October 2026</a:t>
            </a:r>
          </a:p>
          <a:p>
            <a:pPr>
              <a:lnSpc>
                <a:spcPct val="130000"/>
              </a:lnSpc>
              <a:spcBef>
                <a:spcPts val="400"/>
              </a:spcBef>
              <a:spcAft>
                <a:spcPts val="0"/>
              </a:spcAft>
            </a:pPr>
            <a:r>
              <a:rPr sz="1200" b="0">
                <a:solidFill>
                  <a:srgbClr val="FFFFFF"/>
                </a:solidFill>
                <a:latin typeface="Arial"/>
              </a:rPr>
              <a:t>Track 2: AI-Powered Financial Journeys</a:t>
            </a:r>
          </a:p>
          <a:p>
            <a:pPr>
              <a:lnSpc>
                <a:spcPct val="130000"/>
              </a:lnSpc>
              <a:spcBef>
                <a:spcPts val="1000"/>
              </a:spcBef>
              <a:spcAft>
                <a:spcPts val="0"/>
              </a:spcAft>
            </a:pPr>
            <a:r>
              <a:rPr sz="1200" b="0">
                <a:solidFill>
                  <a:srgbClr val="8FA4C6"/>
                </a:solidFill>
                <a:latin typeface="Arial"/>
              </a:rPr>
              <a:t>Team Bitzlab</a:t>
            </a:r>
          </a:p>
        </p:txBody>
      </p:sp>
      <p:pic>
        <p:nvPicPr>
          <p:cNvPr id="7" name="Picture 6" descr="A2-speak.png"/>
          <p:cNvPicPr>
            <a:picLocks noChangeAspect="1"/>
          </p:cNvPicPr>
          <p:nvPr/>
        </p:nvPicPr>
        <p:blipFill>
          <a:blip r:embed="rId2"/>
          <a:stretch>
            <a:fillRect/>
          </a:stretch>
        </p:blipFill>
        <p:spPr>
          <a:xfrm>
            <a:off x="7543800" y="1143000"/>
            <a:ext cx="2057400" cy="4064619"/>
          </a:xfrm>
          <a:prstGeom prst="rect">
            <a:avLst/>
          </a:prstGeom>
        </p:spPr>
      </p:pic>
      <p:pic>
        <p:nvPicPr>
          <p:cNvPr id="8" name="Picture 7" descr="B1-confirm.png"/>
          <p:cNvPicPr>
            <a:picLocks noChangeAspect="1"/>
          </p:cNvPicPr>
          <p:nvPr/>
        </p:nvPicPr>
        <p:blipFill>
          <a:blip r:embed="rId3"/>
          <a:stretch>
            <a:fillRect/>
          </a:stretch>
        </p:blipFill>
        <p:spPr>
          <a:xfrm>
            <a:off x="9802368" y="1143000"/>
            <a:ext cx="2057400" cy="4064619"/>
          </a:xfrm>
          <a:prstGeom prst="rect">
            <a:avLst/>
          </a:prstGeom>
        </p:spPr>
      </p:pic>
      <p:sp>
        <p:nvSpPr>
          <p:cNvPr id="9" name="TextBox 8"/>
          <p:cNvSpPr txBox="1"/>
          <p:nvPr/>
        </p:nvSpPr>
        <p:spPr>
          <a:xfrm>
            <a:off x="7543800" y="5358384"/>
            <a:ext cx="4315968"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8FA4C6"/>
                </a:solidFill>
                <a:latin typeface="Arial"/>
              </a:rPr>
              <a:t>Shopkeeper’s screen  ·  Customer’s screen  ·  demo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1 · PROBLEM STATEMENT</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The udhaar book has one author. The customer never sees it.</a:t>
            </a:r>
          </a:p>
        </p:txBody>
      </p:sp>
      <p:sp>
        <p:nvSpPr>
          <p:cNvPr id="5" name="Rounded Rectangle 4"/>
          <p:cNvSpPr/>
          <p:nvPr/>
        </p:nvSpPr>
        <p:spPr>
          <a:xfrm>
            <a:off x="566928" y="1645920"/>
            <a:ext cx="11057839" cy="1874519"/>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978408" y="2011680"/>
            <a:ext cx="2468880" cy="11430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1088136"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Shopkeeper</a:t>
            </a:r>
          </a:p>
          <a:p>
            <a:pPr algn="ctr">
              <a:lnSpc>
                <a:spcPct val="120000"/>
              </a:lnSpc>
              <a:spcBef>
                <a:spcPts val="300"/>
              </a:spcBef>
              <a:spcAft>
                <a:spcPts val="0"/>
              </a:spcAft>
            </a:pPr>
            <a:r>
              <a:rPr sz="1200" b="0">
                <a:solidFill>
                  <a:srgbClr val="5B6675"/>
                </a:solidFill>
                <a:latin typeface="Arial"/>
              </a:rPr>
              <a:t>writes every entry</a:t>
            </a:r>
          </a:p>
        </p:txBody>
      </p:sp>
      <p:sp>
        <p:nvSpPr>
          <p:cNvPr id="8" name="Rounded Rectangle 7"/>
          <p:cNvSpPr/>
          <p:nvPr/>
        </p:nvSpPr>
        <p:spPr>
          <a:xfrm>
            <a:off x="4855464" y="2011680"/>
            <a:ext cx="2468880" cy="11430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49651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The udhaar book</a:t>
            </a:r>
          </a:p>
          <a:p>
            <a:pPr algn="ctr">
              <a:lnSpc>
                <a:spcPct val="120000"/>
              </a:lnSpc>
              <a:spcBef>
                <a:spcPts val="300"/>
              </a:spcBef>
              <a:spcAft>
                <a:spcPts val="0"/>
              </a:spcAft>
            </a:pPr>
            <a:r>
              <a:rPr sz="1200" b="0">
                <a:solidFill>
                  <a:srgbClr val="5B6675"/>
                </a:solidFill>
                <a:latin typeface="Arial"/>
              </a:rPr>
              <a:t>a notebook, or a ledger app</a:t>
            </a:r>
          </a:p>
        </p:txBody>
      </p:sp>
      <p:sp>
        <p:nvSpPr>
          <p:cNvPr id="10" name="Rounded Rectangle 9"/>
          <p:cNvSpPr/>
          <p:nvPr/>
        </p:nvSpPr>
        <p:spPr>
          <a:xfrm>
            <a:off x="8741664" y="2011680"/>
            <a:ext cx="2468880" cy="1143000"/>
          </a:xfrm>
          <a:prstGeom prst="roundRect">
            <a:avLst>
              <a:gd name="adj" fmla="val 12000"/>
            </a:avLst>
          </a:prstGeom>
          <a:solidFill>
            <a:srgbClr val="FFFFFF"/>
          </a:solidFill>
          <a:ln w="15875">
            <a:solidFill>
              <a:srgbClr val="8B95A5"/>
            </a:solidFill>
            <a:prstDash val="dash"/>
          </a:ln>
        </p:spPr>
        <p:txBody>
          <a:bodyPr rtlCol="0" anchor="ctr"/>
          <a:lstStyle/>
          <a:p>
            <a:pPr algn="ctr"/>
          </a:p>
        </p:txBody>
      </p:sp>
      <p:sp>
        <p:nvSpPr>
          <p:cNvPr id="11" name="TextBox 10"/>
          <p:cNvSpPr txBox="1"/>
          <p:nvPr/>
        </p:nvSpPr>
        <p:spPr>
          <a:xfrm>
            <a:off x="88513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5B6675"/>
                </a:solidFill>
                <a:latin typeface="Arial"/>
              </a:rPr>
              <a:t>Customer</a:t>
            </a:r>
          </a:p>
          <a:p>
            <a:pPr algn="ctr">
              <a:lnSpc>
                <a:spcPct val="120000"/>
              </a:lnSpc>
              <a:spcBef>
                <a:spcPts val="300"/>
              </a:spcBef>
              <a:spcAft>
                <a:spcPts val="0"/>
              </a:spcAft>
            </a:pPr>
            <a:r>
              <a:rPr sz="1200" b="0">
                <a:solidFill>
                  <a:srgbClr val="5B6675"/>
                </a:solidFill>
                <a:latin typeface="Arial"/>
              </a:rPr>
              <a:t>no copy  ·  no total  ·  no proof</a:t>
            </a:r>
          </a:p>
        </p:txBody>
      </p:sp>
      <p:cxnSp>
        <p:nvCxnSpPr>
          <p:cNvPr id="12" name="Connector 11"/>
          <p:cNvCxnSpPr/>
          <p:nvPr/>
        </p:nvCxnSpPr>
        <p:spPr>
          <a:xfrm>
            <a:off x="3538728" y="2583180"/>
            <a:ext cx="1225296" cy="0"/>
          </a:xfrm>
          <a:prstGeom prst="line">
            <a:avLst/>
          </a:prstGeom>
          <a:ln w="25400">
            <a:solidFill>
              <a:srgbClr val="002970"/>
            </a:solidFill>
            <a:tailEnd type="triangle" w="med" len="med"/>
          </a:ln>
        </p:spPr>
      </p:cxnSp>
      <p:cxnSp>
        <p:nvCxnSpPr>
          <p:cNvPr id="13" name="Connector 12"/>
          <p:cNvCxnSpPr/>
          <p:nvPr/>
        </p:nvCxnSpPr>
        <p:spPr>
          <a:xfrm>
            <a:off x="7415784" y="2583180"/>
            <a:ext cx="1234440" cy="0"/>
          </a:xfrm>
          <a:prstGeom prst="line">
            <a:avLst/>
          </a:prstGeom>
          <a:ln w="25400">
            <a:solidFill>
              <a:srgbClr val="8B95A5"/>
            </a:solidFill>
            <a:prstDash val="dash"/>
            <a:tailEnd type="triangle" w="med" len="med"/>
          </a:ln>
        </p:spPr>
      </p:cxnSp>
      <p:sp>
        <p:nvSpPr>
          <p:cNvPr id="14" name="TextBox 13"/>
          <p:cNvSpPr txBox="1"/>
          <p:nvPr/>
        </p:nvSpPr>
        <p:spPr>
          <a:xfrm>
            <a:off x="3447288" y="2253996"/>
            <a:ext cx="1408176"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1">
                <a:solidFill>
                  <a:srgbClr val="002970"/>
                </a:solidFill>
                <a:latin typeface="Arial"/>
              </a:rPr>
              <a:t>writes</a:t>
            </a:r>
          </a:p>
        </p:txBody>
      </p:sp>
      <p:sp>
        <p:nvSpPr>
          <p:cNvPr id="15" name="TextBox 14"/>
          <p:cNvSpPr txBox="1"/>
          <p:nvPr/>
        </p:nvSpPr>
        <p:spPr>
          <a:xfrm>
            <a:off x="7324344" y="2253996"/>
            <a:ext cx="1417320"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0">
                <a:solidFill>
                  <a:srgbClr val="5B6675"/>
                </a:solidFill>
                <a:latin typeface="Arial"/>
              </a:rPr>
              <a:t>an SMS, at best</a:t>
            </a:r>
          </a:p>
        </p:txBody>
      </p:sp>
      <p:sp>
        <p:nvSpPr>
          <p:cNvPr id="16" name="Rectangle 15"/>
          <p:cNvSpPr/>
          <p:nvPr/>
        </p:nvSpPr>
        <p:spPr>
          <a:xfrm>
            <a:off x="566928" y="3913632"/>
            <a:ext cx="365760" cy="38100"/>
          </a:xfrm>
          <a:prstGeom prst="rect">
            <a:avLst/>
          </a:prstGeom>
          <a:solidFill>
            <a:srgbClr val="00BAF2"/>
          </a:solidFill>
          <a:ln>
            <a:noFill/>
          </a:ln>
        </p:spPr>
        <p:txBody>
          <a:bodyPr rtlCol="0" anchor="ctr"/>
          <a:lstStyle/>
          <a:p>
            <a:pPr algn="ctr"/>
          </a:p>
        </p:txBody>
      </p:sp>
      <p:sp>
        <p:nvSpPr>
          <p:cNvPr id="17" name="TextBox 16"/>
          <p:cNvSpPr txBox="1"/>
          <p:nvPr/>
        </p:nvSpPr>
        <p:spPr>
          <a:xfrm>
            <a:off x="566928"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He can’t see patterns</a:t>
            </a:r>
          </a:p>
          <a:p>
            <a:pPr>
              <a:lnSpc>
                <a:spcPct val="140000"/>
              </a:lnSpc>
              <a:spcBef>
                <a:spcPts val="800"/>
              </a:spcBef>
              <a:spcAft>
                <a:spcPts val="0"/>
              </a:spcAft>
            </a:pPr>
            <a:r>
              <a:rPr sz="1300" b="0">
                <a:solidFill>
                  <a:srgbClr val="5B6675"/>
                </a:solidFill>
                <a:latin typeface="Arial"/>
              </a:rPr>
              <a:t>Someone who always pays on day 9 and someone quietly drifting away look the same in a notebook. So everyone is chased the same way.</a:t>
            </a:r>
          </a:p>
        </p:txBody>
      </p:sp>
      <p:sp>
        <p:nvSpPr>
          <p:cNvPr id="18" name="Rectangle 17"/>
          <p:cNvSpPr/>
          <p:nvPr/>
        </p:nvSpPr>
        <p:spPr>
          <a:xfrm>
            <a:off x="4374794" y="3913632"/>
            <a:ext cx="365760" cy="38100"/>
          </a:xfrm>
          <a:prstGeom prst="rect">
            <a:avLst/>
          </a:prstGeom>
          <a:solidFill>
            <a:srgbClr val="00BAF2"/>
          </a:solidFill>
          <a:ln>
            <a:noFill/>
          </a:ln>
        </p:spPr>
        <p:txBody>
          <a:bodyPr rtlCol="0" anchor="ctr"/>
          <a:lstStyle/>
          <a:p>
            <a:pPr algn="ctr"/>
          </a:p>
        </p:txBody>
      </p:sp>
      <p:sp>
        <p:nvSpPr>
          <p:cNvPr id="19" name="TextBox 18"/>
          <p:cNvSpPr txBox="1"/>
          <p:nvPr/>
        </p:nvSpPr>
        <p:spPr>
          <a:xfrm>
            <a:off x="4374794"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The customer has no record</a:t>
            </a:r>
          </a:p>
          <a:p>
            <a:pPr>
              <a:lnSpc>
                <a:spcPct val="140000"/>
              </a:lnSpc>
              <a:spcBef>
                <a:spcPts val="800"/>
              </a:spcBef>
              <a:spcAft>
                <a:spcPts val="0"/>
              </a:spcAft>
            </a:pPr>
            <a:r>
              <a:rPr sz="1300" b="0">
                <a:solidFill>
                  <a:srgbClr val="5B6675"/>
                </a:solidFill>
                <a:latin typeface="Arial"/>
              </a:rPr>
              <a:t>He can’t see what he owes across shops. If the book says ₹500 and he remembers ₹300, he has nothing to show.</a:t>
            </a:r>
          </a:p>
        </p:txBody>
      </p:sp>
      <p:sp>
        <p:nvSpPr>
          <p:cNvPr id="20" name="Rectangle 19"/>
          <p:cNvSpPr/>
          <p:nvPr/>
        </p:nvSpPr>
        <p:spPr>
          <a:xfrm>
            <a:off x="8182660" y="3913632"/>
            <a:ext cx="365760" cy="38100"/>
          </a:xfrm>
          <a:prstGeom prst="rect">
            <a:avLst/>
          </a:prstGeom>
          <a:solidFill>
            <a:srgbClr val="00BAF2"/>
          </a:solidFill>
          <a:ln>
            <a:noFill/>
          </a:ln>
        </p:spPr>
        <p:txBody>
          <a:bodyPr rtlCol="0" anchor="ctr"/>
          <a:lstStyle/>
          <a:p>
            <a:pPr algn="ctr"/>
          </a:p>
        </p:txBody>
      </p:sp>
      <p:sp>
        <p:nvSpPr>
          <p:cNvPr id="21" name="TextBox 20"/>
          <p:cNvSpPr txBox="1"/>
          <p:nvPr/>
        </p:nvSpPr>
        <p:spPr>
          <a:xfrm>
            <a:off x="8182660"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Apps went digital on one side only</a:t>
            </a:r>
          </a:p>
          <a:p>
            <a:pPr>
              <a:lnSpc>
                <a:spcPct val="140000"/>
              </a:lnSpc>
              <a:spcBef>
                <a:spcPts val="800"/>
              </a:spcBef>
              <a:spcAft>
                <a:spcPts val="0"/>
              </a:spcAft>
            </a:pPr>
            <a:r>
              <a:rPr sz="1300" b="0">
                <a:solidFill>
                  <a:srgbClr val="5B6675"/>
                </a:solidFill>
                <a:latin typeface="Arial"/>
              </a:rPr>
              <a:t>Khatabook alone has 5 Cr+ downloads. Its customers still get only an SMS — no app of their own, and no say in the entry.</a:t>
            </a:r>
          </a:p>
        </p:txBody>
      </p:sp>
      <p:sp>
        <p:nvSpPr>
          <p:cNvPr id="22" name="TextBox 21"/>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 Khatabook on Google Play (5 Cr+ downloads) and khatabook.com, checked 23 Sep 2026.</a:t>
            </a:r>
          </a:p>
        </p:txBody>
      </p:sp>
      <p:sp>
        <p:nvSpPr>
          <p:cNvPr id="23" name="TextBox 22"/>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2 · PROPOSED SOLUTION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The same book, now confirmed by both sides.</a:t>
            </a:r>
          </a:p>
        </p:txBody>
      </p:sp>
      <p:pic>
        <p:nvPicPr>
          <p:cNvPr id="5" name="Picture 4" descr="B0-scan.png"/>
          <p:cNvPicPr>
            <a:picLocks noChangeAspect="1"/>
          </p:cNvPicPr>
          <p:nvPr/>
        </p:nvPicPr>
        <p:blipFill>
          <a:blip r:embed="rId2"/>
          <a:stretch>
            <a:fillRect/>
          </a:stretch>
        </p:blipFill>
        <p:spPr>
          <a:xfrm>
            <a:off x="813175" y="1481328"/>
            <a:ext cx="1572768" cy="3107175"/>
          </a:xfrm>
          <a:prstGeom prst="rect">
            <a:avLst/>
          </a:prstGeom>
        </p:spPr>
      </p:pic>
      <p:sp>
        <p:nvSpPr>
          <p:cNvPr id="6" name="Oval 5"/>
          <p:cNvSpPr/>
          <p:nvPr/>
        </p:nvSpPr>
        <p:spPr>
          <a:xfrm>
            <a:off x="603504" y="4700016"/>
            <a:ext cx="292608" cy="292608"/>
          </a:xfrm>
          <a:prstGeom prst="ellipse">
            <a:avLst/>
          </a:prstGeom>
          <a:solidFill>
            <a:srgbClr val="002970"/>
          </a:solidFill>
          <a:ln>
            <a:noFill/>
          </a:ln>
        </p:spPr>
        <p:txBody>
          <a:bodyPr rtlCol="0" anchor="ctr"/>
          <a:lstStyle/>
          <a:p>
            <a:pPr algn="ctr"/>
          </a:p>
        </p:txBody>
      </p:sp>
      <p:sp>
        <p:nvSpPr>
          <p:cNvPr id="7" name="TextBox 6"/>
          <p:cNvSpPr txBox="1"/>
          <p:nvPr/>
        </p:nvSpPr>
        <p:spPr>
          <a:xfrm>
            <a:off x="603504"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1</a:t>
            </a:r>
          </a:p>
        </p:txBody>
      </p:sp>
      <p:sp>
        <p:nvSpPr>
          <p:cNvPr id="8" name="TextBox 7"/>
          <p:cNvSpPr txBox="1"/>
          <p:nvPr/>
        </p:nvSpPr>
        <p:spPr>
          <a:xfrm>
            <a:off x="969264"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He scans at the till</a:t>
            </a:r>
          </a:p>
          <a:p>
            <a:pPr>
              <a:lnSpc>
                <a:spcPct val="130000"/>
              </a:lnSpc>
              <a:spcBef>
                <a:spcPts val="400"/>
              </a:spcBef>
              <a:spcAft>
                <a:spcPts val="0"/>
              </a:spcAft>
            </a:pPr>
            <a:r>
              <a:rPr sz="1200" b="0">
                <a:solidFill>
                  <a:srgbClr val="5B6675"/>
                </a:solidFill>
                <a:latin typeface="Arial"/>
              </a:rPr>
              <a:t>The shop’s Paytm QR. He taps “Take on udhaar”.</a:t>
            </a:r>
          </a:p>
        </p:txBody>
      </p:sp>
      <p:pic>
        <p:nvPicPr>
          <p:cNvPr id="9" name="Picture 8" descr="A2-speak.png"/>
          <p:cNvPicPr>
            <a:picLocks noChangeAspect="1"/>
          </p:cNvPicPr>
          <p:nvPr/>
        </p:nvPicPr>
        <p:blipFill>
          <a:blip r:embed="rId3"/>
          <a:stretch>
            <a:fillRect/>
          </a:stretch>
        </p:blipFill>
        <p:spPr>
          <a:xfrm>
            <a:off x="3061318" y="1481328"/>
            <a:ext cx="1572768" cy="3107175"/>
          </a:xfrm>
          <a:prstGeom prst="rect">
            <a:avLst/>
          </a:prstGeom>
        </p:spPr>
      </p:pic>
      <p:sp>
        <p:nvSpPr>
          <p:cNvPr id="10" name="Oval 9"/>
          <p:cNvSpPr/>
          <p:nvPr/>
        </p:nvSpPr>
        <p:spPr>
          <a:xfrm>
            <a:off x="2851647" y="4700016"/>
            <a:ext cx="292608" cy="292608"/>
          </a:xfrm>
          <a:prstGeom prst="ellipse">
            <a:avLst/>
          </a:prstGeom>
          <a:solidFill>
            <a:srgbClr val="002970"/>
          </a:solidFill>
          <a:ln>
            <a:noFill/>
          </a:ln>
        </p:spPr>
        <p:txBody>
          <a:bodyPr rtlCol="0" anchor="ctr"/>
          <a:lstStyle/>
          <a:p>
            <a:pPr algn="ctr"/>
          </a:p>
        </p:txBody>
      </p:sp>
      <p:sp>
        <p:nvSpPr>
          <p:cNvPr id="11" name="TextBox 10"/>
          <p:cNvSpPr txBox="1"/>
          <p:nvPr/>
        </p:nvSpPr>
        <p:spPr>
          <a:xfrm>
            <a:off x="2851647"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2</a:t>
            </a:r>
          </a:p>
        </p:txBody>
      </p:sp>
      <p:sp>
        <p:nvSpPr>
          <p:cNvPr id="12" name="TextBox 11"/>
          <p:cNvSpPr txBox="1"/>
          <p:nvPr/>
        </p:nvSpPr>
        <p:spPr>
          <a:xfrm>
            <a:off x="3217407"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The shopkeeper says the amount</a:t>
            </a:r>
          </a:p>
          <a:p>
            <a:pPr>
              <a:lnSpc>
                <a:spcPct val="130000"/>
              </a:lnSpc>
              <a:spcBef>
                <a:spcPts val="400"/>
              </a:spcBef>
              <a:spcAft>
                <a:spcPts val="0"/>
              </a:spcAft>
            </a:pPr>
            <a:r>
              <a:rPr sz="1200" b="0">
                <a:solidFill>
                  <a:srgbClr val="5B6675"/>
                </a:solidFill>
                <a:latin typeface="Arial"/>
              </a:rPr>
              <a:t>The scan says who. He says “do sau”, or types it.</a:t>
            </a:r>
          </a:p>
        </p:txBody>
      </p:sp>
      <p:pic>
        <p:nvPicPr>
          <p:cNvPr id="13" name="Picture 12" descr="B1-confirm.png"/>
          <p:cNvPicPr>
            <a:picLocks noChangeAspect="1"/>
          </p:cNvPicPr>
          <p:nvPr/>
        </p:nvPicPr>
        <p:blipFill>
          <a:blip r:embed="rId4"/>
          <a:stretch>
            <a:fillRect/>
          </a:stretch>
        </p:blipFill>
        <p:spPr>
          <a:xfrm>
            <a:off x="5309461" y="1481328"/>
            <a:ext cx="1572768" cy="3107175"/>
          </a:xfrm>
          <a:prstGeom prst="rect">
            <a:avLst/>
          </a:prstGeom>
        </p:spPr>
      </p:pic>
      <p:sp>
        <p:nvSpPr>
          <p:cNvPr id="14" name="Oval 13"/>
          <p:cNvSpPr/>
          <p:nvPr/>
        </p:nvSpPr>
        <p:spPr>
          <a:xfrm>
            <a:off x="5099790" y="4700016"/>
            <a:ext cx="292608" cy="292608"/>
          </a:xfrm>
          <a:prstGeom prst="ellipse">
            <a:avLst/>
          </a:prstGeom>
          <a:solidFill>
            <a:srgbClr val="002970"/>
          </a:solidFill>
          <a:ln>
            <a:noFill/>
          </a:ln>
        </p:spPr>
        <p:txBody>
          <a:bodyPr rtlCol="0" anchor="ctr"/>
          <a:lstStyle/>
          <a:p>
            <a:pPr algn="ctr"/>
          </a:p>
        </p:txBody>
      </p:sp>
      <p:sp>
        <p:nvSpPr>
          <p:cNvPr id="15" name="TextBox 14"/>
          <p:cNvSpPr txBox="1"/>
          <p:nvPr/>
        </p:nvSpPr>
        <p:spPr>
          <a:xfrm>
            <a:off x="5099790"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3</a:t>
            </a:r>
          </a:p>
        </p:txBody>
      </p:sp>
      <p:sp>
        <p:nvSpPr>
          <p:cNvPr id="16" name="TextBox 15"/>
          <p:cNvSpPr txBox="1"/>
          <p:nvPr/>
        </p:nvSpPr>
        <p:spPr>
          <a:xfrm>
            <a:off x="5465550"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Confirmed, right there</a:t>
            </a:r>
          </a:p>
          <a:p>
            <a:pPr>
              <a:lnSpc>
                <a:spcPct val="130000"/>
              </a:lnSpc>
              <a:spcBef>
                <a:spcPts val="400"/>
              </a:spcBef>
              <a:spcAft>
                <a:spcPts val="0"/>
              </a:spcAft>
            </a:pPr>
            <a:r>
              <a:rPr sz="1200" b="0">
                <a:solidFill>
                  <a:srgbClr val="5B6675"/>
                </a:solidFill>
                <a:latin typeface="Arial"/>
              </a:rPr>
              <a:t>“Yes, I owe ₹200”, on the phone in his hand.</a:t>
            </a:r>
          </a:p>
        </p:txBody>
      </p:sp>
      <p:pic>
        <p:nvPicPr>
          <p:cNvPr id="17" name="Picture 16" descr="B2-mybook.png"/>
          <p:cNvPicPr>
            <a:picLocks noChangeAspect="1"/>
          </p:cNvPicPr>
          <p:nvPr/>
        </p:nvPicPr>
        <p:blipFill>
          <a:blip r:embed="rId5"/>
          <a:stretch>
            <a:fillRect/>
          </a:stretch>
        </p:blipFill>
        <p:spPr>
          <a:xfrm>
            <a:off x="7557604" y="1481328"/>
            <a:ext cx="1572768" cy="3107175"/>
          </a:xfrm>
          <a:prstGeom prst="rect">
            <a:avLst/>
          </a:prstGeom>
        </p:spPr>
      </p:pic>
      <p:sp>
        <p:nvSpPr>
          <p:cNvPr id="18" name="Oval 17"/>
          <p:cNvSpPr/>
          <p:nvPr/>
        </p:nvSpPr>
        <p:spPr>
          <a:xfrm>
            <a:off x="7347933" y="4700016"/>
            <a:ext cx="292608" cy="292608"/>
          </a:xfrm>
          <a:prstGeom prst="ellipse">
            <a:avLst/>
          </a:prstGeom>
          <a:solidFill>
            <a:srgbClr val="002970"/>
          </a:solidFill>
          <a:ln>
            <a:noFill/>
          </a:ln>
        </p:spPr>
        <p:txBody>
          <a:bodyPr rtlCol="0" anchor="ctr"/>
          <a:lstStyle/>
          <a:p>
            <a:pPr algn="ctr"/>
          </a:p>
        </p:txBody>
      </p:sp>
      <p:sp>
        <p:nvSpPr>
          <p:cNvPr id="19" name="TextBox 18"/>
          <p:cNvSpPr txBox="1"/>
          <p:nvPr/>
        </p:nvSpPr>
        <p:spPr>
          <a:xfrm>
            <a:off x="7347933"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4</a:t>
            </a:r>
          </a:p>
        </p:txBody>
      </p:sp>
      <p:sp>
        <p:nvSpPr>
          <p:cNvPr id="20" name="TextBox 19"/>
          <p:cNvSpPr txBox="1"/>
          <p:nvPr/>
        </p:nvSpPr>
        <p:spPr>
          <a:xfrm>
            <a:off x="7713693"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He sees every shop</a:t>
            </a:r>
          </a:p>
          <a:p>
            <a:pPr>
              <a:lnSpc>
                <a:spcPct val="130000"/>
              </a:lnSpc>
              <a:spcBef>
                <a:spcPts val="400"/>
              </a:spcBef>
              <a:spcAft>
                <a:spcPts val="0"/>
              </a:spcAft>
            </a:pPr>
            <a:r>
              <a:rPr sz="1200" b="0">
                <a:solidFill>
                  <a:srgbClr val="5B6675"/>
                </a:solidFill>
                <a:latin typeface="Arial"/>
              </a:rPr>
              <a:t>One total across his shops, one tap to pay.</a:t>
            </a:r>
          </a:p>
        </p:txBody>
      </p:sp>
      <p:pic>
        <p:nvPicPr>
          <p:cNvPr id="21" name="Picture 20" descr="A3-tonight.png"/>
          <p:cNvPicPr>
            <a:picLocks noChangeAspect="1"/>
          </p:cNvPicPr>
          <p:nvPr/>
        </p:nvPicPr>
        <p:blipFill>
          <a:blip r:embed="rId6"/>
          <a:stretch>
            <a:fillRect/>
          </a:stretch>
        </p:blipFill>
        <p:spPr>
          <a:xfrm>
            <a:off x="9805747" y="1481328"/>
            <a:ext cx="1572768" cy="3107175"/>
          </a:xfrm>
          <a:prstGeom prst="rect">
            <a:avLst/>
          </a:prstGeom>
        </p:spPr>
      </p:pic>
      <p:sp>
        <p:nvSpPr>
          <p:cNvPr id="22" name="Oval 21"/>
          <p:cNvSpPr/>
          <p:nvPr/>
        </p:nvSpPr>
        <p:spPr>
          <a:xfrm>
            <a:off x="9596076" y="4700016"/>
            <a:ext cx="292608" cy="292608"/>
          </a:xfrm>
          <a:prstGeom prst="ellipse">
            <a:avLst/>
          </a:prstGeom>
          <a:solidFill>
            <a:srgbClr val="002970"/>
          </a:solidFill>
          <a:ln>
            <a:noFill/>
          </a:ln>
        </p:spPr>
        <p:txBody>
          <a:bodyPr rtlCol="0" anchor="ctr"/>
          <a:lstStyle/>
          <a:p>
            <a:pPr algn="ctr"/>
          </a:p>
        </p:txBody>
      </p:sp>
      <p:sp>
        <p:nvSpPr>
          <p:cNvPr id="23" name="TextBox 22"/>
          <p:cNvSpPr txBox="1"/>
          <p:nvPr/>
        </p:nvSpPr>
        <p:spPr>
          <a:xfrm>
            <a:off x="9596076"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5</a:t>
            </a:r>
          </a:p>
        </p:txBody>
      </p:sp>
      <p:sp>
        <p:nvSpPr>
          <p:cNvPr id="24" name="TextBox 23"/>
          <p:cNvSpPr txBox="1"/>
          <p:nvPr/>
        </p:nvSpPr>
        <p:spPr>
          <a:xfrm>
            <a:off x="9961836"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The agent picks the day</a:t>
            </a:r>
          </a:p>
          <a:p>
            <a:pPr>
              <a:lnSpc>
                <a:spcPct val="130000"/>
              </a:lnSpc>
              <a:spcBef>
                <a:spcPts val="400"/>
              </a:spcBef>
              <a:spcAft>
                <a:spcPts val="0"/>
              </a:spcAft>
            </a:pPr>
            <a:r>
              <a:rPr sz="1200" b="0">
                <a:solidFill>
                  <a:srgbClr val="5B6675"/>
                </a:solidFill>
                <a:latin typeface="Arial"/>
              </a:rPr>
              <a:t>Sharma pays on day 9, so on day 4 he hears nothing.</a:t>
            </a:r>
          </a:p>
        </p:txBody>
      </p:sp>
      <p:sp>
        <p:nvSpPr>
          <p:cNvPr id="25" name="TextBox 24"/>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from our working prototype. Names and amounts are demo data.</a:t>
            </a:r>
          </a:p>
        </p:txBody>
      </p:sp>
      <p:sp>
        <p:nvSpPr>
          <p:cNvPr id="26" name="TextBox 25"/>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3 · TECHNOLOGY / TECH STACK</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AI hears the words. Plain code decides every number.</a:t>
            </a:r>
          </a:p>
        </p:txBody>
      </p:sp>
      <p:sp>
        <p:nvSpPr>
          <p:cNvPr id="5" name="TextBox 4"/>
          <p:cNvSpPr txBox="1"/>
          <p:nvPr/>
        </p:nvSpPr>
        <p:spPr>
          <a:xfrm>
            <a:off x="566928" y="157276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DURING THE DAY — RECORDING AN ENTRY</a:t>
            </a:r>
          </a:p>
        </p:txBody>
      </p:sp>
      <p:sp>
        <p:nvSpPr>
          <p:cNvPr id="6" name="Rounded Rectangle 5"/>
          <p:cNvSpPr/>
          <p:nvPr/>
        </p:nvSpPr>
        <p:spPr>
          <a:xfrm>
            <a:off x="566928" y="1938528"/>
            <a:ext cx="1831177" cy="960120"/>
          </a:xfrm>
          <a:prstGeom prst="roundRect">
            <a:avLst>
              <a:gd name="adj" fmla="val 12000"/>
            </a:avLst>
          </a:prstGeom>
          <a:solidFill>
            <a:srgbClr val="FFFFFF"/>
          </a:solidFill>
          <a:ln>
            <a:noFill/>
          </a:ln>
        </p:spPr>
        <p:txBody>
          <a:bodyPr rtlCol="0" anchor="ctr"/>
          <a:lstStyle/>
          <a:p>
            <a:pPr algn="ctr"/>
          </a:p>
        </p:txBody>
      </p:sp>
      <p:sp>
        <p:nvSpPr>
          <p:cNvPr id="7" name="TextBox 6"/>
          <p:cNvSpPr txBox="1"/>
          <p:nvPr/>
        </p:nvSpPr>
        <p:spPr>
          <a:xfrm>
            <a:off x="67665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Shopkeeper speaks</a:t>
            </a:r>
          </a:p>
          <a:p>
            <a:pPr algn="ctr">
              <a:lnSpc>
                <a:spcPct val="120000"/>
              </a:lnSpc>
              <a:spcBef>
                <a:spcPts val="300"/>
              </a:spcBef>
              <a:spcAft>
                <a:spcPts val="0"/>
              </a:spcAft>
            </a:pPr>
            <a:r>
              <a:rPr sz="1100" b="0">
                <a:solidFill>
                  <a:srgbClr val="5B6675"/>
                </a:solidFill>
                <a:latin typeface="Arial"/>
              </a:rPr>
              <a:t>after the customer scans</a:t>
            </a:r>
          </a:p>
        </p:txBody>
      </p:sp>
      <p:cxnSp>
        <p:nvCxnSpPr>
          <p:cNvPr id="8" name="Connector 7"/>
          <p:cNvCxnSpPr/>
          <p:nvPr/>
        </p:nvCxnSpPr>
        <p:spPr>
          <a:xfrm>
            <a:off x="2462113" y="2418588"/>
            <a:ext cx="347472" cy="0"/>
          </a:xfrm>
          <a:prstGeom prst="line">
            <a:avLst/>
          </a:prstGeom>
          <a:ln w="22225">
            <a:solidFill>
              <a:srgbClr val="002970"/>
            </a:solidFill>
            <a:tailEnd type="triangle" w="med" len="med"/>
          </a:ln>
        </p:spPr>
      </p:cxnSp>
      <p:sp>
        <p:nvSpPr>
          <p:cNvPr id="9" name="Rounded Rectangle 8"/>
          <p:cNvSpPr/>
          <p:nvPr/>
        </p:nvSpPr>
        <p:spPr>
          <a:xfrm>
            <a:off x="2873593" y="1938528"/>
            <a:ext cx="1831177" cy="960120"/>
          </a:xfrm>
          <a:prstGeom prst="roundRect">
            <a:avLst>
              <a:gd name="adj" fmla="val 12000"/>
            </a:avLst>
          </a:prstGeom>
          <a:solidFill>
            <a:srgbClr val="FFFFFF"/>
          </a:solidFill>
          <a:ln>
            <a:noFill/>
          </a:ln>
        </p:spPr>
        <p:txBody>
          <a:bodyPr rtlCol="0" anchor="ctr"/>
          <a:lstStyle/>
          <a:p>
            <a:pPr algn="ctr"/>
          </a:p>
        </p:txBody>
      </p:sp>
      <p:sp>
        <p:nvSpPr>
          <p:cNvPr id="10" name="TextBox 9"/>
          <p:cNvSpPr txBox="1"/>
          <p:nvPr/>
        </p:nvSpPr>
        <p:spPr>
          <a:xfrm>
            <a:off x="298332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Sarvam</a:t>
            </a:r>
          </a:p>
          <a:p>
            <a:pPr algn="ctr">
              <a:lnSpc>
                <a:spcPct val="120000"/>
              </a:lnSpc>
              <a:spcBef>
                <a:spcPts val="300"/>
              </a:spcBef>
              <a:spcAft>
                <a:spcPts val="0"/>
              </a:spcAft>
            </a:pPr>
            <a:r>
              <a:rPr sz="1100" b="0">
                <a:solidFill>
                  <a:srgbClr val="5B6675"/>
                </a:solidFill>
                <a:latin typeface="Arial"/>
              </a:rPr>
              <a:t>speech → text</a:t>
            </a:r>
          </a:p>
        </p:txBody>
      </p:sp>
      <p:sp>
        <p:nvSpPr>
          <p:cNvPr id="11" name="Rounded Rectangle 10"/>
          <p:cNvSpPr/>
          <p:nvPr/>
        </p:nvSpPr>
        <p:spPr>
          <a:xfrm>
            <a:off x="3001609" y="1819656"/>
            <a:ext cx="420624" cy="237744"/>
          </a:xfrm>
          <a:prstGeom prst="roundRect">
            <a:avLst>
              <a:gd name="adj" fmla="val 50000"/>
            </a:avLst>
          </a:prstGeom>
          <a:solidFill>
            <a:srgbClr val="00BAF2"/>
          </a:solidFill>
          <a:ln>
            <a:noFill/>
          </a:ln>
        </p:spPr>
        <p:txBody>
          <a:bodyPr rtlCol="0" anchor="ctr"/>
          <a:lstStyle/>
          <a:p>
            <a:pPr algn="ctr"/>
          </a:p>
        </p:txBody>
      </p:sp>
      <p:sp>
        <p:nvSpPr>
          <p:cNvPr id="12" name="TextBox 11"/>
          <p:cNvSpPr txBox="1"/>
          <p:nvPr/>
        </p:nvSpPr>
        <p:spPr>
          <a:xfrm>
            <a:off x="3001609"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3" name="Connector 12"/>
          <p:cNvCxnSpPr/>
          <p:nvPr/>
        </p:nvCxnSpPr>
        <p:spPr>
          <a:xfrm>
            <a:off x="4768778" y="2418588"/>
            <a:ext cx="347472" cy="0"/>
          </a:xfrm>
          <a:prstGeom prst="line">
            <a:avLst/>
          </a:prstGeom>
          <a:ln w="22225">
            <a:solidFill>
              <a:srgbClr val="002970"/>
            </a:solidFill>
            <a:tailEnd type="triangle" w="med" len="med"/>
          </a:ln>
        </p:spPr>
      </p:cxnSp>
      <p:sp>
        <p:nvSpPr>
          <p:cNvPr id="14" name="Rounded Rectangle 13"/>
          <p:cNvSpPr/>
          <p:nvPr/>
        </p:nvSpPr>
        <p:spPr>
          <a:xfrm>
            <a:off x="5180258" y="1938528"/>
            <a:ext cx="1831177" cy="960120"/>
          </a:xfrm>
          <a:prstGeom prst="roundRect">
            <a:avLst>
              <a:gd name="adj" fmla="val 12000"/>
            </a:avLst>
          </a:prstGeom>
          <a:solidFill>
            <a:srgbClr val="FFFFFF"/>
          </a:solidFill>
          <a:ln>
            <a:noFill/>
          </a:ln>
        </p:spPr>
        <p:txBody>
          <a:bodyPr rtlCol="0" anchor="ctr"/>
          <a:lstStyle/>
          <a:p>
            <a:pPr algn="ctr"/>
          </a:p>
        </p:txBody>
      </p:sp>
      <p:sp>
        <p:nvSpPr>
          <p:cNvPr id="15" name="TextBox 14"/>
          <p:cNvSpPr txBox="1"/>
          <p:nvPr/>
        </p:nvSpPr>
        <p:spPr>
          <a:xfrm>
            <a:off x="528998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“do sau”</a:t>
            </a:r>
          </a:p>
          <a:p>
            <a:pPr algn="ctr">
              <a:lnSpc>
                <a:spcPct val="120000"/>
              </a:lnSpc>
              <a:spcBef>
                <a:spcPts val="300"/>
              </a:spcBef>
              <a:spcAft>
                <a:spcPts val="0"/>
              </a:spcAft>
            </a:pPr>
            <a:r>
              <a:rPr sz="1100" b="0">
                <a:solidFill>
                  <a:srgbClr val="5B6675"/>
                </a:solidFill>
                <a:latin typeface="Arial"/>
              </a:rPr>
              <a:t>text only</a:t>
            </a:r>
          </a:p>
        </p:txBody>
      </p:sp>
      <p:cxnSp>
        <p:nvCxnSpPr>
          <p:cNvPr id="16" name="Connector 15"/>
          <p:cNvCxnSpPr/>
          <p:nvPr/>
        </p:nvCxnSpPr>
        <p:spPr>
          <a:xfrm>
            <a:off x="7075443" y="2418588"/>
            <a:ext cx="347472" cy="0"/>
          </a:xfrm>
          <a:prstGeom prst="line">
            <a:avLst/>
          </a:prstGeom>
          <a:ln w="22225">
            <a:solidFill>
              <a:srgbClr val="002970"/>
            </a:solidFill>
            <a:tailEnd type="triangle" w="med" len="med"/>
          </a:ln>
        </p:spPr>
      </p:cxnSp>
      <p:sp>
        <p:nvSpPr>
          <p:cNvPr id="17" name="Rounded Rectangle 16"/>
          <p:cNvSpPr/>
          <p:nvPr/>
        </p:nvSpPr>
        <p:spPr>
          <a:xfrm>
            <a:off x="7486923" y="1938528"/>
            <a:ext cx="1831177" cy="960120"/>
          </a:xfrm>
          <a:prstGeom prst="roundRect">
            <a:avLst>
              <a:gd name="adj" fmla="val 12000"/>
            </a:avLst>
          </a:prstGeom>
          <a:solidFill>
            <a:srgbClr val="FFFFFF"/>
          </a:solidFill>
          <a:ln>
            <a:noFill/>
          </a:ln>
        </p:spPr>
        <p:txBody>
          <a:bodyPr rtlCol="0" anchor="ctr"/>
          <a:lstStyle/>
          <a:p>
            <a:pPr algn="ctr"/>
          </a:p>
        </p:txBody>
      </p:sp>
      <p:sp>
        <p:nvSpPr>
          <p:cNvPr id="18" name="TextBox 17"/>
          <p:cNvSpPr txBox="1"/>
          <p:nvPr/>
        </p:nvSpPr>
        <p:spPr>
          <a:xfrm>
            <a:off x="759665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Rule-based parser</a:t>
            </a:r>
          </a:p>
          <a:p>
            <a:pPr algn="ctr">
              <a:lnSpc>
                <a:spcPct val="120000"/>
              </a:lnSpc>
              <a:spcBef>
                <a:spcPts val="300"/>
              </a:spcBef>
              <a:spcAft>
                <a:spcPts val="0"/>
              </a:spcAft>
            </a:pPr>
            <a:r>
              <a:rPr sz="1100" b="0">
                <a:solidFill>
                  <a:srgbClr val="5B6675"/>
                </a:solidFill>
                <a:latin typeface="Arial"/>
              </a:rPr>
              <a:t>text → ₹200</a:t>
            </a:r>
          </a:p>
        </p:txBody>
      </p:sp>
      <p:sp>
        <p:nvSpPr>
          <p:cNvPr id="19" name="Rounded Rectangle 18"/>
          <p:cNvSpPr/>
          <p:nvPr/>
        </p:nvSpPr>
        <p:spPr>
          <a:xfrm>
            <a:off x="7614939" y="1819656"/>
            <a:ext cx="603504" cy="237744"/>
          </a:xfrm>
          <a:prstGeom prst="roundRect">
            <a:avLst>
              <a:gd name="adj" fmla="val 50000"/>
            </a:avLst>
          </a:prstGeom>
          <a:solidFill>
            <a:srgbClr val="002970"/>
          </a:solidFill>
          <a:ln>
            <a:noFill/>
          </a:ln>
        </p:spPr>
        <p:txBody>
          <a:bodyPr rtlCol="0" anchor="ctr"/>
          <a:lstStyle/>
          <a:p>
            <a:pPr algn="ctr"/>
          </a:p>
        </p:txBody>
      </p:sp>
      <p:sp>
        <p:nvSpPr>
          <p:cNvPr id="20" name="TextBox 19"/>
          <p:cNvSpPr txBox="1"/>
          <p:nvPr/>
        </p:nvSpPr>
        <p:spPr>
          <a:xfrm>
            <a:off x="7614939" y="1819656"/>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21" name="Connector 20"/>
          <p:cNvCxnSpPr/>
          <p:nvPr/>
        </p:nvCxnSpPr>
        <p:spPr>
          <a:xfrm>
            <a:off x="9382108" y="2418588"/>
            <a:ext cx="347472" cy="0"/>
          </a:xfrm>
          <a:prstGeom prst="line">
            <a:avLst/>
          </a:prstGeom>
          <a:ln w="22225">
            <a:solidFill>
              <a:srgbClr val="002970"/>
            </a:solidFill>
            <a:tailEnd type="triangle" w="med" len="med"/>
          </a:ln>
        </p:spPr>
      </p:cxnSp>
      <p:sp>
        <p:nvSpPr>
          <p:cNvPr id="22" name="Rounded Rectangle 21"/>
          <p:cNvSpPr/>
          <p:nvPr/>
        </p:nvSpPr>
        <p:spPr>
          <a:xfrm>
            <a:off x="9793588" y="1938528"/>
            <a:ext cx="1831177" cy="960120"/>
          </a:xfrm>
          <a:prstGeom prst="roundRect">
            <a:avLst>
              <a:gd name="adj" fmla="val 12000"/>
            </a:avLst>
          </a:prstGeom>
          <a:solidFill>
            <a:srgbClr val="FFFFFF"/>
          </a:solidFill>
          <a:ln>
            <a:noFill/>
          </a:ln>
        </p:spPr>
        <p:txBody>
          <a:bodyPr rtlCol="0" anchor="ctr"/>
          <a:lstStyle/>
          <a:p>
            <a:pPr algn="ctr"/>
          </a:p>
        </p:txBody>
      </p:sp>
      <p:sp>
        <p:nvSpPr>
          <p:cNvPr id="23" name="TextBox 22"/>
          <p:cNvSpPr txBox="1"/>
          <p:nvPr/>
        </p:nvSpPr>
        <p:spPr>
          <a:xfrm>
            <a:off x="990331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Ledger</a:t>
            </a:r>
          </a:p>
          <a:p>
            <a:pPr algn="ctr">
              <a:lnSpc>
                <a:spcPct val="120000"/>
              </a:lnSpc>
              <a:spcBef>
                <a:spcPts val="300"/>
              </a:spcBef>
              <a:spcAft>
                <a:spcPts val="0"/>
              </a:spcAft>
            </a:pPr>
            <a:r>
              <a:rPr sz="1100" b="0">
                <a:solidFill>
                  <a:srgbClr val="5B6675"/>
                </a:solidFill>
                <a:latin typeface="Arial"/>
              </a:rPr>
              <a:t>Postgres 17</a:t>
            </a:r>
          </a:p>
        </p:txBody>
      </p:sp>
      <p:sp>
        <p:nvSpPr>
          <p:cNvPr id="24" name="Rounded Rectangle 23"/>
          <p:cNvSpPr/>
          <p:nvPr/>
        </p:nvSpPr>
        <p:spPr>
          <a:xfrm>
            <a:off x="9921604" y="1819656"/>
            <a:ext cx="603504" cy="237744"/>
          </a:xfrm>
          <a:prstGeom prst="roundRect">
            <a:avLst>
              <a:gd name="adj" fmla="val 50000"/>
            </a:avLst>
          </a:prstGeom>
          <a:solidFill>
            <a:srgbClr val="002970"/>
          </a:solidFill>
          <a:ln>
            <a:noFill/>
          </a:ln>
        </p:spPr>
        <p:txBody>
          <a:bodyPr rtlCol="0" anchor="ctr"/>
          <a:lstStyle/>
          <a:p>
            <a:pPr algn="ctr"/>
          </a:p>
        </p:txBody>
      </p:sp>
      <p:sp>
        <p:nvSpPr>
          <p:cNvPr id="25" name="TextBox 24"/>
          <p:cNvSpPr txBox="1"/>
          <p:nvPr/>
        </p:nvSpPr>
        <p:spPr>
          <a:xfrm>
            <a:off x="9921604" y="1819656"/>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sp>
        <p:nvSpPr>
          <p:cNvPr id="26" name="TextBox 25"/>
          <p:cNvSpPr txBox="1"/>
          <p:nvPr/>
        </p:nvSpPr>
        <p:spPr>
          <a:xfrm>
            <a:off x="566928" y="3246120"/>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EVERY NIGHT — DECIDING WHO HEARS FROM US</a:t>
            </a:r>
          </a:p>
        </p:txBody>
      </p:sp>
      <p:sp>
        <p:nvSpPr>
          <p:cNvPr id="27" name="Rounded Rectangle 26"/>
          <p:cNvSpPr/>
          <p:nvPr/>
        </p:nvSpPr>
        <p:spPr>
          <a:xfrm>
            <a:off x="566928" y="3611880"/>
            <a:ext cx="2407843" cy="960120"/>
          </a:xfrm>
          <a:prstGeom prst="roundRect">
            <a:avLst>
              <a:gd name="adj" fmla="val 12000"/>
            </a:avLst>
          </a:prstGeom>
          <a:solidFill>
            <a:srgbClr val="FFFFFF"/>
          </a:solidFill>
          <a:ln>
            <a:noFill/>
          </a:ln>
        </p:spPr>
        <p:txBody>
          <a:bodyPr rtlCol="0" anchor="ctr"/>
          <a:lstStyle/>
          <a:p>
            <a:pPr algn="ctr"/>
          </a:p>
        </p:txBody>
      </p:sp>
      <p:sp>
        <p:nvSpPr>
          <p:cNvPr id="28" name="TextBox 27"/>
          <p:cNvSpPr txBox="1"/>
          <p:nvPr/>
        </p:nvSpPr>
        <p:spPr>
          <a:xfrm>
            <a:off x="676656"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n8n schedule</a:t>
            </a:r>
          </a:p>
          <a:p>
            <a:pPr algn="ctr">
              <a:lnSpc>
                <a:spcPct val="120000"/>
              </a:lnSpc>
              <a:spcBef>
                <a:spcPts val="300"/>
              </a:spcBef>
              <a:spcAft>
                <a:spcPts val="0"/>
              </a:spcAft>
            </a:pPr>
            <a:r>
              <a:rPr sz="1100" b="0">
                <a:solidFill>
                  <a:srgbClr val="5B6675"/>
                </a:solidFill>
                <a:latin typeface="Arial"/>
              </a:rPr>
              <a:t>runs at 11 pm</a:t>
            </a:r>
          </a:p>
        </p:txBody>
      </p:sp>
      <p:cxnSp>
        <p:nvCxnSpPr>
          <p:cNvPr id="29" name="Connector 28"/>
          <p:cNvCxnSpPr/>
          <p:nvPr/>
        </p:nvCxnSpPr>
        <p:spPr>
          <a:xfrm>
            <a:off x="3038779" y="4091940"/>
            <a:ext cx="347472" cy="0"/>
          </a:xfrm>
          <a:prstGeom prst="line">
            <a:avLst/>
          </a:prstGeom>
          <a:ln w="22225">
            <a:solidFill>
              <a:srgbClr val="002970"/>
            </a:solidFill>
            <a:tailEnd type="triangle" w="med" len="med"/>
          </a:ln>
        </p:spPr>
      </p:cxnSp>
      <p:sp>
        <p:nvSpPr>
          <p:cNvPr id="30" name="Rounded Rectangle 29"/>
          <p:cNvSpPr/>
          <p:nvPr/>
        </p:nvSpPr>
        <p:spPr>
          <a:xfrm>
            <a:off x="3450259" y="3611880"/>
            <a:ext cx="2407843" cy="960120"/>
          </a:xfrm>
          <a:prstGeom prst="roundRect">
            <a:avLst>
              <a:gd name="adj" fmla="val 12000"/>
            </a:avLst>
          </a:prstGeom>
          <a:solidFill>
            <a:srgbClr val="FFFFFF"/>
          </a:solidFill>
          <a:ln>
            <a:noFill/>
          </a:ln>
        </p:spPr>
        <p:txBody>
          <a:bodyPr rtlCol="0" anchor="ctr"/>
          <a:lstStyle/>
          <a:p>
            <a:pPr algn="ctr"/>
          </a:p>
        </p:txBody>
      </p:sp>
      <p:sp>
        <p:nvSpPr>
          <p:cNvPr id="31" name="TextBox 30"/>
          <p:cNvSpPr txBox="1"/>
          <p:nvPr/>
        </p:nvSpPr>
        <p:spPr>
          <a:xfrm>
            <a:off x="3559987"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Timing engine</a:t>
            </a:r>
          </a:p>
          <a:p>
            <a:pPr algn="ctr">
              <a:lnSpc>
                <a:spcPct val="120000"/>
              </a:lnSpc>
              <a:spcBef>
                <a:spcPts val="300"/>
              </a:spcBef>
              <a:spcAft>
                <a:spcPts val="0"/>
              </a:spcAft>
            </a:pPr>
            <a:r>
              <a:rPr sz="1100" b="0">
                <a:solidFill>
                  <a:srgbClr val="5B6675"/>
                </a:solidFill>
                <a:latin typeface="Arial"/>
              </a:rPr>
              <a:t>each customer’s own repayment gap, in SQL</a:t>
            </a:r>
          </a:p>
        </p:txBody>
      </p:sp>
      <p:sp>
        <p:nvSpPr>
          <p:cNvPr id="32" name="Rounded Rectangle 31"/>
          <p:cNvSpPr/>
          <p:nvPr/>
        </p:nvSpPr>
        <p:spPr>
          <a:xfrm>
            <a:off x="3578275" y="3493008"/>
            <a:ext cx="603504" cy="237744"/>
          </a:xfrm>
          <a:prstGeom prst="roundRect">
            <a:avLst>
              <a:gd name="adj" fmla="val 50000"/>
            </a:avLst>
          </a:prstGeom>
          <a:solidFill>
            <a:srgbClr val="002970"/>
          </a:solidFill>
          <a:ln>
            <a:noFill/>
          </a:ln>
        </p:spPr>
        <p:txBody>
          <a:bodyPr rtlCol="0" anchor="ctr"/>
          <a:lstStyle/>
          <a:p>
            <a:pPr algn="ctr"/>
          </a:p>
        </p:txBody>
      </p:sp>
      <p:sp>
        <p:nvSpPr>
          <p:cNvPr id="33" name="TextBox 32"/>
          <p:cNvSpPr txBox="1"/>
          <p:nvPr/>
        </p:nvSpPr>
        <p:spPr>
          <a:xfrm>
            <a:off x="3578275"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4" name="Connector 33"/>
          <p:cNvCxnSpPr/>
          <p:nvPr/>
        </p:nvCxnSpPr>
        <p:spPr>
          <a:xfrm>
            <a:off x="5922110" y="4091940"/>
            <a:ext cx="347472" cy="0"/>
          </a:xfrm>
          <a:prstGeom prst="line">
            <a:avLst/>
          </a:prstGeom>
          <a:ln w="22225">
            <a:solidFill>
              <a:srgbClr val="002970"/>
            </a:solidFill>
            <a:tailEnd type="triangle" w="med" len="med"/>
          </a:ln>
        </p:spPr>
      </p:cxnSp>
      <p:sp>
        <p:nvSpPr>
          <p:cNvPr id="35" name="Rounded Rectangle 34"/>
          <p:cNvSpPr/>
          <p:nvPr/>
        </p:nvSpPr>
        <p:spPr>
          <a:xfrm>
            <a:off x="6333590" y="3611880"/>
            <a:ext cx="2407843" cy="960120"/>
          </a:xfrm>
          <a:prstGeom prst="roundRect">
            <a:avLst>
              <a:gd name="adj" fmla="val 12000"/>
            </a:avLst>
          </a:prstGeom>
          <a:solidFill>
            <a:srgbClr val="FFFFFF"/>
          </a:solidFill>
          <a:ln>
            <a:noFill/>
          </a:ln>
        </p:spPr>
        <p:txBody>
          <a:bodyPr rtlCol="0" anchor="ctr"/>
          <a:lstStyle/>
          <a:p>
            <a:pPr algn="ctr"/>
          </a:p>
        </p:txBody>
      </p:sp>
      <p:sp>
        <p:nvSpPr>
          <p:cNvPr id="36" name="TextBox 35"/>
          <p:cNvSpPr txBox="1"/>
          <p:nvPr/>
        </p:nvSpPr>
        <p:spPr>
          <a:xfrm>
            <a:off x="6443318"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Cognee memory</a:t>
            </a:r>
          </a:p>
          <a:p>
            <a:pPr algn="ctr">
              <a:lnSpc>
                <a:spcPct val="120000"/>
              </a:lnSpc>
              <a:spcBef>
                <a:spcPts val="300"/>
              </a:spcBef>
              <a:spcAft>
                <a:spcPts val="0"/>
              </a:spcAft>
            </a:pPr>
            <a:r>
              <a:rPr sz="1100" b="0">
                <a:solidFill>
                  <a:srgbClr val="5B6675"/>
                </a:solidFill>
                <a:latin typeface="Arial"/>
              </a:rPr>
              <a:t>the shopkeeper’s notes: “Patil pays after the 10th”</a:t>
            </a:r>
          </a:p>
        </p:txBody>
      </p:sp>
      <p:sp>
        <p:nvSpPr>
          <p:cNvPr id="37" name="Rounded Rectangle 36"/>
          <p:cNvSpPr/>
          <p:nvPr/>
        </p:nvSpPr>
        <p:spPr>
          <a:xfrm>
            <a:off x="6461606" y="3493008"/>
            <a:ext cx="420624" cy="237744"/>
          </a:xfrm>
          <a:prstGeom prst="roundRect">
            <a:avLst>
              <a:gd name="adj" fmla="val 50000"/>
            </a:avLst>
          </a:prstGeom>
          <a:solidFill>
            <a:srgbClr val="00BAF2"/>
          </a:solidFill>
          <a:ln>
            <a:noFill/>
          </a:ln>
        </p:spPr>
        <p:txBody>
          <a:bodyPr rtlCol="0" anchor="ctr"/>
          <a:lstStyle/>
          <a:p>
            <a:pPr algn="ctr"/>
          </a:p>
        </p:txBody>
      </p:sp>
      <p:sp>
        <p:nvSpPr>
          <p:cNvPr id="38" name="TextBox 37"/>
          <p:cNvSpPr txBox="1"/>
          <p:nvPr/>
        </p:nvSpPr>
        <p:spPr>
          <a:xfrm>
            <a:off x="6461606" y="3493008"/>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39" name="Connector 38"/>
          <p:cNvCxnSpPr/>
          <p:nvPr/>
        </p:nvCxnSpPr>
        <p:spPr>
          <a:xfrm>
            <a:off x="8805441" y="4091940"/>
            <a:ext cx="347472" cy="0"/>
          </a:xfrm>
          <a:prstGeom prst="line">
            <a:avLst/>
          </a:prstGeom>
          <a:ln w="22225">
            <a:solidFill>
              <a:srgbClr val="002970"/>
            </a:solidFill>
            <a:tailEnd type="triangle" w="med" len="med"/>
          </a:ln>
        </p:spPr>
      </p:cxnSp>
      <p:sp>
        <p:nvSpPr>
          <p:cNvPr id="40" name="Rounded Rectangle 39"/>
          <p:cNvSpPr/>
          <p:nvPr/>
        </p:nvSpPr>
        <p:spPr>
          <a:xfrm>
            <a:off x="9216921" y="3611880"/>
            <a:ext cx="2407843" cy="960120"/>
          </a:xfrm>
          <a:prstGeom prst="roundRect">
            <a:avLst>
              <a:gd name="adj" fmla="val 12000"/>
            </a:avLst>
          </a:prstGeom>
          <a:solidFill>
            <a:srgbClr val="FFFFFF"/>
          </a:solidFill>
          <a:ln>
            <a:noFill/>
          </a:ln>
        </p:spPr>
        <p:txBody>
          <a:bodyPr rtlCol="0" anchor="ctr"/>
          <a:lstStyle/>
          <a:p>
            <a:pPr algn="ctr"/>
          </a:p>
        </p:txBody>
      </p:sp>
      <p:sp>
        <p:nvSpPr>
          <p:cNvPr id="41" name="TextBox 40"/>
          <p:cNvSpPr txBox="1"/>
          <p:nvPr/>
        </p:nvSpPr>
        <p:spPr>
          <a:xfrm>
            <a:off x="9326649"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A reminder — or silence</a:t>
            </a:r>
          </a:p>
          <a:p>
            <a:pPr algn="ctr">
              <a:lnSpc>
                <a:spcPct val="120000"/>
              </a:lnSpc>
              <a:spcBef>
                <a:spcPts val="300"/>
              </a:spcBef>
              <a:spcAft>
                <a:spcPts val="0"/>
              </a:spcAft>
            </a:pPr>
            <a:r>
              <a:rPr sz="1100" b="0">
                <a:solidFill>
                  <a:srgbClr val="5B6675"/>
                </a:solidFill>
                <a:latin typeface="Arial"/>
              </a:rPr>
              <a:t>most nights, silence</a:t>
            </a:r>
          </a:p>
        </p:txBody>
      </p:sp>
      <p:sp>
        <p:nvSpPr>
          <p:cNvPr id="42" name="Rounded Rectangle 41"/>
          <p:cNvSpPr/>
          <p:nvPr/>
        </p:nvSpPr>
        <p:spPr>
          <a:xfrm>
            <a:off x="566928" y="4892040"/>
            <a:ext cx="11057839" cy="713232"/>
          </a:xfrm>
          <a:prstGeom prst="roundRect">
            <a:avLst>
              <a:gd name="adj" fmla="val 6000"/>
            </a:avLst>
          </a:prstGeom>
          <a:solidFill>
            <a:srgbClr val="FFFFFF"/>
          </a:solidFill>
          <a:ln>
            <a:noFill/>
          </a:ln>
        </p:spPr>
        <p:txBody>
          <a:bodyPr rtlCol="0" anchor="ctr"/>
          <a:lstStyle/>
          <a:p>
            <a:pPr algn="ctr"/>
          </a:p>
        </p:txBody>
      </p:sp>
      <p:sp>
        <p:nvSpPr>
          <p:cNvPr id="43" name="TextBox 42"/>
          <p:cNvSpPr txBox="1"/>
          <p:nvPr/>
        </p:nvSpPr>
        <p:spPr>
          <a:xfrm>
            <a:off x="795528" y="4892040"/>
            <a:ext cx="10600639" cy="713232"/>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How we prove it:  </a:t>
            </a:r>
            <a:r>
              <a:rPr sz="1300" b="0">
                <a:solidFill>
                  <a:srgbClr val="1C1C1C"/>
                </a:solidFill>
                <a:latin typeface="Arial"/>
              </a:rPr>
              <a:t>a test fails the build if the core logic imports any AI or database code. The model only ever returns text.</a:t>
            </a:r>
          </a:p>
        </p:txBody>
      </p:sp>
      <p:sp>
        <p:nvSpPr>
          <p:cNvPr id="44" name="TextBox 43"/>
          <p:cNvSpPr txBox="1"/>
          <p:nvPr/>
        </p:nvSpPr>
        <p:spPr>
          <a:xfrm>
            <a:off x="566928" y="5815584"/>
            <a:ext cx="731520" cy="274320"/>
          </a:xfrm>
          <a:prstGeom prst="rect">
            <a:avLst/>
          </a:prstGeom>
          <a:noFill/>
        </p:spPr>
        <p:txBody>
          <a:bodyPr wrap="square" lIns="0" rIns="0" tIns="0" bIns="0" anchor="ctr">
            <a:spAutoFit/>
          </a:bodyPr>
          <a:lstStyle/>
          <a:p>
            <a:pPr>
              <a:lnSpc>
                <a:spcPct val="130000"/>
              </a:lnSpc>
              <a:spcBef>
                <a:spcPts val="0"/>
              </a:spcBef>
              <a:spcAft>
                <a:spcPts val="0"/>
              </a:spcAft>
            </a:pPr>
            <a:r>
              <a:rPr sz="950" b="1" spc="120">
                <a:solidFill>
                  <a:srgbClr val="5B6675"/>
                </a:solidFill>
                <a:latin typeface="Arial"/>
              </a:rPr>
              <a:t>STACK</a:t>
            </a:r>
          </a:p>
        </p:txBody>
      </p:sp>
      <p:sp>
        <p:nvSpPr>
          <p:cNvPr id="45" name="Rounded Rectangle 44"/>
          <p:cNvSpPr/>
          <p:nvPr/>
        </p:nvSpPr>
        <p:spPr>
          <a:xfrm>
            <a:off x="1298448" y="5815584"/>
            <a:ext cx="1033272" cy="274320"/>
          </a:xfrm>
          <a:prstGeom prst="roundRect">
            <a:avLst>
              <a:gd name="adj" fmla="val 50000"/>
            </a:avLst>
          </a:prstGeom>
          <a:solidFill>
            <a:srgbClr val="FFFFFF"/>
          </a:solidFill>
          <a:ln>
            <a:noFill/>
          </a:ln>
        </p:spPr>
        <p:txBody>
          <a:bodyPr rtlCol="0" anchor="ctr"/>
          <a:lstStyle/>
          <a:p>
            <a:pPr algn="ctr"/>
          </a:p>
        </p:txBody>
      </p:sp>
      <p:sp>
        <p:nvSpPr>
          <p:cNvPr id="46" name="TextBox 45"/>
          <p:cNvSpPr txBox="1"/>
          <p:nvPr/>
        </p:nvSpPr>
        <p:spPr>
          <a:xfrm>
            <a:off x="1298448" y="5815584"/>
            <a:ext cx="1033272"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Next.js 16</a:t>
            </a:r>
          </a:p>
        </p:txBody>
      </p:sp>
      <p:sp>
        <p:nvSpPr>
          <p:cNvPr id="47" name="Rounded Rectangle 46"/>
          <p:cNvSpPr/>
          <p:nvPr/>
        </p:nvSpPr>
        <p:spPr>
          <a:xfrm>
            <a:off x="2441448" y="5815584"/>
            <a:ext cx="877824" cy="274320"/>
          </a:xfrm>
          <a:prstGeom prst="roundRect">
            <a:avLst>
              <a:gd name="adj" fmla="val 50000"/>
            </a:avLst>
          </a:prstGeom>
          <a:solidFill>
            <a:srgbClr val="FFFFFF"/>
          </a:solidFill>
          <a:ln>
            <a:noFill/>
          </a:ln>
        </p:spPr>
        <p:txBody>
          <a:bodyPr rtlCol="0" anchor="ctr"/>
          <a:lstStyle/>
          <a:p>
            <a:pPr algn="ctr"/>
          </a:p>
        </p:txBody>
      </p:sp>
      <p:sp>
        <p:nvSpPr>
          <p:cNvPr id="48" name="TextBox 47"/>
          <p:cNvSpPr txBox="1"/>
          <p:nvPr/>
        </p:nvSpPr>
        <p:spPr>
          <a:xfrm>
            <a:off x="2441448" y="5815584"/>
            <a:ext cx="8778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React 19</a:t>
            </a:r>
          </a:p>
        </p:txBody>
      </p:sp>
      <p:sp>
        <p:nvSpPr>
          <p:cNvPr id="49" name="Rounded Rectangle 48"/>
          <p:cNvSpPr/>
          <p:nvPr/>
        </p:nvSpPr>
        <p:spPr>
          <a:xfrm>
            <a:off x="3429000" y="5815584"/>
            <a:ext cx="800100" cy="274320"/>
          </a:xfrm>
          <a:prstGeom prst="roundRect">
            <a:avLst>
              <a:gd name="adj" fmla="val 50000"/>
            </a:avLst>
          </a:prstGeom>
          <a:solidFill>
            <a:srgbClr val="FFFFFF"/>
          </a:solidFill>
          <a:ln>
            <a:noFill/>
          </a:ln>
        </p:spPr>
        <p:txBody>
          <a:bodyPr rtlCol="0" anchor="ctr"/>
          <a:lstStyle/>
          <a:p>
            <a:pPr algn="ctr"/>
          </a:p>
        </p:txBody>
      </p:sp>
      <p:sp>
        <p:nvSpPr>
          <p:cNvPr id="50" name="TextBox 49"/>
          <p:cNvSpPr txBox="1"/>
          <p:nvPr/>
        </p:nvSpPr>
        <p:spPr>
          <a:xfrm>
            <a:off x="3429000" y="5815584"/>
            <a:ext cx="800100"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FastAPI</a:t>
            </a:r>
          </a:p>
        </p:txBody>
      </p:sp>
      <p:sp>
        <p:nvSpPr>
          <p:cNvPr id="51" name="Rounded Rectangle 50"/>
          <p:cNvSpPr/>
          <p:nvPr/>
        </p:nvSpPr>
        <p:spPr>
          <a:xfrm>
            <a:off x="4338828" y="5815584"/>
            <a:ext cx="1110996" cy="274320"/>
          </a:xfrm>
          <a:prstGeom prst="roundRect">
            <a:avLst>
              <a:gd name="adj" fmla="val 50000"/>
            </a:avLst>
          </a:prstGeom>
          <a:solidFill>
            <a:srgbClr val="FFFFFF"/>
          </a:solidFill>
          <a:ln>
            <a:noFill/>
          </a:ln>
        </p:spPr>
        <p:txBody>
          <a:bodyPr rtlCol="0" anchor="ctr"/>
          <a:lstStyle/>
          <a:p>
            <a:pPr algn="ctr"/>
          </a:p>
        </p:txBody>
      </p:sp>
      <p:sp>
        <p:nvSpPr>
          <p:cNvPr id="52" name="TextBox 51"/>
          <p:cNvSpPr txBox="1"/>
          <p:nvPr/>
        </p:nvSpPr>
        <p:spPr>
          <a:xfrm>
            <a:off x="4338828" y="5815584"/>
            <a:ext cx="1110996"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Python 3.13</a:t>
            </a:r>
          </a:p>
        </p:txBody>
      </p:sp>
      <p:sp>
        <p:nvSpPr>
          <p:cNvPr id="53" name="Rounded Rectangle 52"/>
          <p:cNvSpPr/>
          <p:nvPr/>
        </p:nvSpPr>
        <p:spPr>
          <a:xfrm>
            <a:off x="5559552" y="5815584"/>
            <a:ext cx="1110996" cy="274320"/>
          </a:xfrm>
          <a:prstGeom prst="roundRect">
            <a:avLst>
              <a:gd name="adj" fmla="val 50000"/>
            </a:avLst>
          </a:prstGeom>
          <a:solidFill>
            <a:srgbClr val="FFFFFF"/>
          </a:solidFill>
          <a:ln>
            <a:noFill/>
          </a:ln>
        </p:spPr>
        <p:txBody>
          <a:bodyPr rtlCol="0" anchor="ctr"/>
          <a:lstStyle/>
          <a:p>
            <a:pPr algn="ctr"/>
          </a:p>
        </p:txBody>
      </p:sp>
      <p:sp>
        <p:nvSpPr>
          <p:cNvPr id="54" name="TextBox 53"/>
          <p:cNvSpPr txBox="1"/>
          <p:nvPr/>
        </p:nvSpPr>
        <p:spPr>
          <a:xfrm>
            <a:off x="5559552" y="5815584"/>
            <a:ext cx="1110996"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Postgres 17</a:t>
            </a:r>
          </a:p>
        </p:txBody>
      </p:sp>
      <p:sp>
        <p:nvSpPr>
          <p:cNvPr id="55" name="Rounded Rectangle 54"/>
          <p:cNvSpPr/>
          <p:nvPr/>
        </p:nvSpPr>
        <p:spPr>
          <a:xfrm>
            <a:off x="6780276" y="5815584"/>
            <a:ext cx="722376" cy="274320"/>
          </a:xfrm>
          <a:prstGeom prst="roundRect">
            <a:avLst>
              <a:gd name="adj" fmla="val 50000"/>
            </a:avLst>
          </a:prstGeom>
          <a:solidFill>
            <a:srgbClr val="FFFFFF"/>
          </a:solidFill>
          <a:ln>
            <a:noFill/>
          </a:ln>
        </p:spPr>
        <p:txBody>
          <a:bodyPr rtlCol="0" anchor="ctr"/>
          <a:lstStyle/>
          <a:p>
            <a:pPr algn="ctr"/>
          </a:p>
        </p:txBody>
      </p:sp>
      <p:sp>
        <p:nvSpPr>
          <p:cNvPr id="56" name="TextBox 55"/>
          <p:cNvSpPr txBox="1"/>
          <p:nvPr/>
        </p:nvSpPr>
        <p:spPr>
          <a:xfrm>
            <a:off x="6780276" y="5815584"/>
            <a:ext cx="722376"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Sarvam</a:t>
            </a:r>
          </a:p>
        </p:txBody>
      </p:sp>
      <p:sp>
        <p:nvSpPr>
          <p:cNvPr id="57" name="Rounded Rectangle 56"/>
          <p:cNvSpPr/>
          <p:nvPr/>
        </p:nvSpPr>
        <p:spPr>
          <a:xfrm>
            <a:off x="7612380" y="5815584"/>
            <a:ext cx="722376" cy="274320"/>
          </a:xfrm>
          <a:prstGeom prst="roundRect">
            <a:avLst>
              <a:gd name="adj" fmla="val 50000"/>
            </a:avLst>
          </a:prstGeom>
          <a:solidFill>
            <a:srgbClr val="FFFFFF"/>
          </a:solidFill>
          <a:ln>
            <a:noFill/>
          </a:ln>
        </p:spPr>
        <p:txBody>
          <a:bodyPr rtlCol="0" anchor="ctr"/>
          <a:lstStyle/>
          <a:p>
            <a:pPr algn="ctr"/>
          </a:p>
        </p:txBody>
      </p:sp>
      <p:sp>
        <p:nvSpPr>
          <p:cNvPr id="58" name="TextBox 57"/>
          <p:cNvSpPr txBox="1"/>
          <p:nvPr/>
        </p:nvSpPr>
        <p:spPr>
          <a:xfrm>
            <a:off x="7612380" y="5815584"/>
            <a:ext cx="722376"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Cognee</a:t>
            </a:r>
          </a:p>
        </p:txBody>
      </p:sp>
      <p:sp>
        <p:nvSpPr>
          <p:cNvPr id="59" name="Rounded Rectangle 58"/>
          <p:cNvSpPr/>
          <p:nvPr/>
        </p:nvSpPr>
        <p:spPr>
          <a:xfrm>
            <a:off x="8444484" y="5815584"/>
            <a:ext cx="489204" cy="274320"/>
          </a:xfrm>
          <a:prstGeom prst="roundRect">
            <a:avLst>
              <a:gd name="adj" fmla="val 50000"/>
            </a:avLst>
          </a:prstGeom>
          <a:solidFill>
            <a:srgbClr val="FFFFFF"/>
          </a:solidFill>
          <a:ln>
            <a:noFill/>
          </a:ln>
        </p:spPr>
        <p:txBody>
          <a:bodyPr rtlCol="0" anchor="ctr"/>
          <a:lstStyle/>
          <a:p>
            <a:pPr algn="ctr"/>
          </a:p>
        </p:txBody>
      </p:sp>
      <p:sp>
        <p:nvSpPr>
          <p:cNvPr id="60" name="TextBox 59"/>
          <p:cNvSpPr txBox="1"/>
          <p:nvPr/>
        </p:nvSpPr>
        <p:spPr>
          <a:xfrm>
            <a:off x="8444484" y="5815584"/>
            <a:ext cx="489204"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n8n</a:t>
            </a:r>
          </a:p>
        </p:txBody>
      </p:sp>
      <p:sp>
        <p:nvSpPr>
          <p:cNvPr id="61" name="TextBox 6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4 · UNIQUE SELLING PROPOSITION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Every udhaar app serves the shopkeeper. We add the customer.</a:t>
            </a:r>
          </a:p>
        </p:txBody>
      </p:sp>
      <p:sp>
        <p:nvSpPr>
          <p:cNvPr id="5" name="TextBox 4"/>
          <p:cNvSpPr txBox="1"/>
          <p:nvPr/>
        </p:nvSpPr>
        <p:spPr>
          <a:xfrm>
            <a:off x="566928" y="1645920"/>
            <a:ext cx="27432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
            </a:r>
          </a:p>
        </p:txBody>
      </p:sp>
      <p:sp>
        <p:nvSpPr>
          <p:cNvPr id="6" name="TextBox 5"/>
          <p:cNvSpPr txBox="1"/>
          <p:nvPr/>
        </p:nvSpPr>
        <p:spPr>
          <a:xfrm>
            <a:off x="3310128" y="1645920"/>
            <a:ext cx="23774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DOWNLOADS</a:t>
            </a:r>
          </a:p>
        </p:txBody>
      </p:sp>
      <p:sp>
        <p:nvSpPr>
          <p:cNvPr id="7" name="TextBox 6"/>
          <p:cNvSpPr txBox="1"/>
          <p:nvPr/>
        </p:nvSpPr>
        <p:spPr>
          <a:xfrm>
            <a:off x="5687568" y="1645920"/>
            <a:ext cx="30632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HAS AN APP</a:t>
            </a:r>
          </a:p>
        </p:txBody>
      </p:sp>
      <p:sp>
        <p:nvSpPr>
          <p:cNvPr id="8" name="TextBox 7"/>
          <p:cNvSpPr txBox="1"/>
          <p:nvPr/>
        </p:nvSpPr>
        <p:spPr>
          <a:xfrm>
            <a:off x="8750808" y="1645920"/>
            <a:ext cx="2871216"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CONFIRMS ENTRIES</a:t>
            </a:r>
          </a:p>
        </p:txBody>
      </p:sp>
      <p:sp>
        <p:nvSpPr>
          <p:cNvPr id="9" name="Rectangle 8"/>
          <p:cNvSpPr/>
          <p:nvPr/>
        </p:nvSpPr>
        <p:spPr>
          <a:xfrm>
            <a:off x="566928" y="1956816"/>
            <a:ext cx="11057839" cy="19050"/>
          </a:xfrm>
          <a:prstGeom prst="rect">
            <a:avLst/>
          </a:prstGeom>
          <a:solidFill>
            <a:srgbClr val="00BAF2"/>
          </a:solidFill>
          <a:ln>
            <a:noFill/>
          </a:ln>
        </p:spPr>
        <p:txBody>
          <a:bodyPr rtlCol="0" anchor="ctr"/>
          <a:lstStyle/>
          <a:p>
            <a:pPr algn="ctr"/>
          </a:p>
        </p:txBody>
      </p:sp>
      <p:sp>
        <p:nvSpPr>
          <p:cNvPr id="10" name="TextBox 9"/>
          <p:cNvSpPr txBox="1"/>
          <p:nvPr/>
        </p:nvSpPr>
        <p:spPr>
          <a:xfrm>
            <a:off x="566928" y="20299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Khatabook</a:t>
            </a:r>
          </a:p>
        </p:txBody>
      </p:sp>
      <p:sp>
        <p:nvSpPr>
          <p:cNvPr id="11" name="TextBox 10"/>
          <p:cNvSpPr txBox="1"/>
          <p:nvPr/>
        </p:nvSpPr>
        <p:spPr>
          <a:xfrm>
            <a:off x="3328416" y="20299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5 Cr+</a:t>
            </a:r>
          </a:p>
        </p:txBody>
      </p:sp>
      <p:sp>
        <p:nvSpPr>
          <p:cNvPr id="12" name="TextBox 11"/>
          <p:cNvSpPr txBox="1"/>
          <p:nvPr/>
        </p:nvSpPr>
        <p:spPr>
          <a:xfrm>
            <a:off x="5705856" y="20299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 WhatsApp</a:t>
            </a:r>
          </a:p>
        </p:txBody>
      </p:sp>
      <p:sp>
        <p:nvSpPr>
          <p:cNvPr id="13" name="TextBox 12"/>
          <p:cNvSpPr txBox="1"/>
          <p:nvPr/>
        </p:nvSpPr>
        <p:spPr>
          <a:xfrm>
            <a:off x="8769096" y="20299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4" name="Rectangle 13"/>
          <p:cNvSpPr/>
          <p:nvPr/>
        </p:nvSpPr>
        <p:spPr>
          <a:xfrm>
            <a:off x="566928" y="2480818"/>
            <a:ext cx="11057839" cy="9525"/>
          </a:xfrm>
          <a:prstGeom prst="rect">
            <a:avLst/>
          </a:prstGeom>
          <a:solidFill>
            <a:srgbClr val="D9E4EC"/>
          </a:solidFill>
          <a:ln>
            <a:noFill/>
          </a:ln>
        </p:spPr>
        <p:txBody>
          <a:bodyPr rtlCol="0" anchor="ctr"/>
          <a:lstStyle/>
          <a:p>
            <a:pPr algn="ctr"/>
          </a:p>
        </p:txBody>
      </p:sp>
      <p:sp>
        <p:nvSpPr>
          <p:cNvPr id="15" name="TextBox 14"/>
          <p:cNvSpPr txBox="1"/>
          <p:nvPr/>
        </p:nvSpPr>
        <p:spPr>
          <a:xfrm>
            <a:off x="566928" y="24871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OkCredit</a:t>
            </a:r>
          </a:p>
        </p:txBody>
      </p:sp>
      <p:sp>
        <p:nvSpPr>
          <p:cNvPr id="16" name="TextBox 15"/>
          <p:cNvSpPr txBox="1"/>
          <p:nvPr/>
        </p:nvSpPr>
        <p:spPr>
          <a:xfrm>
            <a:off x="3328416" y="24871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 Cr+</a:t>
            </a:r>
          </a:p>
        </p:txBody>
      </p:sp>
      <p:sp>
        <p:nvSpPr>
          <p:cNvPr id="17" name="TextBox 16"/>
          <p:cNvSpPr txBox="1"/>
          <p:nvPr/>
        </p:nvSpPr>
        <p:spPr>
          <a:xfrm>
            <a:off x="5705856" y="24871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“They don’t need the app”</a:t>
            </a:r>
          </a:p>
        </p:txBody>
      </p:sp>
      <p:sp>
        <p:nvSpPr>
          <p:cNvPr id="18" name="TextBox 17"/>
          <p:cNvSpPr txBox="1"/>
          <p:nvPr/>
        </p:nvSpPr>
        <p:spPr>
          <a:xfrm>
            <a:off x="8769096" y="24871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9" name="Rectangle 18"/>
          <p:cNvSpPr/>
          <p:nvPr/>
        </p:nvSpPr>
        <p:spPr>
          <a:xfrm>
            <a:off x="566928" y="2938018"/>
            <a:ext cx="11057839" cy="9525"/>
          </a:xfrm>
          <a:prstGeom prst="rect">
            <a:avLst/>
          </a:prstGeom>
          <a:solidFill>
            <a:srgbClr val="D9E4EC"/>
          </a:solidFill>
          <a:ln>
            <a:noFill/>
          </a:ln>
        </p:spPr>
        <p:txBody>
          <a:bodyPr rtlCol="0" anchor="ctr"/>
          <a:lstStyle/>
          <a:p>
            <a:pPr algn="ctr"/>
          </a:p>
        </p:txBody>
      </p:sp>
      <p:sp>
        <p:nvSpPr>
          <p:cNvPr id="20" name="TextBox 19"/>
          <p:cNvSpPr txBox="1"/>
          <p:nvPr/>
        </p:nvSpPr>
        <p:spPr>
          <a:xfrm>
            <a:off x="566928" y="29443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Paytm Business Khata</a:t>
            </a:r>
          </a:p>
        </p:txBody>
      </p:sp>
      <p:sp>
        <p:nvSpPr>
          <p:cNvPr id="21" name="TextBox 20"/>
          <p:cNvSpPr txBox="1"/>
          <p:nvPr/>
        </p:nvSpPr>
        <p:spPr>
          <a:xfrm>
            <a:off x="3328416" y="29443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Inside Paytm for Business</a:t>
            </a:r>
          </a:p>
        </p:txBody>
      </p:sp>
      <p:sp>
        <p:nvSpPr>
          <p:cNvPr id="22" name="TextBox 21"/>
          <p:cNvSpPr txBox="1"/>
          <p:nvPr/>
        </p:nvSpPr>
        <p:spPr>
          <a:xfrm>
            <a:off x="5705856" y="29443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with a pay link</a:t>
            </a:r>
          </a:p>
        </p:txBody>
      </p:sp>
      <p:sp>
        <p:nvSpPr>
          <p:cNvPr id="23" name="TextBox 22"/>
          <p:cNvSpPr txBox="1"/>
          <p:nvPr/>
        </p:nvSpPr>
        <p:spPr>
          <a:xfrm>
            <a:off x="8769096" y="29443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24" name="Rectangle 23"/>
          <p:cNvSpPr/>
          <p:nvPr/>
        </p:nvSpPr>
        <p:spPr>
          <a:xfrm>
            <a:off x="566928" y="3395218"/>
            <a:ext cx="11057839" cy="9525"/>
          </a:xfrm>
          <a:prstGeom prst="rect">
            <a:avLst/>
          </a:prstGeom>
          <a:solidFill>
            <a:srgbClr val="D9E4EC"/>
          </a:solidFill>
          <a:ln>
            <a:noFill/>
          </a:ln>
        </p:spPr>
        <p:txBody>
          <a:bodyPr rtlCol="0" anchor="ctr"/>
          <a:lstStyle/>
          <a:p>
            <a:pPr algn="ctr"/>
          </a:p>
        </p:txBody>
      </p:sp>
      <p:sp>
        <p:nvSpPr>
          <p:cNvPr id="25" name="TextBox 24"/>
          <p:cNvSpPr txBox="1"/>
          <p:nvPr/>
        </p:nvSpPr>
        <p:spPr>
          <a:xfrm>
            <a:off x="566928" y="34015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Done</a:t>
            </a:r>
          </a:p>
        </p:txBody>
      </p:sp>
      <p:sp>
        <p:nvSpPr>
          <p:cNvPr id="26" name="TextBox 25"/>
          <p:cNvSpPr txBox="1"/>
          <p:nvPr/>
        </p:nvSpPr>
        <p:spPr>
          <a:xfrm>
            <a:off x="3328416" y="34015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100+</a:t>
            </a:r>
          </a:p>
        </p:txBody>
      </p:sp>
      <p:sp>
        <p:nvSpPr>
          <p:cNvPr id="27" name="TextBox 26"/>
          <p:cNvSpPr txBox="1"/>
          <p:nvPr/>
        </p:nvSpPr>
        <p:spPr>
          <a:xfrm>
            <a:off x="5705856" y="34015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a:t>
            </a:r>
          </a:p>
        </p:txBody>
      </p:sp>
      <p:sp>
        <p:nvSpPr>
          <p:cNvPr id="28" name="TextBox 27"/>
          <p:cNvSpPr txBox="1"/>
          <p:nvPr/>
        </p:nvSpPr>
        <p:spPr>
          <a:xfrm>
            <a:off x="8769096" y="34015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 — by OTP</a:t>
            </a:r>
          </a:p>
        </p:txBody>
      </p:sp>
      <p:sp>
        <p:nvSpPr>
          <p:cNvPr id="29" name="Rectangle 28"/>
          <p:cNvSpPr/>
          <p:nvPr/>
        </p:nvSpPr>
        <p:spPr>
          <a:xfrm>
            <a:off x="566928" y="3852418"/>
            <a:ext cx="11057839" cy="9525"/>
          </a:xfrm>
          <a:prstGeom prst="rect">
            <a:avLst/>
          </a:prstGeom>
          <a:solidFill>
            <a:srgbClr val="D9E4EC"/>
          </a:solidFill>
          <a:ln>
            <a:noFill/>
          </a:ln>
        </p:spPr>
        <p:txBody>
          <a:bodyPr rtlCol="0" anchor="ctr"/>
          <a:lstStyle/>
          <a:p>
            <a:pPr algn="ctr"/>
          </a:p>
        </p:txBody>
      </p:sp>
      <p:sp>
        <p:nvSpPr>
          <p:cNvPr id="30" name="Rounded Rectangle 29"/>
          <p:cNvSpPr/>
          <p:nvPr/>
        </p:nvSpPr>
        <p:spPr>
          <a:xfrm>
            <a:off x="475488" y="3858768"/>
            <a:ext cx="11240719" cy="457200"/>
          </a:xfrm>
          <a:prstGeom prst="roundRect">
            <a:avLst>
              <a:gd name="adj" fmla="val 20000"/>
            </a:avLst>
          </a:prstGeom>
          <a:solidFill>
            <a:srgbClr val="FFFFFF"/>
          </a:solidFill>
          <a:ln>
            <a:noFill/>
          </a:ln>
        </p:spPr>
        <p:txBody>
          <a:bodyPr rtlCol="0" anchor="ctr"/>
          <a:lstStyle/>
          <a:p>
            <a:pPr algn="ctr"/>
          </a:p>
        </p:txBody>
      </p:sp>
      <p:sp>
        <p:nvSpPr>
          <p:cNvPr id="31" name="TextBox 30"/>
          <p:cNvSpPr txBox="1"/>
          <p:nvPr/>
        </p:nvSpPr>
        <p:spPr>
          <a:xfrm>
            <a:off x="566928" y="38587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BAHI</a:t>
            </a:r>
          </a:p>
        </p:txBody>
      </p:sp>
      <p:sp>
        <p:nvSpPr>
          <p:cNvPr id="32" name="TextBox 31"/>
          <p:cNvSpPr txBox="1"/>
          <p:nvPr/>
        </p:nvSpPr>
        <p:spPr>
          <a:xfrm>
            <a:off x="3328416" y="38587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5B6675"/>
                </a:solidFill>
                <a:latin typeface="Arial"/>
              </a:rPr>
              <a:t>—</a:t>
            </a:r>
          </a:p>
        </p:txBody>
      </p:sp>
      <p:sp>
        <p:nvSpPr>
          <p:cNvPr id="33" name="TextBox 32"/>
          <p:cNvSpPr txBox="1"/>
          <p:nvPr/>
        </p:nvSpPr>
        <p:spPr>
          <a:xfrm>
            <a:off x="5705856" y="38587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inside the Paytm app</a:t>
            </a:r>
          </a:p>
        </p:txBody>
      </p:sp>
      <p:sp>
        <p:nvSpPr>
          <p:cNvPr id="34" name="TextBox 33"/>
          <p:cNvSpPr txBox="1"/>
          <p:nvPr/>
        </p:nvSpPr>
        <p:spPr>
          <a:xfrm>
            <a:off x="8769096" y="38587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one tap</a:t>
            </a:r>
          </a:p>
        </p:txBody>
      </p:sp>
      <p:sp>
        <p:nvSpPr>
          <p:cNvPr id="35" name="Rounded Rectangle 34"/>
          <p:cNvSpPr/>
          <p:nvPr/>
        </p:nvSpPr>
        <p:spPr>
          <a:xfrm>
            <a:off x="566928" y="4617720"/>
            <a:ext cx="3503066" cy="1417320"/>
          </a:xfrm>
          <a:prstGeom prst="roundRect">
            <a:avLst>
              <a:gd name="adj" fmla="val 6000"/>
            </a:avLst>
          </a:prstGeom>
          <a:solidFill>
            <a:srgbClr val="FFFFFF"/>
          </a:solidFill>
          <a:ln>
            <a:noFill/>
          </a:ln>
        </p:spPr>
        <p:txBody>
          <a:bodyPr rtlCol="0" anchor="ctr"/>
          <a:lstStyle/>
          <a:p>
            <a:pPr algn="ctr"/>
          </a:p>
        </p:txBody>
      </p:sp>
      <p:sp>
        <p:nvSpPr>
          <p:cNvPr id="36" name="Rectangle 35"/>
          <p:cNvSpPr/>
          <p:nvPr/>
        </p:nvSpPr>
        <p:spPr>
          <a:xfrm>
            <a:off x="795528" y="4828032"/>
            <a:ext cx="365760" cy="38100"/>
          </a:xfrm>
          <a:prstGeom prst="rect">
            <a:avLst/>
          </a:prstGeom>
          <a:solidFill>
            <a:srgbClr val="00BAF2"/>
          </a:solidFill>
          <a:ln>
            <a:noFill/>
          </a:ln>
        </p:spPr>
        <p:txBody>
          <a:bodyPr rtlCol="0" anchor="ctr"/>
          <a:lstStyle/>
          <a:p>
            <a:pPr algn="ctr"/>
          </a:p>
        </p:txBody>
      </p:sp>
      <p:sp>
        <p:nvSpPr>
          <p:cNvPr id="37" name="TextBox 36"/>
          <p:cNvSpPr txBox="1"/>
          <p:nvPr/>
        </p:nvSpPr>
        <p:spPr>
          <a:xfrm>
            <a:off x="795528"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Two-sided</a:t>
            </a:r>
          </a:p>
          <a:p>
            <a:pPr>
              <a:lnSpc>
                <a:spcPct val="135000"/>
              </a:lnSpc>
              <a:spcBef>
                <a:spcPts val="500"/>
              </a:spcBef>
              <a:spcAft>
                <a:spcPts val="0"/>
              </a:spcAft>
            </a:pPr>
            <a:r>
              <a:rPr sz="1250" b="0">
                <a:solidFill>
                  <a:srgbClr val="5B6675"/>
                </a:solidFill>
                <a:latin typeface="Arial"/>
              </a:rPr>
              <a:t>An entry becomes a fact only when the customer confirms it.</a:t>
            </a:r>
          </a:p>
        </p:txBody>
      </p:sp>
      <p:sp>
        <p:nvSpPr>
          <p:cNvPr id="38" name="Rounded Rectangle 37"/>
          <p:cNvSpPr/>
          <p:nvPr/>
        </p:nvSpPr>
        <p:spPr>
          <a:xfrm>
            <a:off x="4344314" y="4617720"/>
            <a:ext cx="3503066" cy="1417320"/>
          </a:xfrm>
          <a:prstGeom prst="roundRect">
            <a:avLst>
              <a:gd name="adj" fmla="val 6000"/>
            </a:avLst>
          </a:prstGeom>
          <a:solidFill>
            <a:srgbClr val="FFFFFF"/>
          </a:solidFill>
          <a:ln>
            <a:noFill/>
          </a:ln>
        </p:spPr>
        <p:txBody>
          <a:bodyPr rtlCol="0" anchor="ctr"/>
          <a:lstStyle/>
          <a:p>
            <a:pPr algn="ctr"/>
          </a:p>
        </p:txBody>
      </p:sp>
      <p:sp>
        <p:nvSpPr>
          <p:cNvPr id="39" name="Rectangle 38"/>
          <p:cNvSpPr/>
          <p:nvPr/>
        </p:nvSpPr>
        <p:spPr>
          <a:xfrm>
            <a:off x="4572914" y="4828032"/>
            <a:ext cx="365760" cy="38100"/>
          </a:xfrm>
          <a:prstGeom prst="rect">
            <a:avLst/>
          </a:prstGeom>
          <a:solidFill>
            <a:srgbClr val="00BAF2"/>
          </a:solidFill>
          <a:ln>
            <a:noFill/>
          </a:ln>
        </p:spPr>
        <p:txBody>
          <a:bodyPr rtlCol="0" anchor="ctr"/>
          <a:lstStyle/>
          <a:p>
            <a:pPr algn="ctr"/>
          </a:p>
        </p:txBody>
      </p:sp>
      <p:sp>
        <p:nvSpPr>
          <p:cNvPr id="40" name="TextBox 39"/>
          <p:cNvSpPr txBox="1"/>
          <p:nvPr/>
        </p:nvSpPr>
        <p:spPr>
          <a:xfrm>
            <a:off x="4572914"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Scan, then speak</a:t>
            </a:r>
          </a:p>
          <a:p>
            <a:pPr>
              <a:lnSpc>
                <a:spcPct val="135000"/>
              </a:lnSpc>
              <a:spcBef>
                <a:spcPts val="500"/>
              </a:spcBef>
              <a:spcAft>
                <a:spcPts val="0"/>
              </a:spcAft>
            </a:pPr>
            <a:r>
              <a:rPr sz="1250" b="0">
                <a:solidFill>
                  <a:srgbClr val="5B6675"/>
                </a:solidFill>
                <a:latin typeface="Arial"/>
              </a:rPr>
              <a:t>The QR says who, his voice says how much. Nothing to type.</a:t>
            </a:r>
          </a:p>
        </p:txBody>
      </p:sp>
      <p:sp>
        <p:nvSpPr>
          <p:cNvPr id="41" name="Rounded Rectangle 40"/>
          <p:cNvSpPr/>
          <p:nvPr/>
        </p:nvSpPr>
        <p:spPr>
          <a:xfrm>
            <a:off x="8121700" y="4617720"/>
            <a:ext cx="3503066" cy="1417320"/>
          </a:xfrm>
          <a:prstGeom prst="roundRect">
            <a:avLst>
              <a:gd name="adj" fmla="val 6000"/>
            </a:avLst>
          </a:prstGeom>
          <a:solidFill>
            <a:srgbClr val="FFFFFF"/>
          </a:solidFill>
          <a:ln>
            <a:noFill/>
          </a:ln>
        </p:spPr>
        <p:txBody>
          <a:bodyPr rtlCol="0" anchor="ctr"/>
          <a:lstStyle/>
          <a:p>
            <a:pPr algn="ctr"/>
          </a:p>
        </p:txBody>
      </p:sp>
      <p:sp>
        <p:nvSpPr>
          <p:cNvPr id="42" name="Rectangle 41"/>
          <p:cNvSpPr/>
          <p:nvPr/>
        </p:nvSpPr>
        <p:spPr>
          <a:xfrm>
            <a:off x="8350300" y="4828032"/>
            <a:ext cx="365760" cy="38100"/>
          </a:xfrm>
          <a:prstGeom prst="rect">
            <a:avLst/>
          </a:prstGeom>
          <a:solidFill>
            <a:srgbClr val="00BAF2"/>
          </a:solidFill>
          <a:ln>
            <a:noFill/>
          </a:ln>
        </p:spPr>
        <p:txBody>
          <a:bodyPr rtlCol="0" anchor="ctr"/>
          <a:lstStyle/>
          <a:p>
            <a:pPr algn="ctr"/>
          </a:p>
        </p:txBody>
      </p:sp>
      <p:sp>
        <p:nvSpPr>
          <p:cNvPr id="43" name="TextBox 42"/>
          <p:cNvSpPr txBox="1"/>
          <p:nvPr/>
        </p:nvSpPr>
        <p:spPr>
          <a:xfrm>
            <a:off x="8350300"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Timed per person</a:t>
            </a:r>
          </a:p>
          <a:p>
            <a:pPr>
              <a:lnSpc>
                <a:spcPct val="135000"/>
              </a:lnSpc>
              <a:spcBef>
                <a:spcPts val="500"/>
              </a:spcBef>
              <a:spcAft>
                <a:spcPts val="0"/>
              </a:spcAft>
            </a:pPr>
            <a:r>
              <a:rPr sz="1250" b="0">
                <a:solidFill>
                  <a:srgbClr val="5B6675"/>
                </a:solidFill>
                <a:latin typeface="Arial"/>
              </a:rPr>
              <a:t>Reminders follow each customer’s own repayment pattern.</a:t>
            </a:r>
          </a:p>
        </p:txBody>
      </p:sp>
      <p:sp>
        <p:nvSpPr>
          <p:cNvPr id="44" name="TextBox 4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Sources: Google Play listings, okcredit.in, khatabook.com and business.paytm.com, checked 23 Sep 2026.</a:t>
            </a:r>
          </a:p>
        </p:txBody>
      </p:sp>
      <p:sp>
        <p:nvSpPr>
          <p:cNvPr id="45" name="TextBox 4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5 · IMPACT &amp; BENEFITS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Fewer reminders, sent only to people who are actually late.</a:t>
            </a:r>
          </a:p>
        </p:txBody>
      </p:sp>
      <p:sp>
        <p:nvSpPr>
          <p:cNvPr id="5" name="Rounded Rectangle 4"/>
          <p:cNvSpPr/>
          <p:nvPr/>
        </p:nvSpPr>
        <p:spPr>
          <a:xfrm>
            <a:off x="566928" y="1645920"/>
            <a:ext cx="3429000" cy="4434840"/>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2057400"/>
            <a:ext cx="2788920" cy="384048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4 of 38</a:t>
            </a:r>
          </a:p>
          <a:p>
            <a:pPr>
              <a:lnSpc>
                <a:spcPct val="130000"/>
              </a:lnSpc>
              <a:spcBef>
                <a:spcPts val="1400"/>
              </a:spcBef>
              <a:spcAft>
                <a:spcPts val="0"/>
              </a:spcAft>
            </a:pPr>
            <a:r>
              <a:rPr sz="1500" b="1">
                <a:solidFill>
                  <a:srgbClr val="FFFFFF"/>
                </a:solidFill>
                <a:latin typeface="Arial"/>
              </a:rPr>
              <a:t>customers who owe get a reminder tonight.</a:t>
            </a:r>
          </a:p>
          <a:p>
            <a:pPr>
              <a:lnSpc>
                <a:spcPct val="140000"/>
              </a:lnSpc>
              <a:spcBef>
                <a:spcPts val="1200"/>
              </a:spcBef>
              <a:spcAft>
                <a:spcPts val="0"/>
              </a:spcAft>
            </a:pPr>
            <a:r>
              <a:rPr sz="1300" b="0">
                <a:solidFill>
                  <a:srgbClr val="C9D8EE"/>
                </a:solidFill>
                <a:latin typeface="Arial"/>
              </a:rPr>
              <a:t>The other 34 are not late by their own pattern, so they hear nothing.</a:t>
            </a:r>
          </a:p>
        </p:txBody>
      </p:sp>
      <p:sp>
        <p:nvSpPr>
          <p:cNvPr id="7" name="TextBox 6"/>
          <p:cNvSpPr txBox="1"/>
          <p:nvPr/>
        </p:nvSpPr>
        <p:spPr>
          <a:xfrm>
            <a:off x="886968" y="5486400"/>
            <a:ext cx="2788920" cy="45720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Our demo shop: 60 customers, six months of synthetic data.</a:t>
            </a:r>
          </a:p>
        </p:txBody>
      </p:sp>
      <p:sp>
        <p:nvSpPr>
          <p:cNvPr id="8" name="Rounded Rectangle 7"/>
          <p:cNvSpPr/>
          <p:nvPr/>
        </p:nvSpPr>
        <p:spPr>
          <a:xfrm>
            <a:off x="4270248" y="1645920"/>
            <a:ext cx="2293010" cy="443484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449884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4498848"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shopkeeper</a:t>
            </a:r>
          </a:p>
          <a:p>
            <a:pPr>
              <a:lnSpc>
                <a:spcPct val="135000"/>
              </a:lnSpc>
              <a:spcBef>
                <a:spcPts val="1200"/>
              </a:spcBef>
              <a:spcAft>
                <a:spcPts val="0"/>
              </a:spcAft>
            </a:pPr>
            <a:r>
              <a:rPr sz="1300" b="0">
                <a:solidFill>
                  <a:srgbClr val="1C1C1C"/>
                </a:solidFill>
                <a:latin typeface="Arial"/>
              </a:rPr>
              <a:t>Stops chasing people who always pay.</a:t>
            </a:r>
          </a:p>
          <a:p>
            <a:pPr>
              <a:lnSpc>
                <a:spcPct val="135000"/>
              </a:lnSpc>
              <a:spcBef>
                <a:spcPts val="1200"/>
              </a:spcBef>
              <a:spcAft>
                <a:spcPts val="0"/>
              </a:spcAft>
            </a:pPr>
            <a:r>
              <a:rPr sz="1300" b="0">
                <a:solidFill>
                  <a:srgbClr val="1C1C1C"/>
                </a:solidFill>
                <a:latin typeface="Arial"/>
              </a:rPr>
              <a:t>Spots the ones who are drifting.</a:t>
            </a:r>
          </a:p>
          <a:p>
            <a:pPr>
              <a:lnSpc>
                <a:spcPct val="135000"/>
              </a:lnSpc>
              <a:spcBef>
                <a:spcPts val="1200"/>
              </a:spcBef>
              <a:spcAft>
                <a:spcPts val="0"/>
              </a:spcAft>
            </a:pPr>
            <a:r>
              <a:rPr sz="1300" b="0">
                <a:solidFill>
                  <a:srgbClr val="1C1C1C"/>
                </a:solidFill>
                <a:latin typeface="Arial"/>
              </a:rPr>
              <a:t>Records by voice, so the queue keeps moving.</a:t>
            </a:r>
          </a:p>
        </p:txBody>
      </p:sp>
      <p:sp>
        <p:nvSpPr>
          <p:cNvPr id="11" name="Rounded Rectangle 10"/>
          <p:cNvSpPr/>
          <p:nvPr/>
        </p:nvSpPr>
        <p:spPr>
          <a:xfrm>
            <a:off x="6801002" y="1645920"/>
            <a:ext cx="2293010" cy="443484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7029602"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7029602"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customer</a:t>
            </a:r>
          </a:p>
          <a:p>
            <a:pPr>
              <a:lnSpc>
                <a:spcPct val="135000"/>
              </a:lnSpc>
              <a:spcBef>
                <a:spcPts val="1200"/>
              </a:spcBef>
              <a:spcAft>
                <a:spcPts val="0"/>
              </a:spcAft>
            </a:pPr>
            <a:r>
              <a:rPr sz="1300" b="0">
                <a:solidFill>
                  <a:srgbClr val="1C1C1C"/>
                </a:solidFill>
                <a:latin typeface="Arial"/>
              </a:rPr>
              <a:t>Sees his total across every shop.</a:t>
            </a:r>
          </a:p>
          <a:p>
            <a:pPr>
              <a:lnSpc>
                <a:spcPct val="135000"/>
              </a:lnSpc>
              <a:spcBef>
                <a:spcPts val="1200"/>
              </a:spcBef>
              <a:spcAft>
                <a:spcPts val="0"/>
              </a:spcAft>
            </a:pPr>
            <a:r>
              <a:rPr sz="1300" b="0">
                <a:solidFill>
                  <a:srgbClr val="1C1C1C"/>
                </a:solidFill>
                <a:latin typeface="Arial"/>
              </a:rPr>
              <a:t>Has proof of every entry.</a:t>
            </a:r>
          </a:p>
          <a:p>
            <a:pPr>
              <a:lnSpc>
                <a:spcPct val="135000"/>
              </a:lnSpc>
              <a:spcBef>
                <a:spcPts val="1200"/>
              </a:spcBef>
              <a:spcAft>
                <a:spcPts val="0"/>
              </a:spcAft>
            </a:pPr>
            <a:r>
              <a:rPr sz="1300" b="0">
                <a:solidFill>
                  <a:srgbClr val="1C1C1C"/>
                </a:solidFill>
                <a:latin typeface="Arial"/>
              </a:rPr>
              <a:t>Is reminded privately, not at the counter.</a:t>
            </a:r>
          </a:p>
        </p:txBody>
      </p:sp>
      <p:sp>
        <p:nvSpPr>
          <p:cNvPr id="14" name="Rounded Rectangle 13"/>
          <p:cNvSpPr/>
          <p:nvPr/>
        </p:nvSpPr>
        <p:spPr>
          <a:xfrm>
            <a:off x="9331756" y="1645920"/>
            <a:ext cx="2293010" cy="4434840"/>
          </a:xfrm>
          <a:prstGeom prst="roundRect">
            <a:avLst>
              <a:gd name="adj" fmla="val 6000"/>
            </a:avLst>
          </a:prstGeom>
          <a:solidFill>
            <a:srgbClr val="FFFFFF"/>
          </a:solidFill>
          <a:ln>
            <a:noFill/>
          </a:ln>
        </p:spPr>
        <p:txBody>
          <a:bodyPr rtlCol="0" anchor="ctr"/>
          <a:lstStyle/>
          <a:p>
            <a:pPr algn="ctr"/>
          </a:p>
        </p:txBody>
      </p:sp>
      <p:sp>
        <p:nvSpPr>
          <p:cNvPr id="15" name="Rectangle 14"/>
          <p:cNvSpPr/>
          <p:nvPr/>
        </p:nvSpPr>
        <p:spPr>
          <a:xfrm>
            <a:off x="9560356" y="1901952"/>
            <a:ext cx="365760" cy="38100"/>
          </a:xfrm>
          <a:prstGeom prst="rect">
            <a:avLst/>
          </a:prstGeom>
          <a:solidFill>
            <a:srgbClr val="00BAF2"/>
          </a:solidFill>
          <a:ln>
            <a:noFill/>
          </a:ln>
        </p:spPr>
        <p:txBody>
          <a:bodyPr rtlCol="0" anchor="ctr"/>
          <a:lstStyle/>
          <a:p>
            <a:pPr algn="ctr"/>
          </a:p>
        </p:txBody>
      </p:sp>
      <p:sp>
        <p:nvSpPr>
          <p:cNvPr id="16" name="TextBox 15"/>
          <p:cNvSpPr txBox="1"/>
          <p:nvPr/>
        </p:nvSpPr>
        <p:spPr>
          <a:xfrm>
            <a:off x="9560356"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Paytm</a:t>
            </a:r>
          </a:p>
          <a:p>
            <a:pPr>
              <a:lnSpc>
                <a:spcPct val="135000"/>
              </a:lnSpc>
              <a:spcBef>
                <a:spcPts val="1200"/>
              </a:spcBef>
              <a:spcAft>
                <a:spcPts val="0"/>
              </a:spcAft>
            </a:pPr>
            <a:r>
              <a:rPr sz="1300" b="0">
                <a:solidFill>
                  <a:srgbClr val="1C1C1C"/>
                </a:solidFill>
                <a:latin typeface="Arial"/>
              </a:rPr>
              <a:t>Udhaar settled in cash moves to UPI.</a:t>
            </a:r>
          </a:p>
          <a:p>
            <a:pPr>
              <a:lnSpc>
                <a:spcPct val="135000"/>
              </a:lnSpc>
              <a:spcBef>
                <a:spcPts val="1200"/>
              </a:spcBef>
              <a:spcAft>
                <a:spcPts val="0"/>
              </a:spcAft>
            </a:pPr>
            <a:r>
              <a:rPr sz="1300" b="0">
                <a:solidFill>
                  <a:srgbClr val="1C1C1C"/>
                </a:solidFill>
                <a:latin typeface="Arial"/>
              </a:rPr>
              <a:t>A daily reason to use the Soundbox.</a:t>
            </a:r>
          </a:p>
          <a:p>
            <a:pPr>
              <a:lnSpc>
                <a:spcPct val="135000"/>
              </a:lnSpc>
              <a:spcBef>
                <a:spcPts val="1200"/>
              </a:spcBef>
              <a:spcAft>
                <a:spcPts val="0"/>
              </a:spcAft>
            </a:pPr>
            <a:r>
              <a:rPr sz="1300" b="0">
                <a:solidFill>
                  <a:srgbClr val="1C1C1C"/>
                </a:solidFill>
                <a:latin typeface="Arial"/>
              </a:rPr>
              <a:t>A new reason to open the Paytm app.</a:t>
            </a:r>
          </a:p>
        </p:txBody>
      </p:sp>
      <p:sp>
        <p:nvSpPr>
          <p:cNvPr id="17" name="TextBox 16"/>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These are the outcomes we expect; a pilot would measure them. “4 of 38” is computed from our synthetic demo shop.</a:t>
            </a:r>
          </a:p>
        </p:txBody>
      </p:sp>
      <p:sp>
        <p:nvSpPr>
          <p:cNvPr id="18" name="TextBox 17"/>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6 · BUSINESS MODEL</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Free for both sides. Paytm gains through the Soundbox.</a:t>
            </a:r>
          </a:p>
        </p:txBody>
      </p:sp>
      <p:sp>
        <p:nvSpPr>
          <p:cNvPr id="5" name="Rounded Rectangle 4"/>
          <p:cNvSpPr/>
          <p:nvPr/>
        </p:nvSpPr>
        <p:spPr>
          <a:xfrm>
            <a:off x="566928" y="1645920"/>
            <a:ext cx="6812280" cy="2103120"/>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841248" y="2423160"/>
            <a:ext cx="1463040" cy="9144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950976"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002970"/>
                </a:solidFill>
                <a:latin typeface="Arial"/>
              </a:rPr>
              <a:t>Customer</a:t>
            </a:r>
          </a:p>
          <a:p>
            <a:pPr algn="ctr">
              <a:lnSpc>
                <a:spcPct val="120000"/>
              </a:lnSpc>
              <a:spcBef>
                <a:spcPts val="300"/>
              </a:spcBef>
              <a:spcAft>
                <a:spcPts val="0"/>
              </a:spcAft>
            </a:pPr>
            <a:r>
              <a:rPr sz="1100" b="0">
                <a:solidFill>
                  <a:srgbClr val="5B6675"/>
                </a:solidFill>
                <a:latin typeface="Arial"/>
              </a:rPr>
              <a:t>pays nothing extra</a:t>
            </a:r>
          </a:p>
        </p:txBody>
      </p:sp>
      <p:sp>
        <p:nvSpPr>
          <p:cNvPr id="8" name="Rounded Rectangle 7"/>
          <p:cNvSpPr/>
          <p:nvPr/>
        </p:nvSpPr>
        <p:spPr>
          <a:xfrm>
            <a:off x="3236976" y="2423160"/>
            <a:ext cx="1463040" cy="9144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3346704"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002970"/>
                </a:solidFill>
                <a:latin typeface="Arial"/>
              </a:rPr>
              <a:t>Shopkeeper</a:t>
            </a:r>
          </a:p>
          <a:p>
            <a:pPr algn="ctr">
              <a:lnSpc>
                <a:spcPct val="120000"/>
              </a:lnSpc>
              <a:spcBef>
                <a:spcPts val="300"/>
              </a:spcBef>
              <a:spcAft>
                <a:spcPts val="0"/>
              </a:spcAft>
            </a:pPr>
            <a:r>
              <a:rPr sz="1100" b="0">
                <a:solidFill>
                  <a:srgbClr val="5B6675"/>
                </a:solidFill>
                <a:latin typeface="Arial"/>
              </a:rPr>
              <a:t>pays nothing extra</a:t>
            </a:r>
          </a:p>
        </p:txBody>
      </p:sp>
      <p:sp>
        <p:nvSpPr>
          <p:cNvPr id="10" name="Rounded Rectangle 9"/>
          <p:cNvSpPr/>
          <p:nvPr/>
        </p:nvSpPr>
        <p:spPr>
          <a:xfrm>
            <a:off x="5641848" y="2423160"/>
            <a:ext cx="1463040" cy="914400"/>
          </a:xfrm>
          <a:prstGeom prst="roundRect">
            <a:avLst>
              <a:gd name="adj" fmla="val 12000"/>
            </a:avLst>
          </a:prstGeom>
          <a:solidFill>
            <a:srgbClr val="002970"/>
          </a:solidFill>
          <a:ln>
            <a:noFill/>
          </a:ln>
        </p:spPr>
        <p:txBody>
          <a:bodyPr rtlCol="0" anchor="ctr"/>
          <a:lstStyle/>
          <a:p>
            <a:pPr algn="ctr"/>
          </a:p>
        </p:txBody>
      </p:sp>
      <p:sp>
        <p:nvSpPr>
          <p:cNvPr id="11" name="TextBox 10"/>
          <p:cNvSpPr txBox="1"/>
          <p:nvPr/>
        </p:nvSpPr>
        <p:spPr>
          <a:xfrm>
            <a:off x="5751576"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FFFFFF"/>
                </a:solidFill>
                <a:latin typeface="Arial"/>
              </a:rPr>
              <a:t>Paytm</a:t>
            </a:r>
          </a:p>
          <a:p>
            <a:pPr algn="ctr">
              <a:lnSpc>
                <a:spcPct val="120000"/>
              </a:lnSpc>
              <a:spcBef>
                <a:spcPts val="300"/>
              </a:spcBef>
              <a:spcAft>
                <a:spcPts val="0"/>
              </a:spcAft>
            </a:pPr>
            <a:r>
              <a:rPr sz="1100" b="0">
                <a:solidFill>
                  <a:srgbClr val="C9D8EE"/>
                </a:solidFill>
                <a:latin typeface="Arial"/>
              </a:rPr>
              <a:t>UPI + Soundbox</a:t>
            </a:r>
          </a:p>
        </p:txBody>
      </p:sp>
      <p:cxnSp>
        <p:nvCxnSpPr>
          <p:cNvPr id="12" name="Connector 11"/>
          <p:cNvCxnSpPr/>
          <p:nvPr/>
        </p:nvCxnSpPr>
        <p:spPr>
          <a:xfrm>
            <a:off x="2377440" y="2880360"/>
            <a:ext cx="786384" cy="0"/>
          </a:xfrm>
          <a:prstGeom prst="line">
            <a:avLst/>
          </a:prstGeom>
          <a:ln w="25400">
            <a:solidFill>
              <a:srgbClr val="002970"/>
            </a:solidFill>
            <a:tailEnd type="triangle" w="med" len="med"/>
          </a:ln>
        </p:spPr>
      </p:cxnSp>
      <p:sp>
        <p:nvSpPr>
          <p:cNvPr id="13" name="TextBox 12"/>
          <p:cNvSpPr txBox="1"/>
          <p:nvPr/>
        </p:nvSpPr>
        <p:spPr>
          <a:xfrm>
            <a:off x="2304288" y="1947672"/>
            <a:ext cx="932688" cy="457200"/>
          </a:xfrm>
          <a:prstGeom prst="rect">
            <a:avLst/>
          </a:prstGeom>
          <a:noFill/>
        </p:spPr>
        <p:txBody>
          <a:bodyPr wrap="square" lIns="0" rIns="0" tIns="0" bIns="0" anchor="b">
            <a:spAutoFit/>
          </a:bodyPr>
          <a:lstStyle/>
          <a:p>
            <a:pPr algn="ctr">
              <a:lnSpc>
                <a:spcPct val="110000"/>
              </a:lnSpc>
              <a:spcBef>
                <a:spcPts val="0"/>
              </a:spcBef>
              <a:spcAft>
                <a:spcPts val="0"/>
              </a:spcAft>
            </a:pPr>
            <a:r>
              <a:rPr sz="1050" b="1">
                <a:solidFill>
                  <a:srgbClr val="002970"/>
                </a:solidFill>
                <a:latin typeface="Arial"/>
              </a:rPr>
              <a:t>clears udhaar</a:t>
            </a:r>
          </a:p>
          <a:p>
            <a:pPr algn="ctr">
              <a:lnSpc>
                <a:spcPct val="110000"/>
              </a:lnSpc>
              <a:spcBef>
                <a:spcPts val="0"/>
              </a:spcBef>
              <a:spcAft>
                <a:spcPts val="0"/>
              </a:spcAft>
            </a:pPr>
            <a:r>
              <a:rPr sz="1050" b="1">
                <a:solidFill>
                  <a:srgbClr val="002970"/>
                </a:solidFill>
                <a:latin typeface="Arial"/>
              </a:rPr>
              <a:t>by UPI</a:t>
            </a:r>
          </a:p>
        </p:txBody>
      </p:sp>
      <p:cxnSp>
        <p:nvCxnSpPr>
          <p:cNvPr id="14" name="Connector 13"/>
          <p:cNvCxnSpPr/>
          <p:nvPr/>
        </p:nvCxnSpPr>
        <p:spPr>
          <a:xfrm>
            <a:off x="4773168" y="2880360"/>
            <a:ext cx="795528" cy="0"/>
          </a:xfrm>
          <a:prstGeom prst="line">
            <a:avLst/>
          </a:prstGeom>
          <a:ln w="25400">
            <a:solidFill>
              <a:srgbClr val="002970"/>
            </a:solidFill>
            <a:tailEnd type="triangle" w="med" len="med"/>
          </a:ln>
        </p:spPr>
      </p:cxnSp>
      <p:sp>
        <p:nvSpPr>
          <p:cNvPr id="15" name="TextBox 14"/>
          <p:cNvSpPr txBox="1"/>
          <p:nvPr/>
        </p:nvSpPr>
        <p:spPr>
          <a:xfrm>
            <a:off x="4700016" y="1947672"/>
            <a:ext cx="941832" cy="457200"/>
          </a:xfrm>
          <a:prstGeom prst="rect">
            <a:avLst/>
          </a:prstGeom>
          <a:noFill/>
        </p:spPr>
        <p:txBody>
          <a:bodyPr wrap="square" lIns="0" rIns="0" tIns="0" bIns="0" anchor="b">
            <a:spAutoFit/>
          </a:bodyPr>
          <a:lstStyle/>
          <a:p>
            <a:pPr algn="ctr">
              <a:lnSpc>
                <a:spcPct val="110000"/>
              </a:lnSpc>
              <a:spcBef>
                <a:spcPts val="0"/>
              </a:spcBef>
              <a:spcAft>
                <a:spcPts val="0"/>
              </a:spcAft>
            </a:pPr>
            <a:r>
              <a:rPr sz="1050" b="1">
                <a:solidFill>
                  <a:srgbClr val="002970"/>
                </a:solidFill>
                <a:latin typeface="Arial"/>
              </a:rPr>
              <a:t>keeps his</a:t>
            </a:r>
          </a:p>
          <a:p>
            <a:pPr algn="ctr">
              <a:lnSpc>
                <a:spcPct val="110000"/>
              </a:lnSpc>
              <a:spcBef>
                <a:spcPts val="0"/>
              </a:spcBef>
              <a:spcAft>
                <a:spcPts val="0"/>
              </a:spcAft>
            </a:pPr>
            <a:r>
              <a:rPr sz="1050" b="1">
                <a:solidFill>
                  <a:srgbClr val="002970"/>
                </a:solidFill>
                <a:latin typeface="Arial"/>
              </a:rPr>
              <a:t>Soundbox</a:t>
            </a:r>
          </a:p>
        </p:txBody>
      </p:sp>
      <p:sp>
        <p:nvSpPr>
          <p:cNvPr id="16" name="TextBox 15"/>
          <p:cNvSpPr txBox="1"/>
          <p:nvPr/>
        </p:nvSpPr>
        <p:spPr>
          <a:xfrm>
            <a:off x="566928" y="4023360"/>
            <a:ext cx="6812280" cy="2103120"/>
          </a:xfrm>
          <a:prstGeom prst="rect">
            <a:avLst/>
          </a:prstGeom>
          <a:noFill/>
        </p:spPr>
        <p:txBody>
          <a:bodyPr wrap="square" lIns="0" rIns="0" tIns="0" bIns="0" anchor="t">
            <a:spAutoFit/>
          </a:bodyPr>
          <a:lstStyle/>
          <a:p>
            <a:pPr>
              <a:lnSpc>
                <a:spcPct val="130000"/>
              </a:lnSpc>
              <a:spcBef>
                <a:spcPts val="0"/>
              </a:spcBef>
              <a:spcAft>
                <a:spcPts val="200"/>
              </a:spcAft>
            </a:pPr>
            <a:r>
              <a:rPr sz="1500" b="1">
                <a:solidFill>
                  <a:srgbClr val="002970"/>
                </a:solidFill>
                <a:latin typeface="Arial"/>
              </a:rPr>
              <a:t>What Paytm gets</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Udhaar repayments move from cash to Paytm UPI.</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A reason for merchants to keep their Soundbox subscription.</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Later, with consent: a repayment history for people with no credit file. We only record it — licensed partners would lend.</a:t>
            </a:r>
          </a:p>
        </p:txBody>
      </p:sp>
      <p:sp>
        <p:nvSpPr>
          <p:cNvPr id="17" name="Rounded Rectangle 16"/>
          <p:cNvSpPr/>
          <p:nvPr/>
        </p:nvSpPr>
        <p:spPr>
          <a:xfrm>
            <a:off x="7653528" y="1645920"/>
            <a:ext cx="3971239" cy="2103120"/>
          </a:xfrm>
          <a:prstGeom prst="roundRect">
            <a:avLst>
              <a:gd name="adj" fmla="val 6000"/>
            </a:avLst>
          </a:prstGeom>
          <a:solidFill>
            <a:srgbClr val="FFFFFF"/>
          </a:solidFill>
          <a:ln>
            <a:noFill/>
          </a:ln>
        </p:spPr>
        <p:txBody>
          <a:bodyPr rtlCol="0" anchor="ctr"/>
          <a:lstStyle/>
          <a:p>
            <a:pPr algn="ctr"/>
          </a:p>
        </p:txBody>
      </p:sp>
      <p:sp>
        <p:nvSpPr>
          <p:cNvPr id="18" name="TextBox 17"/>
          <p:cNvSpPr txBox="1"/>
          <p:nvPr/>
        </p:nvSpPr>
        <p:spPr>
          <a:xfrm>
            <a:off x="7927848" y="1874520"/>
            <a:ext cx="3422599" cy="1737360"/>
          </a:xfrm>
          <a:prstGeom prst="rect">
            <a:avLst/>
          </a:prstGeom>
          <a:noFill/>
        </p:spPr>
        <p:txBody>
          <a:bodyPr wrap="square" lIns="0" rIns="0" tIns="0" bIns="0" anchor="t">
            <a:spAutoFit/>
          </a:bodyPr>
          <a:lstStyle/>
          <a:p>
            <a:pPr>
              <a:lnSpc>
                <a:spcPct val="100000"/>
              </a:lnSpc>
              <a:spcBef>
                <a:spcPts val="0"/>
              </a:spcBef>
              <a:spcAft>
                <a:spcPts val="0"/>
              </a:spcAft>
            </a:pPr>
            <a:r>
              <a:rPr sz="3600" b="1">
                <a:solidFill>
                  <a:srgbClr val="002970"/>
                </a:solidFill>
                <a:latin typeface="Arial"/>
              </a:rPr>
              <a:t>1.57 Cr</a:t>
            </a:r>
          </a:p>
          <a:p>
            <a:pPr>
              <a:lnSpc>
                <a:spcPct val="135000"/>
              </a:lnSpc>
              <a:spcBef>
                <a:spcPts val="800"/>
              </a:spcBef>
              <a:spcAft>
                <a:spcPts val="0"/>
              </a:spcAft>
            </a:pPr>
            <a:r>
              <a:rPr sz="1300" b="0">
                <a:solidFill>
                  <a:srgbClr val="1C1C1C"/>
                </a:solidFill>
                <a:latin typeface="Arial"/>
              </a:rPr>
              <a:t>storefronts already run a Paytm Soundbox — the counter BAHI lives on.</a:t>
            </a:r>
          </a:p>
          <a:p>
            <a:pPr>
              <a:lnSpc>
                <a:spcPct val="130000"/>
              </a:lnSpc>
              <a:spcBef>
                <a:spcPts val="800"/>
              </a:spcBef>
              <a:spcAft>
                <a:spcPts val="0"/>
              </a:spcAft>
            </a:pPr>
            <a:r>
              <a:rPr sz="950" b="0">
                <a:solidFill>
                  <a:srgbClr val="8B95A5"/>
                </a:solidFill>
                <a:latin typeface="Arial"/>
              </a:rPr>
              <a:t>Source: Paytm Q1 FY27 earnings release, Jul 2026</a:t>
            </a:r>
          </a:p>
        </p:txBody>
      </p:sp>
      <p:sp>
        <p:nvSpPr>
          <p:cNvPr id="19" name="Rounded Rectangle 18"/>
          <p:cNvSpPr/>
          <p:nvPr/>
        </p:nvSpPr>
        <p:spPr>
          <a:xfrm>
            <a:off x="7653528" y="3977640"/>
            <a:ext cx="3971239" cy="2103120"/>
          </a:xfrm>
          <a:prstGeom prst="roundRect">
            <a:avLst>
              <a:gd name="adj" fmla="val 6000"/>
            </a:avLst>
          </a:prstGeom>
          <a:solidFill>
            <a:srgbClr val="FFFFFF"/>
          </a:solidFill>
          <a:ln>
            <a:noFill/>
          </a:ln>
        </p:spPr>
        <p:txBody>
          <a:bodyPr rtlCol="0" anchor="ctr"/>
          <a:lstStyle/>
          <a:p>
            <a:pPr algn="ctr"/>
          </a:p>
        </p:txBody>
      </p:sp>
      <p:sp>
        <p:nvSpPr>
          <p:cNvPr id="20" name="TextBox 19"/>
          <p:cNvSpPr txBox="1"/>
          <p:nvPr/>
        </p:nvSpPr>
        <p:spPr>
          <a:xfrm>
            <a:off x="7927848" y="4206240"/>
            <a:ext cx="3422599" cy="1737360"/>
          </a:xfrm>
          <a:prstGeom prst="rect">
            <a:avLst/>
          </a:prstGeom>
          <a:noFill/>
        </p:spPr>
        <p:txBody>
          <a:bodyPr wrap="square" lIns="0" rIns="0" tIns="0" bIns="0" anchor="t">
            <a:spAutoFit/>
          </a:bodyPr>
          <a:lstStyle/>
          <a:p>
            <a:pPr>
              <a:lnSpc>
                <a:spcPct val="100000"/>
              </a:lnSpc>
              <a:spcBef>
                <a:spcPts val="0"/>
              </a:spcBef>
              <a:spcAft>
                <a:spcPts val="0"/>
              </a:spcAft>
            </a:pPr>
            <a:r>
              <a:rPr sz="3600" b="1">
                <a:solidFill>
                  <a:srgbClr val="002970"/>
                </a:solidFill>
                <a:latin typeface="Arial"/>
              </a:rPr>
              <a:t>₹116 Cr</a:t>
            </a:r>
          </a:p>
          <a:p>
            <a:pPr>
              <a:lnSpc>
                <a:spcPct val="135000"/>
              </a:lnSpc>
              <a:spcBef>
                <a:spcPts val="800"/>
              </a:spcBef>
              <a:spcAft>
                <a:spcPts val="0"/>
              </a:spcAft>
            </a:pPr>
            <a:r>
              <a:rPr sz="1300" b="0">
                <a:solidFill>
                  <a:srgbClr val="1C1C1C"/>
                </a:solidFill>
                <a:latin typeface="Arial"/>
              </a:rPr>
              <a:t>Khatabook’s FY24 loss, on ₹102.7 Cr revenue. Charging for a ledger has not worked, so we don’t.</a:t>
            </a:r>
          </a:p>
          <a:p>
            <a:pPr>
              <a:lnSpc>
                <a:spcPct val="130000"/>
              </a:lnSpc>
              <a:spcBef>
                <a:spcPts val="800"/>
              </a:spcBef>
              <a:spcAft>
                <a:spcPts val="0"/>
              </a:spcAft>
            </a:pPr>
            <a:r>
              <a:rPr sz="950" b="0">
                <a:solidFill>
                  <a:srgbClr val="8B95A5"/>
                </a:solidFill>
                <a:latin typeface="Arial"/>
              </a:rPr>
              <a:t>Source: YourStory, Nov 2024</a:t>
            </a:r>
          </a:p>
        </p:txBody>
      </p:sp>
      <p:sp>
        <p:nvSpPr>
          <p:cNvPr id="21" name="TextBox 2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DESIGNED AROUND INDIAN LAW</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Four things BAHI refuses to do, each from Indian law.</a:t>
            </a:r>
          </a:p>
        </p:txBody>
      </p:sp>
      <p:sp>
        <p:nvSpPr>
          <p:cNvPr id="5" name="Rounded Rectangle 4"/>
          <p:cNvSpPr/>
          <p:nvPr/>
        </p:nvSpPr>
        <p:spPr>
          <a:xfrm>
            <a:off x="566928" y="1645920"/>
            <a:ext cx="2599867" cy="4498848"/>
          </a:xfrm>
          <a:prstGeom prst="roundRect">
            <a:avLst>
              <a:gd name="adj" fmla="val 6000"/>
            </a:avLst>
          </a:prstGeom>
          <a:solidFill>
            <a:srgbClr val="FFFFFF"/>
          </a:solidFill>
          <a:ln>
            <a:noFill/>
          </a:ln>
        </p:spPr>
        <p:txBody>
          <a:bodyPr rtlCol="0" anchor="ctr"/>
          <a:lstStyle/>
          <a:p>
            <a:pPr algn="ctr"/>
          </a:p>
        </p:txBody>
      </p:sp>
      <p:sp>
        <p:nvSpPr>
          <p:cNvPr id="6" name="Oval 5"/>
          <p:cNvSpPr/>
          <p:nvPr/>
        </p:nvSpPr>
        <p:spPr>
          <a:xfrm>
            <a:off x="795528" y="1901952"/>
            <a:ext cx="420624" cy="420624"/>
          </a:xfrm>
          <a:prstGeom prst="ellipse">
            <a:avLst/>
          </a:prstGeom>
          <a:solidFill>
            <a:srgbClr val="002970"/>
          </a:solidFill>
          <a:ln>
            <a:noFill/>
          </a:ln>
        </p:spPr>
        <p:txBody>
          <a:bodyPr rtlCol="0" anchor="ctr"/>
          <a:lstStyle/>
          <a:p>
            <a:pPr algn="ctr"/>
          </a:p>
        </p:txBody>
      </p:sp>
      <p:sp>
        <p:nvSpPr>
          <p:cNvPr id="7" name="TextBox 6"/>
          <p:cNvSpPr txBox="1"/>
          <p:nvPr/>
        </p:nvSpPr>
        <p:spPr>
          <a:xfrm>
            <a:off x="795528"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1</a:t>
            </a:r>
          </a:p>
        </p:txBody>
      </p:sp>
      <p:sp>
        <p:nvSpPr>
          <p:cNvPr id="8" name="TextBox 7"/>
          <p:cNvSpPr txBox="1"/>
          <p:nvPr/>
        </p:nvSpPr>
        <p:spPr>
          <a:xfrm>
            <a:off x="795528"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due dates</a:t>
            </a:r>
          </a:p>
          <a:p>
            <a:pPr>
              <a:lnSpc>
                <a:spcPct val="138000"/>
              </a:lnSpc>
              <a:spcBef>
                <a:spcPts val="1000"/>
              </a:spcBef>
              <a:spcAft>
                <a:spcPts val="0"/>
              </a:spcAft>
            </a:pPr>
            <a:r>
              <a:rPr sz="1300" b="0">
                <a:solidFill>
                  <a:srgbClr val="1C1C1C"/>
                </a:solidFill>
                <a:latin typeface="Arial"/>
              </a:rPr>
              <a:t>Customers tap “Yes, I owe ₹200” — never “I’ll pay by the 10th”.</a:t>
            </a:r>
          </a:p>
        </p:txBody>
      </p:sp>
      <p:sp>
        <p:nvSpPr>
          <p:cNvPr id="9" name="Rectangle 8"/>
          <p:cNvSpPr/>
          <p:nvPr/>
        </p:nvSpPr>
        <p:spPr>
          <a:xfrm>
            <a:off x="795528" y="4617720"/>
            <a:ext cx="2142667" cy="9525"/>
          </a:xfrm>
          <a:prstGeom prst="rect">
            <a:avLst/>
          </a:prstGeom>
          <a:solidFill>
            <a:srgbClr val="D9E4EC"/>
          </a:solidFill>
          <a:ln>
            <a:noFill/>
          </a:ln>
        </p:spPr>
        <p:txBody>
          <a:bodyPr rtlCol="0" anchor="ctr"/>
          <a:lstStyle/>
          <a:p>
            <a:pPr algn="ctr"/>
          </a:p>
        </p:txBody>
      </p:sp>
      <p:sp>
        <p:nvSpPr>
          <p:cNvPr id="10" name="TextBox 9"/>
          <p:cNvSpPr txBox="1"/>
          <p:nvPr/>
        </p:nvSpPr>
        <p:spPr>
          <a:xfrm>
            <a:off x="795528"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A dated promise can be a promissory note, which the IT Act does not cover.</a:t>
            </a:r>
          </a:p>
          <a:p>
            <a:pPr>
              <a:lnSpc>
                <a:spcPct val="125000"/>
              </a:lnSpc>
              <a:spcBef>
                <a:spcPts val="800"/>
              </a:spcBef>
              <a:spcAft>
                <a:spcPts val="0"/>
              </a:spcAft>
            </a:pPr>
            <a:r>
              <a:rPr sz="1000" b="1">
                <a:solidFill>
                  <a:srgbClr val="0077A8"/>
                </a:solidFill>
                <a:latin typeface="Arial"/>
              </a:rPr>
              <a:t>IT Act 2000, s.1(4) &amp; First Schedule</a:t>
            </a:r>
          </a:p>
        </p:txBody>
      </p:sp>
      <p:sp>
        <p:nvSpPr>
          <p:cNvPr id="11" name="Rounded Rectangle 10"/>
          <p:cNvSpPr/>
          <p:nvPr/>
        </p:nvSpPr>
        <p:spPr>
          <a:xfrm>
            <a:off x="3386251" y="1645920"/>
            <a:ext cx="2599867" cy="4498848"/>
          </a:xfrm>
          <a:prstGeom prst="roundRect">
            <a:avLst>
              <a:gd name="adj" fmla="val 6000"/>
            </a:avLst>
          </a:prstGeom>
          <a:solidFill>
            <a:srgbClr val="FFFFFF"/>
          </a:solidFill>
          <a:ln>
            <a:noFill/>
          </a:ln>
        </p:spPr>
        <p:txBody>
          <a:bodyPr rtlCol="0" anchor="ctr"/>
          <a:lstStyle/>
          <a:p>
            <a:pPr algn="ctr"/>
          </a:p>
        </p:txBody>
      </p:sp>
      <p:sp>
        <p:nvSpPr>
          <p:cNvPr id="12" name="Oval 11"/>
          <p:cNvSpPr/>
          <p:nvPr/>
        </p:nvSpPr>
        <p:spPr>
          <a:xfrm>
            <a:off x="3614851" y="1901952"/>
            <a:ext cx="420624" cy="420624"/>
          </a:xfrm>
          <a:prstGeom prst="ellipse">
            <a:avLst/>
          </a:prstGeom>
          <a:solidFill>
            <a:srgbClr val="002970"/>
          </a:solidFill>
          <a:ln>
            <a:noFill/>
          </a:ln>
        </p:spPr>
        <p:txBody>
          <a:bodyPr rtlCol="0" anchor="ctr"/>
          <a:lstStyle/>
          <a:p>
            <a:pPr algn="ctr"/>
          </a:p>
        </p:txBody>
      </p:sp>
      <p:sp>
        <p:nvSpPr>
          <p:cNvPr id="13" name="TextBox 12"/>
          <p:cNvSpPr txBox="1"/>
          <p:nvPr/>
        </p:nvSpPr>
        <p:spPr>
          <a:xfrm>
            <a:off x="3614851"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2</a:t>
            </a:r>
          </a:p>
        </p:txBody>
      </p:sp>
      <p:sp>
        <p:nvSpPr>
          <p:cNvPr id="14" name="TextBox 13"/>
          <p:cNvSpPr txBox="1"/>
          <p:nvPr/>
        </p:nvSpPr>
        <p:spPr>
          <a:xfrm>
            <a:off x="3614851"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fees, no interest</a:t>
            </a:r>
          </a:p>
          <a:p>
            <a:pPr>
              <a:lnSpc>
                <a:spcPct val="138000"/>
              </a:lnSpc>
              <a:spcBef>
                <a:spcPts val="1000"/>
              </a:spcBef>
              <a:spcAft>
                <a:spcPts val="0"/>
              </a:spcAft>
            </a:pPr>
            <a:r>
              <a:rPr sz="1300" b="0">
                <a:solidFill>
                  <a:srgbClr val="1C1C1C"/>
                </a:solidFill>
                <a:latin typeface="Arial"/>
              </a:rPr>
              <a:t>Never a rupee above the price. There is no fee field anywhere.</a:t>
            </a:r>
          </a:p>
        </p:txBody>
      </p:sp>
      <p:sp>
        <p:nvSpPr>
          <p:cNvPr id="15" name="Rectangle 14"/>
          <p:cNvSpPr/>
          <p:nvPr/>
        </p:nvSpPr>
        <p:spPr>
          <a:xfrm>
            <a:off x="3614851" y="4617720"/>
            <a:ext cx="2142667" cy="9525"/>
          </a:xfrm>
          <a:prstGeom prst="rect">
            <a:avLst/>
          </a:prstGeom>
          <a:solidFill>
            <a:srgbClr val="D9E4EC"/>
          </a:solidFill>
          <a:ln>
            <a:noFill/>
          </a:ln>
        </p:spPr>
        <p:txBody>
          <a:bodyPr rtlCol="0" anchor="ctr"/>
          <a:lstStyle/>
          <a:p>
            <a:pPr algn="ctr"/>
          </a:p>
        </p:txBody>
      </p:sp>
      <p:sp>
        <p:nvSpPr>
          <p:cNvPr id="16" name="TextBox 15"/>
          <p:cNvSpPr txBox="1"/>
          <p:nvPr/>
        </p:nvSpPr>
        <p:spPr>
          <a:xfrm>
            <a:off x="3614851"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Money-lending laws define a loan by the interest it carries.</a:t>
            </a:r>
          </a:p>
          <a:p>
            <a:pPr>
              <a:lnSpc>
                <a:spcPct val="125000"/>
              </a:lnSpc>
              <a:spcBef>
                <a:spcPts val="800"/>
              </a:spcBef>
              <a:spcAft>
                <a:spcPts val="0"/>
              </a:spcAft>
            </a:pPr>
            <a:r>
              <a:rPr sz="1000" b="1">
                <a:solidFill>
                  <a:srgbClr val="0077A8"/>
                </a:solidFill>
                <a:latin typeface="Arial"/>
              </a:rPr>
              <a:t>e.g. Karnataka Money Lenders Act 1961, s.2(9)</a:t>
            </a:r>
          </a:p>
        </p:txBody>
      </p:sp>
      <p:sp>
        <p:nvSpPr>
          <p:cNvPr id="17" name="Rounded Rectangle 16"/>
          <p:cNvSpPr/>
          <p:nvPr/>
        </p:nvSpPr>
        <p:spPr>
          <a:xfrm>
            <a:off x="6205574" y="1645920"/>
            <a:ext cx="2599867" cy="4498848"/>
          </a:xfrm>
          <a:prstGeom prst="roundRect">
            <a:avLst>
              <a:gd name="adj" fmla="val 6000"/>
            </a:avLst>
          </a:prstGeom>
          <a:solidFill>
            <a:srgbClr val="FFFFFF"/>
          </a:solidFill>
          <a:ln>
            <a:noFill/>
          </a:ln>
        </p:spPr>
        <p:txBody>
          <a:bodyPr rtlCol="0" anchor="ctr"/>
          <a:lstStyle/>
          <a:p>
            <a:pPr algn="ctr"/>
          </a:p>
        </p:txBody>
      </p:sp>
      <p:sp>
        <p:nvSpPr>
          <p:cNvPr id="18" name="Oval 17"/>
          <p:cNvSpPr/>
          <p:nvPr/>
        </p:nvSpPr>
        <p:spPr>
          <a:xfrm>
            <a:off x="6434174" y="1901952"/>
            <a:ext cx="420624" cy="420624"/>
          </a:xfrm>
          <a:prstGeom prst="ellipse">
            <a:avLst/>
          </a:prstGeom>
          <a:solidFill>
            <a:srgbClr val="002970"/>
          </a:solidFill>
          <a:ln>
            <a:noFill/>
          </a:ln>
        </p:spPr>
        <p:txBody>
          <a:bodyPr rtlCol="0" anchor="ctr"/>
          <a:lstStyle/>
          <a:p>
            <a:pPr algn="ctr"/>
          </a:p>
        </p:txBody>
      </p:sp>
      <p:sp>
        <p:nvSpPr>
          <p:cNvPr id="19" name="TextBox 18"/>
          <p:cNvSpPr txBox="1"/>
          <p:nvPr/>
        </p:nvSpPr>
        <p:spPr>
          <a:xfrm>
            <a:off x="6434174"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3</a:t>
            </a:r>
          </a:p>
        </p:txBody>
      </p:sp>
      <p:sp>
        <p:nvSpPr>
          <p:cNvPr id="20" name="TextBox 19"/>
          <p:cNvSpPr txBox="1"/>
          <p:nvPr/>
        </p:nvSpPr>
        <p:spPr>
          <a:xfrm>
            <a:off x="6434174"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debt kept alive forever</a:t>
            </a:r>
          </a:p>
          <a:p>
            <a:pPr>
              <a:lnSpc>
                <a:spcPct val="138000"/>
              </a:lnSpc>
              <a:spcBef>
                <a:spcPts val="1000"/>
              </a:spcBef>
              <a:spcAft>
                <a:spcPts val="0"/>
              </a:spcAft>
            </a:pPr>
            <a:r>
              <a:rPr sz="1300" b="0">
                <a:solidFill>
                  <a:srgbClr val="1C1C1C"/>
                </a:solidFill>
                <a:latin typeface="Arial"/>
              </a:rPr>
              <a:t>We never ask a customer to re-confirm an old debt just to keep it alive.</a:t>
            </a:r>
          </a:p>
        </p:txBody>
      </p:sp>
      <p:sp>
        <p:nvSpPr>
          <p:cNvPr id="21" name="Rectangle 20"/>
          <p:cNvSpPr/>
          <p:nvPr/>
        </p:nvSpPr>
        <p:spPr>
          <a:xfrm>
            <a:off x="6434174" y="4617720"/>
            <a:ext cx="2142667" cy="9525"/>
          </a:xfrm>
          <a:prstGeom prst="rect">
            <a:avLst/>
          </a:prstGeom>
          <a:solidFill>
            <a:srgbClr val="D9E4EC"/>
          </a:solidFill>
          <a:ln>
            <a:noFill/>
          </a:ln>
        </p:spPr>
        <p:txBody>
          <a:bodyPr rtlCol="0" anchor="ctr"/>
          <a:lstStyle/>
          <a:p>
            <a:pPr algn="ctr"/>
          </a:p>
        </p:txBody>
      </p:sp>
      <p:sp>
        <p:nvSpPr>
          <p:cNvPr id="22" name="TextBox 21"/>
          <p:cNvSpPr txBox="1"/>
          <p:nvPr/>
        </p:nvSpPr>
        <p:spPr>
          <a:xfrm>
            <a:off x="6434174"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Each written acknowledgment restarts the 3-year limit.</a:t>
            </a:r>
          </a:p>
          <a:p>
            <a:pPr>
              <a:lnSpc>
                <a:spcPct val="125000"/>
              </a:lnSpc>
              <a:spcBef>
                <a:spcPts val="800"/>
              </a:spcBef>
              <a:spcAft>
                <a:spcPts val="0"/>
              </a:spcAft>
            </a:pPr>
            <a:r>
              <a:rPr sz="1000" b="1">
                <a:solidFill>
                  <a:srgbClr val="0077A8"/>
                </a:solidFill>
                <a:latin typeface="Arial"/>
              </a:rPr>
              <a:t>Limitation Act 1963, s.18</a:t>
            </a:r>
          </a:p>
        </p:txBody>
      </p:sp>
      <p:sp>
        <p:nvSpPr>
          <p:cNvPr id="23" name="Rounded Rectangle 22"/>
          <p:cNvSpPr/>
          <p:nvPr/>
        </p:nvSpPr>
        <p:spPr>
          <a:xfrm>
            <a:off x="9024897" y="1645920"/>
            <a:ext cx="2599867" cy="4498848"/>
          </a:xfrm>
          <a:prstGeom prst="roundRect">
            <a:avLst>
              <a:gd name="adj" fmla="val 6000"/>
            </a:avLst>
          </a:prstGeom>
          <a:solidFill>
            <a:srgbClr val="FFFFFF"/>
          </a:solidFill>
          <a:ln>
            <a:noFill/>
          </a:ln>
        </p:spPr>
        <p:txBody>
          <a:bodyPr rtlCol="0" anchor="ctr"/>
          <a:lstStyle/>
          <a:p>
            <a:pPr algn="ctr"/>
          </a:p>
        </p:txBody>
      </p:sp>
      <p:sp>
        <p:nvSpPr>
          <p:cNvPr id="24" name="Oval 23"/>
          <p:cNvSpPr/>
          <p:nvPr/>
        </p:nvSpPr>
        <p:spPr>
          <a:xfrm>
            <a:off x="9253497" y="1901952"/>
            <a:ext cx="420624" cy="420624"/>
          </a:xfrm>
          <a:prstGeom prst="ellipse">
            <a:avLst/>
          </a:prstGeom>
          <a:solidFill>
            <a:srgbClr val="002970"/>
          </a:solidFill>
          <a:ln>
            <a:noFill/>
          </a:ln>
        </p:spPr>
        <p:txBody>
          <a:bodyPr rtlCol="0" anchor="ctr"/>
          <a:lstStyle/>
          <a:p>
            <a:pPr algn="ctr"/>
          </a:p>
        </p:txBody>
      </p:sp>
      <p:sp>
        <p:nvSpPr>
          <p:cNvPr id="25" name="TextBox 24"/>
          <p:cNvSpPr txBox="1"/>
          <p:nvPr/>
        </p:nvSpPr>
        <p:spPr>
          <a:xfrm>
            <a:off x="9253497"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4</a:t>
            </a:r>
          </a:p>
        </p:txBody>
      </p:sp>
      <p:sp>
        <p:nvSpPr>
          <p:cNvPr id="26" name="TextBox 25"/>
          <p:cNvSpPr txBox="1"/>
          <p:nvPr/>
        </p:nvSpPr>
        <p:spPr>
          <a:xfrm>
            <a:off x="9253497"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shaming, no pressure</a:t>
            </a:r>
          </a:p>
          <a:p>
            <a:pPr>
              <a:lnSpc>
                <a:spcPct val="138000"/>
              </a:lnSpc>
              <a:spcBef>
                <a:spcPts val="1000"/>
              </a:spcBef>
              <a:spcAft>
                <a:spcPts val="0"/>
              </a:spcAft>
            </a:pPr>
            <a:r>
              <a:rPr sz="1300" b="0">
                <a:solidFill>
                  <a:srgbClr val="1C1C1C"/>
                </a:solidFill>
                <a:latin typeface="Arial"/>
              </a:rPr>
              <a:t>No defaulter lists, no public alerts, no “demand” button.</a:t>
            </a:r>
          </a:p>
        </p:txBody>
      </p:sp>
      <p:sp>
        <p:nvSpPr>
          <p:cNvPr id="27" name="Rectangle 26"/>
          <p:cNvSpPr/>
          <p:nvPr/>
        </p:nvSpPr>
        <p:spPr>
          <a:xfrm>
            <a:off x="9253497" y="4617720"/>
            <a:ext cx="2142667" cy="9525"/>
          </a:xfrm>
          <a:prstGeom prst="rect">
            <a:avLst/>
          </a:prstGeom>
          <a:solidFill>
            <a:srgbClr val="D9E4EC"/>
          </a:solidFill>
          <a:ln>
            <a:noFill/>
          </a:ln>
        </p:spPr>
        <p:txBody>
          <a:bodyPr rtlCol="0" anchor="ctr"/>
          <a:lstStyle/>
          <a:p>
            <a:pPr algn="ctr"/>
          </a:p>
        </p:txBody>
      </p:sp>
      <p:sp>
        <p:nvSpPr>
          <p:cNvPr id="28" name="TextBox 27"/>
          <p:cNvSpPr txBox="1"/>
          <p:nvPr/>
        </p:nvSpPr>
        <p:spPr>
          <a:xfrm>
            <a:off x="9253497"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Public labels risk defamation; repeated nudges for gain are “nagging”.</a:t>
            </a:r>
          </a:p>
          <a:p>
            <a:pPr>
              <a:lnSpc>
                <a:spcPct val="125000"/>
              </a:lnSpc>
              <a:spcBef>
                <a:spcPts val="800"/>
              </a:spcBef>
              <a:spcAft>
                <a:spcPts val="0"/>
              </a:spcAft>
            </a:pPr>
            <a:r>
              <a:rPr sz="1000" b="1">
                <a:solidFill>
                  <a:srgbClr val="0077A8"/>
                </a:solidFill>
                <a:latin typeface="Arial"/>
              </a:rPr>
              <a:t>BNS 2023, s.356  ·  CCPA Dark Patterns Guidelines 2023</a:t>
            </a:r>
          </a:p>
        </p:txBody>
      </p:sp>
      <p:sp>
        <p:nvSpPr>
          <p:cNvPr id="29" name="TextBox 2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Each rule is enforced in the database schema and the API, not only on screen. Full citations on slide 10.</a:t>
            </a:r>
          </a:p>
        </p:txBody>
      </p:sp>
      <p:sp>
        <p:nvSpPr>
          <p:cNvPr id="30" name="TextBox 2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ON 3 OCTOBER</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 40-second demo, and what could go wrong.</a:t>
            </a:r>
          </a:p>
        </p:txBody>
      </p:sp>
      <p:sp>
        <p:nvSpPr>
          <p:cNvPr id="5" name="Rounded Rectangle 4"/>
          <p:cNvSpPr/>
          <p:nvPr/>
        </p:nvSpPr>
        <p:spPr>
          <a:xfrm>
            <a:off x="566928" y="1645920"/>
            <a:ext cx="4343400" cy="4498848"/>
          </a:xfrm>
          <a:prstGeom prst="roundRect">
            <a:avLst>
              <a:gd name="adj" fmla="val 6000"/>
            </a:avLst>
          </a:prstGeom>
          <a:solidFill>
            <a:srgbClr val="FFFFFF"/>
          </a:solidFill>
          <a:ln>
            <a:noFill/>
          </a:ln>
        </p:spPr>
        <p:txBody>
          <a:bodyPr rtlCol="0" anchor="ctr"/>
          <a:lstStyle/>
          <a:p>
            <a:pPr algn="ctr"/>
          </a:p>
        </p:txBody>
      </p:sp>
      <p:sp>
        <p:nvSpPr>
          <p:cNvPr id="6" name="TextBox 5"/>
          <p:cNvSpPr txBox="1"/>
          <p:nvPr/>
        </p:nvSpPr>
        <p:spPr>
          <a:xfrm>
            <a:off x="841248" y="1901952"/>
            <a:ext cx="3794760" cy="36576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The demo</a:t>
            </a:r>
          </a:p>
        </p:txBody>
      </p:sp>
      <p:sp>
        <p:nvSpPr>
          <p:cNvPr id="7" name="Oval 6"/>
          <p:cNvSpPr/>
          <p:nvPr/>
        </p:nvSpPr>
        <p:spPr>
          <a:xfrm>
            <a:off x="841248" y="2423160"/>
            <a:ext cx="310896" cy="310896"/>
          </a:xfrm>
          <a:prstGeom prst="ellipse">
            <a:avLst/>
          </a:prstGeom>
          <a:solidFill>
            <a:srgbClr val="002970"/>
          </a:solidFill>
          <a:ln>
            <a:noFill/>
          </a:ln>
        </p:spPr>
        <p:txBody>
          <a:bodyPr rtlCol="0" anchor="ctr"/>
          <a:lstStyle/>
          <a:p>
            <a:pPr algn="ctr"/>
          </a:p>
        </p:txBody>
      </p:sp>
      <p:sp>
        <p:nvSpPr>
          <p:cNvPr id="8" name="TextBox 7"/>
          <p:cNvSpPr txBox="1"/>
          <p:nvPr/>
        </p:nvSpPr>
        <p:spPr>
          <a:xfrm>
            <a:off x="841248" y="242316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1</a:t>
            </a:r>
          </a:p>
        </p:txBody>
      </p:sp>
      <p:sp>
        <p:nvSpPr>
          <p:cNvPr id="9" name="TextBox 8"/>
          <p:cNvSpPr txBox="1"/>
          <p:nvPr/>
        </p:nvSpPr>
        <p:spPr>
          <a:xfrm>
            <a:off x="1298448" y="240487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A judge scans our QR and taps Udhaar.</a:t>
            </a:r>
          </a:p>
        </p:txBody>
      </p:sp>
      <p:sp>
        <p:nvSpPr>
          <p:cNvPr id="10" name="Oval 9"/>
          <p:cNvSpPr/>
          <p:nvPr/>
        </p:nvSpPr>
        <p:spPr>
          <a:xfrm>
            <a:off x="841248" y="2971800"/>
            <a:ext cx="310896" cy="310896"/>
          </a:xfrm>
          <a:prstGeom prst="ellipse">
            <a:avLst/>
          </a:prstGeom>
          <a:solidFill>
            <a:srgbClr val="002970"/>
          </a:solidFill>
          <a:ln>
            <a:noFill/>
          </a:ln>
        </p:spPr>
        <p:txBody>
          <a:bodyPr rtlCol="0" anchor="ctr"/>
          <a:lstStyle/>
          <a:p>
            <a:pPr algn="ctr"/>
          </a:p>
        </p:txBody>
      </p:sp>
      <p:sp>
        <p:nvSpPr>
          <p:cNvPr id="11" name="TextBox 10"/>
          <p:cNvSpPr txBox="1"/>
          <p:nvPr/>
        </p:nvSpPr>
        <p:spPr>
          <a:xfrm>
            <a:off x="841248" y="297180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2</a:t>
            </a:r>
          </a:p>
        </p:txBody>
      </p:sp>
      <p:sp>
        <p:nvSpPr>
          <p:cNvPr id="12" name="TextBox 11"/>
          <p:cNvSpPr txBox="1"/>
          <p:nvPr/>
        </p:nvSpPr>
        <p:spPr>
          <a:xfrm>
            <a:off x="1298448" y="295351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The shopkeeper says the amount.</a:t>
            </a:r>
          </a:p>
        </p:txBody>
      </p:sp>
      <p:sp>
        <p:nvSpPr>
          <p:cNvPr id="13" name="Oval 12"/>
          <p:cNvSpPr/>
          <p:nvPr/>
        </p:nvSpPr>
        <p:spPr>
          <a:xfrm>
            <a:off x="841248" y="3520440"/>
            <a:ext cx="310896" cy="310896"/>
          </a:xfrm>
          <a:prstGeom prst="ellipse">
            <a:avLst/>
          </a:prstGeom>
          <a:solidFill>
            <a:srgbClr val="002970"/>
          </a:solidFill>
          <a:ln>
            <a:noFill/>
          </a:ln>
        </p:spPr>
        <p:txBody>
          <a:bodyPr rtlCol="0" anchor="ctr"/>
          <a:lstStyle/>
          <a:p>
            <a:pPr algn="ctr"/>
          </a:p>
        </p:txBody>
      </p:sp>
      <p:sp>
        <p:nvSpPr>
          <p:cNvPr id="14" name="TextBox 13"/>
          <p:cNvSpPr txBox="1"/>
          <p:nvPr/>
        </p:nvSpPr>
        <p:spPr>
          <a:xfrm>
            <a:off x="841248" y="352044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3</a:t>
            </a:r>
          </a:p>
        </p:txBody>
      </p:sp>
      <p:sp>
        <p:nvSpPr>
          <p:cNvPr id="15" name="TextBox 14"/>
          <p:cNvSpPr txBox="1"/>
          <p:nvPr/>
        </p:nvSpPr>
        <p:spPr>
          <a:xfrm>
            <a:off x="1298448" y="350215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The judge confirms on their own phone.</a:t>
            </a:r>
          </a:p>
        </p:txBody>
      </p:sp>
      <p:sp>
        <p:nvSpPr>
          <p:cNvPr id="16" name="Oval 15"/>
          <p:cNvSpPr/>
          <p:nvPr/>
        </p:nvSpPr>
        <p:spPr>
          <a:xfrm>
            <a:off x="841248" y="4069080"/>
            <a:ext cx="310896" cy="310896"/>
          </a:xfrm>
          <a:prstGeom prst="ellipse">
            <a:avLst/>
          </a:prstGeom>
          <a:solidFill>
            <a:srgbClr val="002970"/>
          </a:solidFill>
          <a:ln>
            <a:noFill/>
          </a:ln>
        </p:spPr>
        <p:txBody>
          <a:bodyPr rtlCol="0" anchor="ctr"/>
          <a:lstStyle/>
          <a:p>
            <a:pPr algn="ctr"/>
          </a:p>
        </p:txBody>
      </p:sp>
      <p:sp>
        <p:nvSpPr>
          <p:cNvPr id="17" name="TextBox 16"/>
          <p:cNvSpPr txBox="1"/>
          <p:nvPr/>
        </p:nvSpPr>
        <p:spPr>
          <a:xfrm>
            <a:off x="841248" y="406908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4</a:t>
            </a:r>
          </a:p>
        </p:txBody>
      </p:sp>
      <p:sp>
        <p:nvSpPr>
          <p:cNvPr id="18" name="TextBox 17"/>
          <p:cNvSpPr txBox="1"/>
          <p:nvPr/>
        </p:nvSpPr>
        <p:spPr>
          <a:xfrm>
            <a:off x="1298448" y="405079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Both books update, live.</a:t>
            </a:r>
          </a:p>
        </p:txBody>
      </p:sp>
      <p:sp>
        <p:nvSpPr>
          <p:cNvPr id="19" name="Oval 18"/>
          <p:cNvSpPr/>
          <p:nvPr/>
        </p:nvSpPr>
        <p:spPr>
          <a:xfrm>
            <a:off x="841248" y="4617720"/>
            <a:ext cx="310896" cy="310896"/>
          </a:xfrm>
          <a:prstGeom prst="ellipse">
            <a:avLst/>
          </a:prstGeom>
          <a:solidFill>
            <a:srgbClr val="002970"/>
          </a:solidFill>
          <a:ln>
            <a:noFill/>
          </a:ln>
        </p:spPr>
        <p:txBody>
          <a:bodyPr rtlCol="0" anchor="ctr"/>
          <a:lstStyle/>
          <a:p>
            <a:pPr algn="ctr"/>
          </a:p>
        </p:txBody>
      </p:sp>
      <p:sp>
        <p:nvSpPr>
          <p:cNvPr id="20" name="TextBox 19"/>
          <p:cNvSpPr txBox="1"/>
          <p:nvPr/>
        </p:nvSpPr>
        <p:spPr>
          <a:xfrm>
            <a:off x="841248" y="461772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5</a:t>
            </a:r>
          </a:p>
        </p:txBody>
      </p:sp>
      <p:sp>
        <p:nvSpPr>
          <p:cNvPr id="21" name="TextBox 20"/>
          <p:cNvSpPr txBox="1"/>
          <p:nvPr/>
        </p:nvSpPr>
        <p:spPr>
          <a:xfrm>
            <a:off x="1298448" y="459943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The agent says who gets a reminder tonight, and why.</a:t>
            </a:r>
          </a:p>
        </p:txBody>
      </p:sp>
      <p:sp>
        <p:nvSpPr>
          <p:cNvPr id="22" name="TextBox 21"/>
          <p:cNvSpPr txBox="1"/>
          <p:nvPr/>
        </p:nvSpPr>
        <p:spPr>
          <a:xfrm>
            <a:off x="841248" y="5486400"/>
            <a:ext cx="3794760" cy="548640"/>
          </a:xfrm>
          <a:prstGeom prst="rect">
            <a:avLst/>
          </a:prstGeom>
          <a:noFill/>
        </p:spPr>
        <p:txBody>
          <a:bodyPr wrap="square" lIns="0" rIns="0" tIns="0" bIns="0" anchor="t">
            <a:spAutoFit/>
          </a:bodyPr>
          <a:lstStyle/>
          <a:p>
            <a:pPr>
              <a:lnSpc>
                <a:spcPct val="130000"/>
              </a:lnSpc>
              <a:spcBef>
                <a:spcPts val="0"/>
              </a:spcBef>
              <a:spcAft>
                <a:spcPts val="0"/>
              </a:spcAft>
            </a:pPr>
            <a:r>
              <a:rPr sz="1050" b="0">
                <a:solidFill>
                  <a:srgbClr val="8B95A5"/>
                </a:solidFill>
                <a:latin typeface="Arial"/>
              </a:rPr>
              <a:t>All data is synthetic and labelled on screen. A browser microphone stands in for the Soundbox.</a:t>
            </a:r>
          </a:p>
        </p:txBody>
      </p:sp>
      <p:sp>
        <p:nvSpPr>
          <p:cNvPr id="23" name="TextBox 22"/>
          <p:cNvSpPr txBox="1"/>
          <p:nvPr/>
        </p:nvSpPr>
        <p:spPr>
          <a:xfrm>
            <a:off x="5184648" y="1645920"/>
            <a:ext cx="224028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RISK</a:t>
            </a:r>
          </a:p>
        </p:txBody>
      </p:sp>
      <p:sp>
        <p:nvSpPr>
          <p:cNvPr id="24" name="TextBox 23"/>
          <p:cNvSpPr txBox="1"/>
          <p:nvPr/>
        </p:nvSpPr>
        <p:spPr>
          <a:xfrm>
            <a:off x="7424928" y="1645920"/>
            <a:ext cx="4199839"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HOW WE HANDLE IT</a:t>
            </a:r>
          </a:p>
        </p:txBody>
      </p:sp>
      <p:sp>
        <p:nvSpPr>
          <p:cNvPr id="25" name="Rectangle 24"/>
          <p:cNvSpPr/>
          <p:nvPr/>
        </p:nvSpPr>
        <p:spPr>
          <a:xfrm>
            <a:off x="5184648" y="1956816"/>
            <a:ext cx="6440119" cy="19050"/>
          </a:xfrm>
          <a:prstGeom prst="rect">
            <a:avLst/>
          </a:prstGeom>
          <a:solidFill>
            <a:srgbClr val="00BAF2"/>
          </a:solidFill>
          <a:ln>
            <a:noFill/>
          </a:ln>
        </p:spPr>
        <p:txBody>
          <a:bodyPr rtlCol="0" anchor="ctr"/>
          <a:lstStyle/>
          <a:p>
            <a:pPr algn="ctr"/>
          </a:p>
        </p:txBody>
      </p:sp>
      <p:sp>
        <p:nvSpPr>
          <p:cNvPr id="26" name="TextBox 25"/>
          <p:cNvSpPr txBox="1"/>
          <p:nvPr/>
        </p:nvSpPr>
        <p:spPr>
          <a:xfrm>
            <a:off x="5184648" y="2103120"/>
            <a:ext cx="2057400" cy="987552"/>
          </a:xfrm>
          <a:prstGeom prst="rect">
            <a:avLst/>
          </a:prstGeom>
          <a:noFill/>
        </p:spPr>
        <p:txBody>
          <a:bodyPr wrap="square" lIns="0" rIns="0" tIns="0" bIns="0" anchor="t">
            <a:spAutoFit/>
          </a:bodyPr>
          <a:lstStyle/>
          <a:p>
            <a:pPr>
              <a:lnSpc>
                <a:spcPct val="120000"/>
              </a:lnSpc>
              <a:spcBef>
                <a:spcPts val="0"/>
              </a:spcBef>
              <a:spcAft>
                <a:spcPts val="0"/>
              </a:spcAft>
            </a:pPr>
            <a:r>
              <a:rPr sz="1400" b="1">
                <a:solidFill>
                  <a:srgbClr val="002970"/>
                </a:solidFill>
                <a:latin typeface="Arial"/>
              </a:rPr>
              <a:t>Speech mishears the amount</a:t>
            </a:r>
          </a:p>
        </p:txBody>
      </p:sp>
      <p:sp>
        <p:nvSpPr>
          <p:cNvPr id="27" name="TextBox 26"/>
          <p:cNvSpPr txBox="1"/>
          <p:nvPr/>
        </p:nvSpPr>
        <p:spPr>
          <a:xfrm>
            <a:off x="7424928" y="2103120"/>
            <a:ext cx="4199839" cy="987552"/>
          </a:xfrm>
          <a:prstGeom prst="rect">
            <a:avLst/>
          </a:prstGeom>
          <a:noFill/>
        </p:spPr>
        <p:txBody>
          <a:bodyPr wrap="square" lIns="0" rIns="0" tIns="0" bIns="0" anchor="t">
            <a:spAutoFit/>
          </a:bodyPr>
          <a:lstStyle/>
          <a:p>
            <a:pPr>
              <a:lnSpc>
                <a:spcPct val="135000"/>
              </a:lnSpc>
              <a:spcBef>
                <a:spcPts val="0"/>
              </a:spcBef>
              <a:spcAft>
                <a:spcPts val="0"/>
              </a:spcAft>
            </a:pPr>
            <a:r>
              <a:rPr sz="1300" b="0">
                <a:solidFill>
                  <a:srgbClr val="5B6675"/>
                </a:solidFill>
                <a:latin typeface="Arial"/>
              </a:rPr>
              <a:t>The amount is shown before sending; “Say it again” is one tap. No model ever writes the number.</a:t>
            </a:r>
          </a:p>
        </p:txBody>
      </p:sp>
      <p:sp>
        <p:nvSpPr>
          <p:cNvPr id="28" name="Rectangle 27"/>
          <p:cNvSpPr/>
          <p:nvPr/>
        </p:nvSpPr>
        <p:spPr>
          <a:xfrm>
            <a:off x="5184648" y="2980944"/>
            <a:ext cx="6440119" cy="9525"/>
          </a:xfrm>
          <a:prstGeom prst="rect">
            <a:avLst/>
          </a:prstGeom>
          <a:solidFill>
            <a:srgbClr val="D9E4EC"/>
          </a:solidFill>
          <a:ln>
            <a:noFill/>
          </a:ln>
        </p:spPr>
        <p:txBody>
          <a:bodyPr rtlCol="0" anchor="ctr"/>
          <a:lstStyle/>
          <a:p>
            <a:pPr algn="ctr"/>
          </a:p>
        </p:txBody>
      </p:sp>
      <p:sp>
        <p:nvSpPr>
          <p:cNvPr id="29" name="TextBox 28"/>
          <p:cNvSpPr txBox="1"/>
          <p:nvPr/>
        </p:nvSpPr>
        <p:spPr>
          <a:xfrm>
            <a:off x="5184648" y="3090672"/>
            <a:ext cx="2057400" cy="987552"/>
          </a:xfrm>
          <a:prstGeom prst="rect">
            <a:avLst/>
          </a:prstGeom>
          <a:noFill/>
        </p:spPr>
        <p:txBody>
          <a:bodyPr wrap="square" lIns="0" rIns="0" tIns="0" bIns="0" anchor="t">
            <a:spAutoFit/>
          </a:bodyPr>
          <a:lstStyle/>
          <a:p>
            <a:pPr>
              <a:lnSpc>
                <a:spcPct val="120000"/>
              </a:lnSpc>
              <a:spcBef>
                <a:spcPts val="0"/>
              </a:spcBef>
              <a:spcAft>
                <a:spcPts val="0"/>
              </a:spcAft>
            </a:pPr>
            <a:r>
              <a:rPr sz="1400" b="1">
                <a:solidFill>
                  <a:srgbClr val="002970"/>
                </a:solidFill>
                <a:latin typeface="Arial"/>
              </a:rPr>
              <a:t>Venue wifi fails</a:t>
            </a:r>
          </a:p>
        </p:txBody>
      </p:sp>
      <p:sp>
        <p:nvSpPr>
          <p:cNvPr id="30" name="TextBox 29"/>
          <p:cNvSpPr txBox="1"/>
          <p:nvPr/>
        </p:nvSpPr>
        <p:spPr>
          <a:xfrm>
            <a:off x="7424928" y="3090672"/>
            <a:ext cx="4199839" cy="987552"/>
          </a:xfrm>
          <a:prstGeom prst="rect">
            <a:avLst/>
          </a:prstGeom>
          <a:noFill/>
        </p:spPr>
        <p:txBody>
          <a:bodyPr wrap="square" lIns="0" rIns="0" tIns="0" bIns="0" anchor="t">
            <a:spAutoFit/>
          </a:bodyPr>
          <a:lstStyle/>
          <a:p>
            <a:pPr>
              <a:lnSpc>
                <a:spcPct val="135000"/>
              </a:lnSpc>
              <a:spcBef>
                <a:spcPts val="0"/>
              </a:spcBef>
              <a:spcAft>
                <a:spcPts val="0"/>
              </a:spcAft>
            </a:pPr>
            <a:r>
              <a:rPr sz="1300" b="0">
                <a:solidFill>
                  <a:srgbClr val="5B6675"/>
                </a:solidFill>
                <a:latin typeface="Arial"/>
              </a:rPr>
              <a:t>Deployed publicly, so the judge’s phone uses its own data. Speech is cached offline.</a:t>
            </a:r>
          </a:p>
        </p:txBody>
      </p:sp>
      <p:sp>
        <p:nvSpPr>
          <p:cNvPr id="31" name="Rectangle 30"/>
          <p:cNvSpPr/>
          <p:nvPr/>
        </p:nvSpPr>
        <p:spPr>
          <a:xfrm>
            <a:off x="5184648" y="3968496"/>
            <a:ext cx="6440119" cy="9525"/>
          </a:xfrm>
          <a:prstGeom prst="rect">
            <a:avLst/>
          </a:prstGeom>
          <a:solidFill>
            <a:srgbClr val="D9E4EC"/>
          </a:solidFill>
          <a:ln>
            <a:noFill/>
          </a:ln>
        </p:spPr>
        <p:txBody>
          <a:bodyPr rtlCol="0" anchor="ctr"/>
          <a:lstStyle/>
          <a:p>
            <a:pPr algn="ctr"/>
          </a:p>
        </p:txBody>
      </p:sp>
      <p:sp>
        <p:nvSpPr>
          <p:cNvPr id="32" name="TextBox 31"/>
          <p:cNvSpPr txBox="1"/>
          <p:nvPr/>
        </p:nvSpPr>
        <p:spPr>
          <a:xfrm>
            <a:off x="5184648" y="4078224"/>
            <a:ext cx="2057400" cy="987552"/>
          </a:xfrm>
          <a:prstGeom prst="rect">
            <a:avLst/>
          </a:prstGeom>
          <a:noFill/>
        </p:spPr>
        <p:txBody>
          <a:bodyPr wrap="square" lIns="0" rIns="0" tIns="0" bIns="0" anchor="t">
            <a:spAutoFit/>
          </a:bodyPr>
          <a:lstStyle/>
          <a:p>
            <a:pPr>
              <a:lnSpc>
                <a:spcPct val="120000"/>
              </a:lnSpc>
              <a:spcBef>
                <a:spcPts val="0"/>
              </a:spcBef>
              <a:spcAft>
                <a:spcPts val="0"/>
              </a:spcAft>
            </a:pPr>
            <a:r>
              <a:rPr sz="1400" b="1">
                <a:solidFill>
                  <a:srgbClr val="002970"/>
                </a:solidFill>
                <a:latin typeface="Arial"/>
              </a:rPr>
              <a:t>The customer never confirms</a:t>
            </a:r>
          </a:p>
        </p:txBody>
      </p:sp>
      <p:sp>
        <p:nvSpPr>
          <p:cNvPr id="33" name="TextBox 32"/>
          <p:cNvSpPr txBox="1"/>
          <p:nvPr/>
        </p:nvSpPr>
        <p:spPr>
          <a:xfrm>
            <a:off x="7424928" y="4078224"/>
            <a:ext cx="4199839" cy="987552"/>
          </a:xfrm>
          <a:prstGeom prst="rect">
            <a:avLst/>
          </a:prstGeom>
          <a:noFill/>
        </p:spPr>
        <p:txBody>
          <a:bodyPr wrap="square" lIns="0" rIns="0" tIns="0" bIns="0" anchor="t">
            <a:spAutoFit/>
          </a:bodyPr>
          <a:lstStyle/>
          <a:p>
            <a:pPr>
              <a:lnSpc>
                <a:spcPct val="135000"/>
              </a:lnSpc>
              <a:spcBef>
                <a:spcPts val="0"/>
              </a:spcBef>
              <a:spcAft>
                <a:spcPts val="0"/>
              </a:spcAft>
            </a:pPr>
            <a:r>
              <a:rPr sz="1300" b="0">
                <a:solidFill>
                  <a:srgbClr val="5B6675"/>
                </a:solidFill>
                <a:latin typeface="Arial"/>
              </a:rPr>
              <a:t>The entry stays in the shopkeeper’s book, marked unconfirmed.</a:t>
            </a:r>
          </a:p>
        </p:txBody>
      </p:sp>
      <p:sp>
        <p:nvSpPr>
          <p:cNvPr id="34" name="Rectangle 33"/>
          <p:cNvSpPr/>
          <p:nvPr/>
        </p:nvSpPr>
        <p:spPr>
          <a:xfrm>
            <a:off x="5184648" y="4956048"/>
            <a:ext cx="6440119" cy="9525"/>
          </a:xfrm>
          <a:prstGeom prst="rect">
            <a:avLst/>
          </a:prstGeom>
          <a:solidFill>
            <a:srgbClr val="D9E4EC"/>
          </a:solidFill>
          <a:ln>
            <a:noFill/>
          </a:ln>
        </p:spPr>
        <p:txBody>
          <a:bodyPr rtlCol="0" anchor="ctr"/>
          <a:lstStyle/>
          <a:p>
            <a:pPr algn="ctr"/>
          </a:p>
        </p:txBody>
      </p:sp>
      <p:sp>
        <p:nvSpPr>
          <p:cNvPr id="35" name="TextBox 34"/>
          <p:cNvSpPr txBox="1"/>
          <p:nvPr/>
        </p:nvSpPr>
        <p:spPr>
          <a:xfrm>
            <a:off x="5184648" y="5065776"/>
            <a:ext cx="2057400" cy="987552"/>
          </a:xfrm>
          <a:prstGeom prst="rect">
            <a:avLst/>
          </a:prstGeom>
          <a:noFill/>
        </p:spPr>
        <p:txBody>
          <a:bodyPr wrap="square" lIns="0" rIns="0" tIns="0" bIns="0" anchor="t">
            <a:spAutoFit/>
          </a:bodyPr>
          <a:lstStyle/>
          <a:p>
            <a:pPr>
              <a:lnSpc>
                <a:spcPct val="120000"/>
              </a:lnSpc>
              <a:spcBef>
                <a:spcPts val="0"/>
              </a:spcBef>
              <a:spcAft>
                <a:spcPts val="0"/>
              </a:spcAft>
            </a:pPr>
            <a:r>
              <a:rPr sz="1400" b="1">
                <a:solidFill>
                  <a:srgbClr val="002970"/>
                </a:solidFill>
                <a:latin typeface="Arial"/>
              </a:rPr>
              <a:t>Reminders feel like pressure</a:t>
            </a:r>
          </a:p>
        </p:txBody>
      </p:sp>
      <p:sp>
        <p:nvSpPr>
          <p:cNvPr id="36" name="TextBox 35"/>
          <p:cNvSpPr txBox="1"/>
          <p:nvPr/>
        </p:nvSpPr>
        <p:spPr>
          <a:xfrm>
            <a:off x="7424928" y="5065776"/>
            <a:ext cx="4199839" cy="987552"/>
          </a:xfrm>
          <a:prstGeom prst="rect">
            <a:avLst/>
          </a:prstGeom>
          <a:noFill/>
        </p:spPr>
        <p:txBody>
          <a:bodyPr wrap="square" lIns="0" rIns="0" tIns="0" bIns="0" anchor="t">
            <a:spAutoFit/>
          </a:bodyPr>
          <a:lstStyle/>
          <a:p>
            <a:pPr>
              <a:lnSpc>
                <a:spcPct val="135000"/>
              </a:lnSpc>
              <a:spcBef>
                <a:spcPts val="0"/>
              </a:spcBef>
              <a:spcAft>
                <a:spcPts val="0"/>
              </a:spcAft>
            </a:pPr>
            <a:r>
              <a:rPr sz="1300" b="0">
                <a:solidFill>
                  <a:srgbClr val="5B6675"/>
                </a:solidFill>
                <a:latin typeface="Arial"/>
              </a:rPr>
              <a:t>Timed per person, private and rare. There is no demand button.</a:t>
            </a:r>
          </a:p>
        </p:txBody>
      </p:sp>
      <p:sp>
        <p:nvSpPr>
          <p:cNvPr id="37" name="TextBox 36"/>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SOURCES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Where every fact in this deck comes from.</a:t>
            </a:r>
          </a:p>
        </p:txBody>
      </p:sp>
      <p:sp>
        <p:nvSpPr>
          <p:cNvPr id="5" name="Rounded Rectangle 4"/>
          <p:cNvSpPr/>
          <p:nvPr/>
        </p:nvSpPr>
        <p:spPr>
          <a:xfrm>
            <a:off x="566928" y="1645920"/>
            <a:ext cx="5346039" cy="4498848"/>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6278727" y="1645920"/>
            <a:ext cx="5346039" cy="4498848"/>
          </a:xfrm>
          <a:prstGeom prst="roundRect">
            <a:avLst>
              <a:gd name="adj" fmla="val 6000"/>
            </a:avLst>
          </a:prstGeom>
          <a:solidFill>
            <a:srgbClr val="FFFFFF"/>
          </a:solidFill>
          <a:ln>
            <a:noFill/>
          </a:ln>
        </p:spPr>
        <p:txBody>
          <a:bodyPr rtlCol="0" anchor="ctr"/>
          <a:lstStyle/>
          <a:p>
            <a:pPr algn="ctr"/>
          </a:p>
        </p:txBody>
      </p:sp>
      <p:sp>
        <p:nvSpPr>
          <p:cNvPr id="7" name="TextBox 6"/>
          <p:cNvSpPr txBox="1"/>
          <p:nvPr/>
        </p:nvSpPr>
        <p:spPr>
          <a:xfrm>
            <a:off x="841248"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MARKET AND PRODUCTS</a:t>
            </a:r>
          </a:p>
          <a:p>
            <a:pPr>
              <a:lnSpc>
                <a:spcPct val="120000"/>
              </a:lnSpc>
              <a:spcBef>
                <a:spcPts val="900"/>
              </a:spcBef>
              <a:spcAft>
                <a:spcPts val="0"/>
              </a:spcAft>
            </a:pPr>
            <a:r>
              <a:rPr sz="1150" b="1">
                <a:solidFill>
                  <a:srgbClr val="1C1C1C"/>
                </a:solidFill>
                <a:latin typeface="Arial"/>
              </a:rPr>
              <a:t>Khatabook — 5 Cr+ downloads; customers get SMS / WhatsApp</a:t>
            </a:r>
          </a:p>
          <a:p>
            <a:pPr>
              <a:lnSpc>
                <a:spcPct val="120000"/>
              </a:lnSpc>
              <a:spcBef>
                <a:spcPts val="100"/>
              </a:spcBef>
              <a:spcAft>
                <a:spcPts val="0"/>
              </a:spcAft>
            </a:pPr>
            <a:r>
              <a:rPr sz="1000" b="0">
                <a:solidFill>
                  <a:srgbClr val="5B6675"/>
                </a:solidFill>
                <a:latin typeface="Arial"/>
                <a:hlinkClick r:id="rId2"/>
              </a:rPr>
              <a:t>Google Play, checked 23 Sep 2026</a:t>
            </a:r>
          </a:p>
          <a:p>
            <a:pPr>
              <a:lnSpc>
                <a:spcPct val="120000"/>
              </a:lnSpc>
              <a:spcBef>
                <a:spcPts val="900"/>
              </a:spcBef>
              <a:spcAft>
                <a:spcPts val="0"/>
              </a:spcAft>
            </a:pPr>
            <a:r>
              <a:rPr sz="1150" b="1">
                <a:solidFill>
                  <a:srgbClr val="1C1C1C"/>
                </a:solidFill>
                <a:latin typeface="Arial"/>
              </a:rPr>
              <a:t>OkCredit — 1 Cr+ downloads; “They don’t need the app”</a:t>
            </a:r>
          </a:p>
          <a:p>
            <a:pPr>
              <a:lnSpc>
                <a:spcPct val="120000"/>
              </a:lnSpc>
              <a:spcBef>
                <a:spcPts val="100"/>
              </a:spcBef>
              <a:spcAft>
                <a:spcPts val="0"/>
              </a:spcAft>
            </a:pPr>
            <a:r>
              <a:rPr sz="1000" b="0">
                <a:solidFill>
                  <a:srgbClr val="5B6675"/>
                </a:solidFill>
                <a:latin typeface="Arial"/>
                <a:hlinkClick r:id="rId3"/>
              </a:rPr>
              <a:t>Google Play and okcredit.in, checked 23 Sep 2026</a:t>
            </a:r>
          </a:p>
          <a:p>
            <a:pPr>
              <a:lnSpc>
                <a:spcPct val="120000"/>
              </a:lnSpc>
              <a:spcBef>
                <a:spcPts val="900"/>
              </a:spcBef>
              <a:spcAft>
                <a:spcPts val="0"/>
              </a:spcAft>
            </a:pPr>
            <a:r>
              <a:rPr sz="1150" b="1">
                <a:solidFill>
                  <a:srgbClr val="1C1C1C"/>
                </a:solidFill>
                <a:latin typeface="Arial"/>
              </a:rPr>
              <a:t>Done — 100+ downloads; entries confirmed by OTP</a:t>
            </a:r>
          </a:p>
          <a:p>
            <a:pPr>
              <a:lnSpc>
                <a:spcPct val="120000"/>
              </a:lnSpc>
              <a:spcBef>
                <a:spcPts val="100"/>
              </a:spcBef>
              <a:spcAft>
                <a:spcPts val="0"/>
              </a:spcAft>
            </a:pPr>
            <a:r>
              <a:rPr sz="1000" b="0">
                <a:solidFill>
                  <a:srgbClr val="5B6675"/>
                </a:solidFill>
                <a:latin typeface="Arial"/>
                <a:hlinkClick r:id="rId4"/>
              </a:rPr>
              <a:t>Google Play, checked 23 Sep 2026</a:t>
            </a:r>
          </a:p>
          <a:p>
            <a:pPr>
              <a:lnSpc>
                <a:spcPct val="120000"/>
              </a:lnSpc>
              <a:spcBef>
                <a:spcPts val="900"/>
              </a:spcBef>
              <a:spcAft>
                <a:spcPts val="0"/>
              </a:spcAft>
            </a:pPr>
            <a:r>
              <a:rPr sz="1150" b="1">
                <a:solidFill>
                  <a:srgbClr val="1C1C1C"/>
                </a:solidFill>
                <a:latin typeface="Arial"/>
              </a:rPr>
              <a:t>Paytm Business Khata — customer reminders by SMS with a pay link</a:t>
            </a:r>
          </a:p>
          <a:p>
            <a:pPr>
              <a:lnSpc>
                <a:spcPct val="120000"/>
              </a:lnSpc>
              <a:spcBef>
                <a:spcPts val="100"/>
              </a:spcBef>
              <a:spcAft>
                <a:spcPts val="0"/>
              </a:spcAft>
            </a:pPr>
            <a:r>
              <a:rPr sz="1000" b="0">
                <a:solidFill>
                  <a:srgbClr val="5B6675"/>
                </a:solidFill>
                <a:latin typeface="Arial"/>
                <a:hlinkClick r:id="rId5"/>
              </a:rPr>
              <a:t>business.paytm.com, checked 23 Sep 2026</a:t>
            </a:r>
          </a:p>
          <a:p>
            <a:pPr>
              <a:lnSpc>
                <a:spcPct val="120000"/>
              </a:lnSpc>
              <a:spcBef>
                <a:spcPts val="900"/>
              </a:spcBef>
              <a:spcAft>
                <a:spcPts val="0"/>
              </a:spcAft>
            </a:pPr>
            <a:r>
              <a:rPr sz="1150" b="1">
                <a:solidFill>
                  <a:srgbClr val="1C1C1C"/>
                </a:solidFill>
                <a:latin typeface="Arial"/>
              </a:rPr>
              <a:t>Paytm Soundbox “deployed at 1.57 Cr storefronts”</a:t>
            </a:r>
          </a:p>
          <a:p>
            <a:pPr>
              <a:lnSpc>
                <a:spcPct val="120000"/>
              </a:lnSpc>
              <a:spcBef>
                <a:spcPts val="100"/>
              </a:spcBef>
              <a:spcAft>
                <a:spcPts val="0"/>
              </a:spcAft>
            </a:pPr>
            <a:r>
              <a:rPr sz="1000" b="0">
                <a:solidFill>
                  <a:srgbClr val="5B6675"/>
                </a:solidFill>
                <a:latin typeface="Arial"/>
                <a:hlinkClick r:id="rId6"/>
              </a:rPr>
              <a:t>Paytm Q1 FY2027 earnings release, 20 Jul 2026</a:t>
            </a:r>
          </a:p>
          <a:p>
            <a:pPr>
              <a:lnSpc>
                <a:spcPct val="120000"/>
              </a:lnSpc>
              <a:spcBef>
                <a:spcPts val="900"/>
              </a:spcBef>
              <a:spcAft>
                <a:spcPts val="0"/>
              </a:spcAft>
            </a:pPr>
            <a:r>
              <a:rPr sz="1150" b="1">
                <a:solidFill>
                  <a:srgbClr val="1C1C1C"/>
                </a:solidFill>
                <a:latin typeface="Arial"/>
              </a:rPr>
              <a:t>Khatabook FY24 — ₹102.7 Cr revenue, ₹116 Cr loss</a:t>
            </a:r>
          </a:p>
          <a:p>
            <a:pPr>
              <a:lnSpc>
                <a:spcPct val="120000"/>
              </a:lnSpc>
              <a:spcBef>
                <a:spcPts val="100"/>
              </a:spcBef>
              <a:spcAft>
                <a:spcPts val="0"/>
              </a:spcAft>
            </a:pPr>
            <a:r>
              <a:rPr sz="1000" b="0">
                <a:solidFill>
                  <a:srgbClr val="5B6675"/>
                </a:solidFill>
                <a:latin typeface="Arial"/>
                <a:hlinkClick r:id="rId7"/>
              </a:rPr>
              <a:t>YourStory, Nov 2024</a:t>
            </a:r>
          </a:p>
        </p:txBody>
      </p:sp>
      <p:sp>
        <p:nvSpPr>
          <p:cNvPr id="8" name="TextBox 7"/>
          <p:cNvSpPr txBox="1"/>
          <p:nvPr/>
        </p:nvSpPr>
        <p:spPr>
          <a:xfrm>
            <a:off x="6553047"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LAW</a:t>
            </a:r>
          </a:p>
          <a:p>
            <a:pPr>
              <a:lnSpc>
                <a:spcPct val="120000"/>
              </a:lnSpc>
              <a:spcBef>
                <a:spcPts val="900"/>
              </a:spcBef>
              <a:spcAft>
                <a:spcPts val="0"/>
              </a:spcAft>
            </a:pPr>
            <a:r>
              <a:rPr sz="1150" b="1">
                <a:solidFill>
                  <a:srgbClr val="1C1C1C"/>
                </a:solidFill>
                <a:latin typeface="Arial"/>
              </a:rPr>
              <a:t>Information Technology Act 2000, s.1(4) and First Schedule, entry 1 (as amended 2022)</a:t>
            </a:r>
          </a:p>
          <a:p>
            <a:pPr>
              <a:lnSpc>
                <a:spcPct val="120000"/>
              </a:lnSpc>
              <a:spcBef>
                <a:spcPts val="100"/>
              </a:spcBef>
              <a:spcAft>
                <a:spcPts val="0"/>
              </a:spcAft>
            </a:pPr>
            <a:r>
              <a:rPr sz="1000" b="0">
                <a:solidFill>
                  <a:srgbClr val="5B6675"/>
                </a:solidFill>
                <a:latin typeface="Arial"/>
              </a:rPr>
              <a:t>Negotiable instruments other than cheques are outside the Act.</a:t>
            </a:r>
          </a:p>
          <a:p>
            <a:pPr>
              <a:lnSpc>
                <a:spcPct val="120000"/>
              </a:lnSpc>
              <a:spcBef>
                <a:spcPts val="900"/>
              </a:spcBef>
              <a:spcAft>
                <a:spcPts val="0"/>
              </a:spcAft>
            </a:pPr>
            <a:r>
              <a:rPr sz="1150" b="1">
                <a:solidFill>
                  <a:srgbClr val="1C1C1C"/>
                </a:solidFill>
                <a:latin typeface="Arial"/>
              </a:rPr>
              <a:t>Karnataka Money Lenders Act 1961, s.2(9)</a:t>
            </a:r>
          </a:p>
          <a:p>
            <a:pPr>
              <a:lnSpc>
                <a:spcPct val="120000"/>
              </a:lnSpc>
              <a:spcBef>
                <a:spcPts val="100"/>
              </a:spcBef>
              <a:spcAft>
                <a:spcPts val="0"/>
              </a:spcAft>
            </a:pPr>
            <a:r>
              <a:rPr sz="1000" b="0">
                <a:solidFill>
                  <a:srgbClr val="5B6675"/>
                </a:solidFill>
                <a:latin typeface="Arial"/>
              </a:rPr>
              <a:t>A “loan” is an advance at interest, of money or in kind.</a:t>
            </a:r>
          </a:p>
          <a:p>
            <a:pPr>
              <a:lnSpc>
                <a:spcPct val="120000"/>
              </a:lnSpc>
              <a:spcBef>
                <a:spcPts val="900"/>
              </a:spcBef>
              <a:spcAft>
                <a:spcPts val="0"/>
              </a:spcAft>
            </a:pPr>
            <a:r>
              <a:rPr sz="1150" b="1">
                <a:solidFill>
                  <a:srgbClr val="1C1C1C"/>
                </a:solidFill>
                <a:latin typeface="Arial"/>
              </a:rPr>
              <a:t>Limitation Act 1963, s.18</a:t>
            </a:r>
          </a:p>
          <a:p>
            <a:pPr>
              <a:lnSpc>
                <a:spcPct val="120000"/>
              </a:lnSpc>
              <a:spcBef>
                <a:spcPts val="100"/>
              </a:spcBef>
              <a:spcAft>
                <a:spcPts val="0"/>
              </a:spcAft>
            </a:pPr>
            <a:r>
              <a:rPr sz="1000" b="0">
                <a:solidFill>
                  <a:srgbClr val="5B6675"/>
                </a:solidFill>
                <a:latin typeface="Arial"/>
              </a:rPr>
              <a:t>A written acknowledgment starts a fresh limitation period.</a:t>
            </a:r>
          </a:p>
          <a:p>
            <a:pPr>
              <a:lnSpc>
                <a:spcPct val="120000"/>
              </a:lnSpc>
              <a:spcBef>
                <a:spcPts val="900"/>
              </a:spcBef>
              <a:spcAft>
                <a:spcPts val="0"/>
              </a:spcAft>
            </a:pPr>
            <a:r>
              <a:rPr sz="1150" b="1">
                <a:solidFill>
                  <a:srgbClr val="1C1C1C"/>
                </a:solidFill>
                <a:latin typeface="Arial"/>
              </a:rPr>
              <a:t>Bharatiya Nyaya Sanhita 2023, s.356</a:t>
            </a:r>
          </a:p>
          <a:p>
            <a:pPr>
              <a:lnSpc>
                <a:spcPct val="120000"/>
              </a:lnSpc>
              <a:spcBef>
                <a:spcPts val="100"/>
              </a:spcBef>
              <a:spcAft>
                <a:spcPts val="0"/>
              </a:spcAft>
            </a:pPr>
            <a:r>
              <a:rPr sz="1000" b="0">
                <a:solidFill>
                  <a:srgbClr val="5B6675"/>
                </a:solidFill>
                <a:latin typeface="Arial"/>
              </a:rPr>
              <a:t>Defamation.</a:t>
            </a:r>
          </a:p>
          <a:p>
            <a:pPr>
              <a:lnSpc>
                <a:spcPct val="120000"/>
              </a:lnSpc>
              <a:spcBef>
                <a:spcPts val="900"/>
              </a:spcBef>
              <a:spcAft>
                <a:spcPts val="0"/>
              </a:spcAft>
            </a:pPr>
            <a:r>
              <a:rPr sz="1150" b="1">
                <a:solidFill>
                  <a:srgbClr val="1C1C1C"/>
                </a:solidFill>
                <a:latin typeface="Arial"/>
              </a:rPr>
              <a:t>CCPA Guidelines for Prevention and Regulation of Dark Patterns 2023, Annexure 1, item 10</a:t>
            </a:r>
          </a:p>
          <a:p>
            <a:pPr>
              <a:lnSpc>
                <a:spcPct val="120000"/>
              </a:lnSpc>
              <a:spcBef>
                <a:spcPts val="100"/>
              </a:spcBef>
              <a:spcAft>
                <a:spcPts val="0"/>
              </a:spcAft>
            </a:pPr>
            <a:r>
              <a:rPr sz="1000" b="0">
                <a:solidFill>
                  <a:srgbClr val="5B6675"/>
                </a:solidFill>
                <a:latin typeface="Arial"/>
              </a:rPr>
              <a:t>“Nagging”.</a:t>
            </a:r>
          </a:p>
        </p:txBody>
      </p:sp>
      <p:sp>
        <p:nvSpPr>
          <p:cNvPr id="9" name="TextBox 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Every shop and customer name in this deck is synthetic demo data. Click a source line to open it.</a:t>
            </a:r>
          </a:p>
        </p:txBody>
      </p:sp>
      <p:sp>
        <p:nvSpPr>
          <p:cNvPr id="10" name="TextBox 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77A8"/>
      </a:hlink>
      <a:folHlink>
        <a:srgbClr val="0077A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