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29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
          </a:xfrm>
          <a:prstGeom prst="rect">
            <a:avLst/>
          </a:prstGeom>
          <a:solidFill>
            <a:srgbClr val="00B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103120"/>
            <a:ext cx="10058400" cy="1371600"/>
          </a:xfrm>
          <a:prstGeom prst="rect">
            <a:avLst/>
          </a:prstGeom>
          <a:noFill/>
        </p:spPr>
        <p:txBody>
          <a:bodyPr wrap="square" lIns="0" rIns="0" tIns="0" bIns="0" anchor="t">
            <a:spAutoFit/>
          </a:bodyPr>
          <a:lstStyle/>
          <a:p>
            <a:pPr>
              <a:lnSpc>
                <a:spcPct val="98000"/>
              </a:lnSpc>
              <a:spcBef>
                <a:spcPts val="0"/>
              </a:spcBef>
              <a:spcAft>
                <a:spcPts val="0"/>
              </a:spcAft>
            </a:pPr>
            <a:r>
              <a:rPr sz="7800" b="0" i="0">
                <a:solidFill>
                  <a:srgbClr val="FFFFFF"/>
                </a:solidFill>
                <a:latin typeface="Georgia"/>
              </a:rPr>
              <a:t>BAHI</a:t>
            </a:r>
          </a:p>
        </p:txBody>
      </p:sp>
      <p:sp>
        <p:nvSpPr>
          <p:cNvPr id="5" name="Rectangle 4"/>
          <p:cNvSpPr/>
          <p:nvPr/>
        </p:nvSpPr>
        <p:spPr>
          <a:xfrm>
            <a:off x="685800" y="3310128"/>
            <a:ext cx="1371600" cy="38100"/>
          </a:xfrm>
          <a:prstGeom prst="rect">
            <a:avLst/>
          </a:prstGeom>
          <a:solidFill>
            <a:srgbClr val="00B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547872"/>
            <a:ext cx="9692640" cy="640080"/>
          </a:xfrm>
          <a:prstGeom prst="rect">
            <a:avLst/>
          </a:prstGeom>
          <a:noFill/>
        </p:spPr>
        <p:txBody>
          <a:bodyPr wrap="square" lIns="0" rIns="0" tIns="0" bIns="0" anchor="t">
            <a:spAutoFit/>
          </a:bodyPr>
          <a:lstStyle/>
          <a:p>
            <a:pPr>
              <a:lnSpc>
                <a:spcPct val="115000"/>
              </a:lnSpc>
              <a:spcBef>
                <a:spcPts val="0"/>
              </a:spcBef>
              <a:spcAft>
                <a:spcPts val="0"/>
              </a:spcAft>
            </a:pPr>
            <a:r>
              <a:rPr sz="2500" b="0" i="0">
                <a:solidFill>
                  <a:srgbClr val="FFFFFF"/>
                </a:solidFill>
                <a:latin typeface="Georgia"/>
              </a:rPr>
              <a:t>The udhaar book both sides can see.</a:t>
            </a:r>
          </a:p>
        </p:txBody>
      </p:sp>
      <p:sp>
        <p:nvSpPr>
          <p:cNvPr id="7" name="TextBox 6"/>
          <p:cNvSpPr txBox="1"/>
          <p:nvPr/>
        </p:nvSpPr>
        <p:spPr>
          <a:xfrm>
            <a:off x="685800" y="4261104"/>
            <a:ext cx="9052560" cy="1005840"/>
          </a:xfrm>
          <a:prstGeom prst="rect">
            <a:avLst/>
          </a:prstGeom>
          <a:noFill/>
        </p:spPr>
        <p:txBody>
          <a:bodyPr wrap="square" lIns="0" rIns="0" tIns="0" bIns="0" anchor="t">
            <a:spAutoFit/>
          </a:bodyPr>
          <a:lstStyle/>
          <a:p>
            <a:pPr>
              <a:lnSpc>
                <a:spcPct val="146000"/>
              </a:lnSpc>
              <a:spcBef>
                <a:spcPts val="0"/>
              </a:spcBef>
              <a:spcAft>
                <a:spcPts val="0"/>
              </a:spcAft>
            </a:pPr>
            <a:r>
              <a:rPr sz="1350" b="0" i="0">
                <a:solidFill>
                  <a:srgbClr val="B6C6E0"/>
                </a:solidFill>
                <a:latin typeface="Helvetica Neue"/>
              </a:rPr>
              <a:t>A kirana shopkeeper records credit by speaking to his Soundbox. The customer confirms it on his own phone, sees his own balance, and clears it in one tap. The agent works out, per person, when a reminder should go — and when it should not.</a:t>
            </a:r>
          </a:p>
        </p:txBody>
      </p:sp>
      <p:sp>
        <p:nvSpPr>
          <p:cNvPr id="8" name="Rectangle 7"/>
          <p:cNvSpPr/>
          <p:nvPr/>
        </p:nvSpPr>
        <p:spPr>
          <a:xfrm>
            <a:off x="685800" y="5449824"/>
            <a:ext cx="10820095" cy="9525"/>
          </a:xfrm>
          <a:prstGeom prst="rect">
            <a:avLst/>
          </a:prstGeom>
          <a:solidFill>
            <a:srgbClr val="1C44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5650992"/>
            <a:ext cx="10820095" cy="822960"/>
          </a:xfrm>
          <a:prstGeom prst="rect">
            <a:avLst/>
          </a:prstGeom>
          <a:noFill/>
        </p:spPr>
        <p:txBody>
          <a:bodyPr wrap="square" lIns="0" rIns="0" tIns="0" bIns="0" anchor="t">
            <a:spAutoFit/>
          </a:bodyPr>
          <a:lstStyle/>
          <a:p>
            <a:pPr>
              <a:lnSpc>
                <a:spcPct val="140000"/>
              </a:lnSpc>
              <a:spcBef>
                <a:spcPts val="0"/>
              </a:spcBef>
              <a:spcAft>
                <a:spcPts val="0"/>
              </a:spcAft>
            </a:pPr>
            <a:r>
              <a:rPr sz="1150" b="1" i="0">
                <a:solidFill>
                  <a:srgbClr val="FFFFFF"/>
                </a:solidFill>
                <a:latin typeface="Helvetica Neue"/>
              </a:rPr>
              <a:t>Paytm Build for India AI Hackathon  ·  Mumbai  ·  3 October 2026</a:t>
            </a:r>
          </a:p>
          <a:p>
            <a:pPr>
              <a:lnSpc>
                <a:spcPct val="140000"/>
              </a:lnSpc>
              <a:spcBef>
                <a:spcPts val="300"/>
              </a:spcBef>
              <a:spcAft>
                <a:spcPts val="0"/>
              </a:spcAft>
            </a:pPr>
            <a:r>
              <a:rPr sz="1150" b="1" i="0">
                <a:solidFill>
                  <a:srgbClr val="00BAF2"/>
                </a:solidFill>
                <a:latin typeface="Helvetica Neue"/>
              </a:rPr>
              <a:t>Track 2 — AI-Powered Financial Journeys</a:t>
            </a:r>
          </a:p>
          <a:p>
            <a:pPr>
              <a:lnSpc>
                <a:spcPct val="140000"/>
              </a:lnSpc>
              <a:spcBef>
                <a:spcPts val="300"/>
              </a:spcBef>
              <a:spcAft>
                <a:spcPts val="0"/>
              </a:spcAft>
            </a:pPr>
            <a:r>
              <a:rPr sz="1100" b="0" i="0">
                <a:solidFill>
                  <a:srgbClr val="8FA4C6"/>
                </a:solidFill>
                <a:latin typeface="Helvetica Neue"/>
              </a:rPr>
              <a:t>Team Bitzlab</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75488"/>
            <a:ext cx="10820095" cy="237744"/>
          </a:xfrm>
          <a:prstGeom prst="rect">
            <a:avLst/>
          </a:prstGeom>
          <a:noFill/>
        </p:spPr>
        <p:txBody>
          <a:bodyPr wrap="square" lIns="0" rIns="0" tIns="0" bIns="0" anchor="t">
            <a:spAutoFit/>
          </a:bodyPr>
          <a:lstStyle/>
          <a:p>
            <a:pPr>
              <a:lnSpc>
                <a:spcPct val="140000"/>
              </a:lnSpc>
              <a:spcBef>
                <a:spcPts val="0"/>
              </a:spcBef>
              <a:spcAft>
                <a:spcPts val="0"/>
              </a:spcAft>
            </a:pPr>
            <a:r>
              <a:rPr sz="1000" b="1" i="0" spc="120">
                <a:solidFill>
                  <a:srgbClr val="646E7E"/>
                </a:solidFill>
                <a:latin typeface="Helvetica Neue"/>
              </a:rPr>
              <a:t>PROBLEM STATEMENT</a:t>
            </a:r>
          </a:p>
        </p:txBody>
      </p:sp>
      <p:sp>
        <p:nvSpPr>
          <p:cNvPr id="4" name="TextBox 3"/>
          <p:cNvSpPr txBox="1"/>
          <p:nvPr/>
        </p:nvSpPr>
        <p:spPr>
          <a:xfrm>
            <a:off x="685800" y="804672"/>
            <a:ext cx="10820095" cy="1042415"/>
          </a:xfrm>
          <a:prstGeom prst="rect">
            <a:avLst/>
          </a:prstGeom>
          <a:noFill/>
        </p:spPr>
        <p:txBody>
          <a:bodyPr wrap="square" lIns="0" rIns="0" tIns="0" bIns="0" anchor="t">
            <a:spAutoFit/>
          </a:bodyPr>
          <a:lstStyle/>
          <a:p>
            <a:pPr>
              <a:lnSpc>
                <a:spcPct val="108000"/>
              </a:lnSpc>
              <a:spcBef>
                <a:spcPts val="0"/>
              </a:spcBef>
              <a:spcAft>
                <a:spcPts val="0"/>
              </a:spcAft>
            </a:pPr>
            <a:r>
              <a:rPr sz="3200" b="0" i="0">
                <a:solidFill>
                  <a:srgbClr val="002970"/>
                </a:solidFill>
                <a:latin typeface="Georgia"/>
              </a:rPr>
              <a:t>The notebook has one author and</a:t>
            </a:r>
            <a:br/>
            <a:r>
              <a:rPr sz="3200" b="0" i="0">
                <a:solidFill>
                  <a:srgbClr val="002970"/>
                </a:solidFill>
                <a:latin typeface="Georgia"/>
              </a:rPr>
              <a:t>two people’s money in it.</a:t>
            </a:r>
          </a:p>
        </p:txBody>
      </p:sp>
      <p:sp>
        <p:nvSpPr>
          <p:cNvPr id="5" name="TextBox 4"/>
          <p:cNvSpPr txBox="1"/>
          <p:nvPr/>
        </p:nvSpPr>
        <p:spPr>
          <a:xfrm>
            <a:off x="685800" y="1938528"/>
            <a:ext cx="9692640" cy="841248"/>
          </a:xfrm>
          <a:prstGeom prst="rect">
            <a:avLst/>
          </a:prstGeom>
          <a:noFill/>
        </p:spPr>
        <p:txBody>
          <a:bodyPr wrap="square" lIns="0" rIns="0" tIns="0" bIns="0" anchor="t">
            <a:spAutoFit/>
          </a:bodyPr>
          <a:lstStyle/>
          <a:p>
            <a:pPr>
              <a:lnSpc>
                <a:spcPct val="142000"/>
              </a:lnSpc>
              <a:spcBef>
                <a:spcPts val="0"/>
              </a:spcBef>
              <a:spcAft>
                <a:spcPts val="0"/>
              </a:spcAft>
            </a:pPr>
            <a:r>
              <a:rPr sz="1350" b="0" i="0">
                <a:solidFill>
                  <a:srgbClr val="646E7E"/>
                </a:solidFill>
                <a:latin typeface="Helvetica Neue"/>
              </a:rPr>
              <a:t>About 1.3 crore kirana shops in India run a credit book by the till. It is written by one person, held by one person, and read by one person. The other party to every entry has no copy.</a:t>
            </a:r>
          </a:p>
        </p:txBody>
      </p:sp>
      <p:sp>
        <p:nvSpPr>
          <p:cNvPr id="6" name="Rectangle 5"/>
          <p:cNvSpPr/>
          <p:nvPr/>
        </p:nvSpPr>
        <p:spPr>
          <a:xfrm>
            <a:off x="685800" y="2962656"/>
            <a:ext cx="3362858" cy="28575"/>
          </a:xfrm>
          <a:prstGeom prst="rect">
            <a:avLst/>
          </a:prstGeom>
          <a:solidFill>
            <a:srgbClr val="00B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3383280"/>
            <a:ext cx="3362858" cy="475488"/>
          </a:xfrm>
          <a:prstGeom prst="rect">
            <a:avLst/>
          </a:prstGeom>
          <a:noFill/>
        </p:spPr>
        <p:txBody>
          <a:bodyPr wrap="square" lIns="0" rIns="0" tIns="0" bIns="0" anchor="t">
            <a:spAutoFit/>
          </a:bodyPr>
          <a:lstStyle/>
          <a:p>
            <a:pPr>
              <a:lnSpc>
                <a:spcPct val="118000"/>
              </a:lnSpc>
              <a:spcBef>
                <a:spcPts val="0"/>
              </a:spcBef>
              <a:spcAft>
                <a:spcPts val="0"/>
              </a:spcAft>
            </a:pPr>
            <a:r>
              <a:rPr sz="1300" b="1" i="0">
                <a:solidFill>
                  <a:srgbClr val="002970"/>
                </a:solidFill>
                <a:latin typeface="Helvetica Neue"/>
              </a:rPr>
              <a:t>What the shopkeeper cannot see</a:t>
            </a:r>
          </a:p>
        </p:txBody>
      </p:sp>
      <p:sp>
        <p:nvSpPr>
          <p:cNvPr id="8" name="TextBox 7"/>
          <p:cNvSpPr txBox="1"/>
          <p:nvPr/>
        </p:nvSpPr>
        <p:spPr>
          <a:xfrm>
            <a:off x="685800" y="3877056"/>
            <a:ext cx="3362858" cy="2286000"/>
          </a:xfrm>
          <a:prstGeom prst="rect">
            <a:avLst/>
          </a:prstGeom>
          <a:noFill/>
        </p:spPr>
        <p:txBody>
          <a:bodyPr wrap="square" lIns="0" rIns="0" tIns="0" bIns="0" anchor="t">
            <a:spAutoFit/>
          </a:bodyPr>
          <a:lstStyle/>
          <a:p>
            <a:pPr>
              <a:lnSpc>
                <a:spcPct val="142000"/>
              </a:lnSpc>
              <a:spcBef>
                <a:spcPts val="0"/>
              </a:spcBef>
              <a:spcAft>
                <a:spcPts val="700"/>
              </a:spcAft>
            </a:pPr>
            <a:r>
              <a:rPr sz="1160" b="0" i="0">
                <a:solidFill>
                  <a:srgbClr val="1A1F2B"/>
                </a:solidFill>
                <a:latin typeface="Helvetica Neue"/>
              </a:rPr>
              <a:t>Who is about to pay, and who is drifting away.</a:t>
            </a:r>
          </a:p>
          <a:p>
            <a:pPr>
              <a:lnSpc>
                <a:spcPct val="142000"/>
              </a:lnSpc>
              <a:spcBef>
                <a:spcPts val="0"/>
              </a:spcBef>
              <a:spcAft>
                <a:spcPts val="700"/>
              </a:spcAft>
            </a:pPr>
            <a:r>
              <a:rPr sz="1160" b="0" i="0">
                <a:solidFill>
                  <a:srgbClr val="1A1F2B"/>
                </a:solidFill>
                <a:latin typeface="Helvetica Neue"/>
              </a:rPr>
              <a:t>So he treats them identically. Sharma, who has paid on day 9 every month for two years, gets asked on day 4 and hears an accusation.</a:t>
            </a:r>
          </a:p>
          <a:p>
            <a:pPr>
              <a:lnSpc>
                <a:spcPct val="142000"/>
              </a:lnSpc>
              <a:spcBef>
                <a:spcPts val="0"/>
              </a:spcBef>
              <a:spcAft>
                <a:spcPts val="700"/>
              </a:spcAft>
            </a:pPr>
            <a:r>
              <a:rPr sz="1160" b="0" i="0">
                <a:solidFill>
                  <a:srgbClr val="1A1F2B"/>
                </a:solidFill>
                <a:latin typeface="Helvetica Neue"/>
              </a:rPr>
              <a:t>Patil, who has quietly reached day 40, gets asked nothing — he stopped coming in, so he is out of sight.</a:t>
            </a:r>
          </a:p>
        </p:txBody>
      </p:sp>
      <p:sp>
        <p:nvSpPr>
          <p:cNvPr id="9" name="Rectangle 8"/>
          <p:cNvSpPr/>
          <p:nvPr/>
        </p:nvSpPr>
        <p:spPr>
          <a:xfrm>
            <a:off x="4414418" y="2962656"/>
            <a:ext cx="3362858" cy="28575"/>
          </a:xfrm>
          <a:prstGeom prst="rect">
            <a:avLst/>
          </a:prstGeom>
          <a:solidFill>
            <a:srgbClr val="00B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14418" y="3383280"/>
            <a:ext cx="3362858" cy="475488"/>
          </a:xfrm>
          <a:prstGeom prst="rect">
            <a:avLst/>
          </a:prstGeom>
          <a:noFill/>
        </p:spPr>
        <p:txBody>
          <a:bodyPr wrap="square" lIns="0" rIns="0" tIns="0" bIns="0" anchor="t">
            <a:spAutoFit/>
          </a:bodyPr>
          <a:lstStyle/>
          <a:p>
            <a:pPr>
              <a:lnSpc>
                <a:spcPct val="118000"/>
              </a:lnSpc>
              <a:spcBef>
                <a:spcPts val="0"/>
              </a:spcBef>
              <a:spcAft>
                <a:spcPts val="0"/>
              </a:spcAft>
            </a:pPr>
            <a:r>
              <a:rPr sz="1300" b="1" i="0">
                <a:solidFill>
                  <a:srgbClr val="002970"/>
                </a:solidFill>
                <a:latin typeface="Helvetica Neue"/>
              </a:rPr>
              <a:t>What the customer cannot see</a:t>
            </a:r>
          </a:p>
        </p:txBody>
      </p:sp>
      <p:sp>
        <p:nvSpPr>
          <p:cNvPr id="11" name="TextBox 10"/>
          <p:cNvSpPr txBox="1"/>
          <p:nvPr/>
        </p:nvSpPr>
        <p:spPr>
          <a:xfrm>
            <a:off x="4414418" y="3877056"/>
            <a:ext cx="3362858" cy="2286000"/>
          </a:xfrm>
          <a:prstGeom prst="rect">
            <a:avLst/>
          </a:prstGeom>
          <a:noFill/>
        </p:spPr>
        <p:txBody>
          <a:bodyPr wrap="square" lIns="0" rIns="0" tIns="0" bIns="0" anchor="t">
            <a:spAutoFit/>
          </a:bodyPr>
          <a:lstStyle/>
          <a:p>
            <a:pPr>
              <a:lnSpc>
                <a:spcPct val="142000"/>
              </a:lnSpc>
              <a:spcBef>
                <a:spcPts val="0"/>
              </a:spcBef>
              <a:spcAft>
                <a:spcPts val="700"/>
              </a:spcAft>
            </a:pPr>
            <a:r>
              <a:rPr sz="1160" b="0" i="0">
                <a:solidFill>
                  <a:srgbClr val="1A1F2B"/>
                </a:solidFill>
                <a:latin typeface="Helvetica Neue"/>
              </a:rPr>
              <a:t>His own total. He owes money at three shops and could not tell you the sum within ₹500.</a:t>
            </a:r>
          </a:p>
          <a:p>
            <a:pPr>
              <a:lnSpc>
                <a:spcPct val="142000"/>
              </a:lnSpc>
              <a:spcBef>
                <a:spcPts val="0"/>
              </a:spcBef>
              <a:spcAft>
                <a:spcPts val="700"/>
              </a:spcAft>
            </a:pPr>
            <a:r>
              <a:rPr sz="1160" b="0" i="0">
                <a:solidFill>
                  <a:srgbClr val="1A1F2B"/>
                </a:solidFill>
                <a:latin typeface="Helvetica Neue"/>
              </a:rPr>
              <a:t>And he holds no evidence. If the book says ₹500 where he remembers ₹300, there is no entry, no date, and no way to disagree.</a:t>
            </a:r>
          </a:p>
          <a:p>
            <a:pPr>
              <a:lnSpc>
                <a:spcPct val="142000"/>
              </a:lnSpc>
              <a:spcBef>
                <a:spcPts val="0"/>
              </a:spcBef>
              <a:spcAft>
                <a:spcPts val="700"/>
              </a:spcAft>
            </a:pPr>
            <a:r>
              <a:rPr sz="1160" b="0" i="0">
                <a:solidFill>
                  <a:srgbClr val="1A1F2B"/>
                </a:solidFill>
                <a:latin typeface="Helvetica Neue"/>
              </a:rPr>
              <a:t>The record is one-sided, and so is the argument.</a:t>
            </a:r>
          </a:p>
        </p:txBody>
      </p:sp>
      <p:sp>
        <p:nvSpPr>
          <p:cNvPr id="12" name="Rectangle 11"/>
          <p:cNvSpPr/>
          <p:nvPr/>
        </p:nvSpPr>
        <p:spPr>
          <a:xfrm>
            <a:off x="8143036" y="2962656"/>
            <a:ext cx="3362858" cy="28575"/>
          </a:xfrm>
          <a:prstGeom prst="rect">
            <a:avLst/>
          </a:prstGeom>
          <a:solidFill>
            <a:srgbClr val="00B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43036" y="3383280"/>
            <a:ext cx="3362858" cy="475488"/>
          </a:xfrm>
          <a:prstGeom prst="rect">
            <a:avLst/>
          </a:prstGeom>
          <a:noFill/>
        </p:spPr>
        <p:txBody>
          <a:bodyPr wrap="square" lIns="0" rIns="0" tIns="0" bIns="0" anchor="t">
            <a:spAutoFit/>
          </a:bodyPr>
          <a:lstStyle/>
          <a:p>
            <a:pPr>
              <a:lnSpc>
                <a:spcPct val="118000"/>
              </a:lnSpc>
              <a:spcBef>
                <a:spcPts val="0"/>
              </a:spcBef>
              <a:spcAft>
                <a:spcPts val="0"/>
              </a:spcAft>
            </a:pPr>
            <a:r>
              <a:rPr sz="1300" b="1" i="0">
                <a:solidFill>
                  <a:srgbClr val="002970"/>
                </a:solidFill>
                <a:latin typeface="Helvetica Neue"/>
              </a:rPr>
              <a:t>How it is settled today</a:t>
            </a:r>
          </a:p>
        </p:txBody>
      </p:sp>
      <p:sp>
        <p:nvSpPr>
          <p:cNvPr id="14" name="TextBox 13"/>
          <p:cNvSpPr txBox="1"/>
          <p:nvPr/>
        </p:nvSpPr>
        <p:spPr>
          <a:xfrm>
            <a:off x="8143036" y="3877056"/>
            <a:ext cx="3362858" cy="2286000"/>
          </a:xfrm>
          <a:prstGeom prst="rect">
            <a:avLst/>
          </a:prstGeom>
          <a:noFill/>
        </p:spPr>
        <p:txBody>
          <a:bodyPr wrap="square" lIns="0" rIns="0" tIns="0" bIns="0" anchor="t">
            <a:spAutoFit/>
          </a:bodyPr>
          <a:lstStyle/>
          <a:p>
            <a:pPr>
              <a:lnSpc>
                <a:spcPct val="142000"/>
              </a:lnSpc>
              <a:spcBef>
                <a:spcPts val="0"/>
              </a:spcBef>
              <a:spcAft>
                <a:spcPts val="700"/>
              </a:spcAft>
            </a:pPr>
            <a:r>
              <a:rPr sz="1160" b="0" i="0">
                <a:solidFill>
                  <a:srgbClr val="1A1F2B"/>
                </a:solidFill>
                <a:latin typeface="Helvetica Neue"/>
              </a:rPr>
              <a:t>In public. Being asked for money in front of other customers is the enforcement mechanism.</a:t>
            </a:r>
          </a:p>
          <a:p>
            <a:pPr>
              <a:lnSpc>
                <a:spcPct val="142000"/>
              </a:lnSpc>
              <a:spcBef>
                <a:spcPts val="0"/>
              </a:spcBef>
              <a:spcAft>
                <a:spcPts val="700"/>
              </a:spcAft>
            </a:pPr>
            <a:r>
              <a:rPr sz="1160" b="0" i="0">
                <a:solidFill>
                  <a:srgbClr val="1A1F2B"/>
                </a:solidFill>
                <a:latin typeface="Helvetica Neue"/>
              </a:rPr>
              <a:t>The relationship is the collateral — so collecting the money costs the customer something that is not money.</a:t>
            </a:r>
          </a:p>
          <a:p>
            <a:pPr>
              <a:lnSpc>
                <a:spcPct val="142000"/>
              </a:lnSpc>
              <a:spcBef>
                <a:spcPts val="0"/>
              </a:spcBef>
              <a:spcAft>
                <a:spcPts val="700"/>
              </a:spcAft>
            </a:pPr>
            <a:r>
              <a:rPr sz="1160" b="0" i="0">
                <a:solidFill>
                  <a:srgbClr val="1A1F2B"/>
                </a:solidFill>
                <a:latin typeface="Helvetica Neue"/>
              </a:rPr>
              <a:t>The software that exists makes this worse. One live Indian product sells shopkeepers “instant community alerts when a chronic non-payer enters your neighborhood”.</a:t>
            </a:r>
          </a:p>
        </p:txBody>
      </p:sp>
      <p:sp>
        <p:nvSpPr>
          <p:cNvPr id="15" name="TextBox 14"/>
          <p:cNvSpPr txBox="1"/>
          <p:nvPr/>
        </p:nvSpPr>
        <p:spPr>
          <a:xfrm>
            <a:off x="685800" y="6291072"/>
            <a:ext cx="10820095" cy="274320"/>
          </a:xfrm>
          <a:prstGeom prst="rect">
            <a:avLst/>
          </a:prstGeom>
          <a:noFill/>
        </p:spPr>
        <p:txBody>
          <a:bodyPr wrap="square" lIns="0" rIns="0" tIns="0" bIns="0" anchor="t">
            <a:spAutoFit/>
          </a:bodyPr>
          <a:lstStyle/>
          <a:p>
            <a:pPr>
              <a:lnSpc>
                <a:spcPct val="130000"/>
              </a:lnSpc>
              <a:spcBef>
                <a:spcPts val="0"/>
              </a:spcBef>
              <a:spcAft>
                <a:spcPts val="0"/>
              </a:spcAft>
            </a:pPr>
            <a:r>
              <a:rPr sz="900" b="0" i="0">
                <a:solidFill>
                  <a:srgbClr val="646E7E"/>
                </a:solidFill>
                <a:latin typeface="Helvetica Neue"/>
              </a:rPr>
              <a:t>Store count: Invest India. 95% of kirana transactions are under ₹200. No credible published figure exists for udhaar volume — we looked.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75488"/>
            <a:ext cx="10820095" cy="237744"/>
          </a:xfrm>
          <a:prstGeom prst="rect">
            <a:avLst/>
          </a:prstGeom>
          <a:noFill/>
        </p:spPr>
        <p:txBody>
          <a:bodyPr wrap="square" lIns="0" rIns="0" tIns="0" bIns="0" anchor="t">
            <a:spAutoFit/>
          </a:bodyPr>
          <a:lstStyle/>
          <a:p>
            <a:pPr>
              <a:lnSpc>
                <a:spcPct val="140000"/>
              </a:lnSpc>
              <a:spcBef>
                <a:spcPts val="0"/>
              </a:spcBef>
              <a:spcAft>
                <a:spcPts val="0"/>
              </a:spcAft>
            </a:pPr>
            <a:r>
              <a:rPr sz="1000" b="1" i="0" spc="120">
                <a:solidFill>
                  <a:srgbClr val="646E7E"/>
                </a:solidFill>
                <a:latin typeface="Helvetica Neue"/>
              </a:rPr>
              <a:t>PROPOSED SOLUTION</a:t>
            </a:r>
          </a:p>
        </p:txBody>
      </p:sp>
      <p:sp>
        <p:nvSpPr>
          <p:cNvPr id="4" name="TextBox 3"/>
          <p:cNvSpPr txBox="1"/>
          <p:nvPr/>
        </p:nvSpPr>
        <p:spPr>
          <a:xfrm>
            <a:off x="685800" y="804672"/>
            <a:ext cx="10820095" cy="1042415"/>
          </a:xfrm>
          <a:prstGeom prst="rect">
            <a:avLst/>
          </a:prstGeom>
          <a:noFill/>
        </p:spPr>
        <p:txBody>
          <a:bodyPr wrap="square" lIns="0" rIns="0" tIns="0" bIns="0" anchor="t">
            <a:spAutoFit/>
          </a:bodyPr>
          <a:lstStyle/>
          <a:p>
            <a:pPr>
              <a:lnSpc>
                <a:spcPct val="108000"/>
              </a:lnSpc>
              <a:spcBef>
                <a:spcPts val="0"/>
              </a:spcBef>
              <a:spcAft>
                <a:spcPts val="0"/>
              </a:spcAft>
            </a:pPr>
            <a:r>
              <a:rPr sz="3200" b="0" i="0">
                <a:solidFill>
                  <a:srgbClr val="002970"/>
                </a:solidFill>
                <a:latin typeface="Georgia"/>
              </a:rPr>
              <a:t>The same notebook, with a second reader.</a:t>
            </a:r>
          </a:p>
        </p:txBody>
      </p:sp>
      <p:sp>
        <p:nvSpPr>
          <p:cNvPr id="5" name="TextBox 4"/>
          <p:cNvSpPr txBox="1"/>
          <p:nvPr/>
        </p:nvSpPr>
        <p:spPr>
          <a:xfrm>
            <a:off x="685800" y="1938528"/>
            <a:ext cx="9692640" cy="841248"/>
          </a:xfrm>
          <a:prstGeom prst="rect">
            <a:avLst/>
          </a:prstGeom>
          <a:noFill/>
        </p:spPr>
        <p:txBody>
          <a:bodyPr wrap="square" lIns="0" rIns="0" tIns="0" bIns="0" anchor="t">
            <a:spAutoFit/>
          </a:bodyPr>
          <a:lstStyle/>
          <a:p>
            <a:pPr>
              <a:lnSpc>
                <a:spcPct val="142000"/>
              </a:lnSpc>
              <a:spcBef>
                <a:spcPts val="0"/>
              </a:spcBef>
              <a:spcAft>
                <a:spcPts val="0"/>
              </a:spcAft>
            </a:pPr>
            <a:r>
              <a:rPr sz="1350" b="0" i="0">
                <a:solidFill>
                  <a:srgbClr val="646E7E"/>
                </a:solidFill>
                <a:latin typeface="Helvetica Neue"/>
              </a:rPr>
              <a:t>Five steps. Only one of them asks the shopkeeper to do anything he is not already doing.</a:t>
            </a:r>
          </a:p>
        </p:txBody>
      </p:sp>
      <p:sp>
        <p:nvSpPr>
          <p:cNvPr id="6" name="Rectangle 5"/>
          <p:cNvSpPr/>
          <p:nvPr/>
        </p:nvSpPr>
        <p:spPr>
          <a:xfrm>
            <a:off x="685800" y="2962656"/>
            <a:ext cx="1871411" cy="28575"/>
          </a:xfrm>
          <a:prstGeom prst="rect">
            <a:avLst/>
          </a:prstGeom>
          <a:solidFill>
            <a:srgbClr val="00B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3108960"/>
            <a:ext cx="1871411" cy="219456"/>
          </a:xfrm>
          <a:prstGeom prst="rect">
            <a:avLst/>
          </a:prstGeom>
          <a:noFill/>
        </p:spPr>
        <p:txBody>
          <a:bodyPr wrap="square" lIns="0" rIns="0" tIns="0" bIns="0" anchor="t">
            <a:spAutoFit/>
          </a:bodyPr>
          <a:lstStyle/>
          <a:p>
            <a:pPr>
              <a:lnSpc>
                <a:spcPct val="140000"/>
              </a:lnSpc>
              <a:spcBef>
                <a:spcPts val="0"/>
              </a:spcBef>
              <a:spcAft>
                <a:spcPts val="0"/>
              </a:spcAft>
            </a:pPr>
            <a:r>
              <a:rPr sz="950" b="1" i="0" spc="80">
                <a:solidFill>
                  <a:srgbClr val="0077A8"/>
                </a:solidFill>
                <a:latin typeface="Menlo"/>
              </a:rPr>
              <a:t>01</a:t>
            </a:r>
          </a:p>
        </p:txBody>
      </p:sp>
      <p:sp>
        <p:nvSpPr>
          <p:cNvPr id="8" name="TextBox 7"/>
          <p:cNvSpPr txBox="1"/>
          <p:nvPr/>
        </p:nvSpPr>
        <p:spPr>
          <a:xfrm>
            <a:off x="685800" y="3383280"/>
            <a:ext cx="1871411" cy="475488"/>
          </a:xfrm>
          <a:prstGeom prst="rect">
            <a:avLst/>
          </a:prstGeom>
          <a:noFill/>
        </p:spPr>
        <p:txBody>
          <a:bodyPr wrap="square" lIns="0" rIns="0" tIns="0" bIns="0" anchor="t">
            <a:spAutoFit/>
          </a:bodyPr>
          <a:lstStyle/>
          <a:p>
            <a:pPr>
              <a:lnSpc>
                <a:spcPct val="118000"/>
              </a:lnSpc>
              <a:spcBef>
                <a:spcPts val="0"/>
              </a:spcBef>
              <a:spcAft>
                <a:spcPts val="0"/>
              </a:spcAft>
            </a:pPr>
            <a:r>
              <a:rPr sz="1200" b="1" i="0">
                <a:solidFill>
                  <a:srgbClr val="002970"/>
                </a:solidFill>
                <a:latin typeface="Helvetica Neue"/>
              </a:rPr>
              <a:t>He joins himself</a:t>
            </a:r>
          </a:p>
        </p:txBody>
      </p:sp>
      <p:sp>
        <p:nvSpPr>
          <p:cNvPr id="9" name="TextBox 8"/>
          <p:cNvSpPr txBox="1"/>
          <p:nvPr/>
        </p:nvSpPr>
        <p:spPr>
          <a:xfrm>
            <a:off x="685800" y="3877056"/>
            <a:ext cx="1871411" cy="2286000"/>
          </a:xfrm>
          <a:prstGeom prst="rect">
            <a:avLst/>
          </a:prstGeom>
          <a:noFill/>
        </p:spPr>
        <p:txBody>
          <a:bodyPr wrap="square" lIns="0" rIns="0" tIns="0" bIns="0" anchor="t">
            <a:spAutoFit/>
          </a:bodyPr>
          <a:lstStyle/>
          <a:p>
            <a:pPr>
              <a:lnSpc>
                <a:spcPct val="142000"/>
              </a:lnSpc>
              <a:spcBef>
                <a:spcPts val="0"/>
              </a:spcBef>
              <a:spcAft>
                <a:spcPts val="700"/>
              </a:spcAft>
            </a:pPr>
            <a:r>
              <a:rPr sz="1080" b="0" i="0">
                <a:solidFill>
                  <a:srgbClr val="1A1F2B"/>
                </a:solidFill>
                <a:latin typeface="Helvetica Neue"/>
              </a:rPr>
              <a:t>A QR sticker by the till. The customer scans it once and he is in — the shop, and from then on his own running balance.</a:t>
            </a:r>
          </a:p>
          <a:p>
            <a:pPr>
              <a:lnSpc>
                <a:spcPct val="142000"/>
              </a:lnSpc>
              <a:spcBef>
                <a:spcPts val="0"/>
              </a:spcBef>
              <a:spcAft>
                <a:spcPts val="700"/>
              </a:spcAft>
            </a:pPr>
            <a:r>
              <a:rPr sz="1080" b="0" i="0">
                <a:solidFill>
                  <a:srgbClr val="1A1F2B"/>
                </a:solidFill>
                <a:latin typeface="Helvetica Neue"/>
              </a:rPr>
              <a:t>The shopkeeper types nothing.</a:t>
            </a:r>
          </a:p>
        </p:txBody>
      </p:sp>
      <p:sp>
        <p:nvSpPr>
          <p:cNvPr id="10" name="Rectangle 9"/>
          <p:cNvSpPr/>
          <p:nvPr/>
        </p:nvSpPr>
        <p:spPr>
          <a:xfrm>
            <a:off x="2922971" y="2962656"/>
            <a:ext cx="1871411" cy="28575"/>
          </a:xfrm>
          <a:prstGeom prst="rect">
            <a:avLst/>
          </a:prstGeom>
          <a:solidFill>
            <a:srgbClr val="00B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22971" y="3108960"/>
            <a:ext cx="1871411" cy="219456"/>
          </a:xfrm>
          <a:prstGeom prst="rect">
            <a:avLst/>
          </a:prstGeom>
          <a:noFill/>
        </p:spPr>
        <p:txBody>
          <a:bodyPr wrap="square" lIns="0" rIns="0" tIns="0" bIns="0" anchor="t">
            <a:spAutoFit/>
          </a:bodyPr>
          <a:lstStyle/>
          <a:p>
            <a:pPr>
              <a:lnSpc>
                <a:spcPct val="140000"/>
              </a:lnSpc>
              <a:spcBef>
                <a:spcPts val="0"/>
              </a:spcBef>
              <a:spcAft>
                <a:spcPts val="0"/>
              </a:spcAft>
            </a:pPr>
            <a:r>
              <a:rPr sz="950" b="1" i="0" spc="80">
                <a:solidFill>
                  <a:srgbClr val="0077A8"/>
                </a:solidFill>
                <a:latin typeface="Menlo"/>
              </a:rPr>
              <a:t>02</a:t>
            </a:r>
          </a:p>
        </p:txBody>
      </p:sp>
      <p:sp>
        <p:nvSpPr>
          <p:cNvPr id="12" name="TextBox 11"/>
          <p:cNvSpPr txBox="1"/>
          <p:nvPr/>
        </p:nvSpPr>
        <p:spPr>
          <a:xfrm>
            <a:off x="2922971" y="3383280"/>
            <a:ext cx="1871411" cy="475488"/>
          </a:xfrm>
          <a:prstGeom prst="rect">
            <a:avLst/>
          </a:prstGeom>
          <a:noFill/>
        </p:spPr>
        <p:txBody>
          <a:bodyPr wrap="square" lIns="0" rIns="0" tIns="0" bIns="0" anchor="t">
            <a:spAutoFit/>
          </a:bodyPr>
          <a:lstStyle/>
          <a:p>
            <a:pPr>
              <a:lnSpc>
                <a:spcPct val="118000"/>
              </a:lnSpc>
              <a:spcBef>
                <a:spcPts val="0"/>
              </a:spcBef>
              <a:spcAft>
                <a:spcPts val="0"/>
              </a:spcAft>
            </a:pPr>
            <a:r>
              <a:rPr sz="1200" b="1" i="0">
                <a:solidFill>
                  <a:srgbClr val="002970"/>
                </a:solidFill>
                <a:latin typeface="Helvetica Neue"/>
              </a:rPr>
              <a:t>The shopkeeper speaks it</a:t>
            </a:r>
          </a:p>
        </p:txBody>
      </p:sp>
      <p:sp>
        <p:nvSpPr>
          <p:cNvPr id="13" name="TextBox 12"/>
          <p:cNvSpPr txBox="1"/>
          <p:nvPr/>
        </p:nvSpPr>
        <p:spPr>
          <a:xfrm>
            <a:off x="2922971" y="3877056"/>
            <a:ext cx="1871411" cy="2286000"/>
          </a:xfrm>
          <a:prstGeom prst="rect">
            <a:avLst/>
          </a:prstGeom>
          <a:noFill/>
        </p:spPr>
        <p:txBody>
          <a:bodyPr wrap="square" lIns="0" rIns="0" tIns="0" bIns="0" anchor="t">
            <a:spAutoFit/>
          </a:bodyPr>
          <a:lstStyle/>
          <a:p>
            <a:pPr>
              <a:lnSpc>
                <a:spcPct val="142000"/>
              </a:lnSpc>
              <a:spcBef>
                <a:spcPts val="0"/>
              </a:spcBef>
              <a:spcAft>
                <a:spcPts val="700"/>
              </a:spcAft>
            </a:pPr>
            <a:r>
              <a:rPr sz="1080" b="0" i="0">
                <a:solidFill>
                  <a:srgbClr val="1A1F2B"/>
                </a:solidFill>
                <a:latin typeface="Helvetica Neue"/>
              </a:rPr>
              <a:t>“Sharma ko do sau udhaar.”</a:t>
            </a:r>
          </a:p>
          <a:p>
            <a:pPr>
              <a:lnSpc>
                <a:spcPct val="142000"/>
              </a:lnSpc>
              <a:spcBef>
                <a:spcPts val="0"/>
              </a:spcBef>
              <a:spcAft>
                <a:spcPts val="700"/>
              </a:spcAft>
            </a:pPr>
            <a:r>
              <a:rPr sz="1080" b="0" i="0">
                <a:solidFill>
                  <a:srgbClr val="1A1F2B"/>
                </a:solidFill>
                <a:latin typeface="Helvetica Neue"/>
              </a:rPr>
              <a:t>The Soundbox hears it. No screen, no typing, queue still moving. He can tag the man “Room 19, B wing” — he often does not know the surname.</a:t>
            </a:r>
          </a:p>
        </p:txBody>
      </p:sp>
      <p:sp>
        <p:nvSpPr>
          <p:cNvPr id="14" name="Rectangle 13"/>
          <p:cNvSpPr/>
          <p:nvPr/>
        </p:nvSpPr>
        <p:spPr>
          <a:xfrm>
            <a:off x="5160142" y="2962656"/>
            <a:ext cx="1871411" cy="28575"/>
          </a:xfrm>
          <a:prstGeom prst="rect">
            <a:avLst/>
          </a:prstGeom>
          <a:solidFill>
            <a:srgbClr val="00B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60142" y="3108960"/>
            <a:ext cx="1871411" cy="219456"/>
          </a:xfrm>
          <a:prstGeom prst="rect">
            <a:avLst/>
          </a:prstGeom>
          <a:noFill/>
        </p:spPr>
        <p:txBody>
          <a:bodyPr wrap="square" lIns="0" rIns="0" tIns="0" bIns="0" anchor="t">
            <a:spAutoFit/>
          </a:bodyPr>
          <a:lstStyle/>
          <a:p>
            <a:pPr>
              <a:lnSpc>
                <a:spcPct val="140000"/>
              </a:lnSpc>
              <a:spcBef>
                <a:spcPts val="0"/>
              </a:spcBef>
              <a:spcAft>
                <a:spcPts val="0"/>
              </a:spcAft>
            </a:pPr>
            <a:r>
              <a:rPr sz="950" b="1" i="0" spc="80">
                <a:solidFill>
                  <a:srgbClr val="0077A8"/>
                </a:solidFill>
                <a:latin typeface="Menlo"/>
              </a:rPr>
              <a:t>03</a:t>
            </a:r>
          </a:p>
        </p:txBody>
      </p:sp>
      <p:sp>
        <p:nvSpPr>
          <p:cNvPr id="16" name="TextBox 15"/>
          <p:cNvSpPr txBox="1"/>
          <p:nvPr/>
        </p:nvSpPr>
        <p:spPr>
          <a:xfrm>
            <a:off x="5160142" y="3383280"/>
            <a:ext cx="1871411" cy="475488"/>
          </a:xfrm>
          <a:prstGeom prst="rect">
            <a:avLst/>
          </a:prstGeom>
          <a:noFill/>
        </p:spPr>
        <p:txBody>
          <a:bodyPr wrap="square" lIns="0" rIns="0" tIns="0" bIns="0" anchor="t">
            <a:spAutoFit/>
          </a:bodyPr>
          <a:lstStyle/>
          <a:p>
            <a:pPr>
              <a:lnSpc>
                <a:spcPct val="118000"/>
              </a:lnSpc>
              <a:spcBef>
                <a:spcPts val="0"/>
              </a:spcBef>
              <a:spcAft>
                <a:spcPts val="0"/>
              </a:spcAft>
            </a:pPr>
            <a:r>
              <a:rPr sz="1200" b="1" i="0">
                <a:solidFill>
                  <a:srgbClr val="002970"/>
                </a:solidFill>
                <a:latin typeface="Helvetica Neue"/>
              </a:rPr>
              <a:t>The customer confirms</a:t>
            </a:r>
          </a:p>
        </p:txBody>
      </p:sp>
      <p:sp>
        <p:nvSpPr>
          <p:cNvPr id="17" name="TextBox 16"/>
          <p:cNvSpPr txBox="1"/>
          <p:nvPr/>
        </p:nvSpPr>
        <p:spPr>
          <a:xfrm>
            <a:off x="5160142" y="3877056"/>
            <a:ext cx="1871411" cy="2286000"/>
          </a:xfrm>
          <a:prstGeom prst="rect">
            <a:avLst/>
          </a:prstGeom>
          <a:noFill/>
        </p:spPr>
        <p:txBody>
          <a:bodyPr wrap="square" lIns="0" rIns="0" tIns="0" bIns="0" anchor="t">
            <a:spAutoFit/>
          </a:bodyPr>
          <a:lstStyle/>
          <a:p>
            <a:pPr>
              <a:lnSpc>
                <a:spcPct val="142000"/>
              </a:lnSpc>
              <a:spcBef>
                <a:spcPts val="0"/>
              </a:spcBef>
              <a:spcAft>
                <a:spcPts val="700"/>
              </a:spcAft>
            </a:pPr>
            <a:r>
              <a:rPr sz="1080" b="0" i="0">
                <a:solidFill>
                  <a:srgbClr val="1A1F2B"/>
                </a:solidFill>
                <a:latin typeface="Helvetica Neue"/>
              </a:rPr>
              <a:t>“₹200 recorded at Ramesh Kirana, 22 September.” He taps Confirm.</a:t>
            </a:r>
          </a:p>
          <a:p>
            <a:pPr>
              <a:lnSpc>
                <a:spcPct val="142000"/>
              </a:lnSpc>
              <a:spcBef>
                <a:spcPts val="0"/>
              </a:spcBef>
              <a:spcAft>
                <a:spcPts val="700"/>
              </a:spcAft>
            </a:pPr>
            <a:r>
              <a:rPr sz="1080" b="0" i="0">
                <a:solidFill>
                  <a:srgbClr val="1A1F2B"/>
                </a:solidFill>
                <a:latin typeface="Helvetica Neue"/>
              </a:rPr>
              <a:t>If he does not, the entry still stands — marked unconfirmed. The shopkeeper never loses his record. But a confirmed entry is a fact and an unconfirmed one is a claim.</a:t>
            </a:r>
          </a:p>
        </p:txBody>
      </p:sp>
      <p:sp>
        <p:nvSpPr>
          <p:cNvPr id="18" name="Rectangle 17"/>
          <p:cNvSpPr/>
          <p:nvPr/>
        </p:nvSpPr>
        <p:spPr>
          <a:xfrm>
            <a:off x="7397313" y="2962656"/>
            <a:ext cx="1871411" cy="28575"/>
          </a:xfrm>
          <a:prstGeom prst="rect">
            <a:avLst/>
          </a:prstGeom>
          <a:solidFill>
            <a:srgbClr val="00B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97313" y="3108960"/>
            <a:ext cx="1871411" cy="219456"/>
          </a:xfrm>
          <a:prstGeom prst="rect">
            <a:avLst/>
          </a:prstGeom>
          <a:noFill/>
        </p:spPr>
        <p:txBody>
          <a:bodyPr wrap="square" lIns="0" rIns="0" tIns="0" bIns="0" anchor="t">
            <a:spAutoFit/>
          </a:bodyPr>
          <a:lstStyle/>
          <a:p>
            <a:pPr>
              <a:lnSpc>
                <a:spcPct val="140000"/>
              </a:lnSpc>
              <a:spcBef>
                <a:spcPts val="0"/>
              </a:spcBef>
              <a:spcAft>
                <a:spcPts val="0"/>
              </a:spcAft>
            </a:pPr>
            <a:r>
              <a:rPr sz="950" b="1" i="0" spc="80">
                <a:solidFill>
                  <a:srgbClr val="0077A8"/>
                </a:solidFill>
                <a:latin typeface="Menlo"/>
              </a:rPr>
              <a:t>04</a:t>
            </a:r>
          </a:p>
        </p:txBody>
      </p:sp>
      <p:sp>
        <p:nvSpPr>
          <p:cNvPr id="20" name="TextBox 19"/>
          <p:cNvSpPr txBox="1"/>
          <p:nvPr/>
        </p:nvSpPr>
        <p:spPr>
          <a:xfrm>
            <a:off x="7397313" y="3383280"/>
            <a:ext cx="1871411" cy="475488"/>
          </a:xfrm>
          <a:prstGeom prst="rect">
            <a:avLst/>
          </a:prstGeom>
          <a:noFill/>
        </p:spPr>
        <p:txBody>
          <a:bodyPr wrap="square" lIns="0" rIns="0" tIns="0" bIns="0" anchor="t">
            <a:spAutoFit/>
          </a:bodyPr>
          <a:lstStyle/>
          <a:p>
            <a:pPr>
              <a:lnSpc>
                <a:spcPct val="118000"/>
              </a:lnSpc>
              <a:spcBef>
                <a:spcPts val="0"/>
              </a:spcBef>
              <a:spcAft>
                <a:spcPts val="0"/>
              </a:spcAft>
            </a:pPr>
            <a:r>
              <a:rPr sz="1200" b="1" i="0">
                <a:solidFill>
                  <a:srgbClr val="002970"/>
                </a:solidFill>
                <a:latin typeface="Helvetica Neue"/>
              </a:rPr>
              <a:t>The agent picks the day</a:t>
            </a:r>
          </a:p>
        </p:txBody>
      </p:sp>
      <p:sp>
        <p:nvSpPr>
          <p:cNvPr id="21" name="TextBox 20"/>
          <p:cNvSpPr txBox="1"/>
          <p:nvPr/>
        </p:nvSpPr>
        <p:spPr>
          <a:xfrm>
            <a:off x="7397313" y="3877056"/>
            <a:ext cx="1871411" cy="2286000"/>
          </a:xfrm>
          <a:prstGeom prst="rect">
            <a:avLst/>
          </a:prstGeom>
          <a:noFill/>
        </p:spPr>
        <p:txBody>
          <a:bodyPr wrap="square" lIns="0" rIns="0" tIns="0" bIns="0" anchor="t">
            <a:spAutoFit/>
          </a:bodyPr>
          <a:lstStyle/>
          <a:p>
            <a:pPr>
              <a:lnSpc>
                <a:spcPct val="142000"/>
              </a:lnSpc>
              <a:spcBef>
                <a:spcPts val="0"/>
              </a:spcBef>
              <a:spcAft>
                <a:spcPts val="700"/>
              </a:spcAft>
            </a:pPr>
            <a:r>
              <a:rPr sz="1080" b="0" i="0">
                <a:solidFill>
                  <a:srgbClr val="1A1F2B"/>
                </a:solidFill>
                <a:latin typeface="Helvetica Neue"/>
              </a:rPr>
              <a:t>Arithmetic over that one person’s own history. Not a score.</a:t>
            </a:r>
          </a:p>
          <a:p>
            <a:pPr>
              <a:lnSpc>
                <a:spcPct val="142000"/>
              </a:lnSpc>
              <a:spcBef>
                <a:spcPts val="0"/>
              </a:spcBef>
              <a:spcAft>
                <a:spcPts val="700"/>
              </a:spcAft>
            </a:pPr>
            <a:r>
              <a:rPr sz="1080" b="0" i="0">
                <a:solidFill>
                  <a:srgbClr val="1A1F2B"/>
                </a:solidFill>
                <a:latin typeface="Helvetica Neue"/>
              </a:rPr>
              <a:t>“Sharma pays on day 9. Do not chase before day 7.”</a:t>
            </a:r>
          </a:p>
          <a:p>
            <a:pPr>
              <a:lnSpc>
                <a:spcPct val="142000"/>
              </a:lnSpc>
              <a:spcBef>
                <a:spcPts val="0"/>
              </a:spcBef>
              <a:spcAft>
                <a:spcPts val="700"/>
              </a:spcAft>
            </a:pPr>
            <a:r>
              <a:rPr sz="1080" b="0" i="0">
                <a:solidFill>
                  <a:srgbClr val="1A1F2B"/>
                </a:solidFill>
                <a:latin typeface="Helvetica Neue"/>
              </a:rPr>
              <a:t>“Patil is at day 40 and has never passed 30. Ask — do not chase.”</a:t>
            </a:r>
          </a:p>
        </p:txBody>
      </p:sp>
      <p:sp>
        <p:nvSpPr>
          <p:cNvPr id="22" name="Rectangle 21"/>
          <p:cNvSpPr/>
          <p:nvPr/>
        </p:nvSpPr>
        <p:spPr>
          <a:xfrm>
            <a:off x="9634484" y="2962656"/>
            <a:ext cx="1871411" cy="28575"/>
          </a:xfrm>
          <a:prstGeom prst="rect">
            <a:avLst/>
          </a:prstGeom>
          <a:solidFill>
            <a:srgbClr val="00B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34484" y="3108960"/>
            <a:ext cx="1871411" cy="219456"/>
          </a:xfrm>
          <a:prstGeom prst="rect">
            <a:avLst/>
          </a:prstGeom>
          <a:noFill/>
        </p:spPr>
        <p:txBody>
          <a:bodyPr wrap="square" lIns="0" rIns="0" tIns="0" bIns="0" anchor="t">
            <a:spAutoFit/>
          </a:bodyPr>
          <a:lstStyle/>
          <a:p>
            <a:pPr>
              <a:lnSpc>
                <a:spcPct val="140000"/>
              </a:lnSpc>
              <a:spcBef>
                <a:spcPts val="0"/>
              </a:spcBef>
              <a:spcAft>
                <a:spcPts val="0"/>
              </a:spcAft>
            </a:pPr>
            <a:r>
              <a:rPr sz="950" b="1" i="0" spc="80">
                <a:solidFill>
                  <a:srgbClr val="0077A8"/>
                </a:solidFill>
                <a:latin typeface="Menlo"/>
              </a:rPr>
              <a:t>05</a:t>
            </a:r>
          </a:p>
        </p:txBody>
      </p:sp>
      <p:sp>
        <p:nvSpPr>
          <p:cNvPr id="24" name="TextBox 23"/>
          <p:cNvSpPr txBox="1"/>
          <p:nvPr/>
        </p:nvSpPr>
        <p:spPr>
          <a:xfrm>
            <a:off x="9634484" y="3383280"/>
            <a:ext cx="1871411" cy="475488"/>
          </a:xfrm>
          <a:prstGeom prst="rect">
            <a:avLst/>
          </a:prstGeom>
          <a:noFill/>
        </p:spPr>
        <p:txBody>
          <a:bodyPr wrap="square" lIns="0" rIns="0" tIns="0" bIns="0" anchor="t">
            <a:spAutoFit/>
          </a:bodyPr>
          <a:lstStyle/>
          <a:p>
            <a:pPr>
              <a:lnSpc>
                <a:spcPct val="118000"/>
              </a:lnSpc>
              <a:spcBef>
                <a:spcPts val="0"/>
              </a:spcBef>
              <a:spcAft>
                <a:spcPts val="0"/>
              </a:spcAft>
            </a:pPr>
            <a:r>
              <a:rPr sz="1200" b="1" i="0">
                <a:solidFill>
                  <a:srgbClr val="002970"/>
                </a:solidFill>
                <a:latin typeface="Helvetica Neue"/>
              </a:rPr>
              <a:t>One tap clears it</a:t>
            </a:r>
          </a:p>
        </p:txBody>
      </p:sp>
      <p:sp>
        <p:nvSpPr>
          <p:cNvPr id="25" name="TextBox 24"/>
          <p:cNvSpPr txBox="1"/>
          <p:nvPr/>
        </p:nvSpPr>
        <p:spPr>
          <a:xfrm>
            <a:off x="9634484" y="3877056"/>
            <a:ext cx="1871411" cy="2286000"/>
          </a:xfrm>
          <a:prstGeom prst="rect">
            <a:avLst/>
          </a:prstGeom>
          <a:noFill/>
        </p:spPr>
        <p:txBody>
          <a:bodyPr wrap="square" lIns="0" rIns="0" tIns="0" bIns="0" anchor="t">
            <a:spAutoFit/>
          </a:bodyPr>
          <a:lstStyle/>
          <a:p>
            <a:pPr>
              <a:lnSpc>
                <a:spcPct val="142000"/>
              </a:lnSpc>
              <a:spcBef>
                <a:spcPts val="0"/>
              </a:spcBef>
              <a:spcAft>
                <a:spcPts val="700"/>
              </a:spcAft>
            </a:pPr>
            <a:r>
              <a:rPr sz="1080" b="0" i="0">
                <a:solidFill>
                  <a:srgbClr val="1A1F2B"/>
                </a:solidFill>
                <a:latin typeface="Helvetica Neue"/>
              </a:rPr>
              <a:t>The reminder carries a UPI button. He pays from the screen he was reminded on.</a:t>
            </a:r>
          </a:p>
          <a:p>
            <a:pPr>
              <a:lnSpc>
                <a:spcPct val="142000"/>
              </a:lnSpc>
              <a:spcBef>
                <a:spcPts val="0"/>
              </a:spcBef>
              <a:spcAft>
                <a:spcPts val="700"/>
              </a:spcAft>
            </a:pPr>
            <a:r>
              <a:rPr sz="1080" b="0" i="0">
                <a:solidFill>
                  <a:srgbClr val="1A1F2B"/>
                </a:solidFill>
                <a:latin typeface="Helvetica Neue"/>
              </a:rPr>
              <a:t>The entry closes on both sides at once, and both of them watch it close.</a:t>
            </a:r>
          </a:p>
        </p:txBody>
      </p:sp>
      <p:sp>
        <p:nvSpPr>
          <p:cNvPr id="26" name="TextBox 25"/>
          <p:cNvSpPr txBox="1"/>
          <p:nvPr/>
        </p:nvSpPr>
        <p:spPr>
          <a:xfrm>
            <a:off x="685800" y="6291072"/>
            <a:ext cx="10820095" cy="274320"/>
          </a:xfrm>
          <a:prstGeom prst="rect">
            <a:avLst/>
          </a:prstGeom>
          <a:noFill/>
        </p:spPr>
        <p:txBody>
          <a:bodyPr wrap="square" lIns="0" rIns="0" tIns="0" bIns="0" anchor="t">
            <a:spAutoFit/>
          </a:bodyPr>
          <a:lstStyle/>
          <a:p>
            <a:pPr>
              <a:lnSpc>
                <a:spcPct val="130000"/>
              </a:lnSpc>
              <a:spcBef>
                <a:spcPts val="0"/>
              </a:spcBef>
              <a:spcAft>
                <a:spcPts val="0"/>
              </a:spcAft>
            </a:pPr>
            <a:r>
              <a:rPr sz="900" b="0" i="0">
                <a:solidFill>
                  <a:srgbClr val="646E7E"/>
                </a:solidFill>
                <a:latin typeface="Helvetica Neue"/>
              </a:rPr>
              <a:t>Steps 1, 3 and 5 happen on the customer’s phone — the half of this problem no existing product has built.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75488"/>
            <a:ext cx="10820095" cy="237744"/>
          </a:xfrm>
          <a:prstGeom prst="rect">
            <a:avLst/>
          </a:prstGeom>
          <a:noFill/>
        </p:spPr>
        <p:txBody>
          <a:bodyPr wrap="square" lIns="0" rIns="0" tIns="0" bIns="0" anchor="t">
            <a:spAutoFit/>
          </a:bodyPr>
          <a:lstStyle/>
          <a:p>
            <a:pPr>
              <a:lnSpc>
                <a:spcPct val="140000"/>
              </a:lnSpc>
              <a:spcBef>
                <a:spcPts val="0"/>
              </a:spcBef>
              <a:spcAft>
                <a:spcPts val="0"/>
              </a:spcAft>
            </a:pPr>
            <a:r>
              <a:rPr sz="1000" b="1" i="0" spc="120">
                <a:solidFill>
                  <a:srgbClr val="646E7E"/>
                </a:solidFill>
                <a:latin typeface="Helvetica Neue"/>
              </a:rPr>
              <a:t>TECHNOLOGY / TECH STACK USED</a:t>
            </a:r>
          </a:p>
        </p:txBody>
      </p:sp>
      <p:sp>
        <p:nvSpPr>
          <p:cNvPr id="4" name="TextBox 3"/>
          <p:cNvSpPr txBox="1"/>
          <p:nvPr/>
        </p:nvSpPr>
        <p:spPr>
          <a:xfrm>
            <a:off x="685800" y="804672"/>
            <a:ext cx="10820095" cy="1042415"/>
          </a:xfrm>
          <a:prstGeom prst="rect">
            <a:avLst/>
          </a:prstGeom>
          <a:noFill/>
        </p:spPr>
        <p:txBody>
          <a:bodyPr wrap="square" lIns="0" rIns="0" tIns="0" bIns="0" anchor="t">
            <a:spAutoFit/>
          </a:bodyPr>
          <a:lstStyle/>
          <a:p>
            <a:pPr>
              <a:lnSpc>
                <a:spcPct val="108000"/>
              </a:lnSpc>
              <a:spcBef>
                <a:spcPts val="0"/>
              </a:spcBef>
              <a:spcAft>
                <a:spcPts val="0"/>
              </a:spcAft>
            </a:pPr>
            <a:r>
              <a:rPr sz="3200" b="0" i="0">
                <a:solidFill>
                  <a:srgbClr val="002970"/>
                </a:solidFill>
                <a:latin typeface="Georgia"/>
              </a:rPr>
              <a:t>Three sponsors, one rail, and a rule.</a:t>
            </a:r>
          </a:p>
        </p:txBody>
      </p:sp>
      <p:sp>
        <p:nvSpPr>
          <p:cNvPr id="5" name="TextBox 4"/>
          <p:cNvSpPr txBox="1"/>
          <p:nvPr/>
        </p:nvSpPr>
        <p:spPr>
          <a:xfrm>
            <a:off x="685800" y="1938528"/>
            <a:ext cx="9692640" cy="841248"/>
          </a:xfrm>
          <a:prstGeom prst="rect">
            <a:avLst/>
          </a:prstGeom>
          <a:noFill/>
        </p:spPr>
        <p:txBody>
          <a:bodyPr wrap="square" lIns="0" rIns="0" tIns="0" bIns="0" anchor="t">
            <a:spAutoFit/>
          </a:bodyPr>
          <a:lstStyle/>
          <a:p>
            <a:pPr>
              <a:lnSpc>
                <a:spcPct val="142000"/>
              </a:lnSpc>
              <a:spcBef>
                <a:spcPts val="0"/>
              </a:spcBef>
              <a:spcAft>
                <a:spcPts val="0"/>
              </a:spcAft>
            </a:pPr>
            <a:r>
              <a:rPr sz="1350" b="0" i="0">
                <a:solidFill>
                  <a:srgbClr val="646E7E"/>
                </a:solidFill>
                <a:latin typeface="Helvetica Neue"/>
              </a:rPr>
              <a:t>The rule: no language model ever produces a number. Every figure — balances, averages, the day a reminder goes — is deterministic Python. The model writes prose around figures handed to it.</a:t>
            </a:r>
          </a:p>
        </p:txBody>
      </p:sp>
      <p:sp>
        <p:nvSpPr>
          <p:cNvPr id="6" name="Rectangle 5"/>
          <p:cNvSpPr/>
          <p:nvPr/>
        </p:nvSpPr>
        <p:spPr>
          <a:xfrm>
            <a:off x="685800" y="2962656"/>
            <a:ext cx="2430703" cy="28575"/>
          </a:xfrm>
          <a:prstGeom prst="rect">
            <a:avLst/>
          </a:prstGeom>
          <a:solidFill>
            <a:srgbClr val="00B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3383280"/>
            <a:ext cx="2430703" cy="475488"/>
          </a:xfrm>
          <a:prstGeom prst="rect">
            <a:avLst/>
          </a:prstGeom>
          <a:noFill/>
        </p:spPr>
        <p:txBody>
          <a:bodyPr wrap="square" lIns="0" rIns="0" tIns="0" bIns="0" anchor="t">
            <a:spAutoFit/>
          </a:bodyPr>
          <a:lstStyle/>
          <a:p>
            <a:pPr>
              <a:lnSpc>
                <a:spcPct val="118000"/>
              </a:lnSpc>
              <a:spcBef>
                <a:spcPts val="0"/>
              </a:spcBef>
              <a:spcAft>
                <a:spcPts val="0"/>
              </a:spcAft>
            </a:pPr>
            <a:r>
              <a:rPr sz="1300" b="1" i="0">
                <a:solidFill>
                  <a:srgbClr val="002970"/>
                </a:solidFill>
                <a:latin typeface="Helvetica Neue"/>
              </a:rPr>
              <a:t>Sarvam</a:t>
            </a:r>
          </a:p>
        </p:txBody>
      </p:sp>
      <p:sp>
        <p:nvSpPr>
          <p:cNvPr id="8" name="TextBox 7"/>
          <p:cNvSpPr txBox="1"/>
          <p:nvPr/>
        </p:nvSpPr>
        <p:spPr>
          <a:xfrm>
            <a:off x="685800" y="3877056"/>
            <a:ext cx="2430703" cy="2286000"/>
          </a:xfrm>
          <a:prstGeom prst="rect">
            <a:avLst/>
          </a:prstGeom>
          <a:noFill/>
        </p:spPr>
        <p:txBody>
          <a:bodyPr wrap="square" lIns="0" rIns="0" tIns="0" bIns="0" anchor="t">
            <a:spAutoFit/>
          </a:bodyPr>
          <a:lstStyle/>
          <a:p>
            <a:pPr>
              <a:lnSpc>
                <a:spcPct val="142000"/>
              </a:lnSpc>
              <a:spcBef>
                <a:spcPts val="0"/>
              </a:spcBef>
              <a:spcAft>
                <a:spcPts val="700"/>
              </a:spcAft>
            </a:pPr>
            <a:r>
              <a:rPr sz="1160" b="0" i="0">
                <a:solidFill>
                  <a:srgbClr val="1A1F2B"/>
                </a:solidFill>
                <a:latin typeface="Helvetica Neue"/>
              </a:rPr>
              <a:t>saaras:v4 hears “Sharma ko do sau udhaar” in the mixed Hindi-English a shopkeeper actually speaks, over shop noise.</a:t>
            </a:r>
          </a:p>
          <a:p>
            <a:pPr>
              <a:lnSpc>
                <a:spcPct val="142000"/>
              </a:lnSpc>
              <a:spcBef>
                <a:spcPts val="0"/>
              </a:spcBef>
              <a:spcAft>
                <a:spcPts val="700"/>
              </a:spcAft>
            </a:pPr>
            <a:r>
              <a:rPr sz="1160" b="0" i="0">
                <a:solidFill>
                  <a:srgbClr val="1A1F2B"/>
                </a:solidFill>
                <a:latin typeface="Helvetica Neue"/>
              </a:rPr>
              <a:t>bulbul:v3 reads the balance back.</a:t>
            </a:r>
          </a:p>
          <a:p>
            <a:pPr>
              <a:lnSpc>
                <a:spcPct val="142000"/>
              </a:lnSpc>
              <a:spcBef>
                <a:spcPts val="0"/>
              </a:spcBef>
              <a:spcAft>
                <a:spcPts val="700"/>
              </a:spcAft>
            </a:pPr>
            <a:r>
              <a:rPr sz="1160" b="0" i="0">
                <a:solidFill>
                  <a:srgbClr val="1A1F2B"/>
                </a:solidFill>
                <a:latin typeface="Helvetica Neue"/>
              </a:rPr>
              <a:t>The one place voice is not decoration — his hands are full and there is a queue.</a:t>
            </a:r>
          </a:p>
        </p:txBody>
      </p:sp>
      <p:sp>
        <p:nvSpPr>
          <p:cNvPr id="9" name="Rectangle 8"/>
          <p:cNvSpPr/>
          <p:nvPr/>
        </p:nvSpPr>
        <p:spPr>
          <a:xfrm>
            <a:off x="3482263" y="2962656"/>
            <a:ext cx="2430703" cy="28575"/>
          </a:xfrm>
          <a:prstGeom prst="rect">
            <a:avLst/>
          </a:prstGeom>
          <a:solidFill>
            <a:srgbClr val="00B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82263" y="3383280"/>
            <a:ext cx="2430703" cy="475488"/>
          </a:xfrm>
          <a:prstGeom prst="rect">
            <a:avLst/>
          </a:prstGeom>
          <a:noFill/>
        </p:spPr>
        <p:txBody>
          <a:bodyPr wrap="square" lIns="0" rIns="0" tIns="0" bIns="0" anchor="t">
            <a:spAutoFit/>
          </a:bodyPr>
          <a:lstStyle/>
          <a:p>
            <a:pPr>
              <a:lnSpc>
                <a:spcPct val="118000"/>
              </a:lnSpc>
              <a:spcBef>
                <a:spcPts val="0"/>
              </a:spcBef>
              <a:spcAft>
                <a:spcPts val="0"/>
              </a:spcAft>
            </a:pPr>
            <a:r>
              <a:rPr sz="1300" b="1" i="0">
                <a:solidFill>
                  <a:srgbClr val="002970"/>
                </a:solidFill>
                <a:latin typeface="Helvetica Neue"/>
              </a:rPr>
              <a:t>Cognee</a:t>
            </a:r>
          </a:p>
        </p:txBody>
      </p:sp>
      <p:sp>
        <p:nvSpPr>
          <p:cNvPr id="11" name="TextBox 10"/>
          <p:cNvSpPr txBox="1"/>
          <p:nvPr/>
        </p:nvSpPr>
        <p:spPr>
          <a:xfrm>
            <a:off x="3482263" y="3877056"/>
            <a:ext cx="2430703" cy="2286000"/>
          </a:xfrm>
          <a:prstGeom prst="rect">
            <a:avLst/>
          </a:prstGeom>
          <a:noFill/>
        </p:spPr>
        <p:txBody>
          <a:bodyPr wrap="square" lIns="0" rIns="0" tIns="0" bIns="0" anchor="t">
            <a:spAutoFit/>
          </a:bodyPr>
          <a:lstStyle/>
          <a:p>
            <a:pPr>
              <a:lnSpc>
                <a:spcPct val="142000"/>
              </a:lnSpc>
              <a:spcBef>
                <a:spcPts val="0"/>
              </a:spcBef>
              <a:spcAft>
                <a:spcPts val="700"/>
              </a:spcAft>
            </a:pPr>
            <a:r>
              <a:rPr sz="1160" b="0" i="0">
                <a:solidFill>
                  <a:srgbClr val="1A1F2B"/>
                </a:solidFill>
                <a:latin typeface="Helvetica Neue"/>
              </a:rPr>
              <a:t>Holds each customer’s rhythm and the shopkeeper’s standing instructions: “Patil is a daily wager, he pays after the 10th, never chase him before that.”</a:t>
            </a:r>
          </a:p>
          <a:p>
            <a:pPr>
              <a:lnSpc>
                <a:spcPct val="142000"/>
              </a:lnSpc>
              <a:spcBef>
                <a:spcPts val="0"/>
              </a:spcBef>
              <a:spcAft>
                <a:spcPts val="700"/>
              </a:spcAft>
            </a:pPr>
            <a:r>
              <a:rPr sz="1160" b="0" i="0">
                <a:solidFill>
                  <a:srgbClr val="1A1F2B"/>
                </a:solidFill>
                <a:latin typeface="Helvetica Neue"/>
              </a:rPr>
              <a:t>The rhythm is arithmetic. Cognee remembers the instructions and the links between them.</a:t>
            </a:r>
          </a:p>
        </p:txBody>
      </p:sp>
      <p:sp>
        <p:nvSpPr>
          <p:cNvPr id="12" name="Rectangle 11"/>
          <p:cNvSpPr/>
          <p:nvPr/>
        </p:nvSpPr>
        <p:spPr>
          <a:xfrm>
            <a:off x="6278726" y="2962656"/>
            <a:ext cx="2430703" cy="28575"/>
          </a:xfrm>
          <a:prstGeom prst="rect">
            <a:avLst/>
          </a:prstGeom>
          <a:solidFill>
            <a:srgbClr val="00B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78726" y="3383280"/>
            <a:ext cx="2430703" cy="475488"/>
          </a:xfrm>
          <a:prstGeom prst="rect">
            <a:avLst/>
          </a:prstGeom>
          <a:noFill/>
        </p:spPr>
        <p:txBody>
          <a:bodyPr wrap="square" lIns="0" rIns="0" tIns="0" bIns="0" anchor="t">
            <a:spAutoFit/>
          </a:bodyPr>
          <a:lstStyle/>
          <a:p>
            <a:pPr>
              <a:lnSpc>
                <a:spcPct val="118000"/>
              </a:lnSpc>
              <a:spcBef>
                <a:spcPts val="0"/>
              </a:spcBef>
              <a:spcAft>
                <a:spcPts val="0"/>
              </a:spcAft>
            </a:pPr>
            <a:r>
              <a:rPr sz="1300" b="1" i="0">
                <a:solidFill>
                  <a:srgbClr val="002970"/>
                </a:solidFill>
                <a:latin typeface="Helvetica Neue"/>
              </a:rPr>
              <a:t>n8n</a:t>
            </a:r>
          </a:p>
        </p:txBody>
      </p:sp>
      <p:sp>
        <p:nvSpPr>
          <p:cNvPr id="14" name="TextBox 13"/>
          <p:cNvSpPr txBox="1"/>
          <p:nvPr/>
        </p:nvSpPr>
        <p:spPr>
          <a:xfrm>
            <a:off x="6278726" y="3877056"/>
            <a:ext cx="2430703" cy="2286000"/>
          </a:xfrm>
          <a:prstGeom prst="rect">
            <a:avLst/>
          </a:prstGeom>
          <a:noFill/>
        </p:spPr>
        <p:txBody>
          <a:bodyPr wrap="square" lIns="0" rIns="0" tIns="0" bIns="0" anchor="t">
            <a:spAutoFit/>
          </a:bodyPr>
          <a:lstStyle/>
          <a:p>
            <a:pPr>
              <a:lnSpc>
                <a:spcPct val="142000"/>
              </a:lnSpc>
              <a:spcBef>
                <a:spcPts val="0"/>
              </a:spcBef>
              <a:spcAft>
                <a:spcPts val="700"/>
              </a:spcAft>
            </a:pPr>
            <a:r>
              <a:rPr sz="1160" b="0" i="0">
                <a:solidFill>
                  <a:srgbClr val="1A1F2B"/>
                </a:solidFill>
                <a:latin typeface="Helvetica Neue"/>
              </a:rPr>
              <a:t>The nightly timer and the plumbing. At 11pm it decides who to remind tomorrow, at what hour, in what words.</a:t>
            </a:r>
          </a:p>
          <a:p>
            <a:pPr>
              <a:lnSpc>
                <a:spcPct val="142000"/>
              </a:lnSpc>
              <a:spcBef>
                <a:spcPts val="0"/>
              </a:spcBef>
              <a:spcAft>
                <a:spcPts val="700"/>
              </a:spcAft>
            </a:pPr>
            <a:r>
              <a:rPr sz="1160" b="0" i="0">
                <a:solidFill>
                  <a:srgbClr val="1A1F2B"/>
                </a:solidFill>
                <a:latin typeface="Helvetica Neue"/>
              </a:rPr>
              <a:t>Renders as a visual canvas — the only part of the stack a judge can verify without opening a terminal.</a:t>
            </a:r>
          </a:p>
        </p:txBody>
      </p:sp>
      <p:sp>
        <p:nvSpPr>
          <p:cNvPr id="15" name="Rectangle 14"/>
          <p:cNvSpPr/>
          <p:nvPr/>
        </p:nvSpPr>
        <p:spPr>
          <a:xfrm>
            <a:off x="9075189" y="2962656"/>
            <a:ext cx="2430703" cy="28575"/>
          </a:xfrm>
          <a:prstGeom prst="rect">
            <a:avLst/>
          </a:prstGeom>
          <a:solidFill>
            <a:srgbClr val="00B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75189" y="3383280"/>
            <a:ext cx="2430703" cy="475488"/>
          </a:xfrm>
          <a:prstGeom prst="rect">
            <a:avLst/>
          </a:prstGeom>
          <a:noFill/>
        </p:spPr>
        <p:txBody>
          <a:bodyPr wrap="square" lIns="0" rIns="0" tIns="0" bIns="0" anchor="t">
            <a:spAutoFit/>
          </a:bodyPr>
          <a:lstStyle/>
          <a:p>
            <a:pPr>
              <a:lnSpc>
                <a:spcPct val="118000"/>
              </a:lnSpc>
              <a:spcBef>
                <a:spcPts val="0"/>
              </a:spcBef>
              <a:spcAft>
                <a:spcPts val="0"/>
              </a:spcAft>
            </a:pPr>
            <a:r>
              <a:rPr sz="1300" b="1" i="0">
                <a:solidFill>
                  <a:srgbClr val="002970"/>
                </a:solidFill>
                <a:latin typeface="Helvetica Neue"/>
              </a:rPr>
              <a:t>Paytm’s own rails</a:t>
            </a:r>
          </a:p>
        </p:txBody>
      </p:sp>
      <p:sp>
        <p:nvSpPr>
          <p:cNvPr id="17" name="TextBox 16"/>
          <p:cNvSpPr txBox="1"/>
          <p:nvPr/>
        </p:nvSpPr>
        <p:spPr>
          <a:xfrm>
            <a:off x="9075189" y="3877056"/>
            <a:ext cx="2430703" cy="2286000"/>
          </a:xfrm>
          <a:prstGeom prst="rect">
            <a:avLst/>
          </a:prstGeom>
          <a:noFill/>
        </p:spPr>
        <p:txBody>
          <a:bodyPr wrap="square" lIns="0" rIns="0" tIns="0" bIns="0" anchor="t">
            <a:spAutoFit/>
          </a:bodyPr>
          <a:lstStyle/>
          <a:p>
            <a:pPr>
              <a:lnSpc>
                <a:spcPct val="142000"/>
              </a:lnSpc>
              <a:spcBef>
                <a:spcPts val="0"/>
              </a:spcBef>
              <a:spcAft>
                <a:spcPts val="700"/>
              </a:spcAft>
            </a:pPr>
            <a:r>
              <a:rPr sz="1160" b="0" i="0">
                <a:solidFill>
                  <a:srgbClr val="1A1F2B"/>
                </a:solidFill>
                <a:latin typeface="Helvetica Neue"/>
              </a:rPr>
              <a:t>The Soundbox on the counter. The app in the customer’s pocket. UPI to settle in one tap.</a:t>
            </a:r>
          </a:p>
          <a:p>
            <a:pPr>
              <a:lnSpc>
                <a:spcPct val="142000"/>
              </a:lnSpc>
              <a:spcBef>
                <a:spcPts val="0"/>
              </a:spcBef>
              <a:spcAft>
                <a:spcPts val="700"/>
              </a:spcAft>
            </a:pPr>
            <a:r>
              <a:rPr sz="1160" b="0" i="0">
                <a:solidFill>
                  <a:srgbClr val="1A1F2B"/>
                </a:solidFill>
                <a:latin typeface="Helvetica Neue"/>
              </a:rPr>
              <a:t>Postgres for the ledger, FastAPI, Next.js.</a:t>
            </a:r>
          </a:p>
          <a:p>
            <a:pPr>
              <a:lnSpc>
                <a:spcPct val="142000"/>
              </a:lnSpc>
              <a:spcBef>
                <a:spcPts val="0"/>
              </a:spcBef>
              <a:spcAft>
                <a:spcPts val="700"/>
              </a:spcAft>
            </a:pPr>
            <a:r>
              <a:rPr sz="1160" b="0" i="0">
                <a:solidFill>
                  <a:srgbClr val="1A1F2B"/>
                </a:solidFill>
                <a:latin typeface="Helvetica Neue"/>
              </a:rPr>
              <a:t>The ingredient no startup can copy.</a:t>
            </a:r>
          </a:p>
        </p:txBody>
      </p:sp>
      <p:sp>
        <p:nvSpPr>
          <p:cNvPr id="18" name="TextBox 17"/>
          <p:cNvSpPr txBox="1"/>
          <p:nvPr/>
        </p:nvSpPr>
        <p:spPr>
          <a:xfrm>
            <a:off x="685800" y="6291072"/>
            <a:ext cx="10820095" cy="274320"/>
          </a:xfrm>
          <a:prstGeom prst="rect">
            <a:avLst/>
          </a:prstGeom>
          <a:noFill/>
        </p:spPr>
        <p:txBody>
          <a:bodyPr wrap="square" lIns="0" rIns="0" tIns="0" bIns="0" anchor="t">
            <a:spAutoFit/>
          </a:bodyPr>
          <a:lstStyle/>
          <a:p>
            <a:pPr>
              <a:lnSpc>
                <a:spcPct val="130000"/>
              </a:lnSpc>
              <a:spcBef>
                <a:spcPts val="0"/>
              </a:spcBef>
              <a:spcAft>
                <a:spcPts val="0"/>
              </a:spcAft>
            </a:pPr>
            <a:r>
              <a:rPr sz="900" b="0" i="0">
                <a:solidFill>
                  <a:srgbClr val="646E7E"/>
                </a:solidFill>
                <a:latin typeface="Helvetica Neue"/>
              </a:rPr>
              <a:t>Offline-first: every spoken line is cached to disk, so the demo runs with the venue wifi off.</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75488"/>
            <a:ext cx="10820095" cy="237744"/>
          </a:xfrm>
          <a:prstGeom prst="rect">
            <a:avLst/>
          </a:prstGeom>
          <a:noFill/>
        </p:spPr>
        <p:txBody>
          <a:bodyPr wrap="square" lIns="0" rIns="0" tIns="0" bIns="0" anchor="t">
            <a:spAutoFit/>
          </a:bodyPr>
          <a:lstStyle/>
          <a:p>
            <a:pPr>
              <a:lnSpc>
                <a:spcPct val="140000"/>
              </a:lnSpc>
              <a:spcBef>
                <a:spcPts val="0"/>
              </a:spcBef>
              <a:spcAft>
                <a:spcPts val="0"/>
              </a:spcAft>
            </a:pPr>
            <a:r>
              <a:rPr sz="1000" b="1" i="0" spc="120">
                <a:solidFill>
                  <a:srgbClr val="646E7E"/>
                </a:solidFill>
                <a:latin typeface="Helvetica Neue"/>
              </a:rPr>
              <a:t>UNIQUE SELLING PROPOSITION</a:t>
            </a:r>
          </a:p>
        </p:txBody>
      </p:sp>
      <p:sp>
        <p:nvSpPr>
          <p:cNvPr id="4" name="TextBox 3"/>
          <p:cNvSpPr txBox="1"/>
          <p:nvPr/>
        </p:nvSpPr>
        <p:spPr>
          <a:xfrm>
            <a:off x="685800" y="804672"/>
            <a:ext cx="10820095" cy="1042415"/>
          </a:xfrm>
          <a:prstGeom prst="rect">
            <a:avLst/>
          </a:prstGeom>
          <a:noFill/>
        </p:spPr>
        <p:txBody>
          <a:bodyPr wrap="square" lIns="0" rIns="0" tIns="0" bIns="0" anchor="t">
            <a:spAutoFit/>
          </a:bodyPr>
          <a:lstStyle/>
          <a:p>
            <a:pPr>
              <a:lnSpc>
                <a:spcPct val="108000"/>
              </a:lnSpc>
              <a:spcBef>
                <a:spcPts val="0"/>
              </a:spcBef>
              <a:spcAft>
                <a:spcPts val="0"/>
              </a:spcAft>
            </a:pPr>
            <a:r>
              <a:rPr sz="3200" b="0" i="0">
                <a:solidFill>
                  <a:srgbClr val="002970"/>
                </a:solidFill>
                <a:latin typeface="Georgia"/>
              </a:rPr>
              <a:t>Every ledger app in India is one-sided.</a:t>
            </a:r>
            <a:br/>
            <a:r>
              <a:rPr sz="3200" b="0" i="0">
                <a:solidFill>
                  <a:srgbClr val="002970"/>
                </a:solidFill>
                <a:latin typeface="Georgia"/>
              </a:rPr>
              <a:t>On purpose.</a:t>
            </a:r>
          </a:p>
        </p:txBody>
      </p:sp>
      <p:sp>
        <p:nvSpPr>
          <p:cNvPr id="5" name="TextBox 4"/>
          <p:cNvSpPr txBox="1"/>
          <p:nvPr/>
        </p:nvSpPr>
        <p:spPr>
          <a:xfrm>
            <a:off x="685800" y="1938528"/>
            <a:ext cx="9692640" cy="841248"/>
          </a:xfrm>
          <a:prstGeom prst="rect">
            <a:avLst/>
          </a:prstGeom>
          <a:noFill/>
        </p:spPr>
        <p:txBody>
          <a:bodyPr wrap="square" lIns="0" rIns="0" tIns="0" bIns="0" anchor="t">
            <a:spAutoFit/>
          </a:bodyPr>
          <a:lstStyle/>
          <a:p>
            <a:pPr>
              <a:lnSpc>
                <a:spcPct val="142000"/>
              </a:lnSpc>
              <a:spcBef>
                <a:spcPts val="0"/>
              </a:spcBef>
              <a:spcAft>
                <a:spcPts val="0"/>
              </a:spcAft>
            </a:pPr>
            <a:r>
              <a:rPr sz="1350" b="0" i="0">
                <a:solidFill>
                  <a:srgbClr val="646E7E"/>
                </a:solidFill>
                <a:latin typeface="Helvetica Neue"/>
              </a:rPr>
              <a:t>Khatabook has 5 crore shopkeepers and no customer app. OkCredit advertises the absence — “Customer ko app ki zaroorat nahi.” Paytm’s own Business Khata shipped in 2020, one-sided, and now sits orphaned off its product nav.</a:t>
            </a:r>
          </a:p>
        </p:txBody>
      </p:sp>
      <p:sp>
        <p:nvSpPr>
          <p:cNvPr id="6" name="Rectangle 5"/>
          <p:cNvSpPr/>
          <p:nvPr/>
        </p:nvSpPr>
        <p:spPr>
          <a:xfrm>
            <a:off x="685800" y="2962656"/>
            <a:ext cx="2430703" cy="28575"/>
          </a:xfrm>
          <a:prstGeom prst="rect">
            <a:avLst/>
          </a:prstGeom>
          <a:solidFill>
            <a:srgbClr val="00B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3383280"/>
            <a:ext cx="2430703" cy="475488"/>
          </a:xfrm>
          <a:prstGeom prst="rect">
            <a:avLst/>
          </a:prstGeom>
          <a:noFill/>
        </p:spPr>
        <p:txBody>
          <a:bodyPr wrap="square" lIns="0" rIns="0" tIns="0" bIns="0" anchor="t">
            <a:spAutoFit/>
          </a:bodyPr>
          <a:lstStyle/>
          <a:p>
            <a:pPr>
              <a:lnSpc>
                <a:spcPct val="118000"/>
              </a:lnSpc>
              <a:spcBef>
                <a:spcPts val="0"/>
              </a:spcBef>
              <a:spcAft>
                <a:spcPts val="0"/>
              </a:spcAft>
            </a:pPr>
            <a:r>
              <a:rPr sz="1300" b="1" i="0">
                <a:solidFill>
                  <a:srgbClr val="002970"/>
                </a:solidFill>
                <a:latin typeface="Helvetica Neue"/>
              </a:rPr>
              <a:t>Two-sided, by consent</a:t>
            </a:r>
          </a:p>
        </p:txBody>
      </p:sp>
      <p:sp>
        <p:nvSpPr>
          <p:cNvPr id="8" name="TextBox 7"/>
          <p:cNvSpPr txBox="1"/>
          <p:nvPr/>
        </p:nvSpPr>
        <p:spPr>
          <a:xfrm>
            <a:off x="685800" y="3877056"/>
            <a:ext cx="2430703" cy="2286000"/>
          </a:xfrm>
          <a:prstGeom prst="rect">
            <a:avLst/>
          </a:prstGeom>
          <a:noFill/>
        </p:spPr>
        <p:txBody>
          <a:bodyPr wrap="square" lIns="0" rIns="0" tIns="0" bIns="0" anchor="t">
            <a:spAutoFit/>
          </a:bodyPr>
          <a:lstStyle/>
          <a:p>
            <a:pPr>
              <a:lnSpc>
                <a:spcPct val="142000"/>
              </a:lnSpc>
              <a:spcBef>
                <a:spcPts val="0"/>
              </a:spcBef>
              <a:spcAft>
                <a:spcPts val="700"/>
              </a:spcAft>
            </a:pPr>
            <a:r>
              <a:rPr sz="1160" b="0" i="0">
                <a:solidFill>
                  <a:srgbClr val="1A1F2B"/>
                </a:solidFill>
                <a:latin typeface="Helvetica Neue"/>
              </a:rPr>
              <a:t>The customer confirms the entry. That single change turns a private assertion into a mutual record.</a:t>
            </a:r>
          </a:p>
          <a:p>
            <a:pPr>
              <a:lnSpc>
                <a:spcPct val="142000"/>
              </a:lnSpc>
              <a:spcBef>
                <a:spcPts val="0"/>
              </a:spcBef>
              <a:spcAft>
                <a:spcPts val="700"/>
              </a:spcAft>
            </a:pPr>
            <a:r>
              <a:rPr sz="1160" b="0" i="0">
                <a:solidFill>
                  <a:srgbClr val="1A1F2B"/>
                </a:solidFill>
                <a:latin typeface="Helvetica Neue"/>
              </a:rPr>
              <a:t>It is also how a platform discharges DPDP s.8(3) — the duty to ensure data used to make a decision about someone is accurate — which binds from May 2027.</a:t>
            </a:r>
          </a:p>
        </p:txBody>
      </p:sp>
      <p:sp>
        <p:nvSpPr>
          <p:cNvPr id="9" name="Rectangle 8"/>
          <p:cNvSpPr/>
          <p:nvPr/>
        </p:nvSpPr>
        <p:spPr>
          <a:xfrm>
            <a:off x="3482263" y="2962656"/>
            <a:ext cx="2430703" cy="28575"/>
          </a:xfrm>
          <a:prstGeom prst="rect">
            <a:avLst/>
          </a:prstGeom>
          <a:solidFill>
            <a:srgbClr val="00B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82263" y="3383280"/>
            <a:ext cx="2430703" cy="475488"/>
          </a:xfrm>
          <a:prstGeom prst="rect">
            <a:avLst/>
          </a:prstGeom>
          <a:noFill/>
        </p:spPr>
        <p:txBody>
          <a:bodyPr wrap="square" lIns="0" rIns="0" tIns="0" bIns="0" anchor="t">
            <a:spAutoFit/>
          </a:bodyPr>
          <a:lstStyle/>
          <a:p>
            <a:pPr>
              <a:lnSpc>
                <a:spcPct val="118000"/>
              </a:lnSpc>
              <a:spcBef>
                <a:spcPts val="0"/>
              </a:spcBef>
              <a:spcAft>
                <a:spcPts val="0"/>
              </a:spcAft>
            </a:pPr>
            <a:r>
              <a:rPr sz="1300" b="1" i="0">
                <a:solidFill>
                  <a:srgbClr val="002970"/>
                </a:solidFill>
                <a:latin typeface="Helvetica Neue"/>
              </a:rPr>
              <a:t>Voice, where it is necessary</a:t>
            </a:r>
          </a:p>
        </p:txBody>
      </p:sp>
      <p:sp>
        <p:nvSpPr>
          <p:cNvPr id="11" name="TextBox 10"/>
          <p:cNvSpPr txBox="1"/>
          <p:nvPr/>
        </p:nvSpPr>
        <p:spPr>
          <a:xfrm>
            <a:off x="3482263" y="3877056"/>
            <a:ext cx="2430703" cy="2286000"/>
          </a:xfrm>
          <a:prstGeom prst="rect">
            <a:avLst/>
          </a:prstGeom>
          <a:noFill/>
        </p:spPr>
        <p:txBody>
          <a:bodyPr wrap="square" lIns="0" rIns="0" tIns="0" bIns="0" anchor="t">
            <a:spAutoFit/>
          </a:bodyPr>
          <a:lstStyle/>
          <a:p>
            <a:pPr>
              <a:lnSpc>
                <a:spcPct val="142000"/>
              </a:lnSpc>
              <a:spcBef>
                <a:spcPts val="0"/>
              </a:spcBef>
              <a:spcAft>
                <a:spcPts val="700"/>
              </a:spcAft>
            </a:pPr>
            <a:r>
              <a:rPr sz="1160" b="0" i="0">
                <a:solidFill>
                  <a:srgbClr val="1A1F2B"/>
                </a:solidFill>
                <a:latin typeface="Helvetica Neue"/>
              </a:rPr>
              <a:t>Paytm’s AI Soundbox grew a microphone in October 2025 and already takes spoken questions in 11 languages.</a:t>
            </a:r>
          </a:p>
          <a:p>
            <a:pPr>
              <a:lnSpc>
                <a:spcPct val="142000"/>
              </a:lnSpc>
              <a:spcBef>
                <a:spcPts val="0"/>
              </a:spcBef>
              <a:spcAft>
                <a:spcPts val="700"/>
              </a:spcAft>
            </a:pPr>
            <a:r>
              <a:rPr sz="1160" b="0" i="0">
                <a:solidFill>
                  <a:srgbClr val="1A1F2B"/>
                </a:solidFill>
                <a:latin typeface="Helvetica Neue"/>
              </a:rPr>
              <a:t>Three companies are building on that rail. Nobody has pointed it at credit. The hardware is on the counter, paid for, and idle for this.</a:t>
            </a:r>
          </a:p>
        </p:txBody>
      </p:sp>
      <p:sp>
        <p:nvSpPr>
          <p:cNvPr id="12" name="Rectangle 11"/>
          <p:cNvSpPr/>
          <p:nvPr/>
        </p:nvSpPr>
        <p:spPr>
          <a:xfrm>
            <a:off x="6278726" y="2962656"/>
            <a:ext cx="2430703" cy="28575"/>
          </a:xfrm>
          <a:prstGeom prst="rect">
            <a:avLst/>
          </a:prstGeom>
          <a:solidFill>
            <a:srgbClr val="00B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78726" y="3383280"/>
            <a:ext cx="2430703" cy="475488"/>
          </a:xfrm>
          <a:prstGeom prst="rect">
            <a:avLst/>
          </a:prstGeom>
          <a:noFill/>
        </p:spPr>
        <p:txBody>
          <a:bodyPr wrap="square" lIns="0" rIns="0" tIns="0" bIns="0" anchor="t">
            <a:spAutoFit/>
          </a:bodyPr>
          <a:lstStyle/>
          <a:p>
            <a:pPr>
              <a:lnSpc>
                <a:spcPct val="118000"/>
              </a:lnSpc>
              <a:spcBef>
                <a:spcPts val="0"/>
              </a:spcBef>
              <a:spcAft>
                <a:spcPts val="0"/>
              </a:spcAft>
            </a:pPr>
            <a:r>
              <a:rPr sz="1300" b="1" i="0">
                <a:solidFill>
                  <a:srgbClr val="002970"/>
                </a:solidFill>
                <a:latin typeface="Helvetica Neue"/>
              </a:rPr>
              <a:t>Timing, not blacklisting</a:t>
            </a:r>
          </a:p>
        </p:txBody>
      </p:sp>
      <p:sp>
        <p:nvSpPr>
          <p:cNvPr id="14" name="TextBox 13"/>
          <p:cNvSpPr txBox="1"/>
          <p:nvPr/>
        </p:nvSpPr>
        <p:spPr>
          <a:xfrm>
            <a:off x="6278726" y="3877056"/>
            <a:ext cx="2430703" cy="2286000"/>
          </a:xfrm>
          <a:prstGeom prst="rect">
            <a:avLst/>
          </a:prstGeom>
          <a:noFill/>
        </p:spPr>
        <p:txBody>
          <a:bodyPr wrap="square" lIns="0" rIns="0" tIns="0" bIns="0" anchor="t">
            <a:spAutoFit/>
          </a:bodyPr>
          <a:lstStyle/>
          <a:p>
            <a:pPr>
              <a:lnSpc>
                <a:spcPct val="142000"/>
              </a:lnSpc>
              <a:spcBef>
                <a:spcPts val="0"/>
              </a:spcBef>
              <a:spcAft>
                <a:spcPts val="700"/>
              </a:spcAft>
            </a:pPr>
            <a:r>
              <a:rPr sz="1160" b="0" i="0">
                <a:solidFill>
                  <a:srgbClr val="1A1F2B"/>
                </a:solidFill>
                <a:latin typeface="Helvetica Neue"/>
              </a:rPr>
              <a:t>Per-customer repayment timing exists in formal collections — TrueAccord, Credgenics — and nowhere in informal credit.</a:t>
            </a:r>
          </a:p>
          <a:p>
            <a:pPr>
              <a:lnSpc>
                <a:spcPct val="142000"/>
              </a:lnSpc>
              <a:spcBef>
                <a:spcPts val="0"/>
              </a:spcBef>
              <a:spcAft>
                <a:spcPts val="700"/>
              </a:spcAft>
            </a:pPr>
            <a:r>
              <a:rPr sz="1160" b="0" i="0">
                <a:solidFill>
                  <a:srgbClr val="1A1F2B"/>
                </a:solidFill>
                <a:latin typeface="Helvetica Neue"/>
              </a:rPr>
              <a:t>What exists in the long tail instead is the shared defaulter list. We are the humane inverse of a product that already ships.</a:t>
            </a:r>
          </a:p>
        </p:txBody>
      </p:sp>
      <p:sp>
        <p:nvSpPr>
          <p:cNvPr id="15" name="Rectangle 14"/>
          <p:cNvSpPr/>
          <p:nvPr/>
        </p:nvSpPr>
        <p:spPr>
          <a:xfrm>
            <a:off x="9075189" y="2962656"/>
            <a:ext cx="2430703" cy="28575"/>
          </a:xfrm>
          <a:prstGeom prst="rect">
            <a:avLst/>
          </a:prstGeom>
          <a:solidFill>
            <a:srgbClr val="00B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75189" y="3383280"/>
            <a:ext cx="2430703" cy="475488"/>
          </a:xfrm>
          <a:prstGeom prst="rect">
            <a:avLst/>
          </a:prstGeom>
          <a:noFill/>
        </p:spPr>
        <p:txBody>
          <a:bodyPr wrap="square" lIns="0" rIns="0" tIns="0" bIns="0" anchor="t">
            <a:spAutoFit/>
          </a:bodyPr>
          <a:lstStyle/>
          <a:p>
            <a:pPr>
              <a:lnSpc>
                <a:spcPct val="118000"/>
              </a:lnSpc>
              <a:spcBef>
                <a:spcPts val="0"/>
              </a:spcBef>
              <a:spcAft>
                <a:spcPts val="0"/>
              </a:spcAft>
            </a:pPr>
            <a:r>
              <a:rPr sz="1300" b="1" i="0">
                <a:solidFill>
                  <a:srgbClr val="002970"/>
                </a:solidFill>
                <a:latin typeface="Helvetica Neue"/>
              </a:rPr>
              <a:t>Built legal-first</a:t>
            </a:r>
          </a:p>
        </p:txBody>
      </p:sp>
      <p:sp>
        <p:nvSpPr>
          <p:cNvPr id="17" name="TextBox 16"/>
          <p:cNvSpPr txBox="1"/>
          <p:nvPr/>
        </p:nvSpPr>
        <p:spPr>
          <a:xfrm>
            <a:off x="9075189" y="3877056"/>
            <a:ext cx="2430703" cy="2286000"/>
          </a:xfrm>
          <a:prstGeom prst="rect">
            <a:avLst/>
          </a:prstGeom>
          <a:noFill/>
        </p:spPr>
        <p:txBody>
          <a:bodyPr wrap="square" lIns="0" rIns="0" tIns="0" bIns="0" anchor="t">
            <a:spAutoFit/>
          </a:bodyPr>
          <a:lstStyle/>
          <a:p>
            <a:pPr>
              <a:lnSpc>
                <a:spcPct val="142000"/>
              </a:lnSpc>
              <a:spcBef>
                <a:spcPts val="0"/>
              </a:spcBef>
              <a:spcAft>
                <a:spcPts val="700"/>
              </a:spcAft>
            </a:pPr>
            <a:r>
              <a:rPr sz="1160" b="0" i="0">
                <a:solidFill>
                  <a:srgbClr val="1A1F2B"/>
                </a:solidFill>
                <a:latin typeface="Helvetica Neue"/>
              </a:rPr>
              <a:t>Four statutes govern recording a debt and reminding someone about it. We read them before we built, and each became one hard constraint.</a:t>
            </a:r>
          </a:p>
          <a:p>
            <a:pPr>
              <a:lnSpc>
                <a:spcPct val="142000"/>
              </a:lnSpc>
              <a:spcBef>
                <a:spcPts val="0"/>
              </a:spcBef>
              <a:spcAft>
                <a:spcPts val="700"/>
              </a:spcAft>
            </a:pPr>
            <a:r>
              <a:rPr sz="1160" b="0" i="0">
                <a:solidFill>
                  <a:srgbClr val="1A1F2B"/>
                </a:solidFill>
                <a:latin typeface="Helvetica Neue"/>
              </a:rPr>
              <a:t>See slide 8. No competitor in this category has done this.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75488"/>
            <a:ext cx="10820095" cy="237744"/>
          </a:xfrm>
          <a:prstGeom prst="rect">
            <a:avLst/>
          </a:prstGeom>
          <a:noFill/>
        </p:spPr>
        <p:txBody>
          <a:bodyPr wrap="square" lIns="0" rIns="0" tIns="0" bIns="0" anchor="t">
            <a:spAutoFit/>
          </a:bodyPr>
          <a:lstStyle/>
          <a:p>
            <a:pPr>
              <a:lnSpc>
                <a:spcPct val="140000"/>
              </a:lnSpc>
              <a:spcBef>
                <a:spcPts val="0"/>
              </a:spcBef>
              <a:spcAft>
                <a:spcPts val="0"/>
              </a:spcAft>
            </a:pPr>
            <a:r>
              <a:rPr sz="1000" b="1" i="0" spc="120">
                <a:solidFill>
                  <a:srgbClr val="646E7E"/>
                </a:solidFill>
                <a:latin typeface="Helvetica Neue"/>
              </a:rPr>
              <a:t>IMPACT &amp; BENEFITS</a:t>
            </a:r>
          </a:p>
        </p:txBody>
      </p:sp>
      <p:sp>
        <p:nvSpPr>
          <p:cNvPr id="4" name="TextBox 3"/>
          <p:cNvSpPr txBox="1"/>
          <p:nvPr/>
        </p:nvSpPr>
        <p:spPr>
          <a:xfrm>
            <a:off x="685800" y="804672"/>
            <a:ext cx="10820095" cy="1042415"/>
          </a:xfrm>
          <a:prstGeom prst="rect">
            <a:avLst/>
          </a:prstGeom>
          <a:noFill/>
        </p:spPr>
        <p:txBody>
          <a:bodyPr wrap="square" lIns="0" rIns="0" tIns="0" bIns="0" anchor="t">
            <a:spAutoFit/>
          </a:bodyPr>
          <a:lstStyle/>
          <a:p>
            <a:pPr>
              <a:lnSpc>
                <a:spcPct val="108000"/>
              </a:lnSpc>
              <a:spcBef>
                <a:spcPts val="0"/>
              </a:spcBef>
              <a:spcAft>
                <a:spcPts val="0"/>
              </a:spcAft>
            </a:pPr>
            <a:r>
              <a:rPr sz="3200" b="0" i="0">
                <a:solidFill>
                  <a:srgbClr val="002970"/>
                </a:solidFill>
                <a:latin typeface="Georgia"/>
              </a:rPr>
              <a:t>Three parties, and none of them loses.</a:t>
            </a:r>
          </a:p>
        </p:txBody>
      </p:sp>
      <p:sp>
        <p:nvSpPr>
          <p:cNvPr id="5" name="TextBox 4"/>
          <p:cNvSpPr txBox="1"/>
          <p:nvPr/>
        </p:nvSpPr>
        <p:spPr>
          <a:xfrm>
            <a:off x="685800" y="1938528"/>
            <a:ext cx="9692640" cy="841248"/>
          </a:xfrm>
          <a:prstGeom prst="rect">
            <a:avLst/>
          </a:prstGeom>
          <a:noFill/>
        </p:spPr>
        <p:txBody>
          <a:bodyPr wrap="square" lIns="0" rIns="0" tIns="0" bIns="0" anchor="t">
            <a:spAutoFit/>
          </a:bodyPr>
          <a:lstStyle/>
          <a:p>
            <a:pPr>
              <a:lnSpc>
                <a:spcPct val="142000"/>
              </a:lnSpc>
              <a:spcBef>
                <a:spcPts val="0"/>
              </a:spcBef>
              <a:spcAft>
                <a:spcPts val="0"/>
              </a:spcAft>
            </a:pPr>
            <a:r>
              <a:rPr sz="1350" b="0" i="0">
                <a:solidFill>
                  <a:srgbClr val="646E7E"/>
                </a:solidFill>
                <a:latin typeface="Helvetica Neue"/>
              </a:rPr>
              <a:t>The shopkeeper keeps his money and his customer. The customer gets a copy of his own obligations. Paytm gets volume that is currently settled in cash and therefore invisible to it.</a:t>
            </a:r>
          </a:p>
        </p:txBody>
      </p:sp>
      <p:sp>
        <p:nvSpPr>
          <p:cNvPr id="6" name="Rectangle 5"/>
          <p:cNvSpPr/>
          <p:nvPr/>
        </p:nvSpPr>
        <p:spPr>
          <a:xfrm>
            <a:off x="685800" y="2962656"/>
            <a:ext cx="3362858" cy="28575"/>
          </a:xfrm>
          <a:prstGeom prst="rect">
            <a:avLst/>
          </a:prstGeom>
          <a:solidFill>
            <a:srgbClr val="00B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3383280"/>
            <a:ext cx="3362858" cy="475488"/>
          </a:xfrm>
          <a:prstGeom prst="rect">
            <a:avLst/>
          </a:prstGeom>
          <a:noFill/>
        </p:spPr>
        <p:txBody>
          <a:bodyPr wrap="square" lIns="0" rIns="0" tIns="0" bIns="0" anchor="t">
            <a:spAutoFit/>
          </a:bodyPr>
          <a:lstStyle/>
          <a:p>
            <a:pPr>
              <a:lnSpc>
                <a:spcPct val="118000"/>
              </a:lnSpc>
              <a:spcBef>
                <a:spcPts val="0"/>
              </a:spcBef>
              <a:spcAft>
                <a:spcPts val="0"/>
              </a:spcAft>
            </a:pPr>
            <a:r>
              <a:rPr sz="1300" b="1" i="0">
                <a:solidFill>
                  <a:srgbClr val="002970"/>
                </a:solidFill>
                <a:latin typeface="Helvetica Neue"/>
              </a:rPr>
              <a:t>The shopkeeper</a:t>
            </a:r>
          </a:p>
        </p:txBody>
      </p:sp>
      <p:sp>
        <p:nvSpPr>
          <p:cNvPr id="8" name="TextBox 7"/>
          <p:cNvSpPr txBox="1"/>
          <p:nvPr/>
        </p:nvSpPr>
        <p:spPr>
          <a:xfrm>
            <a:off x="685800" y="3877056"/>
            <a:ext cx="3362858" cy="2286000"/>
          </a:xfrm>
          <a:prstGeom prst="rect">
            <a:avLst/>
          </a:prstGeom>
          <a:noFill/>
        </p:spPr>
        <p:txBody>
          <a:bodyPr wrap="square" lIns="0" rIns="0" tIns="0" bIns="0" anchor="t">
            <a:spAutoFit/>
          </a:bodyPr>
          <a:lstStyle/>
          <a:p>
            <a:pPr>
              <a:lnSpc>
                <a:spcPct val="142000"/>
              </a:lnSpc>
              <a:spcBef>
                <a:spcPts val="0"/>
              </a:spcBef>
              <a:spcAft>
                <a:spcPts val="700"/>
              </a:spcAft>
            </a:pPr>
            <a:r>
              <a:rPr sz="1160" b="0" i="0">
                <a:solidFill>
                  <a:srgbClr val="1A1F2B"/>
                </a:solidFill>
                <a:latin typeface="Helvetica Neue"/>
              </a:rPr>
              <a:t>Stops chasing the people who were always going to pay, and notices the ones who have genuinely changed.</a:t>
            </a:r>
          </a:p>
          <a:p>
            <a:pPr>
              <a:lnSpc>
                <a:spcPct val="142000"/>
              </a:lnSpc>
              <a:spcBef>
                <a:spcPts val="0"/>
              </a:spcBef>
              <a:spcAft>
                <a:spcPts val="700"/>
              </a:spcAft>
            </a:pPr>
            <a:r>
              <a:rPr sz="1160" b="0" i="0">
                <a:solidFill>
                  <a:srgbClr val="1A1F2B"/>
                </a:solidFill>
                <a:latin typeface="Helvetica Neue"/>
              </a:rPr>
              <a:t>Keeps his own record intact whether or not the customer confirms.</a:t>
            </a:r>
          </a:p>
          <a:p>
            <a:pPr>
              <a:lnSpc>
                <a:spcPct val="142000"/>
              </a:lnSpc>
              <a:spcBef>
                <a:spcPts val="0"/>
              </a:spcBef>
              <a:spcAft>
                <a:spcPts val="700"/>
              </a:spcAft>
            </a:pPr>
            <a:r>
              <a:rPr sz="1160" b="0" i="0">
                <a:solidFill>
                  <a:srgbClr val="1A1F2B"/>
                </a:solidFill>
                <a:latin typeface="Helvetica Neue"/>
              </a:rPr>
              <a:t>Recovers money without spending the relationship — which today is the price of asking.</a:t>
            </a:r>
          </a:p>
        </p:txBody>
      </p:sp>
      <p:sp>
        <p:nvSpPr>
          <p:cNvPr id="9" name="Rectangle 8"/>
          <p:cNvSpPr/>
          <p:nvPr/>
        </p:nvSpPr>
        <p:spPr>
          <a:xfrm>
            <a:off x="4414418" y="2962656"/>
            <a:ext cx="3362858" cy="28575"/>
          </a:xfrm>
          <a:prstGeom prst="rect">
            <a:avLst/>
          </a:prstGeom>
          <a:solidFill>
            <a:srgbClr val="00B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14418" y="3383280"/>
            <a:ext cx="3362858" cy="475488"/>
          </a:xfrm>
          <a:prstGeom prst="rect">
            <a:avLst/>
          </a:prstGeom>
          <a:noFill/>
        </p:spPr>
        <p:txBody>
          <a:bodyPr wrap="square" lIns="0" rIns="0" tIns="0" bIns="0" anchor="t">
            <a:spAutoFit/>
          </a:bodyPr>
          <a:lstStyle/>
          <a:p>
            <a:pPr>
              <a:lnSpc>
                <a:spcPct val="118000"/>
              </a:lnSpc>
              <a:spcBef>
                <a:spcPts val="0"/>
              </a:spcBef>
              <a:spcAft>
                <a:spcPts val="0"/>
              </a:spcAft>
            </a:pPr>
            <a:r>
              <a:rPr sz="1300" b="1" i="0">
                <a:solidFill>
                  <a:srgbClr val="002970"/>
                </a:solidFill>
                <a:latin typeface="Helvetica Neue"/>
              </a:rPr>
              <a:t>The customer</a:t>
            </a:r>
          </a:p>
        </p:txBody>
      </p:sp>
      <p:sp>
        <p:nvSpPr>
          <p:cNvPr id="11" name="TextBox 10"/>
          <p:cNvSpPr txBox="1"/>
          <p:nvPr/>
        </p:nvSpPr>
        <p:spPr>
          <a:xfrm>
            <a:off x="4414418" y="3877056"/>
            <a:ext cx="3362858" cy="2286000"/>
          </a:xfrm>
          <a:prstGeom prst="rect">
            <a:avLst/>
          </a:prstGeom>
          <a:noFill/>
        </p:spPr>
        <p:txBody>
          <a:bodyPr wrap="square" lIns="0" rIns="0" tIns="0" bIns="0" anchor="t">
            <a:spAutoFit/>
          </a:bodyPr>
          <a:lstStyle/>
          <a:p>
            <a:pPr>
              <a:lnSpc>
                <a:spcPct val="142000"/>
              </a:lnSpc>
              <a:spcBef>
                <a:spcPts val="0"/>
              </a:spcBef>
              <a:spcAft>
                <a:spcPts val="700"/>
              </a:spcAft>
            </a:pPr>
            <a:r>
              <a:rPr sz="1160" b="0" i="0">
                <a:solidFill>
                  <a:srgbClr val="1A1F2B"/>
                </a:solidFill>
                <a:latin typeface="Helvetica Neue"/>
              </a:rPr>
              <a:t>Sees his own total across every shop he owes, for the first time.</a:t>
            </a:r>
          </a:p>
          <a:p>
            <a:pPr>
              <a:lnSpc>
                <a:spcPct val="142000"/>
              </a:lnSpc>
              <a:spcBef>
                <a:spcPts val="0"/>
              </a:spcBef>
              <a:spcAft>
                <a:spcPts val="700"/>
              </a:spcAft>
            </a:pPr>
            <a:r>
              <a:rPr sz="1160" b="0" i="0">
                <a:solidFill>
                  <a:srgbClr val="1A1F2B"/>
                </a:solidFill>
                <a:latin typeface="Helvetica Neue"/>
              </a:rPr>
              <a:t>Holds evidence. A disputed number stops being his word against the book.</a:t>
            </a:r>
          </a:p>
          <a:p>
            <a:pPr>
              <a:lnSpc>
                <a:spcPct val="142000"/>
              </a:lnSpc>
              <a:spcBef>
                <a:spcPts val="0"/>
              </a:spcBef>
              <a:spcAft>
                <a:spcPts val="700"/>
              </a:spcAft>
            </a:pPr>
            <a:r>
              <a:rPr sz="1160" b="0" i="0">
                <a:solidFill>
                  <a:srgbClr val="1A1F2B"/>
                </a:solidFill>
                <a:latin typeface="Helvetica Neue"/>
              </a:rPr>
              <a:t>Is reminded privately on day 7 instead of publicly on day 15.</a:t>
            </a:r>
          </a:p>
          <a:p>
            <a:pPr>
              <a:lnSpc>
                <a:spcPct val="142000"/>
              </a:lnSpc>
              <a:spcBef>
                <a:spcPts val="0"/>
              </a:spcBef>
              <a:spcAft>
                <a:spcPts val="700"/>
              </a:spcAft>
            </a:pPr>
            <a:r>
              <a:rPr sz="1160" b="0" i="0">
                <a:solidFill>
                  <a:srgbClr val="1A1F2B"/>
                </a:solidFill>
                <a:latin typeface="Helvetica Neue"/>
              </a:rPr>
              <a:t>And his debts expire, rather than being kept alive forever by our own prompts.</a:t>
            </a:r>
          </a:p>
        </p:txBody>
      </p:sp>
      <p:sp>
        <p:nvSpPr>
          <p:cNvPr id="12" name="Rectangle 11"/>
          <p:cNvSpPr/>
          <p:nvPr/>
        </p:nvSpPr>
        <p:spPr>
          <a:xfrm>
            <a:off x="8143036" y="2962656"/>
            <a:ext cx="3362858" cy="28575"/>
          </a:xfrm>
          <a:prstGeom prst="rect">
            <a:avLst/>
          </a:prstGeom>
          <a:solidFill>
            <a:srgbClr val="00B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43036" y="3383280"/>
            <a:ext cx="3362858" cy="475488"/>
          </a:xfrm>
          <a:prstGeom prst="rect">
            <a:avLst/>
          </a:prstGeom>
          <a:noFill/>
        </p:spPr>
        <p:txBody>
          <a:bodyPr wrap="square" lIns="0" rIns="0" tIns="0" bIns="0" anchor="t">
            <a:spAutoFit/>
          </a:bodyPr>
          <a:lstStyle/>
          <a:p>
            <a:pPr>
              <a:lnSpc>
                <a:spcPct val="118000"/>
              </a:lnSpc>
              <a:spcBef>
                <a:spcPts val="0"/>
              </a:spcBef>
              <a:spcAft>
                <a:spcPts val="0"/>
              </a:spcAft>
            </a:pPr>
            <a:r>
              <a:rPr sz="1300" b="1" i="0">
                <a:solidFill>
                  <a:srgbClr val="002970"/>
                </a:solidFill>
                <a:latin typeface="Helvetica Neue"/>
              </a:rPr>
              <a:t>Paytm</a:t>
            </a:r>
          </a:p>
        </p:txBody>
      </p:sp>
      <p:sp>
        <p:nvSpPr>
          <p:cNvPr id="14" name="TextBox 13"/>
          <p:cNvSpPr txBox="1"/>
          <p:nvPr/>
        </p:nvSpPr>
        <p:spPr>
          <a:xfrm>
            <a:off x="8143036" y="3877056"/>
            <a:ext cx="3362858" cy="2286000"/>
          </a:xfrm>
          <a:prstGeom prst="rect">
            <a:avLst/>
          </a:prstGeom>
          <a:noFill/>
        </p:spPr>
        <p:txBody>
          <a:bodyPr wrap="square" lIns="0" rIns="0" tIns="0" bIns="0" anchor="t">
            <a:spAutoFit/>
          </a:bodyPr>
          <a:lstStyle/>
          <a:p>
            <a:pPr>
              <a:lnSpc>
                <a:spcPct val="142000"/>
              </a:lnSpc>
              <a:spcBef>
                <a:spcPts val="0"/>
              </a:spcBef>
              <a:spcAft>
                <a:spcPts val="700"/>
              </a:spcAft>
            </a:pPr>
            <a:r>
              <a:rPr sz="1160" b="0" i="0">
                <a:solidFill>
                  <a:srgbClr val="1A1F2B"/>
                </a:solidFill>
                <a:latin typeface="Helvetica Neue"/>
              </a:rPr>
              <a:t>Udhaar settles in cash today. Every entry cleared through BAHI is a UPI transaction that did not previously exist — new volume, not cannibalised volume.</a:t>
            </a:r>
          </a:p>
          <a:p>
            <a:pPr>
              <a:lnSpc>
                <a:spcPct val="142000"/>
              </a:lnSpc>
              <a:spcBef>
                <a:spcPts val="0"/>
              </a:spcBef>
              <a:spcAft>
                <a:spcPts val="700"/>
              </a:spcAft>
            </a:pPr>
            <a:r>
              <a:rPr sz="1160" b="0" i="0">
                <a:solidFill>
                  <a:srgbClr val="1A1F2B"/>
                </a:solidFill>
                <a:latin typeface="Helvetica Neue"/>
              </a:rPr>
              <a:t>A merchant whose credit book lives in the Soundbox does not churn off the Soundbox.</a:t>
            </a:r>
          </a:p>
          <a:p>
            <a:pPr>
              <a:lnSpc>
                <a:spcPct val="142000"/>
              </a:lnSpc>
              <a:spcBef>
                <a:spcPts val="0"/>
              </a:spcBef>
              <a:spcAft>
                <a:spcPts val="700"/>
              </a:spcAft>
            </a:pPr>
            <a:r>
              <a:rPr sz="1160" b="0" i="0">
                <a:solidFill>
                  <a:srgbClr val="1A1F2B"/>
                </a:solidFill>
                <a:latin typeface="Helvetica Neue"/>
              </a:rPr>
              <a:t>And a customer repaying ₹200 every nine days is generating the only evidence of creditworthiness he will ever have.</a:t>
            </a:r>
          </a:p>
        </p:txBody>
      </p:sp>
      <p:sp>
        <p:nvSpPr>
          <p:cNvPr id="15" name="TextBox 14"/>
          <p:cNvSpPr txBox="1"/>
          <p:nvPr/>
        </p:nvSpPr>
        <p:spPr>
          <a:xfrm>
            <a:off x="685800" y="6291072"/>
            <a:ext cx="10820095" cy="274320"/>
          </a:xfrm>
          <a:prstGeom prst="rect">
            <a:avLst/>
          </a:prstGeom>
          <a:noFill/>
        </p:spPr>
        <p:txBody>
          <a:bodyPr wrap="square" lIns="0" rIns="0" tIns="0" bIns="0" anchor="t">
            <a:spAutoFit/>
          </a:bodyPr>
          <a:lstStyle/>
          <a:p>
            <a:pPr>
              <a:lnSpc>
                <a:spcPct val="130000"/>
              </a:lnSpc>
              <a:spcBef>
                <a:spcPts val="0"/>
              </a:spcBef>
              <a:spcAft>
                <a:spcPts val="0"/>
              </a:spcAft>
            </a:pPr>
            <a:r>
              <a:rPr sz="900" b="0" i="0">
                <a:solidFill>
                  <a:srgbClr val="646E7E"/>
                </a:solidFill>
                <a:latin typeface="Helvetica Neue"/>
              </a:rPr>
              <a:t>Record it, never fund it. The moment the platform finances the udhaar, CICRA s.2(f)(vi) makes it a credit institution.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75488"/>
            <a:ext cx="10820095" cy="237744"/>
          </a:xfrm>
          <a:prstGeom prst="rect">
            <a:avLst/>
          </a:prstGeom>
          <a:noFill/>
        </p:spPr>
        <p:txBody>
          <a:bodyPr wrap="square" lIns="0" rIns="0" tIns="0" bIns="0" anchor="t">
            <a:spAutoFit/>
          </a:bodyPr>
          <a:lstStyle/>
          <a:p>
            <a:pPr>
              <a:lnSpc>
                <a:spcPct val="140000"/>
              </a:lnSpc>
              <a:spcBef>
                <a:spcPts val="0"/>
              </a:spcBef>
              <a:spcAft>
                <a:spcPts val="0"/>
              </a:spcAft>
            </a:pPr>
            <a:r>
              <a:rPr sz="1000" b="1" i="0" spc="120">
                <a:solidFill>
                  <a:srgbClr val="646E7E"/>
                </a:solidFill>
                <a:latin typeface="Helvetica Neue"/>
              </a:rPr>
              <a:t>BUSINESS MODEL</a:t>
            </a:r>
          </a:p>
        </p:txBody>
      </p:sp>
      <p:sp>
        <p:nvSpPr>
          <p:cNvPr id="4" name="TextBox 3"/>
          <p:cNvSpPr txBox="1"/>
          <p:nvPr/>
        </p:nvSpPr>
        <p:spPr>
          <a:xfrm>
            <a:off x="685800" y="804672"/>
            <a:ext cx="10820095" cy="1042415"/>
          </a:xfrm>
          <a:prstGeom prst="rect">
            <a:avLst/>
          </a:prstGeom>
          <a:noFill/>
        </p:spPr>
        <p:txBody>
          <a:bodyPr wrap="square" lIns="0" rIns="0" tIns="0" bIns="0" anchor="t">
            <a:spAutoFit/>
          </a:bodyPr>
          <a:lstStyle/>
          <a:p>
            <a:pPr>
              <a:lnSpc>
                <a:spcPct val="108000"/>
              </a:lnSpc>
              <a:spcBef>
                <a:spcPts val="0"/>
              </a:spcBef>
              <a:spcAft>
                <a:spcPts val="0"/>
              </a:spcAft>
            </a:pPr>
            <a:r>
              <a:rPr sz="3200" b="0" i="0">
                <a:solidFill>
                  <a:srgbClr val="002970"/>
                </a:solidFill>
                <a:latin typeface="Georgia"/>
              </a:rPr>
              <a:t>The ledger is not the product.</a:t>
            </a:r>
            <a:br/>
            <a:r>
              <a:rPr sz="3200" b="0" i="0">
                <a:solidFill>
                  <a:srgbClr val="002970"/>
                </a:solidFill>
                <a:latin typeface="Georgia"/>
              </a:rPr>
              <a:t>The settlement is.</a:t>
            </a:r>
          </a:p>
        </p:txBody>
      </p:sp>
      <p:sp>
        <p:nvSpPr>
          <p:cNvPr id="5" name="TextBox 4"/>
          <p:cNvSpPr txBox="1"/>
          <p:nvPr/>
        </p:nvSpPr>
        <p:spPr>
          <a:xfrm>
            <a:off x="685800" y="1938528"/>
            <a:ext cx="9692640" cy="841248"/>
          </a:xfrm>
          <a:prstGeom prst="rect">
            <a:avLst/>
          </a:prstGeom>
          <a:noFill/>
        </p:spPr>
        <p:txBody>
          <a:bodyPr wrap="square" lIns="0" rIns="0" tIns="0" bIns="0" anchor="t">
            <a:spAutoFit/>
          </a:bodyPr>
          <a:lstStyle/>
          <a:p>
            <a:pPr>
              <a:lnSpc>
                <a:spcPct val="142000"/>
              </a:lnSpc>
              <a:spcBef>
                <a:spcPts val="0"/>
              </a:spcBef>
              <a:spcAft>
                <a:spcPts val="0"/>
              </a:spcAft>
            </a:pPr>
            <a:r>
              <a:rPr sz="1350" b="0" i="0">
                <a:solidFill>
                  <a:srgbClr val="646E7E"/>
                </a:solidFill>
                <a:latin typeface="Helvetica Neue"/>
              </a:rPr>
              <a:t>This category does not monetise by subscription, and we are not going to pretend otherwise. OkCredit has 10 crore downloads and ₹23 crore of revenue. Lummo reached 2.2% of Indonesian GDP, then handed $70M back to investors.</a:t>
            </a:r>
          </a:p>
        </p:txBody>
      </p:sp>
      <p:sp>
        <p:nvSpPr>
          <p:cNvPr id="6" name="Rectangle 5"/>
          <p:cNvSpPr/>
          <p:nvPr/>
        </p:nvSpPr>
        <p:spPr>
          <a:xfrm>
            <a:off x="685800" y="2962656"/>
            <a:ext cx="2430703" cy="28575"/>
          </a:xfrm>
          <a:prstGeom prst="rect">
            <a:avLst/>
          </a:prstGeom>
          <a:solidFill>
            <a:srgbClr val="00B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3383280"/>
            <a:ext cx="2430703" cy="475488"/>
          </a:xfrm>
          <a:prstGeom prst="rect">
            <a:avLst/>
          </a:prstGeom>
          <a:noFill/>
        </p:spPr>
        <p:txBody>
          <a:bodyPr wrap="square" lIns="0" rIns="0" tIns="0" bIns="0" anchor="t">
            <a:spAutoFit/>
          </a:bodyPr>
          <a:lstStyle/>
          <a:p>
            <a:pPr>
              <a:lnSpc>
                <a:spcPct val="118000"/>
              </a:lnSpc>
              <a:spcBef>
                <a:spcPts val="0"/>
              </a:spcBef>
              <a:spcAft>
                <a:spcPts val="0"/>
              </a:spcAft>
            </a:pPr>
            <a:r>
              <a:rPr sz="1300" b="1" i="0">
                <a:solidFill>
                  <a:srgbClr val="002970"/>
                </a:solidFill>
                <a:latin typeface="Helvetica Neue"/>
              </a:rPr>
              <a:t>What we charge</a:t>
            </a:r>
          </a:p>
        </p:txBody>
      </p:sp>
      <p:sp>
        <p:nvSpPr>
          <p:cNvPr id="8" name="TextBox 7"/>
          <p:cNvSpPr txBox="1"/>
          <p:nvPr/>
        </p:nvSpPr>
        <p:spPr>
          <a:xfrm>
            <a:off x="685800" y="3877056"/>
            <a:ext cx="2430703" cy="2286000"/>
          </a:xfrm>
          <a:prstGeom prst="rect">
            <a:avLst/>
          </a:prstGeom>
          <a:noFill/>
        </p:spPr>
        <p:txBody>
          <a:bodyPr wrap="square" lIns="0" rIns="0" tIns="0" bIns="0" anchor="t">
            <a:spAutoFit/>
          </a:bodyPr>
          <a:lstStyle/>
          <a:p>
            <a:pPr>
              <a:lnSpc>
                <a:spcPct val="142000"/>
              </a:lnSpc>
              <a:spcBef>
                <a:spcPts val="0"/>
              </a:spcBef>
              <a:spcAft>
                <a:spcPts val="700"/>
              </a:spcAft>
            </a:pPr>
            <a:r>
              <a:rPr sz="1160" b="0" i="0">
                <a:solidFill>
                  <a:srgbClr val="1A1F2B"/>
                </a:solidFill>
                <a:latin typeface="Helvetica Neue"/>
              </a:rPr>
              <a:t>Nothing. Not the shopkeeper, not the customer, and — critically — nothing on the reminder itself.</a:t>
            </a:r>
          </a:p>
          <a:p>
            <a:pPr>
              <a:lnSpc>
                <a:spcPct val="142000"/>
              </a:lnSpc>
              <a:spcBef>
                <a:spcPts val="0"/>
              </a:spcBef>
              <a:spcAft>
                <a:spcPts val="700"/>
              </a:spcAft>
            </a:pPr>
            <a:r>
              <a:rPr sz="1160" b="0" i="0">
                <a:solidFill>
                  <a:srgbClr val="1A1F2B"/>
                </a:solidFill>
                <a:latin typeface="Helvetica Neue"/>
              </a:rPr>
              <a:t>That last one is a legal constraint, not generosity. See rule four.</a:t>
            </a:r>
          </a:p>
        </p:txBody>
      </p:sp>
      <p:sp>
        <p:nvSpPr>
          <p:cNvPr id="9" name="Rectangle 8"/>
          <p:cNvSpPr/>
          <p:nvPr/>
        </p:nvSpPr>
        <p:spPr>
          <a:xfrm>
            <a:off x="3482263" y="2962656"/>
            <a:ext cx="2430703" cy="28575"/>
          </a:xfrm>
          <a:prstGeom prst="rect">
            <a:avLst/>
          </a:prstGeom>
          <a:solidFill>
            <a:srgbClr val="00B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82263" y="3383280"/>
            <a:ext cx="2430703" cy="475488"/>
          </a:xfrm>
          <a:prstGeom prst="rect">
            <a:avLst/>
          </a:prstGeom>
          <a:noFill/>
        </p:spPr>
        <p:txBody>
          <a:bodyPr wrap="square" lIns="0" rIns="0" tIns="0" bIns="0" anchor="t">
            <a:spAutoFit/>
          </a:bodyPr>
          <a:lstStyle/>
          <a:p>
            <a:pPr>
              <a:lnSpc>
                <a:spcPct val="118000"/>
              </a:lnSpc>
              <a:spcBef>
                <a:spcPts val="0"/>
              </a:spcBef>
              <a:spcAft>
                <a:spcPts val="0"/>
              </a:spcAft>
            </a:pPr>
            <a:r>
              <a:rPr sz="1300" b="1" i="0">
                <a:solidFill>
                  <a:srgbClr val="002970"/>
                </a:solidFill>
                <a:latin typeface="Helvetica Neue"/>
              </a:rPr>
              <a:t>Where the money is</a:t>
            </a:r>
          </a:p>
        </p:txBody>
      </p:sp>
      <p:sp>
        <p:nvSpPr>
          <p:cNvPr id="11" name="TextBox 10"/>
          <p:cNvSpPr txBox="1"/>
          <p:nvPr/>
        </p:nvSpPr>
        <p:spPr>
          <a:xfrm>
            <a:off x="3482263" y="3877056"/>
            <a:ext cx="2430703" cy="2286000"/>
          </a:xfrm>
          <a:prstGeom prst="rect">
            <a:avLst/>
          </a:prstGeom>
          <a:noFill/>
        </p:spPr>
        <p:txBody>
          <a:bodyPr wrap="square" lIns="0" rIns="0" tIns="0" bIns="0" anchor="t">
            <a:spAutoFit/>
          </a:bodyPr>
          <a:lstStyle/>
          <a:p>
            <a:pPr>
              <a:lnSpc>
                <a:spcPct val="142000"/>
              </a:lnSpc>
              <a:spcBef>
                <a:spcPts val="0"/>
              </a:spcBef>
              <a:spcAft>
                <a:spcPts val="700"/>
              </a:spcAft>
            </a:pPr>
            <a:r>
              <a:rPr sz="1160" b="0" i="0">
                <a:solidFill>
                  <a:srgbClr val="1A1F2B"/>
                </a:solidFill>
                <a:latin typeface="Helvetica Neue"/>
              </a:rPr>
              <a:t>Udhaar is settled in cash today — one of the largest pools of payment volume that has never touched a rail.</a:t>
            </a:r>
          </a:p>
          <a:p>
            <a:pPr>
              <a:lnSpc>
                <a:spcPct val="142000"/>
              </a:lnSpc>
              <a:spcBef>
                <a:spcPts val="0"/>
              </a:spcBef>
              <a:spcAft>
                <a:spcPts val="700"/>
              </a:spcAft>
            </a:pPr>
            <a:r>
              <a:rPr sz="1160" b="0" i="0">
                <a:solidFill>
                  <a:srgbClr val="1A1F2B"/>
                </a:solidFill>
                <a:latin typeface="Helvetica Neue"/>
              </a:rPr>
              <a:t>Every entry cleared in-app is incremental UPI volume and MDR on transactions Paytm does not see at all today.</a:t>
            </a:r>
          </a:p>
        </p:txBody>
      </p:sp>
      <p:sp>
        <p:nvSpPr>
          <p:cNvPr id="12" name="Rectangle 11"/>
          <p:cNvSpPr/>
          <p:nvPr/>
        </p:nvSpPr>
        <p:spPr>
          <a:xfrm>
            <a:off x="6278726" y="2962656"/>
            <a:ext cx="2430703" cy="28575"/>
          </a:xfrm>
          <a:prstGeom prst="rect">
            <a:avLst/>
          </a:prstGeom>
          <a:solidFill>
            <a:srgbClr val="00B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78726" y="3383280"/>
            <a:ext cx="2430703" cy="475488"/>
          </a:xfrm>
          <a:prstGeom prst="rect">
            <a:avLst/>
          </a:prstGeom>
          <a:noFill/>
        </p:spPr>
        <p:txBody>
          <a:bodyPr wrap="square" lIns="0" rIns="0" tIns="0" bIns="0" anchor="t">
            <a:spAutoFit/>
          </a:bodyPr>
          <a:lstStyle/>
          <a:p>
            <a:pPr>
              <a:lnSpc>
                <a:spcPct val="118000"/>
              </a:lnSpc>
              <a:spcBef>
                <a:spcPts val="0"/>
              </a:spcBef>
              <a:spcAft>
                <a:spcPts val="0"/>
              </a:spcAft>
            </a:pPr>
            <a:r>
              <a:rPr sz="1300" b="1" i="0">
                <a:solidFill>
                  <a:srgbClr val="002970"/>
                </a:solidFill>
                <a:latin typeface="Helvetica Neue"/>
              </a:rPr>
              <a:t>What it defends</a:t>
            </a:r>
          </a:p>
        </p:txBody>
      </p:sp>
      <p:sp>
        <p:nvSpPr>
          <p:cNvPr id="14" name="TextBox 13"/>
          <p:cNvSpPr txBox="1"/>
          <p:nvPr/>
        </p:nvSpPr>
        <p:spPr>
          <a:xfrm>
            <a:off x="6278726" y="3877056"/>
            <a:ext cx="2430703" cy="2286000"/>
          </a:xfrm>
          <a:prstGeom prst="rect">
            <a:avLst/>
          </a:prstGeom>
          <a:noFill/>
        </p:spPr>
        <p:txBody>
          <a:bodyPr wrap="square" lIns="0" rIns="0" tIns="0" bIns="0" anchor="t">
            <a:spAutoFit/>
          </a:bodyPr>
          <a:lstStyle/>
          <a:p>
            <a:pPr>
              <a:lnSpc>
                <a:spcPct val="142000"/>
              </a:lnSpc>
              <a:spcBef>
                <a:spcPts val="0"/>
              </a:spcBef>
              <a:spcAft>
                <a:spcPts val="700"/>
              </a:spcAft>
            </a:pPr>
            <a:r>
              <a:rPr sz="1160" b="0" i="0">
                <a:solidFill>
                  <a:srgbClr val="1A1F2B"/>
                </a:solidFill>
                <a:latin typeface="Helvetica Neue"/>
              </a:rPr>
              <a:t>Soundbox subscription retention. The device stops being a payment announcer and becomes the place the credit book lives.</a:t>
            </a:r>
          </a:p>
          <a:p>
            <a:pPr>
              <a:lnSpc>
                <a:spcPct val="142000"/>
              </a:lnSpc>
              <a:spcBef>
                <a:spcPts val="0"/>
              </a:spcBef>
              <a:spcAft>
                <a:spcPts val="700"/>
              </a:spcAft>
            </a:pPr>
            <a:r>
              <a:rPr sz="1160" b="0" i="0">
                <a:solidFill>
                  <a:srgbClr val="1A1F2B"/>
                </a:solidFill>
                <a:latin typeface="Helvetica Neue"/>
              </a:rPr>
              <a:t>That is the line Paytm already sells, and churn on it is the metric this moves.</a:t>
            </a:r>
          </a:p>
        </p:txBody>
      </p:sp>
      <p:sp>
        <p:nvSpPr>
          <p:cNvPr id="15" name="Rectangle 14"/>
          <p:cNvSpPr/>
          <p:nvPr/>
        </p:nvSpPr>
        <p:spPr>
          <a:xfrm>
            <a:off x="9075189" y="2962656"/>
            <a:ext cx="2430703" cy="28575"/>
          </a:xfrm>
          <a:prstGeom prst="rect">
            <a:avLst/>
          </a:prstGeom>
          <a:solidFill>
            <a:srgbClr val="00B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75189" y="3383280"/>
            <a:ext cx="2430703" cy="475488"/>
          </a:xfrm>
          <a:prstGeom prst="rect">
            <a:avLst/>
          </a:prstGeom>
          <a:noFill/>
        </p:spPr>
        <p:txBody>
          <a:bodyPr wrap="square" lIns="0" rIns="0" tIns="0" bIns="0" anchor="t">
            <a:spAutoFit/>
          </a:bodyPr>
          <a:lstStyle/>
          <a:p>
            <a:pPr>
              <a:lnSpc>
                <a:spcPct val="118000"/>
              </a:lnSpc>
              <a:spcBef>
                <a:spcPts val="0"/>
              </a:spcBef>
              <a:spcAft>
                <a:spcPts val="0"/>
              </a:spcAft>
            </a:pPr>
            <a:r>
              <a:rPr sz="1300" b="1" i="0">
                <a:solidFill>
                  <a:srgbClr val="002970"/>
                </a:solidFill>
                <a:latin typeface="Helvetica Neue"/>
              </a:rPr>
              <a:t>What it unlocks later</a:t>
            </a:r>
          </a:p>
        </p:txBody>
      </p:sp>
      <p:sp>
        <p:nvSpPr>
          <p:cNvPr id="17" name="TextBox 16"/>
          <p:cNvSpPr txBox="1"/>
          <p:nvPr/>
        </p:nvSpPr>
        <p:spPr>
          <a:xfrm>
            <a:off x="9075189" y="3877056"/>
            <a:ext cx="2430703" cy="2286000"/>
          </a:xfrm>
          <a:prstGeom prst="rect">
            <a:avLst/>
          </a:prstGeom>
          <a:noFill/>
        </p:spPr>
        <p:txBody>
          <a:bodyPr wrap="square" lIns="0" rIns="0" tIns="0" bIns="0" anchor="t">
            <a:spAutoFit/>
          </a:bodyPr>
          <a:lstStyle/>
          <a:p>
            <a:pPr>
              <a:lnSpc>
                <a:spcPct val="142000"/>
              </a:lnSpc>
              <a:spcBef>
                <a:spcPts val="0"/>
              </a:spcBef>
              <a:spcAft>
                <a:spcPts val="700"/>
              </a:spcAft>
            </a:pPr>
            <a:r>
              <a:rPr sz="1160" b="0" i="0">
                <a:solidFill>
                  <a:srgbClr val="1A1F2B"/>
                </a:solidFill>
                <a:latin typeface="Helvetica Neue"/>
              </a:rPr>
              <a:t>A repayment record for people with no bureau file.</a:t>
            </a:r>
          </a:p>
          <a:p>
            <a:pPr>
              <a:lnSpc>
                <a:spcPct val="142000"/>
              </a:lnSpc>
              <a:spcBef>
                <a:spcPts val="0"/>
              </a:spcBef>
              <a:spcAft>
                <a:spcPts val="700"/>
              </a:spcAft>
            </a:pPr>
            <a:r>
              <a:rPr sz="1160" b="0" i="0">
                <a:solidFill>
                  <a:srgbClr val="1A1F2B"/>
                </a:solidFill>
                <a:latin typeface="Helvetica Neue"/>
              </a:rPr>
              <a:t>Deliberately later, and deliberately not by us lending. Recording is outside CICRA; financing is not.</a:t>
            </a:r>
          </a:p>
        </p:txBody>
      </p:sp>
      <p:sp>
        <p:nvSpPr>
          <p:cNvPr id="18" name="TextBox 17"/>
          <p:cNvSpPr txBox="1"/>
          <p:nvPr/>
        </p:nvSpPr>
        <p:spPr>
          <a:xfrm>
            <a:off x="685800" y="6291072"/>
            <a:ext cx="10820095" cy="274320"/>
          </a:xfrm>
          <a:prstGeom prst="rect">
            <a:avLst/>
          </a:prstGeom>
          <a:noFill/>
        </p:spPr>
        <p:txBody>
          <a:bodyPr wrap="square" lIns="0" rIns="0" tIns="0" bIns="0" anchor="t">
            <a:spAutoFit/>
          </a:bodyPr>
          <a:lstStyle/>
          <a:p>
            <a:pPr>
              <a:lnSpc>
                <a:spcPct val="130000"/>
              </a:lnSpc>
              <a:spcBef>
                <a:spcPts val="0"/>
              </a:spcBef>
              <a:spcAft>
                <a:spcPts val="0"/>
              </a:spcAft>
            </a:pPr>
            <a:r>
              <a:rPr sz="900" b="0" i="0">
                <a:solidFill>
                  <a:srgbClr val="646E7E"/>
                </a:solidFill>
                <a:latin typeface="Helvetica Neue"/>
              </a:rPr>
              <a:t>Khatabook raised $187M, was last valued at $600M in August 2021, and has not raised since. The ledger has never been the business.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75488"/>
            <a:ext cx="10820095" cy="237744"/>
          </a:xfrm>
          <a:prstGeom prst="rect">
            <a:avLst/>
          </a:prstGeom>
          <a:noFill/>
        </p:spPr>
        <p:txBody>
          <a:bodyPr wrap="square" lIns="0" rIns="0" tIns="0" bIns="0" anchor="t">
            <a:spAutoFit/>
          </a:bodyPr>
          <a:lstStyle/>
          <a:p>
            <a:pPr>
              <a:lnSpc>
                <a:spcPct val="140000"/>
              </a:lnSpc>
              <a:spcBef>
                <a:spcPts val="0"/>
              </a:spcBef>
              <a:spcAft>
                <a:spcPts val="0"/>
              </a:spcAft>
            </a:pPr>
            <a:r>
              <a:rPr sz="1000" b="1" i="0" spc="120">
                <a:solidFill>
                  <a:srgbClr val="646E7E"/>
                </a:solidFill>
                <a:latin typeface="Helvetica Neue"/>
              </a:rPr>
              <a:t>HOW WE DESIGNED IT — FOUR RULES FROM FOUR STATUTES</a:t>
            </a:r>
          </a:p>
        </p:txBody>
      </p:sp>
      <p:sp>
        <p:nvSpPr>
          <p:cNvPr id="4" name="TextBox 3"/>
          <p:cNvSpPr txBox="1"/>
          <p:nvPr/>
        </p:nvSpPr>
        <p:spPr>
          <a:xfrm>
            <a:off x="685800" y="804672"/>
            <a:ext cx="10820095" cy="1042415"/>
          </a:xfrm>
          <a:prstGeom prst="rect">
            <a:avLst/>
          </a:prstGeom>
          <a:noFill/>
        </p:spPr>
        <p:txBody>
          <a:bodyPr wrap="square" lIns="0" rIns="0" tIns="0" bIns="0" anchor="t">
            <a:spAutoFit/>
          </a:bodyPr>
          <a:lstStyle/>
          <a:p>
            <a:pPr>
              <a:lnSpc>
                <a:spcPct val="108000"/>
              </a:lnSpc>
              <a:spcBef>
                <a:spcPts val="0"/>
              </a:spcBef>
              <a:spcAft>
                <a:spcPts val="0"/>
              </a:spcAft>
            </a:pPr>
            <a:r>
              <a:rPr sz="3200" b="0" i="0">
                <a:solidFill>
                  <a:srgbClr val="002970"/>
                </a:solidFill>
                <a:latin typeface="Georgia"/>
              </a:rPr>
              <a:t>Recording a debt is easy.</a:t>
            </a:r>
            <a:br/>
            <a:r>
              <a:rPr sz="3200" b="0" i="0">
                <a:solidFill>
                  <a:srgbClr val="002970"/>
                </a:solidFill>
                <a:latin typeface="Georgia"/>
              </a:rPr>
              <a:t>Recording it safely is the product.</a:t>
            </a:r>
          </a:p>
        </p:txBody>
      </p:sp>
      <p:sp>
        <p:nvSpPr>
          <p:cNvPr id="5" name="TextBox 4"/>
          <p:cNvSpPr txBox="1"/>
          <p:nvPr/>
        </p:nvSpPr>
        <p:spPr>
          <a:xfrm>
            <a:off x="685800" y="1938528"/>
            <a:ext cx="9692640" cy="841248"/>
          </a:xfrm>
          <a:prstGeom prst="rect">
            <a:avLst/>
          </a:prstGeom>
          <a:noFill/>
        </p:spPr>
        <p:txBody>
          <a:bodyPr wrap="square" lIns="0" rIns="0" tIns="0" bIns="0" anchor="t">
            <a:spAutoFit/>
          </a:bodyPr>
          <a:lstStyle/>
          <a:p>
            <a:pPr>
              <a:lnSpc>
                <a:spcPct val="142000"/>
              </a:lnSpc>
              <a:spcBef>
                <a:spcPts val="0"/>
              </a:spcBef>
              <a:spcAft>
                <a:spcPts val="0"/>
              </a:spcAft>
            </a:pPr>
            <a:r>
              <a:rPr sz="1350" b="0" i="0">
                <a:solidFill>
                  <a:srgbClr val="646E7E"/>
                </a:solidFill>
                <a:latin typeface="Helvetica Neue"/>
              </a:rPr>
              <a:t>Every product in this category walks into the same four Indian statutes. We read them first, and each one became a single implementation constraint rather than a disclaimer.</a:t>
            </a:r>
          </a:p>
        </p:txBody>
      </p:sp>
      <p:sp>
        <p:nvSpPr>
          <p:cNvPr id="6" name="Rectangle 5"/>
          <p:cNvSpPr/>
          <p:nvPr/>
        </p:nvSpPr>
        <p:spPr>
          <a:xfrm>
            <a:off x="685800" y="2962656"/>
            <a:ext cx="2430703" cy="28575"/>
          </a:xfrm>
          <a:prstGeom prst="rect">
            <a:avLst/>
          </a:prstGeom>
          <a:solidFill>
            <a:srgbClr val="00B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3108960"/>
            <a:ext cx="2430703" cy="219456"/>
          </a:xfrm>
          <a:prstGeom prst="rect">
            <a:avLst/>
          </a:prstGeom>
          <a:noFill/>
        </p:spPr>
        <p:txBody>
          <a:bodyPr wrap="square" lIns="0" rIns="0" tIns="0" bIns="0" anchor="t">
            <a:spAutoFit/>
          </a:bodyPr>
          <a:lstStyle/>
          <a:p>
            <a:pPr>
              <a:lnSpc>
                <a:spcPct val="140000"/>
              </a:lnSpc>
              <a:spcBef>
                <a:spcPts val="0"/>
              </a:spcBef>
              <a:spcAft>
                <a:spcPts val="0"/>
              </a:spcAft>
            </a:pPr>
            <a:r>
              <a:rPr sz="950" b="1" i="0" spc="80">
                <a:solidFill>
                  <a:srgbClr val="0077A8"/>
                </a:solidFill>
                <a:latin typeface="Menlo"/>
              </a:rPr>
              <a:t>RULE 1</a:t>
            </a:r>
          </a:p>
        </p:txBody>
      </p:sp>
      <p:sp>
        <p:nvSpPr>
          <p:cNvPr id="8" name="TextBox 7"/>
          <p:cNvSpPr txBox="1"/>
          <p:nvPr/>
        </p:nvSpPr>
        <p:spPr>
          <a:xfrm>
            <a:off x="685800" y="3383280"/>
            <a:ext cx="2430703" cy="475488"/>
          </a:xfrm>
          <a:prstGeom prst="rect">
            <a:avLst/>
          </a:prstGeom>
          <a:noFill/>
        </p:spPr>
        <p:txBody>
          <a:bodyPr wrap="square" lIns="0" rIns="0" tIns="0" bIns="0" anchor="t">
            <a:spAutoFit/>
          </a:bodyPr>
          <a:lstStyle/>
          <a:p>
            <a:pPr>
              <a:lnSpc>
                <a:spcPct val="118000"/>
              </a:lnSpc>
              <a:spcBef>
                <a:spcPts val="0"/>
              </a:spcBef>
              <a:spcAft>
                <a:spcPts val="0"/>
              </a:spcAft>
            </a:pPr>
            <a:r>
              <a:rPr sz="1300" b="1" i="0">
                <a:solidFill>
                  <a:srgbClr val="002970"/>
                </a:solidFill>
                <a:latin typeface="Helvetica Neue"/>
              </a:rPr>
              <a:t>Acknowledge, never promise</a:t>
            </a:r>
          </a:p>
        </p:txBody>
      </p:sp>
      <p:sp>
        <p:nvSpPr>
          <p:cNvPr id="9" name="TextBox 8"/>
          <p:cNvSpPr txBox="1"/>
          <p:nvPr/>
        </p:nvSpPr>
        <p:spPr>
          <a:xfrm>
            <a:off x="685800" y="3877056"/>
            <a:ext cx="2430703" cy="2286000"/>
          </a:xfrm>
          <a:prstGeom prst="rect">
            <a:avLst/>
          </a:prstGeom>
          <a:noFill/>
        </p:spPr>
        <p:txBody>
          <a:bodyPr wrap="square" lIns="0" rIns="0" tIns="0" bIns="0" anchor="t">
            <a:spAutoFit/>
          </a:bodyPr>
          <a:lstStyle/>
          <a:p>
            <a:pPr>
              <a:lnSpc>
                <a:spcPct val="142000"/>
              </a:lnSpc>
              <a:spcBef>
                <a:spcPts val="0"/>
              </a:spcBef>
              <a:spcAft>
                <a:spcPts val="700"/>
              </a:spcAft>
            </a:pPr>
            <a:r>
              <a:rPr sz="1100" b="0" i="0">
                <a:solidFill>
                  <a:srgbClr val="1A1F2B"/>
                </a:solidFill>
                <a:latin typeface="Helvetica Neue"/>
              </a:rPr>
              <a:t>The button says “I owe ₹200”. It must never say “I will pay by Friday”.</a:t>
            </a:r>
          </a:p>
          <a:p>
            <a:pPr>
              <a:lnSpc>
                <a:spcPct val="142000"/>
              </a:lnSpc>
              <a:spcBef>
                <a:spcPts val="0"/>
              </a:spcBef>
              <a:spcAft>
                <a:spcPts val="700"/>
              </a:spcAft>
            </a:pPr>
            <a:r>
              <a:rPr sz="1100" b="0" i="0">
                <a:solidFill>
                  <a:srgbClr val="1A1F2B"/>
                </a:solidFill>
                <a:latin typeface="Helvetica Neue"/>
              </a:rPr>
              <a:t>An acknowledgment is recognised electronically under IT Act s.4. A promise to pay a fixed sum is a demand promissory note — a negotiable instrument, First Schedule entry 1, which sits outside the IT Act entirely.</a:t>
            </a:r>
          </a:p>
          <a:p>
            <a:pPr>
              <a:lnSpc>
                <a:spcPct val="142000"/>
              </a:lnSpc>
              <a:spcBef>
                <a:spcPts val="0"/>
              </a:spcBef>
              <a:spcAft>
                <a:spcPts val="700"/>
              </a:spcAft>
            </a:pPr>
            <a:r>
              <a:rPr sz="1100" b="0" i="0">
                <a:solidFill>
                  <a:srgbClr val="1A1F2B"/>
                </a:solidFill>
                <a:latin typeface="Helvetica Neue"/>
              </a:rPr>
              <a:t>One word in one button decides which statute governs the product.</a:t>
            </a:r>
          </a:p>
        </p:txBody>
      </p:sp>
      <p:sp>
        <p:nvSpPr>
          <p:cNvPr id="10" name="Rectangle 9"/>
          <p:cNvSpPr/>
          <p:nvPr/>
        </p:nvSpPr>
        <p:spPr>
          <a:xfrm>
            <a:off x="3482263" y="2962656"/>
            <a:ext cx="2430703" cy="28575"/>
          </a:xfrm>
          <a:prstGeom prst="rect">
            <a:avLst/>
          </a:prstGeom>
          <a:solidFill>
            <a:srgbClr val="00B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82263" y="3108960"/>
            <a:ext cx="2430703" cy="219456"/>
          </a:xfrm>
          <a:prstGeom prst="rect">
            <a:avLst/>
          </a:prstGeom>
          <a:noFill/>
        </p:spPr>
        <p:txBody>
          <a:bodyPr wrap="square" lIns="0" rIns="0" tIns="0" bIns="0" anchor="t">
            <a:spAutoFit/>
          </a:bodyPr>
          <a:lstStyle/>
          <a:p>
            <a:pPr>
              <a:lnSpc>
                <a:spcPct val="140000"/>
              </a:lnSpc>
              <a:spcBef>
                <a:spcPts val="0"/>
              </a:spcBef>
              <a:spcAft>
                <a:spcPts val="0"/>
              </a:spcAft>
            </a:pPr>
            <a:r>
              <a:rPr sz="950" b="1" i="0" spc="80">
                <a:solidFill>
                  <a:srgbClr val="0077A8"/>
                </a:solidFill>
                <a:latin typeface="Menlo"/>
              </a:rPr>
              <a:t>RULE 2</a:t>
            </a:r>
          </a:p>
        </p:txBody>
      </p:sp>
      <p:sp>
        <p:nvSpPr>
          <p:cNvPr id="12" name="TextBox 11"/>
          <p:cNvSpPr txBox="1"/>
          <p:nvPr/>
        </p:nvSpPr>
        <p:spPr>
          <a:xfrm>
            <a:off x="3482263" y="3383280"/>
            <a:ext cx="2430703" cy="475488"/>
          </a:xfrm>
          <a:prstGeom prst="rect">
            <a:avLst/>
          </a:prstGeom>
          <a:noFill/>
        </p:spPr>
        <p:txBody>
          <a:bodyPr wrap="square" lIns="0" rIns="0" tIns="0" bIns="0" anchor="t">
            <a:spAutoFit/>
          </a:bodyPr>
          <a:lstStyle/>
          <a:p>
            <a:pPr>
              <a:lnSpc>
                <a:spcPct val="118000"/>
              </a:lnSpc>
              <a:spcBef>
                <a:spcPts val="0"/>
              </a:spcBef>
              <a:spcAft>
                <a:spcPts val="0"/>
              </a:spcAft>
            </a:pPr>
            <a:r>
              <a:rPr sz="1300" b="1" i="0">
                <a:solidFill>
                  <a:srgbClr val="002970"/>
                </a:solidFill>
                <a:latin typeface="Helvetica Neue"/>
              </a:rPr>
              <a:t>Never a rupee above the price</a:t>
            </a:r>
          </a:p>
        </p:txBody>
      </p:sp>
      <p:sp>
        <p:nvSpPr>
          <p:cNvPr id="13" name="TextBox 12"/>
          <p:cNvSpPr txBox="1"/>
          <p:nvPr/>
        </p:nvSpPr>
        <p:spPr>
          <a:xfrm>
            <a:off x="3482263" y="3877056"/>
            <a:ext cx="2430703" cy="2286000"/>
          </a:xfrm>
          <a:prstGeom prst="rect">
            <a:avLst/>
          </a:prstGeom>
          <a:noFill/>
        </p:spPr>
        <p:txBody>
          <a:bodyPr wrap="square" lIns="0" rIns="0" tIns="0" bIns="0" anchor="t">
            <a:spAutoFit/>
          </a:bodyPr>
          <a:lstStyle/>
          <a:p>
            <a:pPr>
              <a:lnSpc>
                <a:spcPct val="142000"/>
              </a:lnSpc>
              <a:spcBef>
                <a:spcPts val="0"/>
              </a:spcBef>
              <a:spcAft>
                <a:spcPts val="700"/>
              </a:spcAft>
            </a:pPr>
            <a:r>
              <a:rPr sz="1100" b="0" i="0">
                <a:solidFill>
                  <a:srgbClr val="1A1F2B"/>
                </a:solidFill>
                <a:latin typeface="Helvetica Neue"/>
              </a:rPr>
              <a:t>No late fee, no convenience charge, no interest.</a:t>
            </a:r>
          </a:p>
          <a:p>
            <a:pPr>
              <a:lnSpc>
                <a:spcPct val="142000"/>
              </a:lnSpc>
              <a:spcBef>
                <a:spcPts val="0"/>
              </a:spcBef>
              <a:spcAft>
                <a:spcPts val="700"/>
              </a:spcAft>
            </a:pPr>
            <a:r>
              <a:rPr sz="1100" b="0" i="0">
                <a:solidFill>
                  <a:srgbClr val="1A1F2B"/>
                </a:solidFill>
                <a:latin typeface="Helvetica Neue"/>
              </a:rPr>
              <a:t>All four state Money-Lenders Acts define a loan as an advance “at interest”, of money or in kind. Maharashtra catches “any sum, by whatsoever name called, in excess of the principal”.</a:t>
            </a:r>
          </a:p>
          <a:p>
            <a:pPr>
              <a:lnSpc>
                <a:spcPct val="142000"/>
              </a:lnSpc>
              <a:spcBef>
                <a:spcPts val="0"/>
              </a:spcBef>
              <a:spcAft>
                <a:spcPts val="700"/>
              </a:spcAft>
            </a:pPr>
            <a:r>
              <a:rPr sz="1100" b="0" i="0">
                <a:solidFill>
                  <a:srgbClr val="1A1F2B"/>
                </a:solidFill>
                <a:latin typeface="Helvetica Neue"/>
              </a:rPr>
              <a:t>One ₹10 late fee makes the shopkeeper an unlicensed money-lender in Karnataka and Delhi.</a:t>
            </a:r>
          </a:p>
        </p:txBody>
      </p:sp>
      <p:sp>
        <p:nvSpPr>
          <p:cNvPr id="14" name="Rectangle 13"/>
          <p:cNvSpPr/>
          <p:nvPr/>
        </p:nvSpPr>
        <p:spPr>
          <a:xfrm>
            <a:off x="6278726" y="2962656"/>
            <a:ext cx="2430703" cy="28575"/>
          </a:xfrm>
          <a:prstGeom prst="rect">
            <a:avLst/>
          </a:prstGeom>
          <a:solidFill>
            <a:srgbClr val="00B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78726" y="3108960"/>
            <a:ext cx="2430703" cy="219456"/>
          </a:xfrm>
          <a:prstGeom prst="rect">
            <a:avLst/>
          </a:prstGeom>
          <a:noFill/>
        </p:spPr>
        <p:txBody>
          <a:bodyPr wrap="square" lIns="0" rIns="0" tIns="0" bIns="0" anchor="t">
            <a:spAutoFit/>
          </a:bodyPr>
          <a:lstStyle/>
          <a:p>
            <a:pPr>
              <a:lnSpc>
                <a:spcPct val="140000"/>
              </a:lnSpc>
              <a:spcBef>
                <a:spcPts val="0"/>
              </a:spcBef>
              <a:spcAft>
                <a:spcPts val="0"/>
              </a:spcAft>
            </a:pPr>
            <a:r>
              <a:rPr sz="950" b="1" i="0" spc="80">
                <a:solidFill>
                  <a:srgbClr val="0077A8"/>
                </a:solidFill>
                <a:latin typeface="Menlo"/>
              </a:rPr>
              <a:t>RULE 3</a:t>
            </a:r>
          </a:p>
        </p:txBody>
      </p:sp>
      <p:sp>
        <p:nvSpPr>
          <p:cNvPr id="16" name="TextBox 15"/>
          <p:cNvSpPr txBox="1"/>
          <p:nvPr/>
        </p:nvSpPr>
        <p:spPr>
          <a:xfrm>
            <a:off x="6278726" y="3383280"/>
            <a:ext cx="2430703" cy="475488"/>
          </a:xfrm>
          <a:prstGeom prst="rect">
            <a:avLst/>
          </a:prstGeom>
          <a:noFill/>
        </p:spPr>
        <p:txBody>
          <a:bodyPr wrap="square" lIns="0" rIns="0" tIns="0" bIns="0" anchor="t">
            <a:spAutoFit/>
          </a:bodyPr>
          <a:lstStyle/>
          <a:p>
            <a:pPr>
              <a:lnSpc>
                <a:spcPct val="118000"/>
              </a:lnSpc>
              <a:spcBef>
                <a:spcPts val="0"/>
              </a:spcBef>
              <a:spcAft>
                <a:spcPts val="0"/>
              </a:spcAft>
            </a:pPr>
            <a:r>
              <a:rPr sz="1300" b="1" i="0">
                <a:solidFill>
                  <a:srgbClr val="002970"/>
                </a:solidFill>
                <a:latin typeface="Helvetica Neue"/>
              </a:rPr>
              <a:t>Let debts die</a:t>
            </a:r>
          </a:p>
        </p:txBody>
      </p:sp>
      <p:sp>
        <p:nvSpPr>
          <p:cNvPr id="17" name="TextBox 16"/>
          <p:cNvSpPr txBox="1"/>
          <p:nvPr/>
        </p:nvSpPr>
        <p:spPr>
          <a:xfrm>
            <a:off x="6278726" y="3877056"/>
            <a:ext cx="2430703" cy="2286000"/>
          </a:xfrm>
          <a:prstGeom prst="rect">
            <a:avLst/>
          </a:prstGeom>
          <a:noFill/>
        </p:spPr>
        <p:txBody>
          <a:bodyPr wrap="square" lIns="0" rIns="0" tIns="0" bIns="0" anchor="t">
            <a:spAutoFit/>
          </a:bodyPr>
          <a:lstStyle/>
          <a:p>
            <a:pPr>
              <a:lnSpc>
                <a:spcPct val="142000"/>
              </a:lnSpc>
              <a:spcBef>
                <a:spcPts val="0"/>
              </a:spcBef>
              <a:spcAft>
                <a:spcPts val="700"/>
              </a:spcAft>
            </a:pPr>
            <a:r>
              <a:rPr sz="1100" b="0" i="0">
                <a:solidFill>
                  <a:srgbClr val="1A1F2B"/>
                </a:solidFill>
                <a:latin typeface="Helvetica Neue"/>
              </a:rPr>
              <a:t>Limitation Act s.18: every acknowledgment restarts a fresh three years, with no cap on restarts.</a:t>
            </a:r>
          </a:p>
          <a:p>
            <a:pPr>
              <a:lnSpc>
                <a:spcPct val="142000"/>
              </a:lnSpc>
              <a:spcBef>
                <a:spcPts val="0"/>
              </a:spcBef>
              <a:spcAft>
                <a:spcPts val="700"/>
              </a:spcAft>
            </a:pPr>
            <a:r>
              <a:rPr sz="1100" b="0" i="0">
                <a:solidFill>
                  <a:srgbClr val="1A1F2B"/>
                </a:solidFill>
                <a:latin typeface="Helvetica Neue"/>
              </a:rPr>
              <a:t>An app that keeps prompting turns a ₹200 debt from 2023 into one that is legally immortal. The paper diary let it die.</a:t>
            </a:r>
          </a:p>
          <a:p>
            <a:pPr>
              <a:lnSpc>
                <a:spcPct val="142000"/>
              </a:lnSpc>
              <a:spcBef>
                <a:spcPts val="0"/>
              </a:spcBef>
              <a:spcAft>
                <a:spcPts val="700"/>
              </a:spcAft>
            </a:pPr>
            <a:r>
              <a:rPr sz="1100" b="0" i="0">
                <a:solidFill>
                  <a:srgbClr val="1A1F2B"/>
                </a:solidFill>
                <a:latin typeface="Helvetica Neue"/>
              </a:rPr>
              <a:t>We stop prompting before the clock runs out, and tell both sides when an entry has expired.</a:t>
            </a:r>
          </a:p>
        </p:txBody>
      </p:sp>
      <p:sp>
        <p:nvSpPr>
          <p:cNvPr id="18" name="Rectangle 17"/>
          <p:cNvSpPr/>
          <p:nvPr/>
        </p:nvSpPr>
        <p:spPr>
          <a:xfrm>
            <a:off x="9075189" y="2962656"/>
            <a:ext cx="2430703" cy="28575"/>
          </a:xfrm>
          <a:prstGeom prst="rect">
            <a:avLst/>
          </a:prstGeom>
          <a:solidFill>
            <a:srgbClr val="00B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75189" y="3108960"/>
            <a:ext cx="2430703" cy="219456"/>
          </a:xfrm>
          <a:prstGeom prst="rect">
            <a:avLst/>
          </a:prstGeom>
          <a:noFill/>
        </p:spPr>
        <p:txBody>
          <a:bodyPr wrap="square" lIns="0" rIns="0" tIns="0" bIns="0" anchor="t">
            <a:spAutoFit/>
          </a:bodyPr>
          <a:lstStyle/>
          <a:p>
            <a:pPr>
              <a:lnSpc>
                <a:spcPct val="140000"/>
              </a:lnSpc>
              <a:spcBef>
                <a:spcPts val="0"/>
              </a:spcBef>
              <a:spcAft>
                <a:spcPts val="0"/>
              </a:spcAft>
            </a:pPr>
            <a:r>
              <a:rPr sz="950" b="1" i="0" spc="80">
                <a:solidFill>
                  <a:srgbClr val="0077A8"/>
                </a:solidFill>
                <a:latin typeface="Menlo"/>
              </a:rPr>
              <a:t>RULE 4</a:t>
            </a:r>
          </a:p>
        </p:txBody>
      </p:sp>
      <p:sp>
        <p:nvSpPr>
          <p:cNvPr id="20" name="TextBox 19"/>
          <p:cNvSpPr txBox="1"/>
          <p:nvPr/>
        </p:nvSpPr>
        <p:spPr>
          <a:xfrm>
            <a:off x="9075189" y="3383280"/>
            <a:ext cx="2430703" cy="475488"/>
          </a:xfrm>
          <a:prstGeom prst="rect">
            <a:avLst/>
          </a:prstGeom>
          <a:noFill/>
        </p:spPr>
        <p:txBody>
          <a:bodyPr wrap="square" lIns="0" rIns="0" tIns="0" bIns="0" anchor="t">
            <a:spAutoFit/>
          </a:bodyPr>
          <a:lstStyle/>
          <a:p>
            <a:pPr>
              <a:lnSpc>
                <a:spcPct val="118000"/>
              </a:lnSpc>
              <a:spcBef>
                <a:spcPts val="0"/>
              </a:spcBef>
              <a:spcAft>
                <a:spcPts val="0"/>
              </a:spcAft>
            </a:pPr>
            <a:r>
              <a:rPr sz="1300" b="1" i="0">
                <a:solidFill>
                  <a:srgbClr val="002970"/>
                </a:solidFill>
                <a:latin typeface="Helvetica Neue"/>
              </a:rPr>
              <a:t>Never monetise the reminder</a:t>
            </a:r>
          </a:p>
        </p:txBody>
      </p:sp>
      <p:sp>
        <p:nvSpPr>
          <p:cNvPr id="21" name="TextBox 20"/>
          <p:cNvSpPr txBox="1"/>
          <p:nvPr/>
        </p:nvSpPr>
        <p:spPr>
          <a:xfrm>
            <a:off x="9075189" y="3877056"/>
            <a:ext cx="2430703" cy="2286000"/>
          </a:xfrm>
          <a:prstGeom prst="rect">
            <a:avLst/>
          </a:prstGeom>
          <a:noFill/>
        </p:spPr>
        <p:txBody>
          <a:bodyPr wrap="square" lIns="0" rIns="0" tIns="0" bIns="0" anchor="t">
            <a:spAutoFit/>
          </a:bodyPr>
          <a:lstStyle/>
          <a:p>
            <a:pPr>
              <a:lnSpc>
                <a:spcPct val="142000"/>
              </a:lnSpc>
              <a:spcBef>
                <a:spcPts val="0"/>
              </a:spcBef>
              <a:spcAft>
                <a:spcPts val="700"/>
              </a:spcAft>
            </a:pPr>
            <a:r>
              <a:rPr sz="1100" b="0" i="0">
                <a:solidFill>
                  <a:srgbClr val="1A1F2B"/>
                </a:solidFill>
                <a:latin typeface="Helvetica Neue"/>
              </a:rPr>
              <a:t>The CCPA’s “nagging” dark pattern needs repetition and commercial gain. A reminder cadence supplies the repetition — so we refuse to supply the gain.</a:t>
            </a:r>
          </a:p>
          <a:p>
            <a:pPr>
              <a:lnSpc>
                <a:spcPct val="142000"/>
              </a:lnSpc>
              <a:spcBef>
                <a:spcPts val="0"/>
              </a:spcBef>
              <a:spcAft>
                <a:spcPts val="700"/>
              </a:spcAft>
            </a:pPr>
            <a:r>
              <a:rPr sz="1100" b="0" i="0">
                <a:solidFill>
                  <a:srgbClr val="1A1F2B"/>
                </a:solidFill>
                <a:latin typeface="Helvetica Neue"/>
              </a:rPr>
              <a:t>And never shame. BNS s.308, Illustration (a): threatening to expose someone unless they pay is extortion. Seven years.</a:t>
            </a:r>
          </a:p>
          <a:p>
            <a:pPr>
              <a:lnSpc>
                <a:spcPct val="142000"/>
              </a:lnSpc>
              <a:spcBef>
                <a:spcPts val="0"/>
              </a:spcBef>
              <a:spcAft>
                <a:spcPts val="700"/>
              </a:spcAft>
            </a:pPr>
            <a:r>
              <a:rPr sz="1100" b="0" i="0">
                <a:solidFill>
                  <a:srgbClr val="1A1F2B"/>
                </a:solidFill>
                <a:latin typeface="Helvetica Neue"/>
              </a:rPr>
              <a:t>That is our competitor’s entire business model.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75488"/>
            <a:ext cx="10820095" cy="237744"/>
          </a:xfrm>
          <a:prstGeom prst="rect">
            <a:avLst/>
          </a:prstGeom>
          <a:noFill/>
        </p:spPr>
        <p:txBody>
          <a:bodyPr wrap="square" lIns="0" rIns="0" tIns="0" bIns="0" anchor="t">
            <a:spAutoFit/>
          </a:bodyPr>
          <a:lstStyle/>
          <a:p>
            <a:pPr>
              <a:lnSpc>
                <a:spcPct val="140000"/>
              </a:lnSpc>
              <a:spcBef>
                <a:spcPts val="0"/>
              </a:spcBef>
              <a:spcAft>
                <a:spcPts val="0"/>
              </a:spcAft>
            </a:pPr>
            <a:r>
              <a:rPr sz="1000" b="1" i="0" spc="120">
                <a:solidFill>
                  <a:srgbClr val="646E7E"/>
                </a:solidFill>
                <a:latin typeface="Helvetica Neue"/>
              </a:rPr>
              <a:t>WHAT RUNS ON 3 OCTOBER</a:t>
            </a:r>
          </a:p>
        </p:txBody>
      </p:sp>
      <p:sp>
        <p:nvSpPr>
          <p:cNvPr id="4" name="TextBox 3"/>
          <p:cNvSpPr txBox="1"/>
          <p:nvPr/>
        </p:nvSpPr>
        <p:spPr>
          <a:xfrm>
            <a:off x="685800" y="804672"/>
            <a:ext cx="10820095" cy="1042415"/>
          </a:xfrm>
          <a:prstGeom prst="rect">
            <a:avLst/>
          </a:prstGeom>
          <a:noFill/>
        </p:spPr>
        <p:txBody>
          <a:bodyPr wrap="square" lIns="0" rIns="0" tIns="0" bIns="0" anchor="t">
            <a:spAutoFit/>
          </a:bodyPr>
          <a:lstStyle/>
          <a:p>
            <a:pPr>
              <a:lnSpc>
                <a:spcPct val="108000"/>
              </a:lnSpc>
              <a:spcBef>
                <a:spcPts val="0"/>
              </a:spcBef>
              <a:spcAft>
                <a:spcPts val="0"/>
              </a:spcAft>
            </a:pPr>
            <a:r>
              <a:rPr sz="3200" b="0" i="0">
                <a:solidFill>
                  <a:srgbClr val="002970"/>
                </a:solidFill>
                <a:latin typeface="Georgia"/>
              </a:rPr>
              <a:t>Forty seconds, zero typing, and a loop</a:t>
            </a:r>
            <a:br/>
            <a:r>
              <a:rPr sz="3200" b="0" i="0">
                <a:solidFill>
                  <a:srgbClr val="002970"/>
                </a:solidFill>
                <a:latin typeface="Georgia"/>
              </a:rPr>
              <a:t>the room watches close.</a:t>
            </a:r>
          </a:p>
        </p:txBody>
      </p:sp>
      <p:sp>
        <p:nvSpPr>
          <p:cNvPr id="5" name="TextBox 4"/>
          <p:cNvSpPr txBox="1"/>
          <p:nvPr/>
        </p:nvSpPr>
        <p:spPr>
          <a:xfrm>
            <a:off x="685800" y="1938528"/>
            <a:ext cx="9692640" cy="841248"/>
          </a:xfrm>
          <a:prstGeom prst="rect">
            <a:avLst/>
          </a:prstGeom>
          <a:noFill/>
        </p:spPr>
        <p:txBody>
          <a:bodyPr wrap="square" lIns="0" rIns="0" tIns="0" bIns="0" anchor="t">
            <a:spAutoFit/>
          </a:bodyPr>
          <a:lstStyle/>
          <a:p>
            <a:pPr>
              <a:lnSpc>
                <a:spcPct val="142000"/>
              </a:lnSpc>
              <a:spcBef>
                <a:spcPts val="0"/>
              </a:spcBef>
              <a:spcAft>
                <a:spcPts val="0"/>
              </a:spcAft>
            </a:pPr>
            <a:r>
              <a:rPr sz="1350" b="0" i="0">
                <a:solidFill>
                  <a:srgbClr val="646E7E"/>
                </a:solidFill>
                <a:latin typeface="Helvetica Neue"/>
              </a:rPr>
              <a:t>Built in the eight hours, on synthetic data that is labelled synthetic on every screen, and designed to keep working when the venue wifi does not.</a:t>
            </a:r>
          </a:p>
        </p:txBody>
      </p:sp>
      <p:sp>
        <p:nvSpPr>
          <p:cNvPr id="6" name="Rectangle 5"/>
          <p:cNvSpPr/>
          <p:nvPr/>
        </p:nvSpPr>
        <p:spPr>
          <a:xfrm>
            <a:off x="685800" y="2962656"/>
            <a:ext cx="2430703" cy="28575"/>
          </a:xfrm>
          <a:prstGeom prst="rect">
            <a:avLst/>
          </a:prstGeom>
          <a:solidFill>
            <a:srgbClr val="00B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3383280"/>
            <a:ext cx="2430703" cy="475488"/>
          </a:xfrm>
          <a:prstGeom prst="rect">
            <a:avLst/>
          </a:prstGeom>
          <a:noFill/>
        </p:spPr>
        <p:txBody>
          <a:bodyPr wrap="square" lIns="0" rIns="0" tIns="0" bIns="0" anchor="t">
            <a:spAutoFit/>
          </a:bodyPr>
          <a:lstStyle/>
          <a:p>
            <a:pPr>
              <a:lnSpc>
                <a:spcPct val="118000"/>
              </a:lnSpc>
              <a:spcBef>
                <a:spcPts val="0"/>
              </a:spcBef>
              <a:spcAft>
                <a:spcPts val="0"/>
              </a:spcAft>
            </a:pPr>
            <a:r>
              <a:rPr sz="1300" b="1" i="0">
                <a:solidFill>
                  <a:srgbClr val="002970"/>
                </a:solidFill>
                <a:latin typeface="Helvetica Neue"/>
              </a:rPr>
              <a:t>The demo</a:t>
            </a:r>
          </a:p>
        </p:txBody>
      </p:sp>
      <p:sp>
        <p:nvSpPr>
          <p:cNvPr id="8" name="TextBox 7"/>
          <p:cNvSpPr txBox="1"/>
          <p:nvPr/>
        </p:nvSpPr>
        <p:spPr>
          <a:xfrm>
            <a:off x="685800" y="3877056"/>
            <a:ext cx="2430703" cy="2286000"/>
          </a:xfrm>
          <a:prstGeom prst="rect">
            <a:avLst/>
          </a:prstGeom>
          <a:noFill/>
        </p:spPr>
        <p:txBody>
          <a:bodyPr wrap="square" lIns="0" rIns="0" tIns="0" bIns="0" anchor="t">
            <a:spAutoFit/>
          </a:bodyPr>
          <a:lstStyle/>
          <a:p>
            <a:pPr>
              <a:lnSpc>
                <a:spcPct val="142000"/>
              </a:lnSpc>
              <a:spcBef>
                <a:spcPts val="0"/>
              </a:spcBef>
              <a:spcAft>
                <a:spcPts val="700"/>
              </a:spcAft>
            </a:pPr>
            <a:r>
              <a:rPr sz="1160" b="0" i="0">
                <a:solidFill>
                  <a:srgbClr val="1A1F2B"/>
                </a:solidFill>
                <a:latin typeface="Helvetica Neue"/>
              </a:rPr>
              <a:t>The shopkeeper speaks an entry to the Soundbox.</a:t>
            </a:r>
          </a:p>
          <a:p>
            <a:pPr>
              <a:lnSpc>
                <a:spcPct val="142000"/>
              </a:lnSpc>
              <a:spcBef>
                <a:spcPts val="0"/>
              </a:spcBef>
              <a:spcAft>
                <a:spcPts val="700"/>
              </a:spcAft>
            </a:pPr>
            <a:r>
              <a:rPr sz="1160" b="0" i="0">
                <a:solidFill>
                  <a:srgbClr val="1A1F2B"/>
                </a:solidFill>
                <a:latin typeface="Helvetica Neue"/>
              </a:rPr>
              <a:t>A real phone on the judges’ table buzzes.</a:t>
            </a:r>
          </a:p>
          <a:p>
            <a:pPr>
              <a:lnSpc>
                <a:spcPct val="142000"/>
              </a:lnSpc>
              <a:spcBef>
                <a:spcPts val="0"/>
              </a:spcBef>
              <a:spcAft>
                <a:spcPts val="700"/>
              </a:spcAft>
            </a:pPr>
            <a:r>
              <a:rPr sz="1160" b="0" i="0">
                <a:solidFill>
                  <a:srgbClr val="1A1F2B"/>
                </a:solidFill>
                <a:latin typeface="Helvetica Neue"/>
              </a:rPr>
              <a:t>A judge taps Confirm.</a:t>
            </a:r>
          </a:p>
          <a:p>
            <a:pPr>
              <a:lnSpc>
                <a:spcPct val="142000"/>
              </a:lnSpc>
              <a:spcBef>
                <a:spcPts val="0"/>
              </a:spcBef>
              <a:spcAft>
                <a:spcPts val="700"/>
              </a:spcAft>
            </a:pPr>
            <a:r>
              <a:rPr sz="1160" b="0" i="0">
                <a:solidFill>
                  <a:srgbClr val="1A1F2B"/>
                </a:solidFill>
                <a:latin typeface="Helvetica Neue"/>
              </a:rPr>
              <a:t>Both ledgers update in front of them.</a:t>
            </a:r>
          </a:p>
          <a:p>
            <a:pPr>
              <a:lnSpc>
                <a:spcPct val="142000"/>
              </a:lnSpc>
              <a:spcBef>
                <a:spcPts val="0"/>
              </a:spcBef>
              <a:spcAft>
                <a:spcPts val="700"/>
              </a:spcAft>
            </a:pPr>
            <a:r>
              <a:rPr sz="1160" b="0" i="0">
                <a:solidFill>
                  <a:srgbClr val="1A1F2B"/>
                </a:solidFill>
                <a:latin typeface="Helvetica Neue"/>
              </a:rPr>
              <a:t>Then: “do not chase Sharma before day 7 — he has paid on day 9 for two years.”</a:t>
            </a:r>
          </a:p>
        </p:txBody>
      </p:sp>
      <p:sp>
        <p:nvSpPr>
          <p:cNvPr id="9" name="Rectangle 8"/>
          <p:cNvSpPr/>
          <p:nvPr/>
        </p:nvSpPr>
        <p:spPr>
          <a:xfrm>
            <a:off x="3482263" y="2962656"/>
            <a:ext cx="2430703" cy="28575"/>
          </a:xfrm>
          <a:prstGeom prst="rect">
            <a:avLst/>
          </a:prstGeom>
          <a:solidFill>
            <a:srgbClr val="00B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82263" y="3383280"/>
            <a:ext cx="2430703" cy="475488"/>
          </a:xfrm>
          <a:prstGeom prst="rect">
            <a:avLst/>
          </a:prstGeom>
          <a:noFill/>
        </p:spPr>
        <p:txBody>
          <a:bodyPr wrap="square" lIns="0" rIns="0" tIns="0" bIns="0" anchor="t">
            <a:spAutoFit/>
          </a:bodyPr>
          <a:lstStyle/>
          <a:p>
            <a:pPr>
              <a:lnSpc>
                <a:spcPct val="118000"/>
              </a:lnSpc>
              <a:spcBef>
                <a:spcPts val="0"/>
              </a:spcBef>
              <a:spcAft>
                <a:spcPts val="0"/>
              </a:spcAft>
            </a:pPr>
            <a:r>
              <a:rPr sz="1300" b="1" i="0">
                <a:solidFill>
                  <a:srgbClr val="002970"/>
                </a:solidFill>
                <a:latin typeface="Helvetica Neue"/>
              </a:rPr>
              <a:t>What is real</a:t>
            </a:r>
          </a:p>
        </p:txBody>
      </p:sp>
      <p:sp>
        <p:nvSpPr>
          <p:cNvPr id="11" name="TextBox 10"/>
          <p:cNvSpPr txBox="1"/>
          <p:nvPr/>
        </p:nvSpPr>
        <p:spPr>
          <a:xfrm>
            <a:off x="3482263" y="3877056"/>
            <a:ext cx="2430703" cy="2286000"/>
          </a:xfrm>
          <a:prstGeom prst="rect">
            <a:avLst/>
          </a:prstGeom>
          <a:noFill/>
        </p:spPr>
        <p:txBody>
          <a:bodyPr wrap="square" lIns="0" rIns="0" tIns="0" bIns="0" anchor="t">
            <a:spAutoFit/>
          </a:bodyPr>
          <a:lstStyle/>
          <a:p>
            <a:pPr>
              <a:lnSpc>
                <a:spcPct val="142000"/>
              </a:lnSpc>
              <a:spcBef>
                <a:spcPts val="0"/>
              </a:spcBef>
              <a:spcAft>
                <a:spcPts val="700"/>
              </a:spcAft>
            </a:pPr>
            <a:r>
              <a:rPr sz="1160" b="0" i="0">
                <a:solidFill>
                  <a:srgbClr val="1A1F2B"/>
                </a:solidFill>
                <a:latin typeface="Helvetica Neue"/>
              </a:rPr>
              <a:t>The voice capture, the confirmation round-trip, the ledger, the timing arithmetic, the expiry rule.</a:t>
            </a:r>
          </a:p>
          <a:p>
            <a:pPr>
              <a:lnSpc>
                <a:spcPct val="142000"/>
              </a:lnSpc>
              <a:spcBef>
                <a:spcPts val="0"/>
              </a:spcBef>
              <a:spcAft>
                <a:spcPts val="700"/>
              </a:spcAft>
            </a:pPr>
            <a:r>
              <a:rPr sz="1160" b="0" i="0">
                <a:solidFill>
                  <a:srgbClr val="1A1F2B"/>
                </a:solidFill>
                <a:latin typeface="Helvetica Neue"/>
              </a:rPr>
              <a:t>Every figure on every screen is computed from the data, never written into the copy.</a:t>
            </a:r>
          </a:p>
        </p:txBody>
      </p:sp>
      <p:sp>
        <p:nvSpPr>
          <p:cNvPr id="12" name="Rectangle 11"/>
          <p:cNvSpPr/>
          <p:nvPr/>
        </p:nvSpPr>
        <p:spPr>
          <a:xfrm>
            <a:off x="6278726" y="2962656"/>
            <a:ext cx="2430703" cy="28575"/>
          </a:xfrm>
          <a:prstGeom prst="rect">
            <a:avLst/>
          </a:prstGeom>
          <a:solidFill>
            <a:srgbClr val="00B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78726" y="3383280"/>
            <a:ext cx="2430703" cy="475488"/>
          </a:xfrm>
          <a:prstGeom prst="rect">
            <a:avLst/>
          </a:prstGeom>
          <a:noFill/>
        </p:spPr>
        <p:txBody>
          <a:bodyPr wrap="square" lIns="0" rIns="0" tIns="0" bIns="0" anchor="t">
            <a:spAutoFit/>
          </a:bodyPr>
          <a:lstStyle/>
          <a:p>
            <a:pPr>
              <a:lnSpc>
                <a:spcPct val="118000"/>
              </a:lnSpc>
              <a:spcBef>
                <a:spcPts val="0"/>
              </a:spcBef>
              <a:spcAft>
                <a:spcPts val="0"/>
              </a:spcAft>
            </a:pPr>
            <a:r>
              <a:rPr sz="1300" b="1" i="0">
                <a:solidFill>
                  <a:srgbClr val="002970"/>
                </a:solidFill>
                <a:latin typeface="Helvetica Neue"/>
              </a:rPr>
              <a:t>What is mocked, and labelled</a:t>
            </a:r>
          </a:p>
        </p:txBody>
      </p:sp>
      <p:sp>
        <p:nvSpPr>
          <p:cNvPr id="14" name="TextBox 13"/>
          <p:cNvSpPr txBox="1"/>
          <p:nvPr/>
        </p:nvSpPr>
        <p:spPr>
          <a:xfrm>
            <a:off x="6278726" y="3877056"/>
            <a:ext cx="2430703" cy="2286000"/>
          </a:xfrm>
          <a:prstGeom prst="rect">
            <a:avLst/>
          </a:prstGeom>
          <a:noFill/>
        </p:spPr>
        <p:txBody>
          <a:bodyPr wrap="square" lIns="0" rIns="0" tIns="0" bIns="0" anchor="t">
            <a:spAutoFit/>
          </a:bodyPr>
          <a:lstStyle/>
          <a:p>
            <a:pPr>
              <a:lnSpc>
                <a:spcPct val="142000"/>
              </a:lnSpc>
              <a:spcBef>
                <a:spcPts val="0"/>
              </a:spcBef>
              <a:spcAft>
                <a:spcPts val="700"/>
              </a:spcAft>
            </a:pPr>
            <a:r>
              <a:rPr sz="1160" b="0" i="0">
                <a:solidFill>
                  <a:srgbClr val="1A1F2B"/>
                </a:solidFill>
                <a:latin typeface="Helvetica Neue"/>
              </a:rPr>
              <a:t>One shop, 60 udhaar customers, six months of entries and repayments with believable personal rhythms. Generated the night before.</a:t>
            </a:r>
          </a:p>
          <a:p>
            <a:pPr>
              <a:lnSpc>
                <a:spcPct val="142000"/>
              </a:lnSpc>
              <a:spcBef>
                <a:spcPts val="0"/>
              </a:spcBef>
              <a:spcAft>
                <a:spcPts val="700"/>
              </a:spcAft>
            </a:pPr>
            <a:r>
              <a:rPr sz="1160" b="0" i="0">
                <a:solidFill>
                  <a:srgbClr val="1A1F2B"/>
                </a:solidFill>
                <a:latin typeface="Helvetica Neue"/>
              </a:rPr>
              <a:t>No real UPI, no real Soundbox hardware, no auth.</a:t>
            </a:r>
          </a:p>
        </p:txBody>
      </p:sp>
      <p:sp>
        <p:nvSpPr>
          <p:cNvPr id="15" name="Rectangle 14"/>
          <p:cNvSpPr/>
          <p:nvPr/>
        </p:nvSpPr>
        <p:spPr>
          <a:xfrm>
            <a:off x="9075189" y="2962656"/>
            <a:ext cx="2430703" cy="28575"/>
          </a:xfrm>
          <a:prstGeom prst="rect">
            <a:avLst/>
          </a:prstGeom>
          <a:solidFill>
            <a:srgbClr val="00B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75189" y="3383280"/>
            <a:ext cx="2430703" cy="475488"/>
          </a:xfrm>
          <a:prstGeom prst="rect">
            <a:avLst/>
          </a:prstGeom>
          <a:noFill/>
        </p:spPr>
        <p:txBody>
          <a:bodyPr wrap="square" lIns="0" rIns="0" tIns="0" bIns="0" anchor="t">
            <a:spAutoFit/>
          </a:bodyPr>
          <a:lstStyle/>
          <a:p>
            <a:pPr>
              <a:lnSpc>
                <a:spcPct val="118000"/>
              </a:lnSpc>
              <a:spcBef>
                <a:spcPts val="0"/>
              </a:spcBef>
              <a:spcAft>
                <a:spcPts val="0"/>
              </a:spcAft>
            </a:pPr>
            <a:r>
              <a:rPr sz="1300" b="1" i="0">
                <a:solidFill>
                  <a:srgbClr val="002970"/>
                </a:solidFill>
                <a:latin typeface="Helvetica Neue"/>
              </a:rPr>
              <a:t>How it survives the room</a:t>
            </a:r>
          </a:p>
        </p:txBody>
      </p:sp>
      <p:sp>
        <p:nvSpPr>
          <p:cNvPr id="17" name="TextBox 16"/>
          <p:cNvSpPr txBox="1"/>
          <p:nvPr/>
        </p:nvSpPr>
        <p:spPr>
          <a:xfrm>
            <a:off x="9075189" y="3877056"/>
            <a:ext cx="2430703" cy="2286000"/>
          </a:xfrm>
          <a:prstGeom prst="rect">
            <a:avLst/>
          </a:prstGeom>
          <a:noFill/>
        </p:spPr>
        <p:txBody>
          <a:bodyPr wrap="square" lIns="0" rIns="0" tIns="0" bIns="0" anchor="t">
            <a:spAutoFit/>
          </a:bodyPr>
          <a:lstStyle/>
          <a:p>
            <a:pPr>
              <a:lnSpc>
                <a:spcPct val="142000"/>
              </a:lnSpc>
              <a:spcBef>
                <a:spcPts val="0"/>
              </a:spcBef>
              <a:spcAft>
                <a:spcPts val="700"/>
              </a:spcAft>
            </a:pPr>
            <a:r>
              <a:rPr sz="1160" b="0" i="0">
                <a:solidFill>
                  <a:srgbClr val="1A1F2B"/>
                </a:solidFill>
                <a:latin typeface="Helvetica Neue"/>
              </a:rPr>
              <a:t>Every spoken line cached to disk — the venue wifi is assumed to fail.</a:t>
            </a:r>
          </a:p>
          <a:p>
            <a:pPr>
              <a:lnSpc>
                <a:spcPct val="142000"/>
              </a:lnSpc>
              <a:spcBef>
                <a:spcPts val="0"/>
              </a:spcBef>
              <a:spcAft>
                <a:spcPts val="700"/>
              </a:spcAft>
            </a:pPr>
            <a:r>
              <a:rPr sz="1160" b="0" i="0">
                <a:solidFill>
                  <a:srgbClr val="1A1F2B"/>
                </a:solidFill>
                <a:latin typeface="Helvetica Neue"/>
              </a:rPr>
              <a:t>Frozen at hour five, with a backup video recorded while it still works.</a:t>
            </a:r>
          </a:p>
          <a:p>
            <a:pPr>
              <a:lnSpc>
                <a:spcPct val="142000"/>
              </a:lnSpc>
              <a:spcBef>
                <a:spcPts val="0"/>
              </a:spcBef>
              <a:spcAft>
                <a:spcPts val="700"/>
              </a:spcAft>
            </a:pPr>
            <a:r>
              <a:rPr sz="1160" b="0" i="0">
                <a:solidFill>
                  <a:srgbClr val="1A1F2B"/>
                </a:solidFill>
                <a:latin typeface="Helvetica Neue"/>
              </a:rPr>
              <a:t>Change a repayment date in the database and the reminder day moves. There are no hardcoded shortcuts to find.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