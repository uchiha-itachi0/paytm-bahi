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lay.google.com/store/apps/details?id=com.vaibhavkalpe.android.khatabook" TargetMode="External"/><Relationship Id="rId3" Type="http://schemas.openxmlformats.org/officeDocument/2006/relationships/hyperlink" Target="https://okcredit.in" TargetMode="External"/><Relationship Id="rId4" Type="http://schemas.openxmlformats.org/officeDocument/2006/relationships/hyperlink" Target="https://play.google.com/store/apps/details?id=com.doneapp.cpma" TargetMode="External"/><Relationship Id="rId5" Type="http://schemas.openxmlformats.org/officeDocument/2006/relationships/hyperlink" Target="https://business.paytm.com/business-khata" TargetMode="External"/><Relationship Id="rId6" Type="http://schemas.openxmlformats.org/officeDocument/2006/relationships/hyperlink" Target="https://paytm.com/document/ir/financial-results/fy2026-27/Paytm_Earning-Release_Q1-FY-2027_INR.pdf" TargetMode="External"/><Relationship Id="rId7" Type="http://schemas.openxmlformats.org/officeDocument/2006/relationships/hyperlink" Target="https://yourstory.com/2024/11/ms-dhoni-backed-khatabook-clocks-rs-1027-cr-revenue-cuts-losses-7-in-fy24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9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00BA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640080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>
                <a:solidFill>
                  <a:srgbClr val="FFFFFF"/>
                </a:solidFill>
                <a:latin typeface="Arial"/>
              </a:rPr>
              <a:t>BAHI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Udhaar, confirmed by both sides.</a:t>
            </a:r>
          </a:p>
          <a:p>
            <a:pPr>
              <a:lnSpc>
                <a:spcPct val="140000"/>
              </a:lnSpc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C9D8EE"/>
                </a:solidFill>
                <a:latin typeface="Arial"/>
              </a:rPr>
              <a:t>The shopkeeper speaks a credit entry to his Paytm Soundbox. The customer confirms it on his own phone and pays in one tap. Every night, an agent decides who actually needs a reminder.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5074920"/>
            <a:ext cx="457200" cy="38100"/>
          </a:xfrm>
          <a:prstGeom prst="rect">
            <a:avLst/>
          </a:prstGeom>
          <a:solidFill>
            <a:srgbClr val="00BA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5257800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Paytm Build for India AI Hackathon  ·  Mumbai, 3 October 2026</a:t>
            </a:r>
          </a:p>
          <a:p>
            <a:pPr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Track 2: AI-Powered Financial Journeys</a:t>
            </a:r>
          </a:p>
          <a:p>
            <a:pPr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>
                <a:solidFill>
                  <a:srgbClr val="8FA4C6"/>
                </a:solidFill>
                <a:latin typeface="Arial"/>
              </a:rPr>
              <a:t>Team Bitzlab</a:t>
            </a:r>
          </a:p>
        </p:txBody>
      </p:sp>
      <p:pic>
        <p:nvPicPr>
          <p:cNvPr id="7" name="Picture 6" descr="A2-s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143000"/>
            <a:ext cx="2057400" cy="4064619"/>
          </a:xfrm>
          <a:prstGeom prst="rect">
            <a:avLst/>
          </a:prstGeom>
        </p:spPr>
      </p:pic>
      <p:pic>
        <p:nvPicPr>
          <p:cNvPr id="8" name="Picture 7" descr="B1-confi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2368" y="1143000"/>
            <a:ext cx="2057400" cy="406461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43800" y="5358384"/>
            <a:ext cx="4315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FA4C6"/>
                </a:solidFill>
                <a:latin typeface="Arial"/>
              </a:rPr>
              <a:t>Shopkeeper’s screen  ·  Customer’s screen  ·  demo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40">
                <a:solidFill>
                  <a:srgbClr val="0077A8"/>
                </a:solidFill>
                <a:latin typeface="Arial"/>
              </a:rPr>
              <a:t>1 ·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2970"/>
                </a:solidFill>
                <a:latin typeface="Arial"/>
              </a:rPr>
              <a:t>The udhaar book has one author. The customer never sees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11057839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78408" y="2011680"/>
            <a:ext cx="2468880" cy="1143000"/>
          </a:xfrm>
          <a:prstGeom prst="roundRect">
            <a:avLst>
              <a:gd name="adj" fmla="val 12000"/>
            </a:avLst>
          </a:prstGeom>
          <a:solidFill>
            <a:srgbClr val="EA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011680"/>
            <a:ext cx="2249424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2970"/>
                </a:solidFill>
                <a:latin typeface="Arial"/>
              </a:rPr>
              <a:t>Shopkeeper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5"/>
                </a:solidFill>
                <a:latin typeface="Arial"/>
              </a:rPr>
              <a:t>writes every entry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55464" y="2011680"/>
            <a:ext cx="2468880" cy="1143000"/>
          </a:xfrm>
          <a:prstGeom prst="roundRect">
            <a:avLst>
              <a:gd name="adj" fmla="val 12000"/>
            </a:avLst>
          </a:prstGeom>
          <a:solidFill>
            <a:srgbClr val="EA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65192" y="2011680"/>
            <a:ext cx="2249424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2970"/>
                </a:solidFill>
                <a:latin typeface="Arial"/>
              </a:rPr>
              <a:t>The udhaar book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5"/>
                </a:solidFill>
                <a:latin typeface="Arial"/>
              </a:rPr>
              <a:t>a notebook, or a ledger app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41664" y="2011680"/>
            <a:ext cx="24688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8B95A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51392" y="2011680"/>
            <a:ext cx="2249424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B6675"/>
                </a:solidFill>
                <a:latin typeface="Arial"/>
              </a:rPr>
              <a:t>Customer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5"/>
                </a:solidFill>
                <a:latin typeface="Arial"/>
              </a:rPr>
              <a:t>no copy  ·  no total  ·  no proof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38728" y="2583180"/>
            <a:ext cx="1225296" cy="0"/>
          </a:xfrm>
          <a:prstGeom prst="line">
            <a:avLst/>
          </a:prstGeom>
          <a:ln w="25400">
            <a:solidFill>
              <a:srgbClr val="002970"/>
            </a:solidFill>
            <a:tailEnd type="triangle" w="med" len="med"/>
          </a:ln>
        </p:spPr>
      </p:cxnSp>
      <p:cxnSp>
        <p:nvCxnSpPr>
          <p:cNvPr id="13" name="Connector 12"/>
          <p:cNvCxnSpPr/>
          <p:nvPr/>
        </p:nvCxnSpPr>
        <p:spPr>
          <a:xfrm>
            <a:off x="7415784" y="2583180"/>
            <a:ext cx="1234440" cy="0"/>
          </a:xfrm>
          <a:prstGeom prst="line">
            <a:avLst/>
          </a:prstGeom>
          <a:ln w="25400">
            <a:solidFill>
              <a:srgbClr val="8B95A5"/>
            </a:solidFill>
            <a:prstDash val="dash"/>
            <a:tailEnd type="triangle" w="med" len="med"/>
          </a:ln>
        </p:spPr>
      </p:cxnSp>
      <p:sp>
        <p:nvSpPr>
          <p:cNvPr id="14" name="TextBox 13"/>
          <p:cNvSpPr txBox="1"/>
          <p:nvPr/>
        </p:nvSpPr>
        <p:spPr>
          <a:xfrm>
            <a:off x="3447288" y="2253996"/>
            <a:ext cx="1408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2970"/>
                </a:solidFill>
                <a:latin typeface="Arial"/>
              </a:rPr>
              <a:t>writes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24344" y="225399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Arial"/>
              </a:rPr>
              <a:t>an SMS, at best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13632"/>
            <a:ext cx="365760" cy="38100"/>
          </a:xfrm>
          <a:prstGeom prst="rect">
            <a:avLst/>
          </a:prstGeom>
          <a:solidFill>
            <a:srgbClr val="00BA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069080"/>
            <a:ext cx="344210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2970"/>
                </a:solidFill>
                <a:latin typeface="Arial"/>
              </a:rPr>
              <a:t>He can’t see patterns</a:t>
            </a:r>
          </a:p>
          <a:p>
            <a:pPr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5B6675"/>
                </a:solidFill>
                <a:latin typeface="Arial"/>
              </a:rPr>
              <a:t>Someone who always pays on day 9 and someone quietly drifting away look the same in a notebook. So everyone is chased the same way.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4794" y="3913632"/>
            <a:ext cx="365760" cy="38100"/>
          </a:xfrm>
          <a:prstGeom prst="rect">
            <a:avLst/>
          </a:prstGeom>
          <a:solidFill>
            <a:srgbClr val="00BA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4794" y="4069080"/>
            <a:ext cx="344210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2970"/>
                </a:solidFill>
                <a:latin typeface="Arial"/>
              </a:rPr>
              <a:t>The customer has no record</a:t>
            </a:r>
          </a:p>
          <a:p>
            <a:pPr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5B6675"/>
                </a:solidFill>
                <a:latin typeface="Arial"/>
              </a:rPr>
              <a:t>He can’t see what he owes across shops. If the book says ₹500 and he remembers ₹300, he has nothing to show.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2660" y="3913632"/>
            <a:ext cx="365760" cy="38100"/>
          </a:xfrm>
          <a:prstGeom prst="rect">
            <a:avLst/>
          </a:prstGeom>
          <a:solidFill>
            <a:srgbClr val="00BA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2660" y="4069080"/>
            <a:ext cx="344210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2970"/>
                </a:solidFill>
                <a:latin typeface="Arial"/>
              </a:rPr>
              <a:t>Apps went digital on one side only</a:t>
            </a:r>
          </a:p>
          <a:p>
            <a:pPr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5B6675"/>
                </a:solidFill>
                <a:latin typeface="Arial"/>
              </a:rPr>
              <a:t>Khatabook alone has 5 Cr+ downloads. Its customers still get only an SMS — no app of their own, and no say in the entry.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38251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Arial"/>
              </a:rPr>
              <a:t>Source: Khatabook on Google Play (5 Cr+ downloads) and khatabook.com, checked 23 Sep 2026.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Arial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40">
                <a:solidFill>
                  <a:srgbClr val="0077A8"/>
                </a:solidFill>
                <a:latin typeface="Arial"/>
              </a:rPr>
              <a:t>2 ·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2970"/>
                </a:solidFill>
                <a:latin typeface="Arial"/>
              </a:rPr>
              <a:t>The same book, now confirmed by both sides.</a:t>
            </a:r>
          </a:p>
        </p:txBody>
      </p:sp>
      <p:pic>
        <p:nvPicPr>
          <p:cNvPr id="5" name="Picture 4" descr="A2-s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605" y="1517904"/>
            <a:ext cx="1783080" cy="352267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612648" y="5157216"/>
            <a:ext cx="329184" cy="329184"/>
          </a:xfrm>
          <a:prstGeom prst="ellipse">
            <a:avLst/>
          </a:prstGeom>
          <a:solidFill>
            <a:srgbClr val="0029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515721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5175504"/>
            <a:ext cx="209694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2970"/>
                </a:solidFill>
                <a:latin typeface="Arial"/>
              </a:rPr>
              <a:t>He speaks it</a:t>
            </a:r>
          </a:p>
          <a:p>
            <a:pPr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5B6675"/>
                </a:solidFill>
                <a:latin typeface="Arial"/>
              </a:rPr>
              <a:t>“Sharma ko do sau udhaar” is shown back to check before it is sent.</a:t>
            </a:r>
          </a:p>
        </p:txBody>
      </p:sp>
      <p:pic>
        <p:nvPicPr>
          <p:cNvPr id="9" name="Picture 8" descr="B1-confi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0072" y="1517904"/>
            <a:ext cx="1783080" cy="352267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3441115" y="5157216"/>
            <a:ext cx="329184" cy="329184"/>
          </a:xfrm>
          <a:prstGeom prst="ellipse">
            <a:avLst/>
          </a:prstGeom>
          <a:solidFill>
            <a:srgbClr val="0029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1115" y="515721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70883" y="5175504"/>
            <a:ext cx="209694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2970"/>
                </a:solidFill>
                <a:latin typeface="Arial"/>
              </a:rPr>
              <a:t>The customer confirms</a:t>
            </a:r>
          </a:p>
          <a:p>
            <a:pPr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5B6675"/>
                </a:solidFill>
                <a:latin typeface="Arial"/>
              </a:rPr>
              <a:t>He taps “Yes, I owe ₹200” in his own Paytm app.</a:t>
            </a:r>
          </a:p>
        </p:txBody>
      </p:sp>
      <p:pic>
        <p:nvPicPr>
          <p:cNvPr id="13" name="Picture 12" descr="B2-myboo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539" y="1517904"/>
            <a:ext cx="1783080" cy="352267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269582" y="5157216"/>
            <a:ext cx="329184" cy="329184"/>
          </a:xfrm>
          <a:prstGeom prst="ellipse">
            <a:avLst/>
          </a:prstGeom>
          <a:solidFill>
            <a:srgbClr val="0029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9582" y="515721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9350" y="5175504"/>
            <a:ext cx="209694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2970"/>
                </a:solidFill>
                <a:latin typeface="Arial"/>
              </a:rPr>
              <a:t>He sees every shop</a:t>
            </a:r>
          </a:p>
          <a:p>
            <a:pPr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5B6675"/>
                </a:solidFill>
                <a:latin typeface="Arial"/>
              </a:rPr>
              <a:t>One total across all his shops, and one tap to pay.</a:t>
            </a:r>
          </a:p>
        </p:txBody>
      </p:sp>
      <p:pic>
        <p:nvPicPr>
          <p:cNvPr id="17" name="Picture 16" descr="A3-ton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7006" y="1517904"/>
            <a:ext cx="1783080" cy="352267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9098049" y="5157216"/>
            <a:ext cx="329184" cy="329184"/>
          </a:xfrm>
          <a:prstGeom prst="ellipse">
            <a:avLst/>
          </a:prstGeom>
          <a:solidFill>
            <a:srgbClr val="0029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049" y="515721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7817" y="5175504"/>
            <a:ext cx="209694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2970"/>
                </a:solidFill>
                <a:latin typeface="Arial"/>
              </a:rPr>
              <a:t>The agent picks the day</a:t>
            </a:r>
          </a:p>
          <a:p>
            <a:pPr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5B6675"/>
                </a:solidFill>
                <a:latin typeface="Arial"/>
              </a:rPr>
              <a:t>Sharma always pays on day 9, so on day 4 he hears nothing.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8251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Arial"/>
              </a:rPr>
              <a:t>Screens from our working prototype. Names and amounts are demo data.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Arial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40">
                <a:solidFill>
                  <a:srgbClr val="0077A8"/>
                </a:solidFill>
                <a:latin typeface="Arial"/>
              </a:rPr>
              <a:t>3 · TECHNOLOGY /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2970"/>
                </a:solidFill>
                <a:latin typeface="Arial"/>
              </a:rPr>
              <a:t>AI hears the words. Plain code decides every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20">
                <a:solidFill>
                  <a:srgbClr val="5B6675"/>
                </a:solidFill>
                <a:latin typeface="Arial"/>
              </a:rPr>
              <a:t>DURING THE DAY — RECORDING AN ENTRY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38528"/>
            <a:ext cx="1831177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38528"/>
            <a:ext cx="161172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2970"/>
                </a:solidFill>
                <a:latin typeface="Arial"/>
              </a:rPr>
              <a:t>Shopkeeper speaks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Arial"/>
              </a:rPr>
              <a:t>to the Soundbox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2113" y="2418588"/>
            <a:ext cx="347472" cy="0"/>
          </a:xfrm>
          <a:prstGeom prst="line">
            <a:avLst/>
          </a:prstGeom>
          <a:ln w="22225">
            <a:solidFill>
              <a:srgbClr val="002970"/>
            </a:solidFill>
            <a:tailEnd type="triangle" w="med" len="med"/>
          </a:ln>
        </p:spPr>
      </p:cxnSp>
      <p:sp>
        <p:nvSpPr>
          <p:cNvPr id="9" name="Rounded Rectangle 8"/>
          <p:cNvSpPr/>
          <p:nvPr/>
        </p:nvSpPr>
        <p:spPr>
          <a:xfrm>
            <a:off x="2873593" y="1938528"/>
            <a:ext cx="1831177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3321" y="1938528"/>
            <a:ext cx="161172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2970"/>
                </a:solidFill>
                <a:latin typeface="Arial"/>
              </a:rPr>
              <a:t>Sarvam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Arial"/>
              </a:rPr>
              <a:t>speech →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01609" y="1819656"/>
            <a:ext cx="420624" cy="237744"/>
          </a:xfrm>
          <a:prstGeom prst="roundRect">
            <a:avLst>
              <a:gd name="adj" fmla="val 50000"/>
            </a:avLst>
          </a:prstGeom>
          <a:solidFill>
            <a:srgbClr val="00BA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1609" y="1819656"/>
            <a:ext cx="4206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80">
                <a:solidFill>
                  <a:srgbClr val="002970"/>
                </a:solidFill>
                <a:latin typeface="Arial"/>
              </a:rPr>
              <a:t>AI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68778" y="2418588"/>
            <a:ext cx="347472" cy="0"/>
          </a:xfrm>
          <a:prstGeom prst="line">
            <a:avLst/>
          </a:prstGeom>
          <a:ln w="22225">
            <a:solidFill>
              <a:srgbClr val="002970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5180258" y="1938528"/>
            <a:ext cx="1831177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9986" y="1938528"/>
            <a:ext cx="161172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2970"/>
                </a:solidFill>
                <a:latin typeface="Arial"/>
              </a:rPr>
              <a:t>“Sharma ko do sau udhaar”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Arial"/>
              </a:rPr>
              <a:t>text only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75443" y="2418588"/>
            <a:ext cx="347472" cy="0"/>
          </a:xfrm>
          <a:prstGeom prst="line">
            <a:avLst/>
          </a:prstGeom>
          <a:ln w="22225">
            <a:solidFill>
              <a:srgbClr val="002970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7486923" y="1938528"/>
            <a:ext cx="1831177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96651" y="1938528"/>
            <a:ext cx="161172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2970"/>
                </a:solidFill>
                <a:latin typeface="Arial"/>
              </a:rPr>
              <a:t>Rule-based parser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Arial"/>
              </a:rPr>
              <a:t>text → ₹200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14939" y="1819656"/>
            <a:ext cx="603504" cy="237744"/>
          </a:xfrm>
          <a:prstGeom prst="roundRect">
            <a:avLst>
              <a:gd name="adj" fmla="val 50000"/>
            </a:avLst>
          </a:prstGeom>
          <a:solidFill>
            <a:srgbClr val="0029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14939" y="1819656"/>
            <a:ext cx="6035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80">
                <a:solidFill>
                  <a:srgbClr val="FFFFFF"/>
                </a:solidFill>
                <a:latin typeface="Arial"/>
              </a:rPr>
              <a:t>CODE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82108" y="2418588"/>
            <a:ext cx="347472" cy="0"/>
          </a:xfrm>
          <a:prstGeom prst="line">
            <a:avLst/>
          </a:prstGeom>
          <a:ln w="22225">
            <a:solidFill>
              <a:srgbClr val="002970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9793588" y="1938528"/>
            <a:ext cx="1831177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3316" y="1938528"/>
            <a:ext cx="161172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2970"/>
                </a:solidFill>
                <a:latin typeface="Arial"/>
              </a:rPr>
              <a:t>Ledger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Arial"/>
              </a:rPr>
              <a:t>Postgres 17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21604" y="1819656"/>
            <a:ext cx="603504" cy="237744"/>
          </a:xfrm>
          <a:prstGeom prst="roundRect">
            <a:avLst>
              <a:gd name="adj" fmla="val 50000"/>
            </a:avLst>
          </a:prstGeom>
          <a:solidFill>
            <a:srgbClr val="0029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21604" y="1819656"/>
            <a:ext cx="6035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80">
                <a:solidFill>
                  <a:srgbClr val="FFFFFF"/>
                </a:solidFill>
                <a:latin typeface="Arial"/>
              </a:rPr>
              <a:t>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246120"/>
            <a:ext cx="110578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20">
                <a:solidFill>
                  <a:srgbClr val="5B6675"/>
                </a:solidFill>
                <a:latin typeface="Arial"/>
              </a:rPr>
              <a:t>EVERY NIGHT — DECIDING WHO HEARS FROM 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611880"/>
            <a:ext cx="2407843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3611880"/>
            <a:ext cx="2188387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2970"/>
                </a:solidFill>
                <a:latin typeface="Arial"/>
              </a:rPr>
              <a:t>n8n schedule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Arial"/>
              </a:rPr>
              <a:t>runs at 11 pm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38779" y="4091940"/>
            <a:ext cx="347472" cy="0"/>
          </a:xfrm>
          <a:prstGeom prst="line">
            <a:avLst/>
          </a:prstGeom>
          <a:ln w="22225">
            <a:solidFill>
              <a:srgbClr val="002970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3450259" y="3611880"/>
            <a:ext cx="2407843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59987" y="3611880"/>
            <a:ext cx="2188387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2970"/>
                </a:solidFill>
                <a:latin typeface="Arial"/>
              </a:rPr>
              <a:t>Timing engine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Arial"/>
              </a:rPr>
              <a:t>each customer’s own repayment gap, in SQL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78275" y="3493008"/>
            <a:ext cx="603504" cy="237744"/>
          </a:xfrm>
          <a:prstGeom prst="roundRect">
            <a:avLst>
              <a:gd name="adj" fmla="val 50000"/>
            </a:avLst>
          </a:prstGeom>
          <a:solidFill>
            <a:srgbClr val="0029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78275" y="3493008"/>
            <a:ext cx="6035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80">
                <a:solidFill>
                  <a:srgbClr val="FFFFFF"/>
                </a:solidFill>
                <a:latin typeface="Arial"/>
              </a:rPr>
              <a:t>CODE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922110" y="4091940"/>
            <a:ext cx="347472" cy="0"/>
          </a:xfrm>
          <a:prstGeom prst="line">
            <a:avLst/>
          </a:prstGeom>
          <a:ln w="22225">
            <a:solidFill>
              <a:srgbClr val="002970"/>
            </a:solidFill>
            <a:tailEnd type="triangle" w="med" len="med"/>
          </a:ln>
        </p:spPr>
      </p:cxnSp>
      <p:sp>
        <p:nvSpPr>
          <p:cNvPr id="35" name="Rounded Rectangle 34"/>
          <p:cNvSpPr/>
          <p:nvPr/>
        </p:nvSpPr>
        <p:spPr>
          <a:xfrm>
            <a:off x="6333590" y="3611880"/>
            <a:ext cx="2407843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3318" y="3611880"/>
            <a:ext cx="2188387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2970"/>
                </a:solidFill>
                <a:latin typeface="Arial"/>
              </a:rPr>
              <a:t>Cognee memory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Arial"/>
              </a:rPr>
              <a:t>the shopkeeper’s notes: “Patil pays after the 10th”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61606" y="3493008"/>
            <a:ext cx="420624" cy="237744"/>
          </a:xfrm>
          <a:prstGeom prst="roundRect">
            <a:avLst>
              <a:gd name="adj" fmla="val 50000"/>
            </a:avLst>
          </a:prstGeom>
          <a:solidFill>
            <a:srgbClr val="00BA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61606" y="3493008"/>
            <a:ext cx="4206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80">
                <a:solidFill>
                  <a:srgbClr val="002970"/>
                </a:solidFill>
                <a:latin typeface="Arial"/>
              </a:rPr>
              <a:t>AI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805441" y="4091940"/>
            <a:ext cx="347472" cy="0"/>
          </a:xfrm>
          <a:prstGeom prst="line">
            <a:avLst/>
          </a:prstGeom>
          <a:ln w="22225">
            <a:solidFill>
              <a:srgbClr val="002970"/>
            </a:solidFill>
            <a:tailEnd type="triangle" w="med" len="med"/>
          </a:ln>
        </p:spPr>
      </p:cxnSp>
      <p:sp>
        <p:nvSpPr>
          <p:cNvPr id="40" name="Rounded Rectangle 39"/>
          <p:cNvSpPr/>
          <p:nvPr/>
        </p:nvSpPr>
        <p:spPr>
          <a:xfrm>
            <a:off x="9216921" y="3611880"/>
            <a:ext cx="2407843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649" y="3611880"/>
            <a:ext cx="2188387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2970"/>
                </a:solidFill>
                <a:latin typeface="Arial"/>
              </a:rPr>
              <a:t>A reminder — or silence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Arial"/>
              </a:rPr>
              <a:t>most nights, silence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4892040"/>
            <a:ext cx="11057839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5528" y="4892040"/>
            <a:ext cx="10600639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2970"/>
                </a:solidFill>
                <a:latin typeface="Arial"/>
              </a:rPr>
              <a:t>How we prove it:  </a:t>
            </a:r>
            <a:r>
              <a:rPr sz="1300" b="0">
                <a:solidFill>
                  <a:srgbClr val="1C1C1C"/>
                </a:solidFill>
                <a:latin typeface="Arial"/>
              </a:rPr>
              <a:t>a test fails the build if the core logic imports any AI or database code. The model only ever returns text.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8155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20">
                <a:solidFill>
                  <a:srgbClr val="5B6675"/>
                </a:solidFill>
                <a:latin typeface="Arial"/>
              </a:rPr>
              <a:t>STACK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298448" y="5815584"/>
            <a:ext cx="10332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98448" y="5815584"/>
            <a:ext cx="1033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80">
                <a:solidFill>
                  <a:srgbClr val="002970"/>
                </a:solidFill>
                <a:latin typeface="Arial"/>
              </a:rPr>
              <a:t>Next.js 16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441448" y="5815584"/>
            <a:ext cx="87782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441448" y="5815584"/>
            <a:ext cx="8778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80">
                <a:solidFill>
                  <a:srgbClr val="002970"/>
                </a:solidFill>
                <a:latin typeface="Arial"/>
              </a:rPr>
              <a:t>React 19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29000" y="5815584"/>
            <a:ext cx="8001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29000" y="5815584"/>
            <a:ext cx="8001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80">
                <a:solidFill>
                  <a:srgbClr val="002970"/>
                </a:solidFill>
                <a:latin typeface="Arial"/>
              </a:rPr>
              <a:t>FastAPI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38828" y="5815584"/>
            <a:ext cx="111099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38828" y="5815584"/>
            <a:ext cx="1110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80">
                <a:solidFill>
                  <a:srgbClr val="002970"/>
                </a:solidFill>
                <a:latin typeface="Arial"/>
              </a:rPr>
              <a:t>Python 3.13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559552" y="5815584"/>
            <a:ext cx="111099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559552" y="5815584"/>
            <a:ext cx="1110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80">
                <a:solidFill>
                  <a:srgbClr val="002970"/>
                </a:solidFill>
                <a:latin typeface="Arial"/>
              </a:rPr>
              <a:t>Postgres 17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780276" y="5815584"/>
            <a:ext cx="7223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80276" y="5815584"/>
            <a:ext cx="722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80">
                <a:solidFill>
                  <a:srgbClr val="002970"/>
                </a:solidFill>
                <a:latin typeface="Arial"/>
              </a:rPr>
              <a:t>Sarvam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612380" y="5815584"/>
            <a:ext cx="7223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12380" y="5815584"/>
            <a:ext cx="722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80">
                <a:solidFill>
                  <a:srgbClr val="002970"/>
                </a:solidFill>
                <a:latin typeface="Arial"/>
              </a:rPr>
              <a:t>Cognee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44484" y="5815584"/>
            <a:ext cx="48920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44484" y="5815584"/>
            <a:ext cx="48920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80">
                <a:solidFill>
                  <a:srgbClr val="002970"/>
                </a:solidFill>
                <a:latin typeface="Arial"/>
              </a:rPr>
              <a:t>n8n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Arial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40">
                <a:solidFill>
                  <a:srgbClr val="0077A8"/>
                </a:solidFill>
                <a:latin typeface="Arial"/>
              </a:rPr>
              <a:t>4 · UNIQUE SELLING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2970"/>
                </a:solidFill>
                <a:latin typeface="Arial"/>
              </a:rPr>
              <a:t>Every udhaar app serves the shopkeeper. We add the customer.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0077A8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10128" y="164592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0077A8"/>
                </a:solidFill>
                <a:latin typeface="Arial"/>
              </a:rPr>
              <a:t>DOWNLOADS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87568" y="164592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0077A8"/>
                </a:solidFill>
                <a:latin typeface="Arial"/>
              </a:rPr>
              <a:t>CUSTOMER HAS AN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0808" y="1645920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0077A8"/>
                </a:solidFill>
                <a:latin typeface="Arial"/>
              </a:rPr>
              <a:t>CUSTOMER CONFIRMS ENTRIES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56816"/>
            <a:ext cx="11057839" cy="19050"/>
          </a:xfrm>
          <a:prstGeom prst="rect">
            <a:avLst/>
          </a:prstGeom>
          <a:solidFill>
            <a:srgbClr val="00BA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1C1C"/>
                </a:solidFill>
                <a:latin typeface="Arial"/>
              </a:rPr>
              <a:t>Khatabook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28416" y="20299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5"/>
                </a:solidFill>
                <a:latin typeface="Arial"/>
              </a:rPr>
              <a:t>5 Cr+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05856" y="202996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B3261E"/>
                </a:solidFill>
                <a:latin typeface="Arial"/>
              </a:rPr>
              <a:t>No — SMS / WhatsApp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9096" y="2029968"/>
            <a:ext cx="277977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B3261E"/>
                </a:solidFill>
                <a:latin typeface="Arial"/>
              </a:rPr>
              <a:t>No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480818"/>
            <a:ext cx="11057839" cy="9525"/>
          </a:xfrm>
          <a:prstGeom prst="rect">
            <a:avLst/>
          </a:prstGeom>
          <a:solidFill>
            <a:srgbClr val="D9E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48716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1C1C"/>
                </a:solidFill>
                <a:latin typeface="Arial"/>
              </a:rPr>
              <a:t>OkCredit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28416" y="24871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5"/>
                </a:solidFill>
                <a:latin typeface="Arial"/>
              </a:rPr>
              <a:t>1 Cr+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05856" y="248716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B3261E"/>
                </a:solidFill>
                <a:latin typeface="Arial"/>
              </a:rPr>
              <a:t>No — “They don’t need the app”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9096" y="2487168"/>
            <a:ext cx="277977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B3261E"/>
                </a:solidFill>
                <a:latin typeface="Arial"/>
              </a:rPr>
              <a:t>No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938018"/>
            <a:ext cx="11057839" cy="9525"/>
          </a:xfrm>
          <a:prstGeom prst="rect">
            <a:avLst/>
          </a:prstGeom>
          <a:solidFill>
            <a:srgbClr val="D9E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94436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1C1C"/>
                </a:solidFill>
                <a:latin typeface="Arial"/>
              </a:rPr>
              <a:t>Paytm Business Khata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28416" y="2944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5"/>
                </a:solidFill>
                <a:latin typeface="Arial"/>
              </a:rPr>
              <a:t>Inside Paytm for Business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05856" y="294436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B3261E"/>
                </a:solidFill>
                <a:latin typeface="Arial"/>
              </a:rPr>
              <a:t>No — SMS with a pay link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9096" y="2944368"/>
            <a:ext cx="277977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B3261E"/>
                </a:solidFill>
                <a:latin typeface="Arial"/>
              </a:rPr>
              <a:t>No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95218"/>
            <a:ext cx="11057839" cy="9525"/>
          </a:xfrm>
          <a:prstGeom prst="rect">
            <a:avLst/>
          </a:prstGeom>
          <a:solidFill>
            <a:srgbClr val="D9E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40156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1C1C"/>
                </a:solidFill>
                <a:latin typeface="Arial"/>
              </a:rPr>
              <a:t>Done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28416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5"/>
                </a:solidFill>
                <a:latin typeface="Arial"/>
              </a:rPr>
              <a:t>100+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05856" y="340156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7E34"/>
                </a:solidFill>
                <a:latin typeface="Arial"/>
              </a:rPr>
              <a:t>Yes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9096" y="3401568"/>
            <a:ext cx="277977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E7E34"/>
                </a:solidFill>
                <a:latin typeface="Arial"/>
              </a:rPr>
              <a:t>Yes — by OTP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852418"/>
            <a:ext cx="11057839" cy="9525"/>
          </a:xfrm>
          <a:prstGeom prst="rect">
            <a:avLst/>
          </a:prstGeom>
          <a:solidFill>
            <a:srgbClr val="D9E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75488" y="3858768"/>
            <a:ext cx="11240719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85876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2970"/>
                </a:solidFill>
                <a:latin typeface="Arial"/>
              </a:rPr>
              <a:t>BAHI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8416" y="38587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B667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05856" y="385876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E7E34"/>
                </a:solidFill>
                <a:latin typeface="Arial"/>
              </a:rPr>
              <a:t>Yes — inside the Paytm app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69096" y="3858768"/>
            <a:ext cx="277977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E7E34"/>
                </a:solidFill>
                <a:latin typeface="Arial"/>
              </a:rPr>
              <a:t>Yes — one tap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4617720"/>
            <a:ext cx="3503066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5528" y="4828032"/>
            <a:ext cx="365760" cy="38100"/>
          </a:xfrm>
          <a:prstGeom prst="rect">
            <a:avLst/>
          </a:prstGeom>
          <a:solidFill>
            <a:srgbClr val="00BA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8" y="4956048"/>
            <a:ext cx="304586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2970"/>
                </a:solidFill>
                <a:latin typeface="Arial"/>
              </a:rPr>
              <a:t>Two-sided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5B6675"/>
                </a:solidFill>
                <a:latin typeface="Arial"/>
              </a:rPr>
              <a:t>An entry becomes a fact only when the customer confirms it.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44314" y="4617720"/>
            <a:ext cx="3503066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914" y="4828032"/>
            <a:ext cx="365760" cy="38100"/>
          </a:xfrm>
          <a:prstGeom prst="rect">
            <a:avLst/>
          </a:prstGeom>
          <a:solidFill>
            <a:srgbClr val="00BA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914" y="4956048"/>
            <a:ext cx="304586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2970"/>
                </a:solidFill>
                <a:latin typeface="Arial"/>
              </a:rPr>
              <a:t>Voice-first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5B6675"/>
                </a:solidFill>
                <a:latin typeface="Arial"/>
              </a:rPr>
              <a:t>Spoken to the Soundbox already on the counter. No typing.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21700" y="4617720"/>
            <a:ext cx="3503066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350300" y="4828032"/>
            <a:ext cx="365760" cy="38100"/>
          </a:xfrm>
          <a:prstGeom prst="rect">
            <a:avLst/>
          </a:prstGeom>
          <a:solidFill>
            <a:srgbClr val="00BA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50300" y="4956048"/>
            <a:ext cx="304586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2970"/>
                </a:solidFill>
                <a:latin typeface="Arial"/>
              </a:rPr>
              <a:t>Timed per person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5B6675"/>
                </a:solidFill>
                <a:latin typeface="Arial"/>
              </a:rPr>
              <a:t>Reminders follow each customer’s own repayment pattern.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638251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Arial"/>
              </a:rPr>
              <a:t>Sources: Google Play listings, okcredit.in, khatabook.com and business.paytm.com, checked 23 Sep 2026.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Arial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40">
                <a:solidFill>
                  <a:srgbClr val="0077A8"/>
                </a:solidFill>
                <a:latin typeface="Arial"/>
              </a:rPr>
              <a:t>5 · IMPACT &amp;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2970"/>
                </a:solidFill>
                <a:latin typeface="Arial"/>
              </a:rPr>
              <a:t>Fewer reminders, sent only to people who are actually late.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3429000" cy="4434840"/>
          </a:xfrm>
          <a:prstGeom prst="roundRect">
            <a:avLst>
              <a:gd name="adj" fmla="val 6000"/>
            </a:avLst>
          </a:prstGeom>
          <a:solidFill>
            <a:srgbClr val="0029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057400"/>
            <a:ext cx="278892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4 of 38</a:t>
            </a:r>
          </a:p>
          <a:p>
            <a:pPr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customers who owe get a reminder tonight.</a:t>
            </a:r>
          </a:p>
          <a:p>
            <a:pPr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0">
                <a:solidFill>
                  <a:srgbClr val="C9D8EE"/>
                </a:solidFill>
                <a:latin typeface="Arial"/>
              </a:rPr>
              <a:t>The other 34 are not late by their own pattern, so they hear nothing.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548640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FA4C6"/>
                </a:solidFill>
                <a:latin typeface="Arial"/>
              </a:rPr>
              <a:t>Our demo shop: 60 customers, six months of synthetic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645920"/>
            <a:ext cx="229301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98848" y="1901952"/>
            <a:ext cx="365760" cy="38100"/>
          </a:xfrm>
          <a:prstGeom prst="rect">
            <a:avLst/>
          </a:prstGeom>
          <a:solidFill>
            <a:srgbClr val="00BA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8" y="2057400"/>
            <a:ext cx="183581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2970"/>
                </a:solidFill>
                <a:latin typeface="Arial"/>
              </a:rPr>
              <a:t>For the shopkeeper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Stops chasing people who always pay.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Spots the ones who are drifting.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Records by voice, so the queue keeps moving.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1002" y="1645920"/>
            <a:ext cx="229301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29602" y="1901952"/>
            <a:ext cx="365760" cy="38100"/>
          </a:xfrm>
          <a:prstGeom prst="rect">
            <a:avLst/>
          </a:prstGeom>
          <a:solidFill>
            <a:srgbClr val="00BA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29602" y="2057400"/>
            <a:ext cx="183581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2970"/>
                </a:solidFill>
                <a:latin typeface="Arial"/>
              </a:rPr>
              <a:t>For the customer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Sees his total across every shop.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Has proof of every entry.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Is reminded privately, not at the counter.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1756" y="1645920"/>
            <a:ext cx="229301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60356" y="1901952"/>
            <a:ext cx="365760" cy="38100"/>
          </a:xfrm>
          <a:prstGeom prst="rect">
            <a:avLst/>
          </a:prstGeom>
          <a:solidFill>
            <a:srgbClr val="00BA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60356" y="2057400"/>
            <a:ext cx="183581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2970"/>
                </a:solidFill>
                <a:latin typeface="Arial"/>
              </a:rPr>
              <a:t>For Paytm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Udhaar settled in cash moves to UPI.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A daily reason to use the Soundbox.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A new reason to open the Paytm app.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8251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Arial"/>
              </a:rPr>
              <a:t>These are the outcomes we expect; a pilot would measure them. “4 of 38” is computed from our synthetic demo shop.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Arial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40">
                <a:solidFill>
                  <a:srgbClr val="0077A8"/>
                </a:solidFill>
                <a:latin typeface="Arial"/>
              </a:rPr>
              <a:t>6 ·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2970"/>
                </a:solidFill>
                <a:latin typeface="Arial"/>
              </a:rPr>
              <a:t>Free for both sides. Paytm gains through the Soundbox.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68122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2423160"/>
            <a:ext cx="1463040" cy="914400"/>
          </a:xfrm>
          <a:prstGeom prst="roundRect">
            <a:avLst>
              <a:gd name="adj" fmla="val 12000"/>
            </a:avLst>
          </a:prstGeom>
          <a:solidFill>
            <a:srgbClr val="EA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2423160"/>
            <a:ext cx="124358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2970"/>
                </a:solidFill>
                <a:latin typeface="Arial"/>
              </a:rPr>
              <a:t>Customer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Arial"/>
              </a:rPr>
              <a:t>pays nothing extra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36976" y="2423160"/>
            <a:ext cx="1463040" cy="914400"/>
          </a:xfrm>
          <a:prstGeom prst="roundRect">
            <a:avLst>
              <a:gd name="adj" fmla="val 12000"/>
            </a:avLst>
          </a:prstGeom>
          <a:solidFill>
            <a:srgbClr val="EA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6704" y="2423160"/>
            <a:ext cx="124358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2970"/>
                </a:solidFill>
                <a:latin typeface="Arial"/>
              </a:rPr>
              <a:t>Shopkeeper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5B6675"/>
                </a:solidFill>
                <a:latin typeface="Arial"/>
              </a:rPr>
              <a:t>pays nothing extra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41848" y="2423160"/>
            <a:ext cx="1463040" cy="914400"/>
          </a:xfrm>
          <a:prstGeom prst="roundRect">
            <a:avLst>
              <a:gd name="adj" fmla="val 12000"/>
            </a:avLst>
          </a:prstGeom>
          <a:solidFill>
            <a:srgbClr val="0029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51576" y="2423160"/>
            <a:ext cx="124358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Paytm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C9D8EE"/>
                </a:solidFill>
                <a:latin typeface="Arial"/>
              </a:rPr>
              <a:t>UPI + Soundbox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77440" y="2880360"/>
            <a:ext cx="786384" cy="0"/>
          </a:xfrm>
          <a:prstGeom prst="line">
            <a:avLst/>
          </a:prstGeom>
          <a:ln w="25400">
            <a:solidFill>
              <a:srgbClr val="002970"/>
            </a:solidFill>
            <a:tailEnd type="triangle" w="med" len="med"/>
          </a:ln>
        </p:spPr>
      </p:cxnSp>
      <p:sp>
        <p:nvSpPr>
          <p:cNvPr id="13" name="TextBox 12"/>
          <p:cNvSpPr txBox="1"/>
          <p:nvPr/>
        </p:nvSpPr>
        <p:spPr>
          <a:xfrm>
            <a:off x="2304288" y="1947672"/>
            <a:ext cx="932688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2970"/>
                </a:solidFill>
                <a:latin typeface="Arial"/>
              </a:rPr>
              <a:t>clears udhaar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2970"/>
                </a:solidFill>
                <a:latin typeface="Arial"/>
              </a:rPr>
              <a:t>by UPI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73168" y="2880360"/>
            <a:ext cx="795528" cy="0"/>
          </a:xfrm>
          <a:prstGeom prst="line">
            <a:avLst/>
          </a:prstGeom>
          <a:ln w="25400">
            <a:solidFill>
              <a:srgbClr val="002970"/>
            </a:solidFill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4700016" y="1947672"/>
            <a:ext cx="941832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2970"/>
                </a:solidFill>
                <a:latin typeface="Arial"/>
              </a:rPr>
              <a:t>keeps his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2970"/>
                </a:solidFill>
                <a:latin typeface="Arial"/>
              </a:rPr>
              <a:t>Soundbox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023360"/>
            <a:ext cx="68122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02970"/>
                </a:solidFill>
                <a:latin typeface="Arial"/>
              </a:rPr>
              <a:t>What Paytm gets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1">
                <a:solidFill>
                  <a:srgbClr val="0077A8"/>
                </a:solidFill>
                <a:latin typeface="Arial"/>
              </a:rPr>
              <a:t>—  </a:t>
            </a:r>
            <a:r>
              <a:rPr sz="1300" b="0">
                <a:solidFill>
                  <a:srgbClr val="1C1C1C"/>
                </a:solidFill>
                <a:latin typeface="Arial"/>
              </a:rPr>
              <a:t>Udhaar repayments move from cash to Paytm UPI.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1">
                <a:solidFill>
                  <a:srgbClr val="0077A8"/>
                </a:solidFill>
                <a:latin typeface="Arial"/>
              </a:rPr>
              <a:t>—  </a:t>
            </a:r>
            <a:r>
              <a:rPr sz="1300" b="0">
                <a:solidFill>
                  <a:srgbClr val="1C1C1C"/>
                </a:solidFill>
                <a:latin typeface="Arial"/>
              </a:rPr>
              <a:t>A reason for merchants to keep their Soundbox subscription.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1">
                <a:solidFill>
                  <a:srgbClr val="0077A8"/>
                </a:solidFill>
                <a:latin typeface="Arial"/>
              </a:rPr>
              <a:t>—  </a:t>
            </a:r>
            <a:r>
              <a:rPr sz="1300" b="0">
                <a:solidFill>
                  <a:srgbClr val="1C1C1C"/>
                </a:solidFill>
                <a:latin typeface="Arial"/>
              </a:rPr>
              <a:t>Later, with consent: a repayment history for people with no credit file. We only record it — licensed partners would lend.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53528" y="1645920"/>
            <a:ext cx="3971239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7848" y="1874520"/>
            <a:ext cx="3422599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2970"/>
                </a:solidFill>
                <a:latin typeface="Arial"/>
              </a:rPr>
              <a:t>1.57 Cr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storefronts already run a Paytm Soundbox — the counter BAHI lives on.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</a:pPr>
            <a:r>
              <a:rPr sz="950" b="0">
                <a:solidFill>
                  <a:srgbClr val="8B95A5"/>
                </a:solidFill>
                <a:latin typeface="Arial"/>
              </a:rPr>
              <a:t>Source: Paytm Q1 FY27 earnings release, Jul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53528" y="3977640"/>
            <a:ext cx="3971239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7848" y="4206240"/>
            <a:ext cx="3422599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2970"/>
                </a:solidFill>
                <a:latin typeface="Arial"/>
              </a:rPr>
              <a:t>₹116 Cr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Khatabook’s FY24 loss, on ₹102.7 Cr revenue. Charging for a ledger has not worked, so we don’t.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</a:pPr>
            <a:r>
              <a:rPr sz="950" b="0">
                <a:solidFill>
                  <a:srgbClr val="8B95A5"/>
                </a:solidFill>
                <a:latin typeface="Arial"/>
              </a:rPr>
              <a:t>Source: YourStory, Nov 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Arial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40">
                <a:solidFill>
                  <a:srgbClr val="0077A8"/>
                </a:solidFill>
                <a:latin typeface="Arial"/>
              </a:rPr>
              <a:t>DESIGNED AROUND INDIAN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2970"/>
                </a:solidFill>
                <a:latin typeface="Arial"/>
              </a:rPr>
              <a:t>Four things BAHI refuses to do, each from Indian law.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2599867" cy="44988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8" y="1901952"/>
            <a:ext cx="420624" cy="420624"/>
          </a:xfrm>
          <a:prstGeom prst="ellipse">
            <a:avLst/>
          </a:prstGeom>
          <a:solidFill>
            <a:srgbClr val="0029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0195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514600"/>
            <a:ext cx="2142667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2970"/>
                </a:solidFill>
                <a:latin typeface="Arial"/>
              </a:rPr>
              <a:t>No due dates</a:t>
            </a:r>
          </a:p>
          <a:p>
            <a:pPr>
              <a:lnSpc>
                <a:spcPct val="138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Customers tap “Yes, I owe ₹200” — never “I’ll pay by the 10th”.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" y="4617720"/>
            <a:ext cx="2142667" cy="9525"/>
          </a:xfrm>
          <a:prstGeom prst="rect">
            <a:avLst/>
          </a:prstGeom>
          <a:solidFill>
            <a:srgbClr val="D9E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4754880"/>
            <a:ext cx="2142667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7A8"/>
                </a:solidFill>
                <a:latin typeface="Arial"/>
              </a:rPr>
              <a:t>Why:  </a:t>
            </a:r>
            <a:r>
              <a:rPr sz="1200" b="0">
                <a:solidFill>
                  <a:srgbClr val="5B6675"/>
                </a:solidFill>
                <a:latin typeface="Arial"/>
              </a:rPr>
              <a:t>A dated promise can be a promissory note, which the IT Act does not cover.</a:t>
            </a:r>
          </a:p>
          <a:p>
            <a:pPr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</a:pPr>
            <a:r>
              <a:rPr sz="1000" b="1">
                <a:solidFill>
                  <a:srgbClr val="0077A8"/>
                </a:solidFill>
                <a:latin typeface="Arial"/>
              </a:rPr>
              <a:t>IT Act 2000, s.1(4) &amp; First Schedule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6251" y="1645920"/>
            <a:ext cx="2599867" cy="44988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14851" y="1901952"/>
            <a:ext cx="420624" cy="420624"/>
          </a:xfrm>
          <a:prstGeom prst="ellipse">
            <a:avLst/>
          </a:prstGeom>
          <a:solidFill>
            <a:srgbClr val="0029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4851" y="190195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4851" y="2514600"/>
            <a:ext cx="2142667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2970"/>
                </a:solidFill>
                <a:latin typeface="Arial"/>
              </a:rPr>
              <a:t>No fees, no interest</a:t>
            </a:r>
          </a:p>
          <a:p>
            <a:pPr>
              <a:lnSpc>
                <a:spcPct val="138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Never a rupee above the price. There is no fee field anywhere.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4851" y="4617720"/>
            <a:ext cx="2142667" cy="9525"/>
          </a:xfrm>
          <a:prstGeom prst="rect">
            <a:avLst/>
          </a:prstGeom>
          <a:solidFill>
            <a:srgbClr val="D9E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4851" y="4754880"/>
            <a:ext cx="2142667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7A8"/>
                </a:solidFill>
                <a:latin typeface="Arial"/>
              </a:rPr>
              <a:t>Why:  </a:t>
            </a:r>
            <a:r>
              <a:rPr sz="1200" b="0">
                <a:solidFill>
                  <a:srgbClr val="5B6675"/>
                </a:solidFill>
                <a:latin typeface="Arial"/>
              </a:rPr>
              <a:t>Money-lending laws define a loan by the interest it carries.</a:t>
            </a:r>
          </a:p>
          <a:p>
            <a:pPr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</a:pPr>
            <a:r>
              <a:rPr sz="1000" b="1">
                <a:solidFill>
                  <a:srgbClr val="0077A8"/>
                </a:solidFill>
                <a:latin typeface="Arial"/>
              </a:rPr>
              <a:t>e.g. Karnataka Money Lenders Act 1961, s.2(9)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4" y="1645920"/>
            <a:ext cx="2599867" cy="44988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34174" y="1901952"/>
            <a:ext cx="420624" cy="420624"/>
          </a:xfrm>
          <a:prstGeom prst="ellipse">
            <a:avLst/>
          </a:prstGeom>
          <a:solidFill>
            <a:srgbClr val="0029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4174" y="190195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4" y="2514600"/>
            <a:ext cx="2142667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2970"/>
                </a:solidFill>
                <a:latin typeface="Arial"/>
              </a:rPr>
              <a:t>No debt kept alive forever</a:t>
            </a:r>
          </a:p>
          <a:p>
            <a:pPr>
              <a:lnSpc>
                <a:spcPct val="138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We never ask a customer to re-confirm an old debt just to keep it alive.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34174" y="4617720"/>
            <a:ext cx="2142667" cy="9525"/>
          </a:xfrm>
          <a:prstGeom prst="rect">
            <a:avLst/>
          </a:prstGeom>
          <a:solidFill>
            <a:srgbClr val="D9E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4174" y="4754880"/>
            <a:ext cx="2142667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7A8"/>
                </a:solidFill>
                <a:latin typeface="Arial"/>
              </a:rPr>
              <a:t>Why:  </a:t>
            </a:r>
            <a:r>
              <a:rPr sz="1200" b="0">
                <a:solidFill>
                  <a:srgbClr val="5B6675"/>
                </a:solidFill>
                <a:latin typeface="Arial"/>
              </a:rPr>
              <a:t>Each written acknowledgment restarts the 3-year limit.</a:t>
            </a:r>
          </a:p>
          <a:p>
            <a:pPr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</a:pPr>
            <a:r>
              <a:rPr sz="1000" b="1">
                <a:solidFill>
                  <a:srgbClr val="0077A8"/>
                </a:solidFill>
                <a:latin typeface="Arial"/>
              </a:rPr>
              <a:t>Limitation Act 1963, s.18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4897" y="1645920"/>
            <a:ext cx="2599867" cy="44988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53497" y="1901952"/>
            <a:ext cx="420624" cy="420624"/>
          </a:xfrm>
          <a:prstGeom prst="ellipse">
            <a:avLst/>
          </a:prstGeom>
          <a:solidFill>
            <a:srgbClr val="0029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53497" y="190195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3497" y="2514600"/>
            <a:ext cx="2142667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2970"/>
                </a:solidFill>
                <a:latin typeface="Arial"/>
              </a:rPr>
              <a:t>No shaming, no pressure</a:t>
            </a:r>
          </a:p>
          <a:p>
            <a:pPr>
              <a:lnSpc>
                <a:spcPct val="138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No defaulter lists, no public alerts, no “demand” button.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53497" y="4617720"/>
            <a:ext cx="2142667" cy="9525"/>
          </a:xfrm>
          <a:prstGeom prst="rect">
            <a:avLst/>
          </a:prstGeom>
          <a:solidFill>
            <a:srgbClr val="D9E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53497" y="4754880"/>
            <a:ext cx="2142667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7A8"/>
                </a:solidFill>
                <a:latin typeface="Arial"/>
              </a:rPr>
              <a:t>Why:  </a:t>
            </a:r>
            <a:r>
              <a:rPr sz="1200" b="0">
                <a:solidFill>
                  <a:srgbClr val="5B6675"/>
                </a:solidFill>
                <a:latin typeface="Arial"/>
              </a:rPr>
              <a:t>Public labels risk defamation; repeated nudges for gain are “nagging”.</a:t>
            </a:r>
          </a:p>
          <a:p>
            <a:pPr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</a:pPr>
            <a:r>
              <a:rPr sz="1000" b="1">
                <a:solidFill>
                  <a:srgbClr val="0077A8"/>
                </a:solidFill>
                <a:latin typeface="Arial"/>
              </a:rPr>
              <a:t>BNS 2023, s.356  ·  CCPA Dark Patterns Guidelines 2023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38251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Arial"/>
              </a:rPr>
              <a:t>Each rule is enforced in the database schema and the API, not only on screen. Full citations on slide 10.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Arial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40">
                <a:solidFill>
                  <a:srgbClr val="0077A8"/>
                </a:solidFill>
                <a:latin typeface="Arial"/>
              </a:rPr>
              <a:t>ON 3 OCTOBER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2970"/>
                </a:solidFill>
                <a:latin typeface="Arial"/>
              </a:rPr>
              <a:t>A 40-second demo, and what could go wrong.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4343400" cy="44988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0195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2970"/>
                </a:solidFill>
                <a:latin typeface="Arial"/>
              </a:rPr>
              <a:t>The demo</a:t>
            </a:r>
          </a:p>
        </p:txBody>
      </p:sp>
      <p:sp>
        <p:nvSpPr>
          <p:cNvPr id="7" name="Oval 6"/>
          <p:cNvSpPr/>
          <p:nvPr/>
        </p:nvSpPr>
        <p:spPr>
          <a:xfrm>
            <a:off x="841248" y="2423160"/>
            <a:ext cx="310896" cy="310896"/>
          </a:xfrm>
          <a:prstGeom prst="ellipse">
            <a:avLst/>
          </a:prstGeom>
          <a:solidFill>
            <a:srgbClr val="0029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231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404872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The shopkeeper speaks an entry.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2971800"/>
            <a:ext cx="310896" cy="310896"/>
          </a:xfrm>
          <a:prstGeom prst="ellipse">
            <a:avLst/>
          </a:prstGeom>
          <a:solidFill>
            <a:srgbClr val="0029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97180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953512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A judge’s phone buzzes.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" y="3520440"/>
            <a:ext cx="310896" cy="310896"/>
          </a:xfrm>
          <a:prstGeom prst="ellipse">
            <a:avLst/>
          </a:prstGeom>
          <a:solidFill>
            <a:srgbClr val="0029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52044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502152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The judge taps Confirm.</a:t>
            </a:r>
          </a:p>
        </p:txBody>
      </p:sp>
      <p:sp>
        <p:nvSpPr>
          <p:cNvPr id="16" name="Oval 15"/>
          <p:cNvSpPr/>
          <p:nvPr/>
        </p:nvSpPr>
        <p:spPr>
          <a:xfrm>
            <a:off x="841248" y="4069080"/>
            <a:ext cx="310896" cy="310896"/>
          </a:xfrm>
          <a:prstGeom prst="ellipse">
            <a:avLst/>
          </a:prstGeom>
          <a:solidFill>
            <a:srgbClr val="0029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0690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4050792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Both books update, live.</a:t>
            </a:r>
          </a:p>
        </p:txBody>
      </p:sp>
      <p:sp>
        <p:nvSpPr>
          <p:cNvPr id="19" name="Oval 18"/>
          <p:cNvSpPr/>
          <p:nvPr/>
        </p:nvSpPr>
        <p:spPr>
          <a:xfrm>
            <a:off x="841248" y="4617720"/>
            <a:ext cx="310896" cy="310896"/>
          </a:xfrm>
          <a:prstGeom prst="ellipse">
            <a:avLst/>
          </a:prstGeom>
          <a:solidFill>
            <a:srgbClr val="0029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4599432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The agent says who gets a reminder tonight, and why.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486400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5A5"/>
                </a:solidFill>
                <a:latin typeface="Arial"/>
              </a:rPr>
              <a:t>All data is synthetic and labelled on screen. A browser microphone stands in for the Soundbox.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4648" y="16459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0077A8"/>
                </a:solidFill>
                <a:latin typeface="Arial"/>
              </a:rPr>
              <a:t>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24928" y="1645920"/>
            <a:ext cx="4199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0077A8"/>
                </a:solidFill>
                <a:latin typeface="Arial"/>
              </a:rPr>
              <a:t>HOW WE HANDLE 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84648" y="1956816"/>
            <a:ext cx="6440119" cy="19050"/>
          </a:xfrm>
          <a:prstGeom prst="rect">
            <a:avLst/>
          </a:prstGeom>
          <a:solidFill>
            <a:srgbClr val="00BA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84648" y="2103120"/>
            <a:ext cx="2057400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2970"/>
                </a:solidFill>
                <a:latin typeface="Arial"/>
              </a:rPr>
              <a:t>Speech mishears the amount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2103120"/>
            <a:ext cx="4199839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675"/>
                </a:solidFill>
                <a:latin typeface="Arial"/>
              </a:rPr>
              <a:t>The amount is shown before sending; “Say it again” is one tap. No model ever writes the number.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84648" y="2980944"/>
            <a:ext cx="6440119" cy="9525"/>
          </a:xfrm>
          <a:prstGeom prst="rect">
            <a:avLst/>
          </a:prstGeom>
          <a:solidFill>
            <a:srgbClr val="D9E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84648" y="3090672"/>
            <a:ext cx="2057400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2970"/>
                </a:solidFill>
                <a:latin typeface="Arial"/>
              </a:rPr>
              <a:t>Venue wifi fails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4928" y="3090672"/>
            <a:ext cx="4199839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675"/>
                </a:solidFill>
                <a:latin typeface="Arial"/>
              </a:rPr>
              <a:t>Deployed publicly, so the judge’s phone uses its own data. Speech is cached offline.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648" y="3968496"/>
            <a:ext cx="6440119" cy="9525"/>
          </a:xfrm>
          <a:prstGeom prst="rect">
            <a:avLst/>
          </a:prstGeom>
          <a:solidFill>
            <a:srgbClr val="D9E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84648" y="4078224"/>
            <a:ext cx="2057400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2970"/>
                </a:solidFill>
                <a:latin typeface="Arial"/>
              </a:rPr>
              <a:t>The customer never confirms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24928" y="4078224"/>
            <a:ext cx="4199839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675"/>
                </a:solidFill>
                <a:latin typeface="Arial"/>
              </a:rPr>
              <a:t>The entry stays in the shopkeeper’s book, marked unconfirmed.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648" y="4956048"/>
            <a:ext cx="6440119" cy="9525"/>
          </a:xfrm>
          <a:prstGeom prst="rect">
            <a:avLst/>
          </a:prstGeom>
          <a:solidFill>
            <a:srgbClr val="D9E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84648" y="5065776"/>
            <a:ext cx="2057400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2970"/>
                </a:solidFill>
                <a:latin typeface="Arial"/>
              </a:rPr>
              <a:t>Reminders feel like pressure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24928" y="5065776"/>
            <a:ext cx="4199839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675"/>
                </a:solidFill>
                <a:latin typeface="Arial"/>
              </a:rPr>
              <a:t>Timed per person, private and rare. There is no demand button.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Arial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40">
                <a:solidFill>
                  <a:srgbClr val="0077A8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2970"/>
                </a:solidFill>
                <a:latin typeface="Arial"/>
              </a:rPr>
              <a:t>Where every fact in this deck comes from.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5346039" cy="44988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78727" y="1645920"/>
            <a:ext cx="5346039" cy="44988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74520"/>
            <a:ext cx="4797399" cy="4133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spc="120">
                <a:solidFill>
                  <a:srgbClr val="0077A8"/>
                </a:solidFill>
                <a:latin typeface="Arial"/>
              </a:rPr>
              <a:t>MARKET AND PRODUCTS</a:t>
            </a:r>
          </a:p>
          <a:p>
            <a:pPr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1C1C1C"/>
                </a:solidFill>
                <a:latin typeface="Arial"/>
              </a:rPr>
              <a:t>Khatabook — 5 Cr+ downloads; customers get SMS / WhatsApp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Arial"/>
                <a:hlinkClick r:id="rId2"/>
              </a:rPr>
              <a:t>Google Play, checked 23 Sep 2026</a:t>
            </a:r>
          </a:p>
          <a:p>
            <a:pPr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1C1C1C"/>
                </a:solidFill>
                <a:latin typeface="Arial"/>
              </a:rPr>
              <a:t>OkCredit — 1 Cr+ downloads; “They don’t need the app”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Arial"/>
                <a:hlinkClick r:id="rId3"/>
              </a:rPr>
              <a:t>Google Play and okcredit.in, checked 23 Sep 2026</a:t>
            </a:r>
          </a:p>
          <a:p>
            <a:pPr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1C1C1C"/>
                </a:solidFill>
                <a:latin typeface="Arial"/>
              </a:rPr>
              <a:t>Done — 100+ downloads; entries confirmed by OTP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Arial"/>
                <a:hlinkClick r:id="rId4"/>
              </a:rPr>
              <a:t>Google Play, checked 23 Sep 2026</a:t>
            </a:r>
          </a:p>
          <a:p>
            <a:pPr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1C1C1C"/>
                </a:solidFill>
                <a:latin typeface="Arial"/>
              </a:rPr>
              <a:t>Paytm Business Khata — customer reminders by SMS with a pay link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Arial"/>
                <a:hlinkClick r:id="rId5"/>
              </a:rPr>
              <a:t>business.paytm.com, checked 23 Sep 2026</a:t>
            </a:r>
          </a:p>
          <a:p>
            <a:pPr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1C1C1C"/>
                </a:solidFill>
                <a:latin typeface="Arial"/>
              </a:rPr>
              <a:t>Paytm Soundbox “deployed at 1.57 Cr storefronts”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Arial"/>
                <a:hlinkClick r:id="rId6"/>
              </a:rPr>
              <a:t>Paytm Q1 FY2027 earnings release, 20 Jul 2026</a:t>
            </a:r>
          </a:p>
          <a:p>
            <a:pPr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1C1C1C"/>
                </a:solidFill>
                <a:latin typeface="Arial"/>
              </a:rPr>
              <a:t>Khatabook FY24 — ₹102.7 Cr revenue, ₹116 Cr loss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Arial"/>
                <a:hlinkClick r:id="rId7"/>
              </a:rPr>
              <a:t>YourStory, Nov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1874520"/>
            <a:ext cx="4797399" cy="4133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spc="120">
                <a:solidFill>
                  <a:srgbClr val="0077A8"/>
                </a:solidFill>
                <a:latin typeface="Arial"/>
              </a:rPr>
              <a:t>LAW</a:t>
            </a:r>
          </a:p>
          <a:p>
            <a:pPr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1C1C1C"/>
                </a:solidFill>
                <a:latin typeface="Arial"/>
              </a:rPr>
              <a:t>Information Technology Act 2000, s.1(4) and First Schedule, entry 1 (as amended 2022)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Arial"/>
              </a:rPr>
              <a:t>Negotiable instruments other than cheques are outside the Act.</a:t>
            </a:r>
          </a:p>
          <a:p>
            <a:pPr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1C1C1C"/>
                </a:solidFill>
                <a:latin typeface="Arial"/>
              </a:rPr>
              <a:t>Karnataka Money Lenders Act 1961, s.2(9)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Arial"/>
              </a:rPr>
              <a:t>A “loan” is an advance at interest, of money or in kind.</a:t>
            </a:r>
          </a:p>
          <a:p>
            <a:pPr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1C1C1C"/>
                </a:solidFill>
                <a:latin typeface="Arial"/>
              </a:rPr>
              <a:t>Limitation Act 1963, s.18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Arial"/>
              </a:rPr>
              <a:t>A written acknowledgment starts a fresh limitation period.</a:t>
            </a:r>
          </a:p>
          <a:p>
            <a:pPr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1C1C1C"/>
                </a:solidFill>
                <a:latin typeface="Arial"/>
              </a:rPr>
              <a:t>Bharatiya Nyaya Sanhita 2023, s.356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Arial"/>
              </a:rPr>
              <a:t>Defamation.</a:t>
            </a:r>
          </a:p>
          <a:p>
            <a:pPr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1C1C1C"/>
                </a:solidFill>
                <a:latin typeface="Arial"/>
              </a:rPr>
              <a:t>CCPA Guidelines for Prevention and Regulation of Dark Patterns 2023, Annexure 1, item 10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5B6675"/>
                </a:solidFill>
                <a:latin typeface="Arial"/>
              </a:rPr>
              <a:t>“Nagging”.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Arial"/>
              </a:rPr>
              <a:t>Every shop and customer name in this deck is synthetic demo data. Click a source line to open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Arial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77A8"/>
      </a:hlink>
      <a:folHlink>
        <a:srgbClr val="0077A8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