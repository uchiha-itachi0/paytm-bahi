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9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160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048256"/>
            <a:ext cx="10058400" cy="1280160"/>
          </a:xfrm>
          <a:prstGeom prst="rect">
            <a:avLst/>
          </a:prstGeom>
          <a:noFill/>
        </p:spPr>
        <p:txBody>
          <a:bodyPr wrap="square" lIns="0" rIns="0" tIns="0" bIns="0" anchor="t">
            <a:spAutoFit/>
          </a:bodyPr>
          <a:lstStyle/>
          <a:p>
            <a:pPr>
              <a:lnSpc>
                <a:spcPct val="98000"/>
              </a:lnSpc>
              <a:spcBef>
                <a:spcPts val="0"/>
              </a:spcBef>
              <a:spcAft>
                <a:spcPts val="0"/>
              </a:spcAft>
            </a:pPr>
            <a:r>
              <a:rPr sz="7400" b="1" i="0">
                <a:solidFill>
                  <a:srgbClr val="FFFFFF"/>
                </a:solidFill>
                <a:latin typeface="Arial"/>
              </a:rPr>
              <a:t>BAHI</a:t>
            </a:r>
          </a:p>
        </p:txBody>
      </p:sp>
      <p:sp>
        <p:nvSpPr>
          <p:cNvPr id="5" name="Rectangle 4"/>
          <p:cNvSpPr/>
          <p:nvPr/>
        </p:nvSpPr>
        <p:spPr>
          <a:xfrm>
            <a:off x="566928" y="3182112"/>
            <a:ext cx="1280160" cy="444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438144"/>
            <a:ext cx="9692640" cy="566928"/>
          </a:xfrm>
          <a:prstGeom prst="rect">
            <a:avLst/>
          </a:prstGeom>
          <a:noFill/>
        </p:spPr>
        <p:txBody>
          <a:bodyPr wrap="square" lIns="0" rIns="0" tIns="0" bIns="0" anchor="t">
            <a:spAutoFit/>
          </a:bodyPr>
          <a:lstStyle/>
          <a:p>
            <a:pPr>
              <a:lnSpc>
                <a:spcPct val="114000"/>
              </a:lnSpc>
              <a:spcBef>
                <a:spcPts val="0"/>
              </a:spcBef>
              <a:spcAft>
                <a:spcPts val="0"/>
              </a:spcAft>
            </a:pPr>
            <a:r>
              <a:rPr sz="2500" b="1" i="0">
                <a:solidFill>
                  <a:srgbClr val="FFFFFF"/>
                </a:solidFill>
                <a:latin typeface="Arial"/>
              </a:rPr>
              <a:t>The udhaar book both sides can see.</a:t>
            </a:r>
          </a:p>
        </p:txBody>
      </p:sp>
      <p:sp>
        <p:nvSpPr>
          <p:cNvPr id="7" name="TextBox 6"/>
          <p:cNvSpPr txBox="1"/>
          <p:nvPr/>
        </p:nvSpPr>
        <p:spPr>
          <a:xfrm>
            <a:off x="566928" y="4133087"/>
            <a:ext cx="9509760" cy="1097280"/>
          </a:xfrm>
          <a:prstGeom prst="rect">
            <a:avLst/>
          </a:prstGeom>
          <a:noFill/>
        </p:spPr>
        <p:txBody>
          <a:bodyPr wrap="square" lIns="0" rIns="0" tIns="0" bIns="0" anchor="t">
            <a:spAutoFit/>
          </a:bodyPr>
          <a:lstStyle/>
          <a:p>
            <a:pPr>
              <a:lnSpc>
                <a:spcPct val="146000"/>
              </a:lnSpc>
              <a:spcBef>
                <a:spcPts val="0"/>
              </a:spcBef>
              <a:spcAft>
                <a:spcPts val="0"/>
              </a:spcAft>
            </a:pPr>
            <a:r>
              <a:rPr sz="1300" b="0" i="0">
                <a:solidFill>
                  <a:srgbClr val="AFC3E2"/>
                </a:solidFill>
                <a:latin typeface="Arial"/>
              </a:rPr>
              <a:t>A kirana shopkeeper records credit by speaking to his Soundbox. The customer confirms it on his own phone, sees what he owes across every shop, and clears it in one tap. Every night the agent works out, per person, when a reminder should go — and, far more often, when it should not.</a:t>
            </a:r>
          </a:p>
        </p:txBody>
      </p:sp>
      <p:sp>
        <p:nvSpPr>
          <p:cNvPr id="8" name="Rectangle 7"/>
          <p:cNvSpPr/>
          <p:nvPr/>
        </p:nvSpPr>
        <p:spPr>
          <a:xfrm>
            <a:off x="566928" y="5413248"/>
            <a:ext cx="11057839" cy="11430"/>
          </a:xfrm>
          <a:prstGeom prst="rect">
            <a:avLst/>
          </a:prstGeom>
          <a:solidFill>
            <a:srgbClr val="1C4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614416"/>
            <a:ext cx="11057839" cy="822960"/>
          </a:xfrm>
          <a:prstGeom prst="rect">
            <a:avLst/>
          </a:prstGeom>
          <a:noFill/>
        </p:spPr>
        <p:txBody>
          <a:bodyPr wrap="square" lIns="0" rIns="0" tIns="0" bIns="0" anchor="t">
            <a:spAutoFit/>
          </a:bodyPr>
          <a:lstStyle/>
          <a:p>
            <a:pPr>
              <a:lnSpc>
                <a:spcPct val="134000"/>
              </a:lnSpc>
              <a:spcBef>
                <a:spcPts val="0"/>
              </a:spcBef>
              <a:spcAft>
                <a:spcPts val="0"/>
              </a:spcAft>
            </a:pPr>
            <a:r>
              <a:rPr sz="1150" b="1" i="0">
                <a:solidFill>
                  <a:srgbClr val="FFFFFF"/>
                </a:solidFill>
                <a:latin typeface="Arial"/>
              </a:rPr>
              <a:t>Paytm Build for India AI Hackathon  ·  Mumbai  ·  3 October 2026</a:t>
            </a:r>
          </a:p>
          <a:p>
            <a:pPr>
              <a:lnSpc>
                <a:spcPct val="134000"/>
              </a:lnSpc>
              <a:spcBef>
                <a:spcPts val="300"/>
              </a:spcBef>
              <a:spcAft>
                <a:spcPts val="0"/>
              </a:spcAft>
            </a:pPr>
            <a:r>
              <a:rPr sz="1150" b="1" i="0">
                <a:solidFill>
                  <a:srgbClr val="00BAF2"/>
                </a:solidFill>
                <a:latin typeface="Arial"/>
              </a:rPr>
              <a:t>Track 2 — AI-Powered Financial Journeys</a:t>
            </a:r>
          </a:p>
          <a:p>
            <a:pPr>
              <a:lnSpc>
                <a:spcPct val="134000"/>
              </a:lnSpc>
              <a:spcBef>
                <a:spcPts val="300"/>
              </a:spcBef>
              <a:spcAft>
                <a:spcPts val="0"/>
              </a:spcAft>
            </a:pPr>
            <a:r>
              <a:rPr sz="1050" b="0" i="0">
                <a:solidFill>
                  <a:srgbClr val="8FA4C6"/>
                </a:solidFill>
                <a:latin typeface="Arial"/>
              </a:rPr>
              <a:t>Team Bitzlab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pPr>
              <a:lnSpc>
                <a:spcPct val="134000"/>
              </a:lnSpc>
              <a:spcBef>
                <a:spcPts val="0"/>
              </a:spcBef>
              <a:spcAft>
                <a:spcPts val="0"/>
              </a:spcAft>
            </a:pPr>
            <a:r>
              <a:rPr sz="950" b="1" i="0" spc="140">
                <a:solidFill>
                  <a:srgbClr val="0077A8"/>
                </a:solidFill>
                <a:latin typeface="Arial"/>
              </a:rPr>
              <a:t>1 · PROBLEM STATEMENT</a:t>
            </a:r>
          </a:p>
        </p:txBody>
      </p:sp>
      <p:sp>
        <p:nvSpPr>
          <p:cNvPr id="4" name="TextBox 3"/>
          <p:cNvSpPr txBox="1"/>
          <p:nvPr/>
        </p:nvSpPr>
        <p:spPr>
          <a:xfrm>
            <a:off x="566928" y="640080"/>
            <a:ext cx="11057839" cy="841248"/>
          </a:xfrm>
          <a:prstGeom prst="rect">
            <a:avLst/>
          </a:prstGeom>
          <a:noFill/>
        </p:spPr>
        <p:txBody>
          <a:bodyPr wrap="square" lIns="0" rIns="0" tIns="0" bIns="0" anchor="t">
            <a:spAutoFit/>
          </a:bodyPr>
          <a:lstStyle/>
          <a:p>
            <a:pPr>
              <a:lnSpc>
                <a:spcPct val="106000"/>
              </a:lnSpc>
              <a:spcBef>
                <a:spcPts val="0"/>
              </a:spcBef>
              <a:spcAft>
                <a:spcPts val="0"/>
              </a:spcAft>
            </a:pPr>
            <a:r>
              <a:rPr sz="3000" b="1" i="0">
                <a:solidFill>
                  <a:srgbClr val="002970"/>
                </a:solidFill>
                <a:latin typeface="Arial"/>
              </a:rPr>
              <a:t>The notebook has one author and two people’s money in it.</a:t>
            </a:r>
          </a:p>
        </p:txBody>
      </p:sp>
      <p:sp>
        <p:nvSpPr>
          <p:cNvPr id="5" name="TextBox 4"/>
          <p:cNvSpPr txBox="1"/>
          <p:nvPr/>
        </p:nvSpPr>
        <p:spPr>
          <a:xfrm>
            <a:off x="566928" y="1554480"/>
            <a:ext cx="10424160" cy="713232"/>
          </a:xfrm>
          <a:prstGeom prst="rect">
            <a:avLst/>
          </a:prstGeom>
          <a:noFill/>
        </p:spPr>
        <p:txBody>
          <a:bodyPr wrap="square" lIns="0" rIns="0" tIns="0" bIns="0" anchor="t">
            <a:spAutoFit/>
          </a:bodyPr>
          <a:lstStyle/>
          <a:p>
            <a:pPr>
              <a:lnSpc>
                <a:spcPct val="138000"/>
              </a:lnSpc>
              <a:spcBef>
                <a:spcPts val="0"/>
              </a:spcBef>
              <a:spcAft>
                <a:spcPts val="0"/>
              </a:spcAft>
            </a:pPr>
            <a:r>
              <a:rPr sz="1250" b="0" i="0">
                <a:solidFill>
                  <a:srgbClr val="5B6675"/>
                </a:solidFill>
                <a:latin typeface="Arial"/>
              </a:rPr>
              <a:t>About 1.3 crore kirana shops in India run a credit book by the till. It is written by one person, held by one person, and read by one person. The other party to every entry — the person whose debt it is — has no copy, no record and no way to disagree.</a:t>
            </a:r>
          </a:p>
        </p:txBody>
      </p:sp>
      <p:sp>
        <p:nvSpPr>
          <p:cNvPr id="6" name="Rounded Rectangle 5"/>
          <p:cNvSpPr/>
          <p:nvPr/>
        </p:nvSpPr>
        <p:spPr>
          <a:xfrm>
            <a:off x="566928"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The scale, and what nobody knows</a:t>
            </a:r>
          </a:p>
        </p:txBody>
      </p:sp>
      <p:sp>
        <p:nvSpPr>
          <p:cNvPr id="9" name="TextBox 8"/>
          <p:cNvSpPr txBox="1"/>
          <p:nvPr/>
        </p:nvSpPr>
        <p:spPr>
          <a:xfrm>
            <a:off x="749808"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1000" b="1" i="0">
                <a:solidFill>
                  <a:srgbClr val="1C1C1C"/>
                </a:solidFill>
                <a:latin typeface="Arial"/>
              </a:rPr>
              <a:t>~1.3 crore kirana stores in India. 88% of retail is unorganised and 95% of kirana transactions are under ₹200 (Invest India).</a:t>
            </a:r>
          </a:p>
          <a:p>
            <a:pPr>
              <a:lnSpc>
                <a:spcPct val="132000"/>
              </a:lnSpc>
              <a:spcBef>
                <a:spcPts val="0"/>
              </a:spcBef>
              <a:spcAft>
                <a:spcPts val="500"/>
              </a:spcAft>
            </a:pPr>
            <a:r>
              <a:rPr sz="1000" b="0" i="0">
                <a:solidFill>
                  <a:srgbClr val="5B6675"/>
                </a:solidFill>
                <a:latin typeface="Arial"/>
              </a:rPr>
              <a:t>A shop of 400 customers typically carries 30–60 on udhaar at any time.</a:t>
            </a:r>
          </a:p>
          <a:p>
            <a:pPr>
              <a:lnSpc>
                <a:spcPct val="132000"/>
              </a:lnSpc>
              <a:spcBef>
                <a:spcPts val="0"/>
              </a:spcBef>
              <a:spcAft>
                <a:spcPts val="500"/>
              </a:spcAft>
            </a:pPr>
            <a:r>
              <a:rPr sz="1000" b="1" i="0">
                <a:solidFill>
                  <a:srgbClr val="1C1C1C"/>
                </a:solidFill>
                <a:latin typeface="Arial"/>
              </a:rPr>
              <a:t>No credible figure exists for udhaar volume. Not from RBI, not the NSS, not any major consultancy — we looked hard. The largest pool of informal credit in the country is unmeasured.</a:t>
            </a:r>
          </a:p>
          <a:p>
            <a:pPr>
              <a:lnSpc>
                <a:spcPct val="132000"/>
              </a:lnSpc>
              <a:spcBef>
                <a:spcPts val="0"/>
              </a:spcBef>
              <a:spcAft>
                <a:spcPts val="500"/>
              </a:spcAft>
            </a:pPr>
            <a:r>
              <a:rPr sz="1000" b="0" i="0">
                <a:solidFill>
                  <a:srgbClr val="5B6675"/>
                </a:solidFill>
                <a:latin typeface="Arial"/>
              </a:rPr>
              <a:t>That absence is itself the finding.</a:t>
            </a:r>
          </a:p>
        </p:txBody>
      </p:sp>
      <p:sp>
        <p:nvSpPr>
          <p:cNvPr id="10" name="Rounded Rectangle 9"/>
          <p:cNvSpPr/>
          <p:nvPr/>
        </p:nvSpPr>
        <p:spPr>
          <a:xfrm>
            <a:off x="3386251"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69131"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9131"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What the shopkeeper cannot see</a:t>
            </a:r>
          </a:p>
        </p:txBody>
      </p:sp>
      <p:sp>
        <p:nvSpPr>
          <p:cNvPr id="13" name="TextBox 12"/>
          <p:cNvSpPr txBox="1"/>
          <p:nvPr/>
        </p:nvSpPr>
        <p:spPr>
          <a:xfrm>
            <a:off x="3569131"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1000" b="1" i="0">
                <a:solidFill>
                  <a:srgbClr val="1C1C1C"/>
                </a:solidFill>
                <a:latin typeface="Arial"/>
              </a:rPr>
              <a:t>Who is about to pay, and who is drifting away. They look identical in a notebook, so he treats them identically.</a:t>
            </a:r>
          </a:p>
          <a:p>
            <a:pPr>
              <a:lnSpc>
                <a:spcPct val="132000"/>
              </a:lnSpc>
              <a:spcBef>
                <a:spcPts val="0"/>
              </a:spcBef>
              <a:spcAft>
                <a:spcPts val="500"/>
              </a:spcAft>
            </a:pPr>
            <a:r>
              <a:rPr sz="1000" b="0" i="0">
                <a:solidFill>
                  <a:srgbClr val="5B6675"/>
                </a:solidFill>
                <a:latin typeface="Arial"/>
              </a:rPr>
              <a:t>Sharma has paid on day 9 for two years. Asked on day 4, he hears an accusation — and the relationship is the collateral.</a:t>
            </a:r>
          </a:p>
          <a:p>
            <a:pPr>
              <a:lnSpc>
                <a:spcPct val="132000"/>
              </a:lnSpc>
              <a:spcBef>
                <a:spcPts val="0"/>
              </a:spcBef>
              <a:spcAft>
                <a:spcPts val="500"/>
              </a:spcAft>
            </a:pPr>
            <a:r>
              <a:rPr sz="1000" b="0" i="0">
                <a:solidFill>
                  <a:srgbClr val="5B6675"/>
                </a:solidFill>
                <a:latin typeface="Arial"/>
              </a:rPr>
              <a:t>Patil has quietly reached day 40 — but he stopped coming in, so he is out of sight and gets asked nothing.</a:t>
            </a:r>
          </a:p>
          <a:p>
            <a:pPr>
              <a:lnSpc>
                <a:spcPct val="132000"/>
              </a:lnSpc>
              <a:spcBef>
                <a:spcPts val="0"/>
              </a:spcBef>
              <a:spcAft>
                <a:spcPts val="500"/>
              </a:spcAft>
            </a:pPr>
            <a:r>
              <a:rPr sz="1000" b="1" i="0">
                <a:solidFill>
                  <a:srgbClr val="1C1C1C"/>
                </a:solidFill>
                <a:latin typeface="Arial"/>
              </a:rPr>
              <a:t>The one who needs chasing is invisible; the one who doesn’t gets chased.</a:t>
            </a:r>
          </a:p>
        </p:txBody>
      </p:sp>
      <p:sp>
        <p:nvSpPr>
          <p:cNvPr id="14" name="Rounded Rectangle 13"/>
          <p:cNvSpPr/>
          <p:nvPr/>
        </p:nvSpPr>
        <p:spPr>
          <a:xfrm>
            <a:off x="6205574"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88454"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8454"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What the customer cannot see</a:t>
            </a:r>
          </a:p>
        </p:txBody>
      </p:sp>
      <p:sp>
        <p:nvSpPr>
          <p:cNvPr id="17" name="TextBox 16"/>
          <p:cNvSpPr txBox="1"/>
          <p:nvPr/>
        </p:nvSpPr>
        <p:spPr>
          <a:xfrm>
            <a:off x="6388454"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1000" b="1" i="0">
                <a:solidFill>
                  <a:srgbClr val="1C1C1C"/>
                </a:solidFill>
                <a:latin typeface="Arial"/>
              </a:rPr>
              <a:t>His own total. He owes at three shops and could not tell you the sum within ₹500.</a:t>
            </a:r>
          </a:p>
          <a:p>
            <a:pPr>
              <a:lnSpc>
                <a:spcPct val="132000"/>
              </a:lnSpc>
              <a:spcBef>
                <a:spcPts val="0"/>
              </a:spcBef>
              <a:spcAft>
                <a:spcPts val="500"/>
              </a:spcAft>
            </a:pPr>
            <a:r>
              <a:rPr sz="1000" b="1" i="0">
                <a:solidFill>
                  <a:srgbClr val="1C1C1C"/>
                </a:solidFill>
                <a:latin typeface="Arial"/>
              </a:rPr>
              <a:t>Any evidence. If the book says ₹500 where he remembers ₹300, there is no entry, no date, no timestamp. He simply loses the argument.</a:t>
            </a:r>
          </a:p>
          <a:p>
            <a:pPr>
              <a:lnSpc>
                <a:spcPct val="132000"/>
              </a:lnSpc>
              <a:spcBef>
                <a:spcPts val="0"/>
              </a:spcBef>
              <a:spcAft>
                <a:spcPts val="500"/>
              </a:spcAft>
            </a:pPr>
            <a:r>
              <a:rPr sz="1000" b="0" i="0">
                <a:solidFill>
                  <a:srgbClr val="5B6675"/>
                </a:solidFill>
                <a:latin typeface="Arial"/>
              </a:rPr>
              <a:t>When he will be asked, and how loudly.</a:t>
            </a:r>
          </a:p>
          <a:p>
            <a:pPr>
              <a:lnSpc>
                <a:spcPct val="132000"/>
              </a:lnSpc>
              <a:spcBef>
                <a:spcPts val="0"/>
              </a:spcBef>
              <a:spcAft>
                <a:spcPts val="500"/>
              </a:spcAft>
            </a:pPr>
            <a:r>
              <a:rPr sz="1000" b="0" i="0">
                <a:solidFill>
                  <a:srgbClr val="5B6675"/>
                </a:solidFill>
                <a:latin typeface="Arial"/>
              </a:rPr>
              <a:t>The record is one-sided, so the argument is one-sided too.</a:t>
            </a:r>
          </a:p>
        </p:txBody>
      </p:sp>
      <p:sp>
        <p:nvSpPr>
          <p:cNvPr id="18" name="Rounded Rectangle 17"/>
          <p:cNvSpPr/>
          <p:nvPr/>
        </p:nvSpPr>
        <p:spPr>
          <a:xfrm>
            <a:off x="9024897"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07777"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7777"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How it is enforced today</a:t>
            </a:r>
          </a:p>
        </p:txBody>
      </p:sp>
      <p:sp>
        <p:nvSpPr>
          <p:cNvPr id="21" name="TextBox 20"/>
          <p:cNvSpPr txBox="1"/>
          <p:nvPr/>
        </p:nvSpPr>
        <p:spPr>
          <a:xfrm>
            <a:off x="9207777"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1000" b="1" i="0">
                <a:solidFill>
                  <a:srgbClr val="1C1C1C"/>
                </a:solidFill>
                <a:latin typeface="Arial"/>
              </a:rPr>
              <a:t>In public. Being asked for money in front of other customers is the enforcement mechanism — and it works, which is why it persists.</a:t>
            </a:r>
          </a:p>
          <a:p>
            <a:pPr>
              <a:lnSpc>
                <a:spcPct val="132000"/>
              </a:lnSpc>
              <a:spcBef>
                <a:spcPts val="0"/>
              </a:spcBef>
              <a:spcAft>
                <a:spcPts val="500"/>
              </a:spcAft>
            </a:pPr>
            <a:r>
              <a:rPr sz="1000" b="0" i="0">
                <a:solidFill>
                  <a:srgbClr val="5B6675"/>
                </a:solidFill>
                <a:latin typeface="Arial"/>
              </a:rPr>
              <a:t>Collecting the money costs the customer something that is not money.</a:t>
            </a:r>
          </a:p>
          <a:p>
            <a:pPr>
              <a:lnSpc>
                <a:spcPct val="132000"/>
              </a:lnSpc>
              <a:spcBef>
                <a:spcPts val="0"/>
              </a:spcBef>
              <a:spcAft>
                <a:spcPts val="500"/>
              </a:spcAft>
            </a:pPr>
            <a:r>
              <a:rPr sz="1000" b="1" i="0">
                <a:solidFill>
                  <a:srgbClr val="1C1C1C"/>
                </a:solidFill>
                <a:latin typeface="Arial"/>
              </a:rPr>
              <a:t>The software makes it worse. One live Indian product sells shopkeepers “instant community alerts when a chronic non-payer enters your neighborhood”.</a:t>
            </a:r>
          </a:p>
          <a:p>
            <a:pPr>
              <a:lnSpc>
                <a:spcPct val="132000"/>
              </a:lnSpc>
              <a:spcBef>
                <a:spcPts val="0"/>
              </a:spcBef>
              <a:spcAft>
                <a:spcPts val="500"/>
              </a:spcAft>
            </a:pPr>
            <a:r>
              <a:rPr sz="1000" b="0" i="0">
                <a:solidFill>
                  <a:srgbClr val="5B6675"/>
                </a:solidFill>
                <a:latin typeface="Arial"/>
              </a:rPr>
              <a:t>Under BNS s.308 that is close to extortion. It is also the state of the art.</a:t>
            </a:r>
          </a:p>
        </p:txBody>
      </p:sp>
      <p:sp>
        <p:nvSpPr>
          <p:cNvPr id="22" name="TextBox 21"/>
          <p:cNvSpPr txBox="1"/>
          <p:nvPr/>
        </p:nvSpPr>
        <p:spPr>
          <a:xfrm>
            <a:off x="566928" y="6455664"/>
            <a:ext cx="11057839" cy="237744"/>
          </a:xfrm>
          <a:prstGeom prst="rect">
            <a:avLst/>
          </a:prstGeom>
          <a:noFill/>
        </p:spPr>
        <p:txBody>
          <a:bodyPr wrap="square" lIns="0" rIns="0" tIns="0" bIns="0" anchor="t">
            <a:spAutoFit/>
          </a:bodyPr>
          <a:lstStyle/>
          <a:p>
            <a:pPr>
              <a:lnSpc>
                <a:spcPct val="125000"/>
              </a:lnSpc>
              <a:spcBef>
                <a:spcPts val="0"/>
              </a:spcBef>
              <a:spcAft>
                <a:spcPts val="0"/>
              </a:spcAft>
            </a:pPr>
            <a:r>
              <a:rPr sz="850" b="0" i="0">
                <a:solidFill>
                  <a:srgbClr val="8B95A5"/>
                </a:solidFill>
                <a:latin typeface="Arial"/>
              </a:rPr>
              <a:t>Sources: Invest India (store count, ticket size); Google Play listings and company sites for competing products. Named merchants throughout this deck are synthetic demo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pPr>
              <a:lnSpc>
                <a:spcPct val="134000"/>
              </a:lnSpc>
              <a:spcBef>
                <a:spcPts val="0"/>
              </a:spcBef>
              <a:spcAft>
                <a:spcPts val="0"/>
              </a:spcAft>
            </a:pPr>
            <a:r>
              <a:rPr sz="950" b="1" i="0" spc="140">
                <a:solidFill>
                  <a:srgbClr val="0077A8"/>
                </a:solidFill>
                <a:latin typeface="Arial"/>
              </a:rPr>
              <a:t>2 · PROPOSED SOLUTION</a:t>
            </a:r>
          </a:p>
        </p:txBody>
      </p:sp>
      <p:sp>
        <p:nvSpPr>
          <p:cNvPr id="4" name="TextBox 3"/>
          <p:cNvSpPr txBox="1"/>
          <p:nvPr/>
        </p:nvSpPr>
        <p:spPr>
          <a:xfrm>
            <a:off x="566928" y="640080"/>
            <a:ext cx="11057839" cy="841248"/>
          </a:xfrm>
          <a:prstGeom prst="rect">
            <a:avLst/>
          </a:prstGeom>
          <a:noFill/>
        </p:spPr>
        <p:txBody>
          <a:bodyPr wrap="square" lIns="0" rIns="0" tIns="0" bIns="0" anchor="t">
            <a:spAutoFit/>
          </a:bodyPr>
          <a:lstStyle/>
          <a:p>
            <a:pPr>
              <a:lnSpc>
                <a:spcPct val="106000"/>
              </a:lnSpc>
              <a:spcBef>
                <a:spcPts val="0"/>
              </a:spcBef>
              <a:spcAft>
                <a:spcPts val="0"/>
              </a:spcAft>
            </a:pPr>
            <a:r>
              <a:rPr sz="3000" b="1" i="0">
                <a:solidFill>
                  <a:srgbClr val="002970"/>
                </a:solidFill>
                <a:latin typeface="Arial"/>
              </a:rPr>
              <a:t>The same notebook, with a second reader.</a:t>
            </a:r>
          </a:p>
        </p:txBody>
      </p:sp>
      <p:sp>
        <p:nvSpPr>
          <p:cNvPr id="5" name="TextBox 4"/>
          <p:cNvSpPr txBox="1"/>
          <p:nvPr/>
        </p:nvSpPr>
        <p:spPr>
          <a:xfrm>
            <a:off x="566928" y="1554480"/>
            <a:ext cx="10424160" cy="713232"/>
          </a:xfrm>
          <a:prstGeom prst="rect">
            <a:avLst/>
          </a:prstGeom>
          <a:noFill/>
        </p:spPr>
        <p:txBody>
          <a:bodyPr wrap="square" lIns="0" rIns="0" tIns="0" bIns="0" anchor="t">
            <a:spAutoFit/>
          </a:bodyPr>
          <a:lstStyle/>
          <a:p>
            <a:pPr>
              <a:lnSpc>
                <a:spcPct val="138000"/>
              </a:lnSpc>
              <a:spcBef>
                <a:spcPts val="0"/>
              </a:spcBef>
              <a:spcAft>
                <a:spcPts val="0"/>
              </a:spcAft>
            </a:pPr>
            <a:r>
              <a:rPr sz="1250" b="0" i="0">
                <a:solidFill>
                  <a:srgbClr val="5B6675"/>
                </a:solidFill>
                <a:latin typeface="Arial"/>
              </a:rPr>
              <a:t>Five steps. Only one of them asks the shopkeeper to do anything he is not already doing — and that one he does by speaking, because his hands are full and there is a queue.</a:t>
            </a:r>
          </a:p>
        </p:txBody>
      </p:sp>
      <p:pic>
        <p:nvPicPr>
          <p:cNvPr id="6" name="Picture 5" descr="A2-speak.png"/>
          <p:cNvPicPr>
            <a:picLocks noChangeAspect="1"/>
          </p:cNvPicPr>
          <p:nvPr/>
        </p:nvPicPr>
        <p:blipFill>
          <a:blip r:embed="rId2"/>
          <a:stretch>
            <a:fillRect/>
          </a:stretch>
        </p:blipFill>
        <p:spPr>
          <a:xfrm>
            <a:off x="566928" y="2286000"/>
            <a:ext cx="1755648" cy="3474720"/>
          </a:xfrm>
          <a:prstGeom prst="rect">
            <a:avLst/>
          </a:prstGeom>
        </p:spPr>
      </p:pic>
      <p:sp>
        <p:nvSpPr>
          <p:cNvPr id="7" name="TextBox 6"/>
          <p:cNvSpPr txBox="1"/>
          <p:nvPr/>
        </p:nvSpPr>
        <p:spPr>
          <a:xfrm>
            <a:off x="2505456" y="2340864"/>
            <a:ext cx="1700784" cy="329184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He speaks it</a:t>
            </a:r>
          </a:p>
          <a:p>
            <a:pPr>
              <a:lnSpc>
                <a:spcPct val="134000"/>
              </a:lnSpc>
              <a:spcBef>
                <a:spcPts val="600"/>
              </a:spcBef>
              <a:spcAft>
                <a:spcPts val="0"/>
              </a:spcAft>
            </a:pPr>
            <a:r>
              <a:rPr sz="1000" b="0" i="0">
                <a:solidFill>
                  <a:srgbClr val="5B6675"/>
                </a:solidFill>
                <a:latin typeface="Arial"/>
              </a:rPr>
              <a:t>“Sharma ko do sau udhaar.” Sarvam hears it; a rule — not the model — extracts ₹200. The parsed fields are shown for checking before anything is sent.</a:t>
            </a:r>
          </a:p>
        </p:txBody>
      </p:sp>
      <p:pic>
        <p:nvPicPr>
          <p:cNvPr id="8" name="Picture 7" descr="B1-confirm.png"/>
          <p:cNvPicPr>
            <a:picLocks noChangeAspect="1"/>
          </p:cNvPicPr>
          <p:nvPr/>
        </p:nvPicPr>
        <p:blipFill>
          <a:blip r:embed="rId3"/>
          <a:stretch>
            <a:fillRect/>
          </a:stretch>
        </p:blipFill>
        <p:spPr>
          <a:xfrm>
            <a:off x="4343400" y="2286000"/>
            <a:ext cx="1755648" cy="3474720"/>
          </a:xfrm>
          <a:prstGeom prst="rect">
            <a:avLst/>
          </a:prstGeom>
        </p:spPr>
      </p:pic>
      <p:sp>
        <p:nvSpPr>
          <p:cNvPr id="9" name="TextBox 8"/>
          <p:cNvSpPr txBox="1"/>
          <p:nvPr/>
        </p:nvSpPr>
        <p:spPr>
          <a:xfrm>
            <a:off x="6281928" y="2340864"/>
            <a:ext cx="1700784" cy="329184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The customer confirms</a:t>
            </a:r>
          </a:p>
          <a:p>
            <a:pPr>
              <a:lnSpc>
                <a:spcPct val="134000"/>
              </a:lnSpc>
              <a:spcBef>
                <a:spcPts val="600"/>
              </a:spcBef>
              <a:spcAft>
                <a:spcPts val="0"/>
              </a:spcAft>
            </a:pPr>
            <a:r>
              <a:rPr sz="1000" b="0" i="0">
                <a:solidFill>
                  <a:srgbClr val="5B6675"/>
                </a:solidFill>
                <a:latin typeface="Arial"/>
              </a:rPr>
              <a:t>A sheet inside his own Paytm app. Confirming turns a private claim into a mutual record. Declining opens a chat, and the entry stays in the shopkeeper’s book marked unconfirmed.</a:t>
            </a:r>
          </a:p>
        </p:txBody>
      </p:sp>
      <p:pic>
        <p:nvPicPr>
          <p:cNvPr id="10" name="Picture 9" descr="A3-tonight.png"/>
          <p:cNvPicPr>
            <a:picLocks noChangeAspect="1"/>
          </p:cNvPicPr>
          <p:nvPr/>
        </p:nvPicPr>
        <p:blipFill>
          <a:blip r:embed="rId4"/>
          <a:stretch>
            <a:fillRect/>
          </a:stretch>
        </p:blipFill>
        <p:spPr>
          <a:xfrm>
            <a:off x="8119872" y="2286000"/>
            <a:ext cx="1755648" cy="3474720"/>
          </a:xfrm>
          <a:prstGeom prst="rect">
            <a:avLst/>
          </a:prstGeom>
        </p:spPr>
      </p:pic>
      <p:sp>
        <p:nvSpPr>
          <p:cNvPr id="11" name="TextBox 10"/>
          <p:cNvSpPr txBox="1"/>
          <p:nvPr/>
        </p:nvSpPr>
        <p:spPr>
          <a:xfrm>
            <a:off x="10058400" y="2340864"/>
            <a:ext cx="1700784" cy="329184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The agent picks the day</a:t>
            </a:r>
          </a:p>
          <a:p>
            <a:pPr>
              <a:lnSpc>
                <a:spcPct val="134000"/>
              </a:lnSpc>
              <a:spcBef>
                <a:spcPts val="600"/>
              </a:spcBef>
              <a:spcAft>
                <a:spcPts val="0"/>
              </a:spcAft>
            </a:pPr>
            <a:r>
              <a:rPr sz="1000" b="0" i="0">
                <a:solidFill>
                  <a:srgbClr val="5B6675"/>
                </a:solidFill>
                <a:latin typeface="Arial"/>
              </a:rPr>
              <a:t>Arithmetic over that one person’s own history. Sharma is on day 4 and pays on day 9, so nothing is sent. Four of thirty-eight get a message.</a:t>
            </a:r>
          </a:p>
        </p:txBody>
      </p:sp>
      <p:sp>
        <p:nvSpPr>
          <p:cNvPr id="12" name="Rectangle 11"/>
          <p:cNvSpPr/>
          <p:nvPr/>
        </p:nvSpPr>
        <p:spPr>
          <a:xfrm>
            <a:off x="566928" y="6053328"/>
            <a:ext cx="11057839" cy="12700"/>
          </a:xfrm>
          <a:prstGeom prst="rect">
            <a:avLst/>
          </a:prstGeom>
          <a:solidFill>
            <a:srgbClr val="D9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199632"/>
            <a:ext cx="11057839" cy="365760"/>
          </a:xfrm>
          <a:prstGeom prst="rect">
            <a:avLst/>
          </a:prstGeom>
          <a:noFill/>
        </p:spPr>
        <p:txBody>
          <a:bodyPr wrap="square" lIns="0" rIns="0" tIns="0" bIns="0" anchor="t">
            <a:spAutoFit/>
          </a:bodyPr>
          <a:lstStyle/>
          <a:p>
            <a:pPr>
              <a:lnSpc>
                <a:spcPct val="134000"/>
              </a:lnSpc>
              <a:spcBef>
                <a:spcPts val="0"/>
              </a:spcBef>
              <a:spcAft>
                <a:spcPts val="0"/>
              </a:spcAft>
            </a:pPr>
            <a:r>
              <a:rPr sz="1000" b="0" i="0">
                <a:solidFill>
                  <a:srgbClr val="5B6675"/>
                </a:solidFill>
                <a:latin typeface="Arial"/>
              </a:rPr>
              <a:t>Step 1 — he joins by scanning a QR at the till, so the shopkeeper never types a stranger’s number.     Step 5 — the reminder carries a UPI button; one tap closes the entry on both sides at once.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pPr>
              <a:lnSpc>
                <a:spcPct val="134000"/>
              </a:lnSpc>
              <a:spcBef>
                <a:spcPts val="0"/>
              </a:spcBef>
              <a:spcAft>
                <a:spcPts val="0"/>
              </a:spcAft>
            </a:pPr>
            <a:r>
              <a:rPr sz="950" b="1" i="0" spc="140">
                <a:solidFill>
                  <a:srgbClr val="0077A8"/>
                </a:solidFill>
                <a:latin typeface="Arial"/>
              </a:rPr>
              <a:t>3 · TECHNOLOGY / TECH STACK USED</a:t>
            </a:r>
          </a:p>
        </p:txBody>
      </p:sp>
      <p:sp>
        <p:nvSpPr>
          <p:cNvPr id="4" name="TextBox 3"/>
          <p:cNvSpPr txBox="1"/>
          <p:nvPr/>
        </p:nvSpPr>
        <p:spPr>
          <a:xfrm>
            <a:off x="566928" y="640080"/>
            <a:ext cx="11057839" cy="841248"/>
          </a:xfrm>
          <a:prstGeom prst="rect">
            <a:avLst/>
          </a:prstGeom>
          <a:noFill/>
        </p:spPr>
        <p:txBody>
          <a:bodyPr wrap="square" lIns="0" rIns="0" tIns="0" bIns="0" anchor="t">
            <a:spAutoFit/>
          </a:bodyPr>
          <a:lstStyle/>
          <a:p>
            <a:pPr>
              <a:lnSpc>
                <a:spcPct val="106000"/>
              </a:lnSpc>
              <a:spcBef>
                <a:spcPts val="0"/>
              </a:spcBef>
              <a:spcAft>
                <a:spcPts val="0"/>
              </a:spcAft>
            </a:pPr>
            <a:r>
              <a:rPr sz="3000" b="1" i="0">
                <a:solidFill>
                  <a:srgbClr val="002970"/>
                </a:solidFill>
                <a:latin typeface="Arial"/>
              </a:rPr>
              <a:t>Every figure is computed. None is generated.</a:t>
            </a:r>
          </a:p>
        </p:txBody>
      </p:sp>
      <p:sp>
        <p:nvSpPr>
          <p:cNvPr id="5" name="TextBox 4"/>
          <p:cNvSpPr txBox="1"/>
          <p:nvPr/>
        </p:nvSpPr>
        <p:spPr>
          <a:xfrm>
            <a:off x="566928" y="1554480"/>
            <a:ext cx="10424160" cy="713232"/>
          </a:xfrm>
          <a:prstGeom prst="rect">
            <a:avLst/>
          </a:prstGeom>
          <a:noFill/>
        </p:spPr>
        <p:txBody>
          <a:bodyPr wrap="square" lIns="0" rIns="0" tIns="0" bIns="0" anchor="t">
            <a:spAutoFit/>
          </a:bodyPr>
          <a:lstStyle/>
          <a:p>
            <a:pPr>
              <a:lnSpc>
                <a:spcPct val="138000"/>
              </a:lnSpc>
              <a:spcBef>
                <a:spcPts val="0"/>
              </a:spcBef>
              <a:spcAft>
                <a:spcPts val="0"/>
              </a:spcAft>
            </a:pPr>
            <a:r>
              <a:rPr sz="1250" b="0" i="0">
                <a:solidFill>
                  <a:srgbClr val="5B6675"/>
                </a:solidFill>
                <a:latin typeface="Arial"/>
              </a:rPr>
              <a:t>Our central claim is that no language model ever produces a number. A promise is worthless, so the architecture is shaped to make it provable in ten seconds — by running one test, in front of you.</a:t>
            </a:r>
          </a:p>
        </p:txBody>
      </p:sp>
      <p:sp>
        <p:nvSpPr>
          <p:cNvPr id="6" name="Rounded Rectangle 5"/>
          <p:cNvSpPr/>
          <p:nvPr/>
        </p:nvSpPr>
        <p:spPr>
          <a:xfrm>
            <a:off x="566928"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The architecture</a:t>
            </a:r>
          </a:p>
        </p:txBody>
      </p:sp>
      <p:sp>
        <p:nvSpPr>
          <p:cNvPr id="9" name="TextBox 8"/>
          <p:cNvSpPr txBox="1"/>
          <p:nvPr/>
        </p:nvSpPr>
        <p:spPr>
          <a:xfrm>
            <a:off x="749808"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Ports and adapters, four layers.</a:t>
            </a:r>
          </a:p>
          <a:p>
            <a:pPr>
              <a:lnSpc>
                <a:spcPct val="132000"/>
              </a:lnSpc>
              <a:spcBef>
                <a:spcPts val="0"/>
              </a:spcBef>
              <a:spcAft>
                <a:spcPts val="500"/>
              </a:spcAft>
            </a:pPr>
            <a:r>
              <a:rPr sz="950" b="1" i="0">
                <a:solidFill>
                  <a:srgbClr val="1C1C1C"/>
                </a:solidFill>
                <a:latin typeface="Arial"/>
              </a:rPr>
              <a:t>domain/ — pure. Frozen dataclasses and functions. No database, no HTTP, no model. Money in, money out.</a:t>
            </a:r>
          </a:p>
          <a:p>
            <a:pPr>
              <a:lnSpc>
                <a:spcPct val="132000"/>
              </a:lnSpc>
              <a:spcBef>
                <a:spcPts val="0"/>
              </a:spcBef>
              <a:spcAft>
                <a:spcPts val="500"/>
              </a:spcAft>
            </a:pPr>
            <a:r>
              <a:rPr sz="950" b="1" i="0">
                <a:solidFill>
                  <a:srgbClr val="1C1C1C"/>
                </a:solidFill>
                <a:latin typeface="Arial"/>
              </a:rPr>
              <a:t>store/ — the only module importing psycopg.</a:t>
            </a:r>
          </a:p>
          <a:p>
            <a:pPr>
              <a:lnSpc>
                <a:spcPct val="132000"/>
              </a:lnSpc>
              <a:spcBef>
                <a:spcPts val="0"/>
              </a:spcBef>
              <a:spcAft>
                <a:spcPts val="500"/>
              </a:spcAft>
            </a:pPr>
            <a:r>
              <a:rPr sz="950" b="1" i="0">
                <a:solidFill>
                  <a:srgbClr val="1C1C1C"/>
                </a:solidFill>
                <a:latin typeface="Arial"/>
              </a:rPr>
              <a:t>speech/ — the only module calling Sarvam.</a:t>
            </a:r>
          </a:p>
          <a:p>
            <a:pPr>
              <a:lnSpc>
                <a:spcPct val="132000"/>
              </a:lnSpc>
              <a:spcBef>
                <a:spcPts val="0"/>
              </a:spcBef>
              <a:spcAft>
                <a:spcPts val="500"/>
              </a:spcAft>
            </a:pPr>
            <a:r>
              <a:rPr sz="950" b="1" i="0">
                <a:solidFill>
                  <a:srgbClr val="1C1C1C"/>
                </a:solidFill>
                <a:latin typeface="Arial"/>
              </a:rPr>
              <a:t>service/ — the only module importing FastAPI.</a:t>
            </a:r>
          </a:p>
          <a:p>
            <a:pPr>
              <a:lnSpc>
                <a:spcPct val="132000"/>
              </a:lnSpc>
              <a:spcBef>
                <a:spcPts val="0"/>
              </a:spcBef>
              <a:spcAft>
                <a:spcPts val="500"/>
              </a:spcAft>
            </a:pPr>
            <a:r>
              <a:rPr sz="950" b="1" i="0">
                <a:solidFill>
                  <a:srgbClr val="1C1C1C"/>
                </a:solidFill>
                <a:latin typeface="Arial"/>
              </a:rPr>
              <a:t>One test enforces it: an AST check fails the build if anything in domain/ imports outside the standard library. That is how we prove the model cannot reach the arithmetic.</a:t>
            </a:r>
          </a:p>
        </p:txBody>
      </p:sp>
      <p:sp>
        <p:nvSpPr>
          <p:cNvPr id="10" name="Rounded Rectangle 9"/>
          <p:cNvSpPr/>
          <p:nvPr/>
        </p:nvSpPr>
        <p:spPr>
          <a:xfrm>
            <a:off x="3386251"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69131"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9131"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The stack, and why</a:t>
            </a:r>
          </a:p>
        </p:txBody>
      </p:sp>
      <p:sp>
        <p:nvSpPr>
          <p:cNvPr id="13" name="TextBox 12"/>
          <p:cNvSpPr txBox="1"/>
          <p:nvPr/>
        </p:nvSpPr>
        <p:spPr>
          <a:xfrm>
            <a:off x="3569131"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FastAPI — validation is declarative via Pydantic, and the OpenAPI spec is generated from the same type hints, so the frontend contract is derived from the implementation. No schema drift.</a:t>
            </a:r>
          </a:p>
          <a:p>
            <a:pPr>
              <a:lnSpc>
                <a:spcPct val="132000"/>
              </a:lnSpc>
              <a:spcBef>
                <a:spcPts val="0"/>
              </a:spcBef>
              <a:spcAft>
                <a:spcPts val="500"/>
              </a:spcAft>
            </a:pPr>
            <a:r>
              <a:rPr sz="950" b="1" i="0">
                <a:solidFill>
                  <a:srgbClr val="1C1C1C"/>
                </a:solidFill>
                <a:latin typeface="Arial"/>
              </a:rPr>
              <a:t>Sync handlers, deliberately — async pays at thousands of connections; we have two. It would cost function colouring and a class of missing-await bugs for throughput we cannot use.</a:t>
            </a:r>
          </a:p>
          <a:p>
            <a:pPr>
              <a:lnSpc>
                <a:spcPct val="132000"/>
              </a:lnSpc>
              <a:spcBef>
                <a:spcPts val="0"/>
              </a:spcBef>
              <a:spcAft>
                <a:spcPts val="500"/>
              </a:spcAft>
            </a:pPr>
            <a:r>
              <a:rPr sz="950" b="1" i="0">
                <a:solidFill>
                  <a:srgbClr val="1C1C1C"/>
                </a:solidFill>
                <a:latin typeface="Arial"/>
              </a:rPr>
              <a:t>Postgres 17 — SQLite lives on the container’s ephemeral filesystem, so a restart mid-demo would erase a judge’s confirmation.</a:t>
            </a:r>
          </a:p>
          <a:p>
            <a:pPr>
              <a:lnSpc>
                <a:spcPct val="132000"/>
              </a:lnSpc>
              <a:spcBef>
                <a:spcPts val="0"/>
              </a:spcBef>
              <a:spcAft>
                <a:spcPts val="500"/>
              </a:spcAft>
            </a:pPr>
            <a:r>
              <a:rPr sz="950" b="1" i="0">
                <a:solidFill>
                  <a:srgbClr val="1C1C1C"/>
                </a:solidFill>
                <a:latin typeface="Arial"/>
              </a:rPr>
              <a:t>Raw SQL, no ORM — the rhythm query is the product, and we want it readable.</a:t>
            </a:r>
          </a:p>
        </p:txBody>
      </p:sp>
      <p:sp>
        <p:nvSpPr>
          <p:cNvPr id="14" name="Rounded Rectangle 13"/>
          <p:cNvSpPr/>
          <p:nvPr/>
        </p:nvSpPr>
        <p:spPr>
          <a:xfrm>
            <a:off x="6205574"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88454"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8454"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How the model is kept out</a:t>
            </a:r>
          </a:p>
        </p:txBody>
      </p:sp>
      <p:sp>
        <p:nvSpPr>
          <p:cNvPr id="17" name="TextBox 16"/>
          <p:cNvSpPr txBox="1"/>
          <p:nvPr/>
        </p:nvSpPr>
        <p:spPr>
          <a:xfrm>
            <a:off x="6388454"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Sarvam returns a string. A rule returns the number.</a:t>
            </a:r>
          </a:p>
          <a:p>
            <a:pPr>
              <a:lnSpc>
                <a:spcPct val="132000"/>
              </a:lnSpc>
              <a:spcBef>
                <a:spcPts val="0"/>
              </a:spcBef>
              <a:spcAft>
                <a:spcPts val="500"/>
              </a:spcAft>
            </a:pPr>
            <a:r>
              <a:rPr sz="950" b="0" i="0">
                <a:solidFill>
                  <a:srgbClr val="5B6675"/>
                </a:solidFill>
                <a:latin typeface="Arial"/>
              </a:rPr>
              <a:t>speech/asr.py gets back the text “Sharma ko do sau udhaar”.</a:t>
            </a:r>
          </a:p>
          <a:p>
            <a:pPr>
              <a:lnSpc>
                <a:spcPct val="132000"/>
              </a:lnSpc>
              <a:spcBef>
                <a:spcPts val="0"/>
              </a:spcBef>
              <a:spcAft>
                <a:spcPts val="500"/>
              </a:spcAft>
            </a:pPr>
            <a:r>
              <a:rPr sz="950" b="0" i="0">
                <a:solidFill>
                  <a:srgbClr val="5B6675"/>
                </a:solidFill>
                <a:latin typeface="Arial"/>
              </a:rPr>
              <a:t>domain/parse.py turns that text into 20000 paise, by rule.</a:t>
            </a:r>
          </a:p>
          <a:p>
            <a:pPr>
              <a:lnSpc>
                <a:spcPct val="132000"/>
              </a:lnSpc>
              <a:spcBef>
                <a:spcPts val="0"/>
              </a:spcBef>
              <a:spcAft>
                <a:spcPts val="500"/>
              </a:spcAft>
            </a:pPr>
            <a:r>
              <a:rPr sz="950" b="0" i="0">
                <a:solidFill>
                  <a:srgbClr val="5B6675"/>
                </a:solidFill>
                <a:latin typeface="Arial"/>
              </a:rPr>
              <a:t>The model never sees the amount field and cannot influence it.</a:t>
            </a:r>
          </a:p>
          <a:p>
            <a:pPr>
              <a:lnSpc>
                <a:spcPct val="132000"/>
              </a:lnSpc>
              <a:spcBef>
                <a:spcPts val="0"/>
              </a:spcBef>
              <a:spcAft>
                <a:spcPts val="500"/>
              </a:spcAft>
            </a:pPr>
            <a:r>
              <a:rPr sz="950" b="1" i="0">
                <a:solidFill>
                  <a:srgbClr val="1C1C1C"/>
                </a:solidFill>
                <a:latin typeface="Arial"/>
              </a:rPr>
              <a:t>So the worst case is visible, not silent. If it mishears, the merchant sees the wrong words on screen and taps “Say it again”. There is no path where a wrong number is recorded quietly.</a:t>
            </a:r>
          </a:p>
          <a:p>
            <a:pPr>
              <a:lnSpc>
                <a:spcPct val="132000"/>
              </a:lnSpc>
              <a:spcBef>
                <a:spcPts val="0"/>
              </a:spcBef>
              <a:spcAft>
                <a:spcPts val="500"/>
              </a:spcAft>
            </a:pPr>
            <a:r>
              <a:rPr sz="950" b="0" i="0">
                <a:solidFill>
                  <a:srgbClr val="5B6675"/>
                </a:solidFill>
                <a:latin typeface="Arial"/>
              </a:rPr>
              <a:t>Every spoken line is cached to disk; the demo runs with the wifi off.</a:t>
            </a:r>
          </a:p>
        </p:txBody>
      </p:sp>
      <p:sp>
        <p:nvSpPr>
          <p:cNvPr id="18" name="Rounded Rectangle 17"/>
          <p:cNvSpPr/>
          <p:nvPr/>
        </p:nvSpPr>
        <p:spPr>
          <a:xfrm>
            <a:off x="9024897"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07777"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7777"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The three sponsor tools</a:t>
            </a:r>
          </a:p>
        </p:txBody>
      </p:sp>
      <p:sp>
        <p:nvSpPr>
          <p:cNvPr id="21" name="TextBox 20"/>
          <p:cNvSpPr txBox="1"/>
          <p:nvPr/>
        </p:nvSpPr>
        <p:spPr>
          <a:xfrm>
            <a:off x="9207777"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Sarvam — saaras:v4 for speech in mixed Hindi-English over shop noise, bulbul:v3 to read a balance back. Pinned deliberately: v2 of both was retired and now returns 400.</a:t>
            </a:r>
          </a:p>
          <a:p>
            <a:pPr>
              <a:lnSpc>
                <a:spcPct val="132000"/>
              </a:lnSpc>
              <a:spcBef>
                <a:spcPts val="0"/>
              </a:spcBef>
              <a:spcAft>
                <a:spcPts val="500"/>
              </a:spcAft>
            </a:pPr>
            <a:r>
              <a:rPr sz="950" b="1" i="0">
                <a:solidFill>
                  <a:srgbClr val="1C1C1C"/>
                </a:solidFill>
                <a:latin typeface="Arial"/>
              </a:rPr>
              <a:t>Cognee — holds each customer’s rhythm and the shopkeeper’s standing instructions (“Patil is a daily wager, he pays after the 10th”). The rhythm is arithmetic; Cognee remembers the instructions.</a:t>
            </a:r>
          </a:p>
          <a:p>
            <a:pPr>
              <a:lnSpc>
                <a:spcPct val="132000"/>
              </a:lnSpc>
              <a:spcBef>
                <a:spcPts val="0"/>
              </a:spcBef>
              <a:spcAft>
                <a:spcPts val="500"/>
              </a:spcAft>
            </a:pPr>
            <a:r>
              <a:rPr sz="950" b="1" i="0">
                <a:solidFill>
                  <a:srgbClr val="1C1C1C"/>
                </a:solidFill>
                <a:latin typeface="Arial"/>
              </a:rPr>
              <a:t>n8n — the 11pm schedule. Honestly: a cron line would do the same job. What n8n buys is that the schedule becomes a canvas you can look at. The logic stays in Python.</a:t>
            </a:r>
          </a:p>
        </p:txBody>
      </p:sp>
      <p:sp>
        <p:nvSpPr>
          <p:cNvPr id="22" name="TextBox 21"/>
          <p:cNvSpPr txBox="1"/>
          <p:nvPr/>
        </p:nvSpPr>
        <p:spPr>
          <a:xfrm>
            <a:off x="566928" y="6455664"/>
            <a:ext cx="11057839" cy="237744"/>
          </a:xfrm>
          <a:prstGeom prst="rect">
            <a:avLst/>
          </a:prstGeom>
          <a:noFill/>
        </p:spPr>
        <p:txBody>
          <a:bodyPr wrap="square" lIns="0" rIns="0" tIns="0" bIns="0" anchor="t">
            <a:spAutoFit/>
          </a:bodyPr>
          <a:lstStyle/>
          <a:p>
            <a:pPr>
              <a:lnSpc>
                <a:spcPct val="125000"/>
              </a:lnSpc>
              <a:spcBef>
                <a:spcPts val="0"/>
              </a:spcBef>
              <a:spcAft>
                <a:spcPts val="0"/>
              </a:spcAft>
            </a:pPr>
            <a:r>
              <a:rPr sz="850" b="0" i="0">
                <a:solidFill>
                  <a:srgbClr val="8B95A5"/>
                </a:solidFill>
                <a:latin typeface="Arial"/>
              </a:rPr>
              <a:t>Postgres 17 · psycopg 3 · FastAPI · Python 3.13 under uv · ruff · mypy strict · pytest  ·  Next.js 16 · React 19 · mobile-first web, deployed publicly so a judge’s phone reaches it over its own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pPr>
              <a:lnSpc>
                <a:spcPct val="134000"/>
              </a:lnSpc>
              <a:spcBef>
                <a:spcPts val="0"/>
              </a:spcBef>
              <a:spcAft>
                <a:spcPts val="0"/>
              </a:spcAft>
            </a:pPr>
            <a:r>
              <a:rPr sz="950" b="1" i="0" spc="140">
                <a:solidFill>
                  <a:srgbClr val="0077A8"/>
                </a:solidFill>
                <a:latin typeface="Arial"/>
              </a:rPr>
              <a:t>4 · UNIQUE SELLING PROPOSITION</a:t>
            </a:r>
          </a:p>
        </p:txBody>
      </p:sp>
      <p:sp>
        <p:nvSpPr>
          <p:cNvPr id="4" name="TextBox 3"/>
          <p:cNvSpPr txBox="1"/>
          <p:nvPr/>
        </p:nvSpPr>
        <p:spPr>
          <a:xfrm>
            <a:off x="566928" y="640080"/>
            <a:ext cx="11057839" cy="841248"/>
          </a:xfrm>
          <a:prstGeom prst="rect">
            <a:avLst/>
          </a:prstGeom>
          <a:noFill/>
        </p:spPr>
        <p:txBody>
          <a:bodyPr wrap="square" lIns="0" rIns="0" tIns="0" bIns="0" anchor="t">
            <a:spAutoFit/>
          </a:bodyPr>
          <a:lstStyle/>
          <a:p>
            <a:pPr>
              <a:lnSpc>
                <a:spcPct val="106000"/>
              </a:lnSpc>
              <a:spcBef>
                <a:spcPts val="0"/>
              </a:spcBef>
              <a:spcAft>
                <a:spcPts val="0"/>
              </a:spcAft>
            </a:pPr>
            <a:r>
              <a:rPr sz="3000" b="1" i="0">
                <a:solidFill>
                  <a:srgbClr val="002970"/>
                </a:solidFill>
                <a:latin typeface="Arial"/>
              </a:rPr>
              <a:t>Every ledger app in India is one-sided. On purpose.</a:t>
            </a:r>
          </a:p>
        </p:txBody>
      </p:sp>
      <p:sp>
        <p:nvSpPr>
          <p:cNvPr id="5" name="TextBox 4"/>
          <p:cNvSpPr txBox="1"/>
          <p:nvPr/>
        </p:nvSpPr>
        <p:spPr>
          <a:xfrm>
            <a:off x="566928" y="1554480"/>
            <a:ext cx="10424160" cy="713232"/>
          </a:xfrm>
          <a:prstGeom prst="rect">
            <a:avLst/>
          </a:prstGeom>
          <a:noFill/>
        </p:spPr>
        <p:txBody>
          <a:bodyPr wrap="square" lIns="0" rIns="0" tIns="0" bIns="0" anchor="t">
            <a:spAutoFit/>
          </a:bodyPr>
          <a:lstStyle/>
          <a:p>
            <a:pPr>
              <a:lnSpc>
                <a:spcPct val="138000"/>
              </a:lnSpc>
              <a:spcBef>
                <a:spcPts val="0"/>
              </a:spcBef>
              <a:spcAft>
                <a:spcPts val="0"/>
              </a:spcAft>
            </a:pPr>
            <a:r>
              <a:rPr sz="1250" b="0" i="0">
                <a:solidFill>
                  <a:srgbClr val="5B6675"/>
                </a:solidFill>
                <a:latin typeface="Arial"/>
              </a:rPr>
              <a:t>Khatabook has 5 crore shopkeepers and no customer app. OkCredit advertises the absence — “Customer ko app ki zaroorat nahi.” Paytm’s own Business Khata shipped in 2020, one-sided, and now sits orphaned off its product nav. We are proposing the half none of them built.</a:t>
            </a:r>
          </a:p>
        </p:txBody>
      </p:sp>
      <p:sp>
        <p:nvSpPr>
          <p:cNvPr id="6" name="Rounded Rectangle 5"/>
          <p:cNvSpPr/>
          <p:nvPr/>
        </p:nvSpPr>
        <p:spPr>
          <a:xfrm>
            <a:off x="566928"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Two-sided, by consent</a:t>
            </a:r>
          </a:p>
        </p:txBody>
      </p:sp>
      <p:sp>
        <p:nvSpPr>
          <p:cNvPr id="9" name="TextBox 8"/>
          <p:cNvSpPr txBox="1"/>
          <p:nvPr/>
        </p:nvSpPr>
        <p:spPr>
          <a:xfrm>
            <a:off x="749808"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The customer confirms the entry. That single change turns a private assertion into a mutual record.</a:t>
            </a:r>
          </a:p>
          <a:p>
            <a:pPr>
              <a:lnSpc>
                <a:spcPct val="132000"/>
              </a:lnSpc>
              <a:spcBef>
                <a:spcPts val="0"/>
              </a:spcBef>
              <a:spcAft>
                <a:spcPts val="500"/>
              </a:spcAft>
            </a:pPr>
            <a:r>
              <a:rPr sz="950" b="0" i="0">
                <a:solidFill>
                  <a:srgbClr val="5B6675"/>
                </a:solidFill>
                <a:latin typeface="Arial"/>
              </a:rPr>
              <a:t>An unconfirmed entry is a claim. A confirmed one is a fact. The shopkeeper keeps both — he never loses his own book.</a:t>
            </a:r>
          </a:p>
          <a:p>
            <a:pPr>
              <a:lnSpc>
                <a:spcPct val="132000"/>
              </a:lnSpc>
              <a:spcBef>
                <a:spcPts val="0"/>
              </a:spcBef>
              <a:spcAft>
                <a:spcPts val="500"/>
              </a:spcAft>
            </a:pPr>
            <a:r>
              <a:rPr sz="950" b="0" i="0">
                <a:solidFill>
                  <a:srgbClr val="5B6675"/>
                </a:solidFill>
                <a:latin typeface="Arial"/>
              </a:rPr>
              <a:t>It is also how a platform discharges DPDP s.8(3), the duty to ensure data used to make a decision about a person is complete and accurate, which binds from May 2027.</a:t>
            </a:r>
          </a:p>
          <a:p>
            <a:pPr>
              <a:lnSpc>
                <a:spcPct val="132000"/>
              </a:lnSpc>
              <a:spcBef>
                <a:spcPts val="0"/>
              </a:spcBef>
              <a:spcAft>
                <a:spcPts val="500"/>
              </a:spcAft>
            </a:pPr>
            <a:r>
              <a:rPr sz="950" b="0" i="0">
                <a:solidFill>
                  <a:srgbClr val="5B6675"/>
                </a:solidFill>
                <a:latin typeface="Arial"/>
              </a:rPr>
              <a:t>Every competitor sends a one-way notification instead.</a:t>
            </a:r>
          </a:p>
        </p:txBody>
      </p:sp>
      <p:sp>
        <p:nvSpPr>
          <p:cNvPr id="10" name="Rounded Rectangle 9"/>
          <p:cNvSpPr/>
          <p:nvPr/>
        </p:nvSpPr>
        <p:spPr>
          <a:xfrm>
            <a:off x="3386251"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69131"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9131"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Voice, where it is necessary</a:t>
            </a:r>
          </a:p>
        </p:txBody>
      </p:sp>
      <p:sp>
        <p:nvSpPr>
          <p:cNvPr id="13" name="TextBox 12"/>
          <p:cNvSpPr txBox="1"/>
          <p:nvPr/>
        </p:nvSpPr>
        <p:spPr>
          <a:xfrm>
            <a:off x="3569131"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Paytm’s AI Soundbox grew a microphone in October 2025 and already takes spoken questions in 11 languages.</a:t>
            </a:r>
          </a:p>
          <a:p>
            <a:pPr>
              <a:lnSpc>
                <a:spcPct val="132000"/>
              </a:lnSpc>
              <a:spcBef>
                <a:spcPts val="0"/>
              </a:spcBef>
              <a:spcAft>
                <a:spcPts val="500"/>
              </a:spcAft>
            </a:pPr>
            <a:r>
              <a:rPr sz="950" b="0" i="0">
                <a:solidFill>
                  <a:srgbClr val="5B6675"/>
                </a:solidFill>
                <a:latin typeface="Arial"/>
              </a:rPr>
              <a:t>Three companies are building on that rail — Paytm, ToneTag, Razorpay with Sarvam. Nobody has pointed it at credit.</a:t>
            </a:r>
          </a:p>
          <a:p>
            <a:pPr>
              <a:lnSpc>
                <a:spcPct val="132000"/>
              </a:lnSpc>
              <a:spcBef>
                <a:spcPts val="0"/>
              </a:spcBef>
              <a:spcAft>
                <a:spcPts val="500"/>
              </a:spcAft>
            </a:pPr>
            <a:r>
              <a:rPr sz="950" b="0" i="0">
                <a:solidFill>
                  <a:srgbClr val="5B6675"/>
                </a:solidFill>
                <a:latin typeface="Arial"/>
              </a:rPr>
              <a:t>The hardware is already on the counter, already paid for, and idle for this purpose.</a:t>
            </a:r>
          </a:p>
          <a:p>
            <a:pPr>
              <a:lnSpc>
                <a:spcPct val="132000"/>
              </a:lnSpc>
              <a:spcBef>
                <a:spcPts val="0"/>
              </a:spcBef>
              <a:spcAft>
                <a:spcPts val="500"/>
              </a:spcAft>
            </a:pPr>
            <a:r>
              <a:rPr sz="950" b="0" i="0">
                <a:solidFill>
                  <a:srgbClr val="5B6675"/>
                </a:solidFill>
                <a:latin typeface="Arial"/>
              </a:rPr>
              <a:t>This is the one place in the product where voice is not decoration: his hands are full and there is a queue behind the customer.</a:t>
            </a:r>
          </a:p>
        </p:txBody>
      </p:sp>
      <p:sp>
        <p:nvSpPr>
          <p:cNvPr id="14" name="Rounded Rectangle 13"/>
          <p:cNvSpPr/>
          <p:nvPr/>
        </p:nvSpPr>
        <p:spPr>
          <a:xfrm>
            <a:off x="6205574"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88454"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8454"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Timing, not blacklisting</a:t>
            </a:r>
          </a:p>
        </p:txBody>
      </p:sp>
      <p:sp>
        <p:nvSpPr>
          <p:cNvPr id="17" name="TextBox 16"/>
          <p:cNvSpPr txBox="1"/>
          <p:nvPr/>
        </p:nvSpPr>
        <p:spPr>
          <a:xfrm>
            <a:off x="6388454"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“Sharma pays on day 9. Do not chase before day 7.”</a:t>
            </a:r>
          </a:p>
          <a:p>
            <a:pPr>
              <a:lnSpc>
                <a:spcPct val="132000"/>
              </a:lnSpc>
              <a:spcBef>
                <a:spcPts val="0"/>
              </a:spcBef>
              <a:spcAft>
                <a:spcPts val="500"/>
              </a:spcAft>
            </a:pPr>
            <a:r>
              <a:rPr sz="950" b="0" i="0">
                <a:solidFill>
                  <a:srgbClr val="5B6675"/>
                </a:solidFill>
                <a:latin typeface="Arial"/>
              </a:rPr>
              <a:t>Per-customer repayment timing exists in formal collections — TrueAccord’s cadence optimizer, Credgenics — and nowhere in informal credit, anywhere in the world.</a:t>
            </a:r>
          </a:p>
          <a:p>
            <a:pPr>
              <a:lnSpc>
                <a:spcPct val="132000"/>
              </a:lnSpc>
              <a:spcBef>
                <a:spcPts val="0"/>
              </a:spcBef>
              <a:spcAft>
                <a:spcPts val="500"/>
              </a:spcAft>
            </a:pPr>
            <a:r>
              <a:rPr sz="950" b="0" i="0">
                <a:solidFill>
                  <a:srgbClr val="5B6675"/>
                </a:solidFill>
                <a:latin typeface="Arial"/>
              </a:rPr>
              <a:t>What exists in the Indian long tail instead is the shared defaulter list. We are the humane inverse of a product that already ships.</a:t>
            </a:r>
          </a:p>
          <a:p>
            <a:pPr>
              <a:lnSpc>
                <a:spcPct val="132000"/>
              </a:lnSpc>
              <a:spcBef>
                <a:spcPts val="0"/>
              </a:spcBef>
              <a:spcAft>
                <a:spcPts val="500"/>
              </a:spcAft>
            </a:pPr>
            <a:r>
              <a:rPr sz="950" b="1" i="0">
                <a:solidFill>
                  <a:srgbClr val="1C1C1C"/>
                </a:solidFill>
                <a:latin typeface="Arial"/>
              </a:rPr>
              <a:t>The measure of success is how few messages go out. Four of thirty-eight, not thirty-eight of thirty-eight.</a:t>
            </a:r>
          </a:p>
        </p:txBody>
      </p:sp>
      <p:sp>
        <p:nvSpPr>
          <p:cNvPr id="18" name="Rounded Rectangle 17"/>
          <p:cNvSpPr/>
          <p:nvPr/>
        </p:nvSpPr>
        <p:spPr>
          <a:xfrm>
            <a:off x="9024897"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07777"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7777"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Built legal-first</a:t>
            </a:r>
          </a:p>
        </p:txBody>
      </p:sp>
      <p:sp>
        <p:nvSpPr>
          <p:cNvPr id="21" name="TextBox 20"/>
          <p:cNvSpPr txBox="1"/>
          <p:nvPr/>
        </p:nvSpPr>
        <p:spPr>
          <a:xfrm>
            <a:off x="9207777"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0" i="0">
                <a:solidFill>
                  <a:srgbClr val="5B6675"/>
                </a:solidFill>
                <a:latin typeface="Arial"/>
              </a:rPr>
              <a:t>Recording a debt and then reminding someone about it walks into four separate Indian statutes.</a:t>
            </a:r>
          </a:p>
          <a:p>
            <a:pPr>
              <a:lnSpc>
                <a:spcPct val="132000"/>
              </a:lnSpc>
              <a:spcBef>
                <a:spcPts val="0"/>
              </a:spcBef>
              <a:spcAft>
                <a:spcPts val="500"/>
              </a:spcAft>
            </a:pPr>
            <a:r>
              <a:rPr sz="950" b="0" i="0">
                <a:solidFill>
                  <a:srgbClr val="5B6675"/>
                </a:solidFill>
                <a:latin typeface="Arial"/>
              </a:rPr>
              <a:t>We read them before we built, and each became one implementation constraint — enforced in the schema and the API, not in the UI.</a:t>
            </a:r>
          </a:p>
          <a:p>
            <a:pPr>
              <a:lnSpc>
                <a:spcPct val="132000"/>
              </a:lnSpc>
              <a:spcBef>
                <a:spcPts val="0"/>
              </a:spcBef>
              <a:spcAft>
                <a:spcPts val="500"/>
              </a:spcAft>
            </a:pPr>
            <a:r>
              <a:rPr sz="950" b="0" i="0">
                <a:solidFill>
                  <a:srgbClr val="5B6675"/>
                </a:solidFill>
                <a:latin typeface="Arial"/>
              </a:rPr>
              <a:t>That is why there is no due-date field, no fee column, and no endpoint that lets a merchant demand money in one tap.</a:t>
            </a:r>
          </a:p>
          <a:p>
            <a:pPr>
              <a:lnSpc>
                <a:spcPct val="132000"/>
              </a:lnSpc>
              <a:spcBef>
                <a:spcPts val="0"/>
              </a:spcBef>
              <a:spcAft>
                <a:spcPts val="500"/>
              </a:spcAft>
            </a:pPr>
            <a:r>
              <a:rPr sz="950" b="1" i="0">
                <a:solidFill>
                  <a:srgbClr val="1C1C1C"/>
                </a:solidFill>
                <a:latin typeface="Arial"/>
              </a:rPr>
              <a:t>No competitor in this category has done this. See slide 8 — it is the most defensible thing we have.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pPr>
              <a:lnSpc>
                <a:spcPct val="134000"/>
              </a:lnSpc>
              <a:spcBef>
                <a:spcPts val="0"/>
              </a:spcBef>
              <a:spcAft>
                <a:spcPts val="0"/>
              </a:spcAft>
            </a:pPr>
            <a:r>
              <a:rPr sz="950" b="1" i="0" spc="140">
                <a:solidFill>
                  <a:srgbClr val="0077A8"/>
                </a:solidFill>
                <a:latin typeface="Arial"/>
              </a:rPr>
              <a:t>5 · IMPACT &amp; BENEFITS</a:t>
            </a:r>
          </a:p>
        </p:txBody>
      </p:sp>
      <p:sp>
        <p:nvSpPr>
          <p:cNvPr id="4" name="TextBox 3"/>
          <p:cNvSpPr txBox="1"/>
          <p:nvPr/>
        </p:nvSpPr>
        <p:spPr>
          <a:xfrm>
            <a:off x="566928" y="640080"/>
            <a:ext cx="11057839" cy="841248"/>
          </a:xfrm>
          <a:prstGeom prst="rect">
            <a:avLst/>
          </a:prstGeom>
          <a:noFill/>
        </p:spPr>
        <p:txBody>
          <a:bodyPr wrap="square" lIns="0" rIns="0" tIns="0" bIns="0" anchor="t">
            <a:spAutoFit/>
          </a:bodyPr>
          <a:lstStyle/>
          <a:p>
            <a:pPr>
              <a:lnSpc>
                <a:spcPct val="106000"/>
              </a:lnSpc>
              <a:spcBef>
                <a:spcPts val="0"/>
              </a:spcBef>
              <a:spcAft>
                <a:spcPts val="0"/>
              </a:spcAft>
            </a:pPr>
            <a:r>
              <a:rPr sz="3000" b="1" i="0">
                <a:solidFill>
                  <a:srgbClr val="002970"/>
                </a:solidFill>
                <a:latin typeface="Arial"/>
              </a:rPr>
              <a:t>Three parties, and none of them loses.</a:t>
            </a:r>
          </a:p>
        </p:txBody>
      </p:sp>
      <p:sp>
        <p:nvSpPr>
          <p:cNvPr id="5" name="TextBox 4"/>
          <p:cNvSpPr txBox="1"/>
          <p:nvPr/>
        </p:nvSpPr>
        <p:spPr>
          <a:xfrm>
            <a:off x="566928" y="1554480"/>
            <a:ext cx="10424160" cy="713232"/>
          </a:xfrm>
          <a:prstGeom prst="rect">
            <a:avLst/>
          </a:prstGeom>
          <a:noFill/>
        </p:spPr>
        <p:txBody>
          <a:bodyPr wrap="square" lIns="0" rIns="0" tIns="0" bIns="0" anchor="t">
            <a:spAutoFit/>
          </a:bodyPr>
          <a:lstStyle/>
          <a:p>
            <a:pPr>
              <a:lnSpc>
                <a:spcPct val="138000"/>
              </a:lnSpc>
              <a:spcBef>
                <a:spcPts val="0"/>
              </a:spcBef>
              <a:spcAft>
                <a:spcPts val="0"/>
              </a:spcAft>
            </a:pPr>
            <a:r>
              <a:rPr sz="1250" b="0" i="0">
                <a:solidFill>
                  <a:srgbClr val="5B6675"/>
                </a:solidFill>
                <a:latin typeface="Arial"/>
              </a:rPr>
              <a:t>The shopkeeper keeps his money and his customer. The customer gets a copy of his own obligations for the first time. Paytm gets settlement volume that is currently paid in cash and is therefore invisible to it.</a:t>
            </a:r>
          </a:p>
        </p:txBody>
      </p:sp>
      <p:sp>
        <p:nvSpPr>
          <p:cNvPr id="6" name="Rounded Rectangle 5"/>
          <p:cNvSpPr/>
          <p:nvPr/>
        </p:nvSpPr>
        <p:spPr>
          <a:xfrm>
            <a:off x="566928" y="2286000"/>
            <a:ext cx="3539642"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87752"/>
            <a:ext cx="3173882"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The shopkeeper</a:t>
            </a:r>
          </a:p>
        </p:txBody>
      </p:sp>
      <p:sp>
        <p:nvSpPr>
          <p:cNvPr id="9" name="TextBox 8"/>
          <p:cNvSpPr txBox="1"/>
          <p:nvPr/>
        </p:nvSpPr>
        <p:spPr>
          <a:xfrm>
            <a:off x="749808" y="2962656"/>
            <a:ext cx="3173882" cy="3200400"/>
          </a:xfrm>
          <a:prstGeom prst="rect">
            <a:avLst/>
          </a:prstGeom>
          <a:noFill/>
        </p:spPr>
        <p:txBody>
          <a:bodyPr wrap="square" lIns="0" rIns="0" tIns="0" bIns="0" anchor="t">
            <a:spAutoFit/>
          </a:bodyPr>
          <a:lstStyle/>
          <a:p>
            <a:pPr>
              <a:lnSpc>
                <a:spcPct val="132000"/>
              </a:lnSpc>
              <a:spcBef>
                <a:spcPts val="0"/>
              </a:spcBef>
              <a:spcAft>
                <a:spcPts val="500"/>
              </a:spcAft>
            </a:pPr>
            <a:r>
              <a:rPr sz="1000" b="1" i="0">
                <a:solidFill>
                  <a:srgbClr val="1C1C1C"/>
                </a:solidFill>
                <a:latin typeface="Arial"/>
              </a:rPr>
              <a:t>Stops chasing the people who were always going to pay — and notices the ones who have genuinely changed.</a:t>
            </a:r>
          </a:p>
          <a:p>
            <a:pPr>
              <a:lnSpc>
                <a:spcPct val="132000"/>
              </a:lnSpc>
              <a:spcBef>
                <a:spcPts val="0"/>
              </a:spcBef>
              <a:spcAft>
                <a:spcPts val="500"/>
              </a:spcAft>
            </a:pPr>
            <a:r>
              <a:rPr sz="1000" b="0" i="0">
                <a:solidFill>
                  <a:srgbClr val="5B6675"/>
                </a:solidFill>
                <a:latin typeface="Arial"/>
              </a:rPr>
              <a:t>On our seeded shop that is 4 messages instead of 38.</a:t>
            </a:r>
          </a:p>
          <a:p>
            <a:pPr>
              <a:lnSpc>
                <a:spcPct val="132000"/>
              </a:lnSpc>
              <a:spcBef>
                <a:spcPts val="0"/>
              </a:spcBef>
              <a:spcAft>
                <a:spcPts val="500"/>
              </a:spcAft>
            </a:pPr>
            <a:r>
              <a:rPr sz="1000" b="0" i="0">
                <a:solidFill>
                  <a:srgbClr val="5B6675"/>
                </a:solidFill>
                <a:latin typeface="Arial"/>
              </a:rPr>
              <a:t>Keeps his record intact whether or not the customer confirms.</a:t>
            </a:r>
          </a:p>
          <a:p>
            <a:pPr>
              <a:lnSpc>
                <a:spcPct val="132000"/>
              </a:lnSpc>
              <a:spcBef>
                <a:spcPts val="0"/>
              </a:spcBef>
              <a:spcAft>
                <a:spcPts val="500"/>
              </a:spcAft>
            </a:pPr>
            <a:r>
              <a:rPr sz="1000" b="0" i="0">
                <a:solidFill>
                  <a:srgbClr val="5B6675"/>
                </a:solidFill>
                <a:latin typeface="Arial"/>
              </a:rPr>
              <a:t>Recovers money without spending the relationship, which today is the real price of asking.</a:t>
            </a:r>
          </a:p>
          <a:p>
            <a:pPr>
              <a:lnSpc>
                <a:spcPct val="132000"/>
              </a:lnSpc>
              <a:spcBef>
                <a:spcPts val="0"/>
              </a:spcBef>
              <a:spcAft>
                <a:spcPts val="500"/>
              </a:spcAft>
            </a:pPr>
            <a:r>
              <a:rPr sz="1000" b="0" i="0">
                <a:solidFill>
                  <a:srgbClr val="5B6675"/>
                </a:solidFill>
                <a:latin typeface="Arial"/>
              </a:rPr>
              <a:t>Records by speaking, so nothing slows the queue down.</a:t>
            </a:r>
          </a:p>
          <a:p>
            <a:pPr>
              <a:lnSpc>
                <a:spcPct val="132000"/>
              </a:lnSpc>
              <a:spcBef>
                <a:spcPts val="0"/>
              </a:spcBef>
              <a:spcAft>
                <a:spcPts val="500"/>
              </a:spcAft>
            </a:pPr>
            <a:r>
              <a:rPr sz="1000" b="0" i="0">
                <a:solidFill>
                  <a:srgbClr val="5B6675"/>
                </a:solidFill>
                <a:latin typeface="Arial"/>
              </a:rPr>
              <a:t>A dispute becomes a two-minute conversation with a timestamp, instead of his word against theirs.</a:t>
            </a:r>
          </a:p>
        </p:txBody>
      </p:sp>
      <p:sp>
        <p:nvSpPr>
          <p:cNvPr id="10" name="Rounded Rectangle 9"/>
          <p:cNvSpPr/>
          <p:nvPr/>
        </p:nvSpPr>
        <p:spPr>
          <a:xfrm>
            <a:off x="4326026" y="2286000"/>
            <a:ext cx="3539642"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08906"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8906" y="2587752"/>
            <a:ext cx="3173882"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The customer</a:t>
            </a:r>
          </a:p>
        </p:txBody>
      </p:sp>
      <p:sp>
        <p:nvSpPr>
          <p:cNvPr id="13" name="TextBox 12"/>
          <p:cNvSpPr txBox="1"/>
          <p:nvPr/>
        </p:nvSpPr>
        <p:spPr>
          <a:xfrm>
            <a:off x="4508906" y="2962656"/>
            <a:ext cx="3173882" cy="3200400"/>
          </a:xfrm>
          <a:prstGeom prst="rect">
            <a:avLst/>
          </a:prstGeom>
          <a:noFill/>
        </p:spPr>
        <p:txBody>
          <a:bodyPr wrap="square" lIns="0" rIns="0" tIns="0" bIns="0" anchor="t">
            <a:spAutoFit/>
          </a:bodyPr>
          <a:lstStyle/>
          <a:p>
            <a:pPr>
              <a:lnSpc>
                <a:spcPct val="132000"/>
              </a:lnSpc>
              <a:spcBef>
                <a:spcPts val="0"/>
              </a:spcBef>
              <a:spcAft>
                <a:spcPts val="500"/>
              </a:spcAft>
            </a:pPr>
            <a:r>
              <a:rPr sz="1000" b="1" i="0">
                <a:solidFill>
                  <a:srgbClr val="1C1C1C"/>
                </a:solidFill>
                <a:latin typeface="Arial"/>
              </a:rPr>
              <a:t>Sees his total across every shop he owes — for the first time. A number he genuinely does not have today.</a:t>
            </a:r>
          </a:p>
          <a:p>
            <a:pPr>
              <a:lnSpc>
                <a:spcPct val="132000"/>
              </a:lnSpc>
              <a:spcBef>
                <a:spcPts val="0"/>
              </a:spcBef>
              <a:spcAft>
                <a:spcPts val="500"/>
              </a:spcAft>
            </a:pPr>
            <a:r>
              <a:rPr sz="1000" b="1" i="0">
                <a:solidFill>
                  <a:srgbClr val="1C1C1C"/>
                </a:solidFill>
                <a:latin typeface="Arial"/>
              </a:rPr>
              <a:t>Holds evidence. A disputed amount stops being his word against a notebook.</a:t>
            </a:r>
          </a:p>
          <a:p>
            <a:pPr>
              <a:lnSpc>
                <a:spcPct val="132000"/>
              </a:lnSpc>
              <a:spcBef>
                <a:spcPts val="0"/>
              </a:spcBef>
              <a:spcAft>
                <a:spcPts val="500"/>
              </a:spcAft>
            </a:pPr>
            <a:r>
              <a:rPr sz="1000" b="0" i="0">
                <a:solidFill>
                  <a:srgbClr val="5B6675"/>
                </a:solidFill>
                <a:latin typeface="Arial"/>
              </a:rPr>
              <a:t>Is reminded privately on day 7 instead of publicly on day 15.</a:t>
            </a:r>
          </a:p>
          <a:p>
            <a:pPr>
              <a:lnSpc>
                <a:spcPct val="132000"/>
              </a:lnSpc>
              <a:spcBef>
                <a:spcPts val="0"/>
              </a:spcBef>
              <a:spcAft>
                <a:spcPts val="500"/>
              </a:spcAft>
            </a:pPr>
            <a:r>
              <a:rPr sz="1000" b="1" i="0">
                <a:solidFill>
                  <a:srgbClr val="1C1C1C"/>
                </a:solidFill>
                <a:latin typeface="Arial"/>
              </a:rPr>
              <a:t>His debts are allowed to expire, rather than being kept alive indefinitely by our own prompts.</a:t>
            </a:r>
          </a:p>
          <a:p>
            <a:pPr>
              <a:lnSpc>
                <a:spcPct val="132000"/>
              </a:lnSpc>
              <a:spcBef>
                <a:spcPts val="0"/>
              </a:spcBef>
              <a:spcAft>
                <a:spcPts val="500"/>
              </a:spcAft>
            </a:pPr>
            <a:r>
              <a:rPr sz="1000" b="0" i="0">
                <a:solidFill>
                  <a:srgbClr val="5B6675"/>
                </a:solidFill>
                <a:latin typeface="Arial"/>
              </a:rPr>
              <a:t>And a year of reliable repayment becomes the only evidence of creditworthiness he will ever have.</a:t>
            </a:r>
          </a:p>
        </p:txBody>
      </p:sp>
      <p:sp>
        <p:nvSpPr>
          <p:cNvPr id="14" name="Rounded Rectangle 13"/>
          <p:cNvSpPr/>
          <p:nvPr/>
        </p:nvSpPr>
        <p:spPr>
          <a:xfrm>
            <a:off x="8085124" y="2286000"/>
            <a:ext cx="3539642"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68004"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8004" y="2587752"/>
            <a:ext cx="3173882"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Paytm</a:t>
            </a:r>
          </a:p>
        </p:txBody>
      </p:sp>
      <p:sp>
        <p:nvSpPr>
          <p:cNvPr id="17" name="TextBox 16"/>
          <p:cNvSpPr txBox="1"/>
          <p:nvPr/>
        </p:nvSpPr>
        <p:spPr>
          <a:xfrm>
            <a:off x="8268004" y="2962656"/>
            <a:ext cx="3173882" cy="3200400"/>
          </a:xfrm>
          <a:prstGeom prst="rect">
            <a:avLst/>
          </a:prstGeom>
          <a:noFill/>
        </p:spPr>
        <p:txBody>
          <a:bodyPr wrap="square" lIns="0" rIns="0" tIns="0" bIns="0" anchor="t">
            <a:spAutoFit/>
          </a:bodyPr>
          <a:lstStyle/>
          <a:p>
            <a:pPr>
              <a:lnSpc>
                <a:spcPct val="132000"/>
              </a:lnSpc>
              <a:spcBef>
                <a:spcPts val="0"/>
              </a:spcBef>
              <a:spcAft>
                <a:spcPts val="500"/>
              </a:spcAft>
            </a:pPr>
            <a:r>
              <a:rPr sz="1000" b="1" i="0">
                <a:solidFill>
                  <a:srgbClr val="1C1C1C"/>
                </a:solidFill>
                <a:latin typeface="Arial"/>
              </a:rPr>
              <a:t>Udhaar is settled in cash today. Every entry cleared through BAHI is a UPI transaction that did not previously exist — new volume and MDR, not cannibalised volume.</a:t>
            </a:r>
          </a:p>
          <a:p>
            <a:pPr>
              <a:lnSpc>
                <a:spcPct val="132000"/>
              </a:lnSpc>
              <a:spcBef>
                <a:spcPts val="0"/>
              </a:spcBef>
              <a:spcAft>
                <a:spcPts val="500"/>
              </a:spcAft>
            </a:pPr>
            <a:r>
              <a:rPr sz="1000" b="1" i="0">
                <a:solidFill>
                  <a:srgbClr val="1C1C1C"/>
                </a:solidFill>
                <a:latin typeface="Arial"/>
              </a:rPr>
              <a:t>Soundbox retention. The device stops being a payment announcer and becomes the place the credit book lives. Churn on that subscription is the metric this moves.</a:t>
            </a:r>
          </a:p>
          <a:p>
            <a:pPr>
              <a:lnSpc>
                <a:spcPct val="132000"/>
              </a:lnSpc>
              <a:spcBef>
                <a:spcPts val="0"/>
              </a:spcBef>
              <a:spcAft>
                <a:spcPts val="500"/>
              </a:spcAft>
            </a:pPr>
            <a:r>
              <a:rPr sz="1000" b="0" i="0">
                <a:solidFill>
                  <a:srgbClr val="5B6675"/>
                </a:solidFill>
                <a:latin typeface="Arial"/>
              </a:rPr>
              <a:t>A reason for the consumer app to be opened by people who currently only scan and pay.</a:t>
            </a:r>
          </a:p>
          <a:p>
            <a:pPr>
              <a:lnSpc>
                <a:spcPct val="132000"/>
              </a:lnSpc>
              <a:spcBef>
                <a:spcPts val="0"/>
              </a:spcBef>
              <a:spcAft>
                <a:spcPts val="500"/>
              </a:spcAft>
            </a:pPr>
            <a:r>
              <a:rPr sz="1000" b="1" i="0">
                <a:solidFill>
                  <a:srgbClr val="1C1C1C"/>
                </a:solidFill>
                <a:latin typeface="Arial"/>
              </a:rPr>
              <a:t>Record it, never fund it. The moment the platform finances the udhaar, CICRA s.2(f)(vi) turns it into a credit institution.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pPr>
              <a:lnSpc>
                <a:spcPct val="134000"/>
              </a:lnSpc>
              <a:spcBef>
                <a:spcPts val="0"/>
              </a:spcBef>
              <a:spcAft>
                <a:spcPts val="0"/>
              </a:spcAft>
            </a:pPr>
            <a:r>
              <a:rPr sz="950" b="1" i="0" spc="140">
                <a:solidFill>
                  <a:srgbClr val="0077A8"/>
                </a:solidFill>
                <a:latin typeface="Arial"/>
              </a:rPr>
              <a:t>6 · BUSINESS MODEL</a:t>
            </a:r>
          </a:p>
        </p:txBody>
      </p:sp>
      <p:sp>
        <p:nvSpPr>
          <p:cNvPr id="4" name="TextBox 3"/>
          <p:cNvSpPr txBox="1"/>
          <p:nvPr/>
        </p:nvSpPr>
        <p:spPr>
          <a:xfrm>
            <a:off x="566928" y="640080"/>
            <a:ext cx="11057839" cy="841248"/>
          </a:xfrm>
          <a:prstGeom prst="rect">
            <a:avLst/>
          </a:prstGeom>
          <a:noFill/>
        </p:spPr>
        <p:txBody>
          <a:bodyPr wrap="square" lIns="0" rIns="0" tIns="0" bIns="0" anchor="t">
            <a:spAutoFit/>
          </a:bodyPr>
          <a:lstStyle/>
          <a:p>
            <a:pPr>
              <a:lnSpc>
                <a:spcPct val="106000"/>
              </a:lnSpc>
              <a:spcBef>
                <a:spcPts val="0"/>
              </a:spcBef>
              <a:spcAft>
                <a:spcPts val="0"/>
              </a:spcAft>
            </a:pPr>
            <a:r>
              <a:rPr sz="3000" b="1" i="0">
                <a:solidFill>
                  <a:srgbClr val="002970"/>
                </a:solidFill>
                <a:latin typeface="Arial"/>
              </a:rPr>
              <a:t>The ledger is not the product. The settlement is.</a:t>
            </a:r>
          </a:p>
        </p:txBody>
      </p:sp>
      <p:sp>
        <p:nvSpPr>
          <p:cNvPr id="5" name="TextBox 4"/>
          <p:cNvSpPr txBox="1"/>
          <p:nvPr/>
        </p:nvSpPr>
        <p:spPr>
          <a:xfrm>
            <a:off x="566928" y="1554480"/>
            <a:ext cx="10424160" cy="713232"/>
          </a:xfrm>
          <a:prstGeom prst="rect">
            <a:avLst/>
          </a:prstGeom>
          <a:noFill/>
        </p:spPr>
        <p:txBody>
          <a:bodyPr wrap="square" lIns="0" rIns="0" tIns="0" bIns="0" anchor="t">
            <a:spAutoFit/>
          </a:bodyPr>
          <a:lstStyle/>
          <a:p>
            <a:pPr>
              <a:lnSpc>
                <a:spcPct val="138000"/>
              </a:lnSpc>
              <a:spcBef>
                <a:spcPts val="0"/>
              </a:spcBef>
              <a:spcAft>
                <a:spcPts val="0"/>
              </a:spcAft>
            </a:pPr>
            <a:r>
              <a:rPr sz="1250" b="0" i="0">
                <a:solidFill>
                  <a:srgbClr val="5B6675"/>
                </a:solidFill>
                <a:latin typeface="Arial"/>
              </a:rPr>
              <a:t>We are not going to pretend this category monetises by subscription, because it demonstrably does not — and a judge who knows Indian fintech will know that before we finish the sentence.</a:t>
            </a:r>
          </a:p>
        </p:txBody>
      </p:sp>
      <p:sp>
        <p:nvSpPr>
          <p:cNvPr id="6" name="Rounded Rectangle 5"/>
          <p:cNvSpPr/>
          <p:nvPr/>
        </p:nvSpPr>
        <p:spPr>
          <a:xfrm>
            <a:off x="566928"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What the category proved</a:t>
            </a:r>
          </a:p>
        </p:txBody>
      </p:sp>
      <p:sp>
        <p:nvSpPr>
          <p:cNvPr id="9" name="TextBox 8"/>
          <p:cNvSpPr txBox="1"/>
          <p:nvPr/>
        </p:nvSpPr>
        <p:spPr>
          <a:xfrm>
            <a:off x="749808"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OkCredit: 10 crore downloads → ₹23 crore revenue. Monetises at ₹30/month. Last equity round 2019.</a:t>
            </a:r>
          </a:p>
          <a:p>
            <a:pPr>
              <a:lnSpc>
                <a:spcPct val="132000"/>
              </a:lnSpc>
              <a:spcBef>
                <a:spcPts val="0"/>
              </a:spcBef>
              <a:spcAft>
                <a:spcPts val="500"/>
              </a:spcAft>
            </a:pPr>
            <a:r>
              <a:rPr sz="950" b="1" i="0">
                <a:solidFill>
                  <a:srgbClr val="1C1C1C"/>
                </a:solidFill>
                <a:latin typeface="Arial"/>
              </a:rPr>
              <a:t>Khatabook: $187M raised, $600M valuation in Aug 2021, no round since. FY24 revenue ₹102.7 crore against a ₹116 crore loss.</a:t>
            </a:r>
          </a:p>
          <a:p>
            <a:pPr>
              <a:lnSpc>
                <a:spcPct val="132000"/>
              </a:lnSpc>
              <a:spcBef>
                <a:spcPts val="0"/>
              </a:spcBef>
              <a:spcAft>
                <a:spcPts val="500"/>
              </a:spcAft>
            </a:pPr>
            <a:r>
              <a:rPr sz="950" b="1" i="0">
                <a:solidFill>
                  <a:srgbClr val="1C1C1C"/>
                </a:solidFill>
                <a:latin typeface="Arial"/>
              </a:rPr>
              <a:t>Lummo (Indonesia): 6.3 million merchants, $25.9B annualised volume — 2.2% of Indonesian GDP — and $140M from Tiger, Sequoia and Bezos. Voluntarily liquidated in 2023 and returned $70M.</a:t>
            </a:r>
          </a:p>
          <a:p>
            <a:pPr>
              <a:lnSpc>
                <a:spcPct val="132000"/>
              </a:lnSpc>
              <a:spcBef>
                <a:spcPts val="0"/>
              </a:spcBef>
              <a:spcAft>
                <a:spcPts val="500"/>
              </a:spcAft>
            </a:pPr>
            <a:r>
              <a:rPr sz="950" b="1" i="0">
                <a:solidFill>
                  <a:srgbClr val="1C1C1C"/>
                </a:solidFill>
                <a:latin typeface="Arial"/>
              </a:rPr>
              <a:t>The ledger has never been the business. Anyone selling one as a business is not reading the record.</a:t>
            </a:r>
          </a:p>
        </p:txBody>
      </p:sp>
      <p:sp>
        <p:nvSpPr>
          <p:cNvPr id="10" name="Rounded Rectangle 9"/>
          <p:cNvSpPr/>
          <p:nvPr/>
        </p:nvSpPr>
        <p:spPr>
          <a:xfrm>
            <a:off x="3386251"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69131"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9131"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What we charge</a:t>
            </a:r>
          </a:p>
        </p:txBody>
      </p:sp>
      <p:sp>
        <p:nvSpPr>
          <p:cNvPr id="13" name="TextBox 12"/>
          <p:cNvSpPr txBox="1"/>
          <p:nvPr/>
        </p:nvSpPr>
        <p:spPr>
          <a:xfrm>
            <a:off x="3569131"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Nothing. Not the shopkeeper, not the customer, and — critically — nothing on the reminder itself.</a:t>
            </a:r>
          </a:p>
          <a:p>
            <a:pPr>
              <a:lnSpc>
                <a:spcPct val="132000"/>
              </a:lnSpc>
              <a:spcBef>
                <a:spcPts val="0"/>
              </a:spcBef>
              <a:spcAft>
                <a:spcPts val="500"/>
              </a:spcAft>
            </a:pPr>
            <a:r>
              <a:rPr sz="950" b="0" i="0">
                <a:solidFill>
                  <a:srgbClr val="5B6675"/>
                </a:solidFill>
                <a:latin typeface="Arial"/>
              </a:rPr>
              <a:t>That last one is a legal constraint rather than generosity: the CCPA’s “nagging” dark pattern requires repetition and commercial gain. A reminder cadence supplies the repetition inherently, so we refuse to supply the gain.</a:t>
            </a:r>
          </a:p>
          <a:p>
            <a:pPr>
              <a:lnSpc>
                <a:spcPct val="132000"/>
              </a:lnSpc>
              <a:spcBef>
                <a:spcPts val="0"/>
              </a:spcBef>
              <a:spcAft>
                <a:spcPts val="500"/>
              </a:spcAft>
            </a:pPr>
            <a:r>
              <a:rPr sz="950" b="0" i="0">
                <a:solidFill>
                  <a:srgbClr val="5B6675"/>
                </a:solidFill>
                <a:latin typeface="Arial"/>
              </a:rPr>
              <a:t>No subscription, no per-message fee, no lending upsell riding on a debt reminder.</a:t>
            </a:r>
          </a:p>
          <a:p>
            <a:pPr>
              <a:lnSpc>
                <a:spcPct val="132000"/>
              </a:lnSpc>
              <a:spcBef>
                <a:spcPts val="0"/>
              </a:spcBef>
              <a:spcAft>
                <a:spcPts val="500"/>
              </a:spcAft>
            </a:pPr>
            <a:r>
              <a:rPr sz="950" b="0" i="0">
                <a:solidFill>
                  <a:srgbClr val="5B6675"/>
                </a:solidFill>
                <a:latin typeface="Arial"/>
              </a:rPr>
              <a:t>This also removes the incentive to send more messages than necessary — which is the failure mode of every collections product.</a:t>
            </a:r>
          </a:p>
        </p:txBody>
      </p:sp>
      <p:sp>
        <p:nvSpPr>
          <p:cNvPr id="14" name="Rounded Rectangle 13"/>
          <p:cNvSpPr/>
          <p:nvPr/>
        </p:nvSpPr>
        <p:spPr>
          <a:xfrm>
            <a:off x="6205574"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88454"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8454"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Where the money actually is</a:t>
            </a:r>
          </a:p>
        </p:txBody>
      </p:sp>
      <p:sp>
        <p:nvSpPr>
          <p:cNvPr id="17" name="TextBox 16"/>
          <p:cNvSpPr txBox="1"/>
          <p:nvPr/>
        </p:nvSpPr>
        <p:spPr>
          <a:xfrm>
            <a:off x="6388454"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Udhaar settles in cash. It is one of the largest pools of payment volume in India that has never touched a rail.</a:t>
            </a:r>
          </a:p>
          <a:p>
            <a:pPr>
              <a:lnSpc>
                <a:spcPct val="132000"/>
              </a:lnSpc>
              <a:spcBef>
                <a:spcPts val="0"/>
              </a:spcBef>
              <a:spcAft>
                <a:spcPts val="500"/>
              </a:spcAft>
            </a:pPr>
            <a:r>
              <a:rPr sz="950" b="0" i="0">
                <a:solidFill>
                  <a:srgbClr val="5B6675"/>
                </a:solidFill>
                <a:latin typeface="Arial"/>
              </a:rPr>
              <a:t>Every entry cleared in-app is incremental UPI volume and MDR on transactions Paytm does not see at all today. Not moved from elsewhere — created.</a:t>
            </a:r>
          </a:p>
          <a:p>
            <a:pPr>
              <a:lnSpc>
                <a:spcPct val="132000"/>
              </a:lnSpc>
              <a:spcBef>
                <a:spcPts val="0"/>
              </a:spcBef>
              <a:spcAft>
                <a:spcPts val="500"/>
              </a:spcAft>
            </a:pPr>
            <a:r>
              <a:rPr sz="950" b="0" i="0">
                <a:solidFill>
                  <a:srgbClr val="5B6675"/>
                </a:solidFill>
                <a:latin typeface="Arial"/>
              </a:rPr>
              <a:t>A 400-customer shop carrying ~₹14,000 of udhaar at any time, settling monthly, is ~₹1.7 lakh a year of newly-visible volume from one store.</a:t>
            </a:r>
          </a:p>
          <a:p>
            <a:pPr>
              <a:lnSpc>
                <a:spcPct val="132000"/>
              </a:lnSpc>
              <a:spcBef>
                <a:spcPts val="0"/>
              </a:spcBef>
              <a:spcAft>
                <a:spcPts val="500"/>
              </a:spcAft>
            </a:pPr>
            <a:r>
              <a:rPr sz="950" b="0" i="0">
                <a:solidFill>
                  <a:srgbClr val="5B6675"/>
                </a:solidFill>
                <a:latin typeface="Arial"/>
              </a:rPr>
              <a:t>Multiply by a device base already installed.</a:t>
            </a:r>
          </a:p>
        </p:txBody>
      </p:sp>
      <p:sp>
        <p:nvSpPr>
          <p:cNvPr id="18" name="Rounded Rectangle 17"/>
          <p:cNvSpPr/>
          <p:nvPr/>
        </p:nvSpPr>
        <p:spPr>
          <a:xfrm>
            <a:off x="9024897"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07777"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7777"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What it defends, and unlocks</a:t>
            </a:r>
          </a:p>
        </p:txBody>
      </p:sp>
      <p:sp>
        <p:nvSpPr>
          <p:cNvPr id="21" name="TextBox 20"/>
          <p:cNvSpPr txBox="1"/>
          <p:nvPr/>
        </p:nvSpPr>
        <p:spPr>
          <a:xfrm>
            <a:off x="9207777"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Soundbox subscription retention. A merchant whose credit book lives in the device does not churn off the device. That is a line Paytm already sells and already measures.</a:t>
            </a:r>
          </a:p>
          <a:p>
            <a:pPr>
              <a:lnSpc>
                <a:spcPct val="132000"/>
              </a:lnSpc>
              <a:spcBef>
                <a:spcPts val="0"/>
              </a:spcBef>
              <a:spcAft>
                <a:spcPts val="500"/>
              </a:spcAft>
            </a:pPr>
            <a:r>
              <a:rPr sz="950" b="1" i="0">
                <a:solidFill>
                  <a:srgbClr val="1C1C1C"/>
                </a:solidFill>
                <a:latin typeface="Arial"/>
              </a:rPr>
              <a:t>Consumer app engagement from a cohort that currently only scans a QR and leaves.</a:t>
            </a:r>
          </a:p>
          <a:p>
            <a:pPr>
              <a:lnSpc>
                <a:spcPct val="132000"/>
              </a:lnSpc>
              <a:spcBef>
                <a:spcPts val="0"/>
              </a:spcBef>
              <a:spcAft>
                <a:spcPts val="500"/>
              </a:spcAft>
            </a:pPr>
            <a:r>
              <a:rPr sz="950" b="1" i="0">
                <a:solidFill>
                  <a:srgbClr val="1C1C1C"/>
                </a:solidFill>
                <a:latin typeface="Arial"/>
              </a:rPr>
              <a:t>Later, deliberately later: a repayment record for people with no bureau file. Recording sits outside CICRA; financing does not, so this is a data asset and not a lending product.</a:t>
            </a:r>
          </a:p>
          <a:p>
            <a:pPr>
              <a:lnSpc>
                <a:spcPct val="132000"/>
              </a:lnSpc>
              <a:spcBef>
                <a:spcPts val="0"/>
              </a:spcBef>
              <a:spcAft>
                <a:spcPts val="500"/>
              </a:spcAft>
            </a:pPr>
            <a:r>
              <a:rPr sz="950" b="0" i="0">
                <a:solidFill>
                  <a:srgbClr val="5B6675"/>
                </a:solidFill>
                <a:latin typeface="Arial"/>
              </a:rPr>
              <a:t>We would rather say that plainly than overclaim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pPr>
              <a:lnSpc>
                <a:spcPct val="134000"/>
              </a:lnSpc>
              <a:spcBef>
                <a:spcPts val="0"/>
              </a:spcBef>
              <a:spcAft>
                <a:spcPts val="0"/>
              </a:spcAft>
            </a:pPr>
            <a:r>
              <a:rPr sz="950" b="1" i="0" spc="140">
                <a:solidFill>
                  <a:srgbClr val="0077A8"/>
                </a:solidFill>
                <a:latin typeface="Arial"/>
              </a:rPr>
              <a:t>HOW WE DESIGNED IT — FOUR RULES FROM FOUR STATUTES</a:t>
            </a:r>
          </a:p>
        </p:txBody>
      </p:sp>
      <p:sp>
        <p:nvSpPr>
          <p:cNvPr id="4" name="TextBox 3"/>
          <p:cNvSpPr txBox="1"/>
          <p:nvPr/>
        </p:nvSpPr>
        <p:spPr>
          <a:xfrm>
            <a:off x="566928" y="640080"/>
            <a:ext cx="11057839" cy="841248"/>
          </a:xfrm>
          <a:prstGeom prst="rect">
            <a:avLst/>
          </a:prstGeom>
          <a:noFill/>
        </p:spPr>
        <p:txBody>
          <a:bodyPr wrap="square" lIns="0" rIns="0" tIns="0" bIns="0" anchor="t">
            <a:spAutoFit/>
          </a:bodyPr>
          <a:lstStyle/>
          <a:p>
            <a:pPr>
              <a:lnSpc>
                <a:spcPct val="106000"/>
              </a:lnSpc>
              <a:spcBef>
                <a:spcPts val="0"/>
              </a:spcBef>
              <a:spcAft>
                <a:spcPts val="0"/>
              </a:spcAft>
            </a:pPr>
            <a:r>
              <a:rPr sz="3000" b="1" i="0">
                <a:solidFill>
                  <a:srgbClr val="002970"/>
                </a:solidFill>
                <a:latin typeface="Arial"/>
              </a:rPr>
              <a:t>Recording a debt is easy. Recording it safely is the product.</a:t>
            </a:r>
          </a:p>
        </p:txBody>
      </p:sp>
      <p:sp>
        <p:nvSpPr>
          <p:cNvPr id="5" name="TextBox 4"/>
          <p:cNvSpPr txBox="1"/>
          <p:nvPr/>
        </p:nvSpPr>
        <p:spPr>
          <a:xfrm>
            <a:off x="566928" y="1554480"/>
            <a:ext cx="10424160" cy="713232"/>
          </a:xfrm>
          <a:prstGeom prst="rect">
            <a:avLst/>
          </a:prstGeom>
          <a:noFill/>
        </p:spPr>
        <p:txBody>
          <a:bodyPr wrap="square" lIns="0" rIns="0" tIns="0" bIns="0" anchor="t">
            <a:spAutoFit/>
          </a:bodyPr>
          <a:lstStyle/>
          <a:p>
            <a:pPr>
              <a:lnSpc>
                <a:spcPct val="138000"/>
              </a:lnSpc>
              <a:spcBef>
                <a:spcPts val="0"/>
              </a:spcBef>
              <a:spcAft>
                <a:spcPts val="0"/>
              </a:spcAft>
            </a:pPr>
            <a:r>
              <a:rPr sz="1250" b="0" i="0">
                <a:solidFill>
                  <a:srgbClr val="5B6675"/>
                </a:solidFill>
                <a:latin typeface="Arial"/>
              </a:rPr>
              <a:t>Every product in this category walks into the same four Indian statutes. We read them first, and each one became a single implementation constraint rather than a disclaimer at the bottom of a screen.</a:t>
            </a:r>
          </a:p>
        </p:txBody>
      </p:sp>
      <p:sp>
        <p:nvSpPr>
          <p:cNvPr id="6" name="Rounded Rectangle 5"/>
          <p:cNvSpPr/>
          <p:nvPr/>
        </p:nvSpPr>
        <p:spPr>
          <a:xfrm>
            <a:off x="566928"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Rule 1 — acknowledge, never promise</a:t>
            </a:r>
          </a:p>
        </p:txBody>
      </p:sp>
      <p:sp>
        <p:nvSpPr>
          <p:cNvPr id="9" name="TextBox 8"/>
          <p:cNvSpPr txBox="1"/>
          <p:nvPr/>
        </p:nvSpPr>
        <p:spPr>
          <a:xfrm>
            <a:off x="749808"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IT Act 2000, s.4 and First Schedule</a:t>
            </a:r>
          </a:p>
          <a:p>
            <a:pPr>
              <a:lnSpc>
                <a:spcPct val="132000"/>
              </a:lnSpc>
              <a:spcBef>
                <a:spcPts val="0"/>
              </a:spcBef>
              <a:spcAft>
                <a:spcPts val="500"/>
              </a:spcAft>
            </a:pPr>
            <a:r>
              <a:rPr sz="950" b="0" i="0">
                <a:solidFill>
                  <a:srgbClr val="5B6675"/>
                </a:solidFill>
                <a:latin typeface="Arial"/>
              </a:rPr>
              <a:t>The button says “Yes, I owe ₹200”. It must never say “I’ll pay by Friday”.</a:t>
            </a:r>
          </a:p>
          <a:p>
            <a:pPr>
              <a:lnSpc>
                <a:spcPct val="132000"/>
              </a:lnSpc>
              <a:spcBef>
                <a:spcPts val="0"/>
              </a:spcBef>
              <a:spcAft>
                <a:spcPts val="500"/>
              </a:spcAft>
            </a:pPr>
            <a:r>
              <a:rPr sz="950" b="0" i="0">
                <a:solidFill>
                  <a:srgbClr val="5B6675"/>
                </a:solidFill>
                <a:latin typeface="Arial"/>
              </a:rPr>
              <a:t>An acknowledgment of debt is recognised electronically. A promise to pay a fixed sum is a demand promissory note — a negotiable instrument, First Schedule entry 1, which puts the record outside the IT Act entirely.</a:t>
            </a:r>
          </a:p>
          <a:p>
            <a:pPr>
              <a:lnSpc>
                <a:spcPct val="132000"/>
              </a:lnSpc>
              <a:spcBef>
                <a:spcPts val="0"/>
              </a:spcBef>
              <a:spcAft>
                <a:spcPts val="500"/>
              </a:spcAft>
            </a:pPr>
            <a:r>
              <a:rPr sz="950" b="1" i="0">
                <a:solidFill>
                  <a:srgbClr val="1C1C1C"/>
                </a:solidFill>
                <a:latin typeface="Arial"/>
              </a:rPr>
              <a:t>In the schema: there is no due-date column on an acknowledgment. Not unused — absent, so nobody adds it later as a convenience.</a:t>
            </a:r>
          </a:p>
        </p:txBody>
      </p:sp>
      <p:sp>
        <p:nvSpPr>
          <p:cNvPr id="10" name="Rounded Rectangle 9"/>
          <p:cNvSpPr/>
          <p:nvPr/>
        </p:nvSpPr>
        <p:spPr>
          <a:xfrm>
            <a:off x="3386251"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69131"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9131"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Rule 2 — never a rupee above the price</a:t>
            </a:r>
          </a:p>
        </p:txBody>
      </p:sp>
      <p:sp>
        <p:nvSpPr>
          <p:cNvPr id="13" name="TextBox 12"/>
          <p:cNvSpPr txBox="1"/>
          <p:nvPr/>
        </p:nvSpPr>
        <p:spPr>
          <a:xfrm>
            <a:off x="3569131"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State Money-Lenders Acts</a:t>
            </a:r>
          </a:p>
          <a:p>
            <a:pPr>
              <a:lnSpc>
                <a:spcPct val="132000"/>
              </a:lnSpc>
              <a:spcBef>
                <a:spcPts val="0"/>
              </a:spcBef>
              <a:spcAft>
                <a:spcPts val="500"/>
              </a:spcAft>
            </a:pPr>
            <a:r>
              <a:rPr sz="950" b="0" i="0">
                <a:solidFill>
                  <a:srgbClr val="5B6675"/>
                </a:solidFill>
                <a:latin typeface="Arial"/>
              </a:rPr>
              <a:t>No late fee, no convenience charge, no interest, ever.</a:t>
            </a:r>
          </a:p>
          <a:p>
            <a:pPr>
              <a:lnSpc>
                <a:spcPct val="132000"/>
              </a:lnSpc>
              <a:spcBef>
                <a:spcPts val="0"/>
              </a:spcBef>
              <a:spcAft>
                <a:spcPts val="500"/>
              </a:spcAft>
            </a:pPr>
            <a:r>
              <a:rPr sz="950" b="0" i="0">
                <a:solidFill>
                  <a:srgbClr val="5B6675"/>
                </a:solidFill>
                <a:latin typeface="Arial"/>
              </a:rPr>
              <a:t>All four state Acts define a loan as an advance “at interest”, of money or in kind. Maharashtra catches “any sum, by whatsoever name called, in excess of the principal”.</a:t>
            </a:r>
          </a:p>
          <a:p>
            <a:pPr>
              <a:lnSpc>
                <a:spcPct val="132000"/>
              </a:lnSpc>
              <a:spcBef>
                <a:spcPts val="0"/>
              </a:spcBef>
              <a:spcAft>
                <a:spcPts val="500"/>
              </a:spcAft>
            </a:pPr>
            <a:r>
              <a:rPr sz="950" b="0" i="0">
                <a:solidFill>
                  <a:srgbClr val="5B6675"/>
                </a:solidFill>
                <a:latin typeface="Arial"/>
              </a:rPr>
              <a:t>Karnataka and Delhi have no trade-credit exclusion — one ₹10 late fee makes the shopkeeper an unlicensed money-lender there.</a:t>
            </a:r>
          </a:p>
          <a:p>
            <a:pPr>
              <a:lnSpc>
                <a:spcPct val="132000"/>
              </a:lnSpc>
              <a:spcBef>
                <a:spcPts val="0"/>
              </a:spcBef>
              <a:spcAft>
                <a:spcPts val="500"/>
              </a:spcAft>
            </a:pPr>
            <a:r>
              <a:rPr sz="950" b="1" i="0">
                <a:solidFill>
                  <a:srgbClr val="1C1C1C"/>
                </a:solidFill>
                <a:latin typeface="Arial"/>
              </a:rPr>
              <a:t>In the schema: no fee, charge or interest column exists anywhere.</a:t>
            </a:r>
          </a:p>
        </p:txBody>
      </p:sp>
      <p:sp>
        <p:nvSpPr>
          <p:cNvPr id="14" name="Rounded Rectangle 13"/>
          <p:cNvSpPr/>
          <p:nvPr/>
        </p:nvSpPr>
        <p:spPr>
          <a:xfrm>
            <a:off x="6205574"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88454"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8454"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Rule 3 — let debts die</a:t>
            </a:r>
          </a:p>
        </p:txBody>
      </p:sp>
      <p:sp>
        <p:nvSpPr>
          <p:cNvPr id="17" name="TextBox 16"/>
          <p:cNvSpPr txBox="1"/>
          <p:nvPr/>
        </p:nvSpPr>
        <p:spPr>
          <a:xfrm>
            <a:off x="6388454"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Limitation Act 1963, s.18</a:t>
            </a:r>
          </a:p>
          <a:p>
            <a:pPr>
              <a:lnSpc>
                <a:spcPct val="132000"/>
              </a:lnSpc>
              <a:spcBef>
                <a:spcPts val="0"/>
              </a:spcBef>
              <a:spcAft>
                <a:spcPts val="500"/>
              </a:spcAft>
            </a:pPr>
            <a:r>
              <a:rPr sz="950" b="0" i="0">
                <a:solidFill>
                  <a:srgbClr val="5B6675"/>
                </a:solidFill>
                <a:latin typeface="Arial"/>
              </a:rPr>
              <a:t>Every acknowledgment restarts a fresh three years, with no cap on restarts.</a:t>
            </a:r>
          </a:p>
          <a:p>
            <a:pPr>
              <a:lnSpc>
                <a:spcPct val="132000"/>
              </a:lnSpc>
              <a:spcBef>
                <a:spcPts val="0"/>
              </a:spcBef>
              <a:spcAft>
                <a:spcPts val="500"/>
              </a:spcAft>
            </a:pPr>
            <a:r>
              <a:rPr sz="950" b="0" i="0">
                <a:solidFill>
                  <a:srgbClr val="5B6675"/>
                </a:solidFill>
                <a:latin typeface="Arial"/>
              </a:rPr>
              <a:t>So an app that keeps prompting converts a ₹200 debt from 2023 into one that is legally immortal. The paper diary let it die; we would be taking that away.</a:t>
            </a:r>
          </a:p>
          <a:p>
            <a:pPr>
              <a:lnSpc>
                <a:spcPct val="132000"/>
              </a:lnSpc>
              <a:spcBef>
                <a:spcPts val="0"/>
              </a:spcBef>
              <a:spcAft>
                <a:spcPts val="500"/>
              </a:spcAft>
            </a:pPr>
            <a:r>
              <a:rPr sz="950" b="1" i="0">
                <a:solidFill>
                  <a:srgbClr val="1C1C1C"/>
                </a:solidFill>
                <a:latin typeface="Arial"/>
              </a:rPr>
              <a:t>We stop prompting before the clock runs out, mark the entry expired, and show it struck through to both sides.</a:t>
            </a:r>
          </a:p>
          <a:p>
            <a:pPr>
              <a:lnSpc>
                <a:spcPct val="132000"/>
              </a:lnSpc>
              <a:spcBef>
                <a:spcPts val="0"/>
              </a:spcBef>
              <a:spcAft>
                <a:spcPts val="500"/>
              </a:spcAft>
            </a:pPr>
            <a:r>
              <a:rPr sz="950" b="0" i="0">
                <a:solidFill>
                  <a:srgbClr val="5B6675"/>
                </a:solidFill>
                <a:latin typeface="Arial"/>
              </a:rPr>
              <a:t>Nobody else in this category shows a debt ending.</a:t>
            </a:r>
          </a:p>
        </p:txBody>
      </p:sp>
      <p:sp>
        <p:nvSpPr>
          <p:cNvPr id="18" name="Rounded Rectangle 17"/>
          <p:cNvSpPr/>
          <p:nvPr/>
        </p:nvSpPr>
        <p:spPr>
          <a:xfrm>
            <a:off x="9024897"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07777"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7777"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Rule 4 — never shame, never charge</a:t>
            </a:r>
          </a:p>
        </p:txBody>
      </p:sp>
      <p:sp>
        <p:nvSpPr>
          <p:cNvPr id="21" name="TextBox 20"/>
          <p:cNvSpPr txBox="1"/>
          <p:nvPr/>
        </p:nvSpPr>
        <p:spPr>
          <a:xfrm>
            <a:off x="9207777"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BNS 2023 s.308 · CCPA Dark Patterns 2023</a:t>
            </a:r>
          </a:p>
          <a:p>
            <a:pPr>
              <a:lnSpc>
                <a:spcPct val="132000"/>
              </a:lnSpc>
              <a:spcBef>
                <a:spcPts val="0"/>
              </a:spcBef>
              <a:spcAft>
                <a:spcPts val="500"/>
              </a:spcAft>
            </a:pPr>
            <a:r>
              <a:rPr sz="950" b="0" i="0">
                <a:solidFill>
                  <a:srgbClr val="5B6675"/>
                </a:solidFill>
                <a:latin typeface="Arial"/>
              </a:rPr>
              <a:t>BNS s.308, Illustration (a): threatening to expose someone unless they pay is the textbook definition of extortion. Seven years.</a:t>
            </a:r>
          </a:p>
          <a:p>
            <a:pPr>
              <a:lnSpc>
                <a:spcPct val="132000"/>
              </a:lnSpc>
              <a:spcBef>
                <a:spcPts val="0"/>
              </a:spcBef>
              <a:spcAft>
                <a:spcPts val="500"/>
              </a:spcAft>
            </a:pPr>
            <a:r>
              <a:rPr sz="950" b="0" i="0">
                <a:solidFill>
                  <a:srgbClr val="5B6675"/>
                </a:solidFill>
                <a:latin typeface="Arial"/>
              </a:rPr>
              <a:t>That is our nearest competitor’s entire business model.</a:t>
            </a:r>
          </a:p>
          <a:p>
            <a:pPr>
              <a:lnSpc>
                <a:spcPct val="132000"/>
              </a:lnSpc>
              <a:spcBef>
                <a:spcPts val="0"/>
              </a:spcBef>
              <a:spcAft>
                <a:spcPts val="500"/>
              </a:spcAft>
            </a:pPr>
            <a:r>
              <a:rPr sz="950" b="0" i="0">
                <a:solidFill>
                  <a:srgbClr val="5B6675"/>
                </a:solidFill>
                <a:latin typeface="Arial"/>
              </a:rPr>
              <a:t>So: no defaulter list, no blacklist, no leaderboard, no sorting by who owes most.</a:t>
            </a:r>
          </a:p>
          <a:p>
            <a:pPr>
              <a:lnSpc>
                <a:spcPct val="132000"/>
              </a:lnSpc>
              <a:spcBef>
                <a:spcPts val="0"/>
              </a:spcBef>
              <a:spcAft>
                <a:spcPts val="500"/>
              </a:spcAft>
            </a:pPr>
            <a:r>
              <a:rPr sz="950" b="1" i="0">
                <a:solidFill>
                  <a:srgbClr val="1C1C1C"/>
                </a:solidFill>
                <a:latin typeface="Arial"/>
              </a:rPr>
              <a:t>In the API: no endpoint lets the merchant demand money. The customer gets a pay button; the shopkeeper gets a text field.</a:t>
            </a:r>
          </a:p>
        </p:txBody>
      </p:sp>
      <p:sp>
        <p:nvSpPr>
          <p:cNvPr id="22" name="TextBox 21"/>
          <p:cNvSpPr txBox="1"/>
          <p:nvPr/>
        </p:nvSpPr>
        <p:spPr>
          <a:xfrm>
            <a:off x="566928" y="6455664"/>
            <a:ext cx="11057839" cy="237744"/>
          </a:xfrm>
          <a:prstGeom prst="rect">
            <a:avLst/>
          </a:prstGeom>
          <a:noFill/>
        </p:spPr>
        <p:txBody>
          <a:bodyPr wrap="square" lIns="0" rIns="0" tIns="0" bIns="0" anchor="t">
            <a:spAutoFit/>
          </a:bodyPr>
          <a:lstStyle/>
          <a:p>
            <a:pPr>
              <a:lnSpc>
                <a:spcPct val="125000"/>
              </a:lnSpc>
              <a:spcBef>
                <a:spcPts val="0"/>
              </a:spcBef>
              <a:spcAft>
                <a:spcPts val="0"/>
              </a:spcAft>
            </a:pPr>
            <a:r>
              <a:rPr sz="850" b="0" i="0">
                <a:solidFill>
                  <a:srgbClr val="5B6675"/>
                </a:solidFill>
                <a:latin typeface="Arial"/>
              </a:rPr>
              <a:t>Also cleared: RBI’s Digital Lending Directions 2025 bind Regulated Entities only (para 3) — a shopkeeper is not one. CICRA does not apply either.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pPr>
              <a:lnSpc>
                <a:spcPct val="134000"/>
              </a:lnSpc>
              <a:spcBef>
                <a:spcPts val="0"/>
              </a:spcBef>
              <a:spcAft>
                <a:spcPts val="0"/>
              </a:spcAft>
            </a:pPr>
            <a:r>
              <a:rPr sz="950" b="1" i="0" spc="140">
                <a:solidFill>
                  <a:srgbClr val="0077A8"/>
                </a:solidFill>
                <a:latin typeface="Arial"/>
              </a:rPr>
              <a:t>THE FIELD — WHAT ALREADY EXISTS, AND WHAT IT CHOSE NOT TO DO</a:t>
            </a:r>
          </a:p>
        </p:txBody>
      </p:sp>
      <p:sp>
        <p:nvSpPr>
          <p:cNvPr id="4" name="TextBox 3"/>
          <p:cNvSpPr txBox="1"/>
          <p:nvPr/>
        </p:nvSpPr>
        <p:spPr>
          <a:xfrm>
            <a:off x="566928" y="640080"/>
            <a:ext cx="11057839" cy="841248"/>
          </a:xfrm>
          <a:prstGeom prst="rect">
            <a:avLst/>
          </a:prstGeom>
          <a:noFill/>
        </p:spPr>
        <p:txBody>
          <a:bodyPr wrap="square" lIns="0" rIns="0" tIns="0" bIns="0" anchor="t">
            <a:spAutoFit/>
          </a:bodyPr>
          <a:lstStyle/>
          <a:p>
            <a:pPr>
              <a:lnSpc>
                <a:spcPct val="106000"/>
              </a:lnSpc>
              <a:spcBef>
                <a:spcPts val="0"/>
              </a:spcBef>
              <a:spcAft>
                <a:spcPts val="0"/>
              </a:spcAft>
            </a:pPr>
            <a:r>
              <a:rPr sz="3000" b="1" i="0">
                <a:solidFill>
                  <a:srgbClr val="002970"/>
                </a:solidFill>
                <a:latin typeface="Arial"/>
              </a:rPr>
              <a:t>The gap is not an oversight. It is a decision everyone made.</a:t>
            </a:r>
          </a:p>
        </p:txBody>
      </p:sp>
      <p:sp>
        <p:nvSpPr>
          <p:cNvPr id="5" name="TextBox 4"/>
          <p:cNvSpPr txBox="1"/>
          <p:nvPr/>
        </p:nvSpPr>
        <p:spPr>
          <a:xfrm>
            <a:off x="566928" y="1554480"/>
            <a:ext cx="10424160" cy="713232"/>
          </a:xfrm>
          <a:prstGeom prst="rect">
            <a:avLst/>
          </a:prstGeom>
          <a:noFill/>
        </p:spPr>
        <p:txBody>
          <a:bodyPr wrap="square" lIns="0" rIns="0" tIns="0" bIns="0" anchor="t">
            <a:spAutoFit/>
          </a:bodyPr>
          <a:lstStyle/>
          <a:p>
            <a:pPr>
              <a:lnSpc>
                <a:spcPct val="138000"/>
              </a:lnSpc>
              <a:spcBef>
                <a:spcPts val="0"/>
              </a:spcBef>
              <a:spcAft>
                <a:spcPts val="0"/>
              </a:spcAft>
            </a:pPr>
            <a:r>
              <a:rPr sz="1250" b="0" i="0">
                <a:solidFill>
                  <a:srgbClr val="5B6675"/>
                </a:solidFill>
                <a:latin typeface="Arial"/>
              </a:rPr>
              <a:t>Tens of millions of shopkeepers already use a free digital udhaar ledger. Not one of them gives the customer a say. The consent step is the product.</a:t>
            </a:r>
          </a:p>
        </p:txBody>
      </p:sp>
      <p:sp>
        <p:nvSpPr>
          <p:cNvPr id="6" name="TextBox 5"/>
          <p:cNvSpPr txBox="1"/>
          <p:nvPr/>
        </p:nvSpPr>
        <p:spPr>
          <a:xfrm>
            <a:off x="2734056" y="2377440"/>
            <a:ext cx="1417320" cy="274320"/>
          </a:xfrm>
          <a:prstGeom prst="rect">
            <a:avLst/>
          </a:prstGeom>
          <a:noFill/>
        </p:spPr>
        <p:txBody>
          <a:bodyPr wrap="square" lIns="0" rIns="0" tIns="0" bIns="0" anchor="t">
            <a:spAutoFit/>
          </a:bodyPr>
          <a:lstStyle/>
          <a:p>
            <a:pPr>
              <a:lnSpc>
                <a:spcPct val="134000"/>
              </a:lnSpc>
              <a:spcBef>
                <a:spcPts val="0"/>
              </a:spcBef>
              <a:spcAft>
                <a:spcPts val="0"/>
              </a:spcAft>
            </a:pPr>
            <a:r>
              <a:rPr sz="850" b="1" i="0" spc="100">
                <a:solidFill>
                  <a:srgbClr val="0077A8"/>
                </a:solidFill>
                <a:latin typeface="Arial"/>
              </a:rPr>
              <a:t>SCALE</a:t>
            </a:r>
          </a:p>
        </p:txBody>
      </p:sp>
      <p:sp>
        <p:nvSpPr>
          <p:cNvPr id="7" name="TextBox 6"/>
          <p:cNvSpPr txBox="1"/>
          <p:nvPr/>
        </p:nvSpPr>
        <p:spPr>
          <a:xfrm>
            <a:off x="4151376" y="2377440"/>
            <a:ext cx="1600200" cy="274320"/>
          </a:xfrm>
          <a:prstGeom prst="rect">
            <a:avLst/>
          </a:prstGeom>
          <a:noFill/>
        </p:spPr>
        <p:txBody>
          <a:bodyPr wrap="square" lIns="0" rIns="0" tIns="0" bIns="0" anchor="t">
            <a:spAutoFit/>
          </a:bodyPr>
          <a:lstStyle/>
          <a:p>
            <a:pPr>
              <a:lnSpc>
                <a:spcPct val="134000"/>
              </a:lnSpc>
              <a:spcBef>
                <a:spcPts val="0"/>
              </a:spcBef>
              <a:spcAft>
                <a:spcPts val="0"/>
              </a:spcAft>
            </a:pPr>
            <a:r>
              <a:rPr sz="850" b="1" i="0" spc="100">
                <a:solidFill>
                  <a:srgbClr val="0077A8"/>
                </a:solidFill>
                <a:latin typeface="Arial"/>
              </a:rPr>
              <a:t>CUSTOMER APP</a:t>
            </a:r>
          </a:p>
        </p:txBody>
      </p:sp>
      <p:sp>
        <p:nvSpPr>
          <p:cNvPr id="8" name="TextBox 7"/>
          <p:cNvSpPr txBox="1"/>
          <p:nvPr/>
        </p:nvSpPr>
        <p:spPr>
          <a:xfrm>
            <a:off x="5751576" y="2377440"/>
            <a:ext cx="1463040" cy="274320"/>
          </a:xfrm>
          <a:prstGeom prst="rect">
            <a:avLst/>
          </a:prstGeom>
          <a:noFill/>
        </p:spPr>
        <p:txBody>
          <a:bodyPr wrap="square" lIns="0" rIns="0" tIns="0" bIns="0" anchor="t">
            <a:spAutoFit/>
          </a:bodyPr>
          <a:lstStyle/>
          <a:p>
            <a:pPr>
              <a:lnSpc>
                <a:spcPct val="134000"/>
              </a:lnSpc>
              <a:spcBef>
                <a:spcPts val="0"/>
              </a:spcBef>
              <a:spcAft>
                <a:spcPts val="0"/>
              </a:spcAft>
            </a:pPr>
            <a:r>
              <a:rPr sz="850" b="1" i="0" spc="100">
                <a:solidFill>
                  <a:srgbClr val="0077A8"/>
                </a:solidFill>
                <a:latin typeface="Arial"/>
              </a:rPr>
              <a:t>CONFIRMS?</a:t>
            </a:r>
          </a:p>
        </p:txBody>
      </p:sp>
      <p:sp>
        <p:nvSpPr>
          <p:cNvPr id="9" name="TextBox 8"/>
          <p:cNvSpPr txBox="1"/>
          <p:nvPr/>
        </p:nvSpPr>
        <p:spPr>
          <a:xfrm>
            <a:off x="7214616" y="2377440"/>
            <a:ext cx="1508760" cy="274320"/>
          </a:xfrm>
          <a:prstGeom prst="rect">
            <a:avLst/>
          </a:prstGeom>
          <a:noFill/>
        </p:spPr>
        <p:txBody>
          <a:bodyPr wrap="square" lIns="0" rIns="0" tIns="0" bIns="0" anchor="t">
            <a:spAutoFit/>
          </a:bodyPr>
          <a:lstStyle/>
          <a:p>
            <a:pPr>
              <a:lnSpc>
                <a:spcPct val="134000"/>
              </a:lnSpc>
              <a:spcBef>
                <a:spcPts val="0"/>
              </a:spcBef>
              <a:spcAft>
                <a:spcPts val="0"/>
              </a:spcAft>
            </a:pPr>
            <a:r>
              <a:rPr sz="850" b="1" i="0" spc="100">
                <a:solidFill>
                  <a:srgbClr val="0077A8"/>
                </a:solidFill>
                <a:latin typeface="Arial"/>
              </a:rPr>
              <a:t>TIMING</a:t>
            </a:r>
          </a:p>
        </p:txBody>
      </p:sp>
      <p:sp>
        <p:nvSpPr>
          <p:cNvPr id="10" name="TextBox 9"/>
          <p:cNvSpPr txBox="1"/>
          <p:nvPr/>
        </p:nvSpPr>
        <p:spPr>
          <a:xfrm>
            <a:off x="8723376" y="2377440"/>
            <a:ext cx="2487168" cy="274320"/>
          </a:xfrm>
          <a:prstGeom prst="rect">
            <a:avLst/>
          </a:prstGeom>
          <a:noFill/>
        </p:spPr>
        <p:txBody>
          <a:bodyPr wrap="square" lIns="0" rIns="0" tIns="0" bIns="0" anchor="t">
            <a:spAutoFit/>
          </a:bodyPr>
          <a:lstStyle/>
          <a:p>
            <a:pPr>
              <a:lnSpc>
                <a:spcPct val="134000"/>
              </a:lnSpc>
              <a:spcBef>
                <a:spcPts val="0"/>
              </a:spcBef>
              <a:spcAft>
                <a:spcPts val="0"/>
              </a:spcAft>
            </a:pPr>
            <a:r>
              <a:rPr sz="850" b="1" i="0" spc="100">
                <a:solidFill>
                  <a:srgbClr val="0077A8"/>
                </a:solidFill>
                <a:latin typeface="Arial"/>
              </a:rPr>
              <a:t>WHAT IT CHOSE</a:t>
            </a:r>
          </a:p>
        </p:txBody>
      </p:sp>
      <p:sp>
        <p:nvSpPr>
          <p:cNvPr id="11" name="Rectangle 10"/>
          <p:cNvSpPr/>
          <p:nvPr/>
        </p:nvSpPr>
        <p:spPr>
          <a:xfrm>
            <a:off x="566928" y="2651760"/>
            <a:ext cx="11057839" cy="190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2798064"/>
            <a:ext cx="2075688" cy="438912"/>
          </a:xfrm>
          <a:prstGeom prst="rect">
            <a:avLst/>
          </a:prstGeom>
          <a:noFill/>
        </p:spPr>
        <p:txBody>
          <a:bodyPr wrap="square" lIns="0" rIns="0" tIns="0" bIns="0" anchor="t">
            <a:spAutoFit/>
          </a:bodyPr>
          <a:lstStyle/>
          <a:p>
            <a:pPr>
              <a:lnSpc>
                <a:spcPct val="116000"/>
              </a:lnSpc>
              <a:spcBef>
                <a:spcPts val="0"/>
              </a:spcBef>
              <a:spcAft>
                <a:spcPts val="0"/>
              </a:spcAft>
            </a:pPr>
            <a:r>
              <a:rPr sz="1050" b="1" i="0">
                <a:solidFill>
                  <a:srgbClr val="1C1C1C"/>
                </a:solidFill>
                <a:latin typeface="Arial"/>
              </a:rPr>
              <a:t>Khatabook</a:t>
            </a:r>
          </a:p>
        </p:txBody>
      </p:sp>
      <p:sp>
        <p:nvSpPr>
          <p:cNvPr id="13" name="TextBox 12"/>
          <p:cNvSpPr txBox="1"/>
          <p:nvPr/>
        </p:nvSpPr>
        <p:spPr>
          <a:xfrm>
            <a:off x="2734056" y="2798064"/>
            <a:ext cx="134416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5B6675"/>
                </a:solidFill>
                <a:latin typeface="Arial"/>
              </a:rPr>
              <a:t>5 crore users</a:t>
            </a:r>
          </a:p>
        </p:txBody>
      </p:sp>
      <p:sp>
        <p:nvSpPr>
          <p:cNvPr id="14" name="TextBox 13"/>
          <p:cNvSpPr txBox="1"/>
          <p:nvPr/>
        </p:nvSpPr>
        <p:spPr>
          <a:xfrm>
            <a:off x="4151376" y="2798064"/>
            <a:ext cx="152704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B3261E"/>
                </a:solidFill>
                <a:latin typeface="Arial"/>
              </a:rPr>
              <a:t>No</a:t>
            </a:r>
          </a:p>
        </p:txBody>
      </p:sp>
      <p:sp>
        <p:nvSpPr>
          <p:cNvPr id="15" name="TextBox 14"/>
          <p:cNvSpPr txBox="1"/>
          <p:nvPr/>
        </p:nvSpPr>
        <p:spPr>
          <a:xfrm>
            <a:off x="5751576" y="2798064"/>
            <a:ext cx="138988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B3261E"/>
                </a:solidFill>
                <a:latin typeface="Arial"/>
              </a:rPr>
              <a:t>No</a:t>
            </a:r>
          </a:p>
        </p:txBody>
      </p:sp>
      <p:sp>
        <p:nvSpPr>
          <p:cNvPr id="16" name="TextBox 15"/>
          <p:cNvSpPr txBox="1"/>
          <p:nvPr/>
        </p:nvSpPr>
        <p:spPr>
          <a:xfrm>
            <a:off x="7214616" y="2798064"/>
            <a:ext cx="143560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B3261E"/>
                </a:solidFill>
                <a:latin typeface="Arial"/>
              </a:rPr>
              <a:t>No</a:t>
            </a:r>
          </a:p>
        </p:txBody>
      </p:sp>
      <p:sp>
        <p:nvSpPr>
          <p:cNvPr id="17" name="TextBox 16"/>
          <p:cNvSpPr txBox="1"/>
          <p:nvPr/>
        </p:nvSpPr>
        <p:spPr>
          <a:xfrm>
            <a:off x="8723376" y="2798064"/>
            <a:ext cx="2414016" cy="438912"/>
          </a:xfrm>
          <a:prstGeom prst="rect">
            <a:avLst/>
          </a:prstGeom>
          <a:noFill/>
        </p:spPr>
        <p:txBody>
          <a:bodyPr wrap="square" lIns="0" rIns="0" tIns="0" bIns="0" anchor="t">
            <a:spAutoFit/>
          </a:bodyPr>
          <a:lstStyle/>
          <a:p>
            <a:pPr>
              <a:lnSpc>
                <a:spcPct val="122000"/>
              </a:lnSpc>
              <a:spcBef>
                <a:spcPts val="0"/>
              </a:spcBef>
              <a:spcAft>
                <a:spcPts val="0"/>
              </a:spcAft>
            </a:pPr>
            <a:r>
              <a:rPr sz="880" b="0" i="0">
                <a:solidFill>
                  <a:srgbClr val="5B6675"/>
                </a:solidFill>
                <a:latin typeface="Arial"/>
              </a:rPr>
              <a:t>Pivoted to loan distribution; ledger is the funnel</a:t>
            </a:r>
          </a:p>
        </p:txBody>
      </p:sp>
      <p:sp>
        <p:nvSpPr>
          <p:cNvPr id="18" name="Rectangle 17"/>
          <p:cNvSpPr/>
          <p:nvPr/>
        </p:nvSpPr>
        <p:spPr>
          <a:xfrm>
            <a:off x="566928" y="3236976"/>
            <a:ext cx="11057839" cy="7620"/>
          </a:xfrm>
          <a:prstGeom prst="rect">
            <a:avLst/>
          </a:prstGeom>
          <a:solidFill>
            <a:srgbClr val="D9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5216" y="3310128"/>
            <a:ext cx="2075688" cy="438912"/>
          </a:xfrm>
          <a:prstGeom prst="rect">
            <a:avLst/>
          </a:prstGeom>
          <a:noFill/>
        </p:spPr>
        <p:txBody>
          <a:bodyPr wrap="square" lIns="0" rIns="0" tIns="0" bIns="0" anchor="t">
            <a:spAutoFit/>
          </a:bodyPr>
          <a:lstStyle/>
          <a:p>
            <a:pPr>
              <a:lnSpc>
                <a:spcPct val="116000"/>
              </a:lnSpc>
              <a:spcBef>
                <a:spcPts val="0"/>
              </a:spcBef>
              <a:spcAft>
                <a:spcPts val="0"/>
              </a:spcAft>
            </a:pPr>
            <a:r>
              <a:rPr sz="1050" b="1" i="0">
                <a:solidFill>
                  <a:srgbClr val="1C1C1C"/>
                </a:solidFill>
                <a:latin typeface="Arial"/>
              </a:rPr>
              <a:t>OkCredit</a:t>
            </a:r>
          </a:p>
        </p:txBody>
      </p:sp>
      <p:sp>
        <p:nvSpPr>
          <p:cNvPr id="20" name="TextBox 19"/>
          <p:cNvSpPr txBox="1"/>
          <p:nvPr/>
        </p:nvSpPr>
        <p:spPr>
          <a:xfrm>
            <a:off x="2734056" y="3310128"/>
            <a:ext cx="134416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5B6675"/>
                </a:solidFill>
                <a:latin typeface="Arial"/>
              </a:rPr>
              <a:t>1 crore installs</a:t>
            </a:r>
          </a:p>
        </p:txBody>
      </p:sp>
      <p:sp>
        <p:nvSpPr>
          <p:cNvPr id="21" name="TextBox 20"/>
          <p:cNvSpPr txBox="1"/>
          <p:nvPr/>
        </p:nvSpPr>
        <p:spPr>
          <a:xfrm>
            <a:off x="4151376" y="3310128"/>
            <a:ext cx="152704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B3261E"/>
                </a:solidFill>
                <a:latin typeface="Arial"/>
              </a:rPr>
              <a:t>No — by design</a:t>
            </a:r>
          </a:p>
        </p:txBody>
      </p:sp>
      <p:sp>
        <p:nvSpPr>
          <p:cNvPr id="22" name="TextBox 21"/>
          <p:cNvSpPr txBox="1"/>
          <p:nvPr/>
        </p:nvSpPr>
        <p:spPr>
          <a:xfrm>
            <a:off x="5751576" y="3310128"/>
            <a:ext cx="138988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B3261E"/>
                </a:solidFill>
                <a:latin typeface="Arial"/>
              </a:rPr>
              <a:t>No</a:t>
            </a:r>
          </a:p>
        </p:txBody>
      </p:sp>
      <p:sp>
        <p:nvSpPr>
          <p:cNvPr id="23" name="TextBox 22"/>
          <p:cNvSpPr txBox="1"/>
          <p:nvPr/>
        </p:nvSpPr>
        <p:spPr>
          <a:xfrm>
            <a:off x="7214616" y="3310128"/>
            <a:ext cx="143560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B3261E"/>
                </a:solidFill>
                <a:latin typeface="Arial"/>
              </a:rPr>
              <a:t>No</a:t>
            </a:r>
          </a:p>
        </p:txBody>
      </p:sp>
      <p:sp>
        <p:nvSpPr>
          <p:cNvPr id="24" name="TextBox 23"/>
          <p:cNvSpPr txBox="1"/>
          <p:nvPr/>
        </p:nvSpPr>
        <p:spPr>
          <a:xfrm>
            <a:off x="8723376" y="3310128"/>
            <a:ext cx="2414016" cy="438912"/>
          </a:xfrm>
          <a:prstGeom prst="rect">
            <a:avLst/>
          </a:prstGeom>
          <a:noFill/>
        </p:spPr>
        <p:txBody>
          <a:bodyPr wrap="square" lIns="0" rIns="0" tIns="0" bIns="0" anchor="t">
            <a:spAutoFit/>
          </a:bodyPr>
          <a:lstStyle/>
          <a:p>
            <a:pPr>
              <a:lnSpc>
                <a:spcPct val="122000"/>
              </a:lnSpc>
              <a:spcBef>
                <a:spcPts val="0"/>
              </a:spcBef>
              <a:spcAft>
                <a:spcPts val="0"/>
              </a:spcAft>
            </a:pPr>
            <a:r>
              <a:rPr sz="880" b="0" i="0">
                <a:solidFill>
                  <a:srgbClr val="5B6675"/>
                </a:solidFill>
                <a:latin typeface="Arial"/>
              </a:rPr>
              <a:t>“Customer ko app ki zaroorat nahi”; ₹30/month</a:t>
            </a:r>
          </a:p>
        </p:txBody>
      </p:sp>
      <p:sp>
        <p:nvSpPr>
          <p:cNvPr id="25" name="Rectangle 24"/>
          <p:cNvSpPr/>
          <p:nvPr/>
        </p:nvSpPr>
        <p:spPr>
          <a:xfrm>
            <a:off x="566928" y="3749040"/>
            <a:ext cx="11057839" cy="7620"/>
          </a:xfrm>
          <a:prstGeom prst="rect">
            <a:avLst/>
          </a:prstGeom>
          <a:solidFill>
            <a:srgbClr val="D9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 y="3822192"/>
            <a:ext cx="2075688" cy="438912"/>
          </a:xfrm>
          <a:prstGeom prst="rect">
            <a:avLst/>
          </a:prstGeom>
          <a:noFill/>
        </p:spPr>
        <p:txBody>
          <a:bodyPr wrap="square" lIns="0" rIns="0" tIns="0" bIns="0" anchor="t">
            <a:spAutoFit/>
          </a:bodyPr>
          <a:lstStyle/>
          <a:p>
            <a:pPr>
              <a:lnSpc>
                <a:spcPct val="116000"/>
              </a:lnSpc>
              <a:spcBef>
                <a:spcPts val="0"/>
              </a:spcBef>
              <a:spcAft>
                <a:spcPts val="0"/>
              </a:spcAft>
            </a:pPr>
            <a:r>
              <a:rPr sz="1050" b="1" i="0">
                <a:solidFill>
                  <a:srgbClr val="1C1C1C"/>
                </a:solidFill>
                <a:latin typeface="Arial"/>
              </a:rPr>
              <a:t>Paytm Business Khata</a:t>
            </a:r>
          </a:p>
        </p:txBody>
      </p:sp>
      <p:sp>
        <p:nvSpPr>
          <p:cNvPr id="27" name="TextBox 26"/>
          <p:cNvSpPr txBox="1"/>
          <p:nvPr/>
        </p:nvSpPr>
        <p:spPr>
          <a:xfrm>
            <a:off x="2734056" y="3822192"/>
            <a:ext cx="134416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5B6675"/>
                </a:solidFill>
                <a:latin typeface="Arial"/>
              </a:rPr>
              <a:t>Since Jan 2020</a:t>
            </a:r>
          </a:p>
        </p:txBody>
      </p:sp>
      <p:sp>
        <p:nvSpPr>
          <p:cNvPr id="28" name="TextBox 27"/>
          <p:cNvSpPr txBox="1"/>
          <p:nvPr/>
        </p:nvSpPr>
        <p:spPr>
          <a:xfrm>
            <a:off x="4151376" y="3822192"/>
            <a:ext cx="152704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B3261E"/>
                </a:solidFill>
                <a:latin typeface="Arial"/>
              </a:rPr>
              <a:t>No</a:t>
            </a:r>
          </a:p>
        </p:txBody>
      </p:sp>
      <p:sp>
        <p:nvSpPr>
          <p:cNvPr id="29" name="TextBox 28"/>
          <p:cNvSpPr txBox="1"/>
          <p:nvPr/>
        </p:nvSpPr>
        <p:spPr>
          <a:xfrm>
            <a:off x="5751576" y="3822192"/>
            <a:ext cx="138988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B3261E"/>
                </a:solidFill>
                <a:latin typeface="Arial"/>
              </a:rPr>
              <a:t>No</a:t>
            </a:r>
          </a:p>
        </p:txBody>
      </p:sp>
      <p:sp>
        <p:nvSpPr>
          <p:cNvPr id="30" name="TextBox 29"/>
          <p:cNvSpPr txBox="1"/>
          <p:nvPr/>
        </p:nvSpPr>
        <p:spPr>
          <a:xfrm>
            <a:off x="7214616" y="3822192"/>
            <a:ext cx="143560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B3261E"/>
                </a:solidFill>
                <a:latin typeface="Arial"/>
              </a:rPr>
              <a:t>No</a:t>
            </a:r>
          </a:p>
        </p:txBody>
      </p:sp>
      <p:sp>
        <p:nvSpPr>
          <p:cNvPr id="31" name="TextBox 30"/>
          <p:cNvSpPr txBox="1"/>
          <p:nvPr/>
        </p:nvSpPr>
        <p:spPr>
          <a:xfrm>
            <a:off x="8723376" y="3822192"/>
            <a:ext cx="2414016" cy="438912"/>
          </a:xfrm>
          <a:prstGeom prst="rect">
            <a:avLst/>
          </a:prstGeom>
          <a:noFill/>
        </p:spPr>
        <p:txBody>
          <a:bodyPr wrap="square" lIns="0" rIns="0" tIns="0" bIns="0" anchor="t">
            <a:spAutoFit/>
          </a:bodyPr>
          <a:lstStyle/>
          <a:p>
            <a:pPr>
              <a:lnSpc>
                <a:spcPct val="122000"/>
              </a:lnSpc>
              <a:spcBef>
                <a:spcPts val="0"/>
              </a:spcBef>
              <a:spcAft>
                <a:spcPts val="0"/>
              </a:spcAft>
            </a:pPr>
            <a:r>
              <a:rPr sz="880" b="0" i="0">
                <a:solidFill>
                  <a:srgbClr val="5B6675"/>
                </a:solidFill>
                <a:latin typeface="Arial"/>
              </a:rPr>
              <a:t>Orphaned — absent from Paytm’s own product nav</a:t>
            </a:r>
          </a:p>
        </p:txBody>
      </p:sp>
      <p:sp>
        <p:nvSpPr>
          <p:cNvPr id="32" name="Rectangle 31"/>
          <p:cNvSpPr/>
          <p:nvPr/>
        </p:nvSpPr>
        <p:spPr>
          <a:xfrm>
            <a:off x="566928" y="4261104"/>
            <a:ext cx="11057839" cy="7620"/>
          </a:xfrm>
          <a:prstGeom prst="rect">
            <a:avLst/>
          </a:prstGeom>
          <a:solidFill>
            <a:srgbClr val="D9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5216" y="4334256"/>
            <a:ext cx="2075688" cy="438912"/>
          </a:xfrm>
          <a:prstGeom prst="rect">
            <a:avLst/>
          </a:prstGeom>
          <a:noFill/>
        </p:spPr>
        <p:txBody>
          <a:bodyPr wrap="square" lIns="0" rIns="0" tIns="0" bIns="0" anchor="t">
            <a:spAutoFit/>
          </a:bodyPr>
          <a:lstStyle/>
          <a:p>
            <a:pPr>
              <a:lnSpc>
                <a:spcPct val="116000"/>
              </a:lnSpc>
              <a:spcBef>
                <a:spcPts val="0"/>
              </a:spcBef>
              <a:spcAft>
                <a:spcPts val="0"/>
              </a:spcAft>
            </a:pPr>
            <a:r>
              <a:rPr sz="1050" b="1" i="0">
                <a:solidFill>
                  <a:srgbClr val="1C1C1C"/>
                </a:solidFill>
                <a:latin typeface="Arial"/>
              </a:rPr>
              <a:t>BukuWarung (ID)</a:t>
            </a:r>
          </a:p>
        </p:txBody>
      </p:sp>
      <p:sp>
        <p:nvSpPr>
          <p:cNvPr id="34" name="TextBox 33"/>
          <p:cNvSpPr txBox="1"/>
          <p:nvPr/>
        </p:nvSpPr>
        <p:spPr>
          <a:xfrm>
            <a:off x="2734056" y="4334256"/>
            <a:ext cx="134416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5B6675"/>
                </a:solidFill>
                <a:latin typeface="Arial"/>
              </a:rPr>
              <a:t>8M merchants</a:t>
            </a:r>
          </a:p>
        </p:txBody>
      </p:sp>
      <p:sp>
        <p:nvSpPr>
          <p:cNvPr id="35" name="TextBox 34"/>
          <p:cNvSpPr txBox="1"/>
          <p:nvPr/>
        </p:nvSpPr>
        <p:spPr>
          <a:xfrm>
            <a:off x="4151376" y="4334256"/>
            <a:ext cx="152704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B3261E"/>
                </a:solidFill>
                <a:latin typeface="Arial"/>
              </a:rPr>
              <a:t>No</a:t>
            </a:r>
          </a:p>
        </p:txBody>
      </p:sp>
      <p:sp>
        <p:nvSpPr>
          <p:cNvPr id="36" name="TextBox 35"/>
          <p:cNvSpPr txBox="1"/>
          <p:nvPr/>
        </p:nvSpPr>
        <p:spPr>
          <a:xfrm>
            <a:off x="5751576" y="4334256"/>
            <a:ext cx="138988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B3261E"/>
                </a:solidFill>
                <a:latin typeface="Arial"/>
              </a:rPr>
              <a:t>Notification only</a:t>
            </a:r>
          </a:p>
        </p:txBody>
      </p:sp>
      <p:sp>
        <p:nvSpPr>
          <p:cNvPr id="37" name="TextBox 36"/>
          <p:cNvSpPr txBox="1"/>
          <p:nvPr/>
        </p:nvSpPr>
        <p:spPr>
          <a:xfrm>
            <a:off x="7214616" y="4334256"/>
            <a:ext cx="143560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B3261E"/>
                </a:solidFill>
                <a:latin typeface="Arial"/>
              </a:rPr>
              <a:t>No</a:t>
            </a:r>
          </a:p>
        </p:txBody>
      </p:sp>
      <p:sp>
        <p:nvSpPr>
          <p:cNvPr id="38" name="TextBox 37"/>
          <p:cNvSpPr txBox="1"/>
          <p:nvPr/>
        </p:nvSpPr>
        <p:spPr>
          <a:xfrm>
            <a:off x="8723376" y="4334256"/>
            <a:ext cx="2414016" cy="438912"/>
          </a:xfrm>
          <a:prstGeom prst="rect">
            <a:avLst/>
          </a:prstGeom>
          <a:noFill/>
        </p:spPr>
        <p:txBody>
          <a:bodyPr wrap="square" lIns="0" rIns="0" tIns="0" bIns="0" anchor="t">
            <a:spAutoFit/>
          </a:bodyPr>
          <a:lstStyle/>
          <a:p>
            <a:pPr>
              <a:lnSpc>
                <a:spcPct val="122000"/>
              </a:lnSpc>
              <a:spcBef>
                <a:spcPts val="0"/>
              </a:spcBef>
              <a:spcAft>
                <a:spcPts val="0"/>
              </a:spcAft>
            </a:pPr>
            <a:r>
              <a:rPr sz="880" b="0" i="0">
                <a:solidFill>
                  <a:srgbClr val="5B6675"/>
                </a:solidFill>
                <a:latin typeface="Arial"/>
              </a:rPr>
              <a:t>Warns that the notification gets misused for fraud</a:t>
            </a:r>
          </a:p>
        </p:txBody>
      </p:sp>
      <p:sp>
        <p:nvSpPr>
          <p:cNvPr id="39" name="Rectangle 38"/>
          <p:cNvSpPr/>
          <p:nvPr/>
        </p:nvSpPr>
        <p:spPr>
          <a:xfrm>
            <a:off x="566928" y="4773168"/>
            <a:ext cx="11057839" cy="7620"/>
          </a:xfrm>
          <a:prstGeom prst="rect">
            <a:avLst/>
          </a:prstGeom>
          <a:solidFill>
            <a:srgbClr val="D9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5216" y="4846320"/>
            <a:ext cx="2075688" cy="438912"/>
          </a:xfrm>
          <a:prstGeom prst="rect">
            <a:avLst/>
          </a:prstGeom>
          <a:noFill/>
        </p:spPr>
        <p:txBody>
          <a:bodyPr wrap="square" lIns="0" rIns="0" tIns="0" bIns="0" anchor="t">
            <a:spAutoFit/>
          </a:bodyPr>
          <a:lstStyle/>
          <a:p>
            <a:pPr>
              <a:lnSpc>
                <a:spcPct val="116000"/>
              </a:lnSpc>
              <a:spcBef>
                <a:spcPts val="0"/>
              </a:spcBef>
              <a:spcAft>
                <a:spcPts val="0"/>
              </a:spcAft>
            </a:pPr>
            <a:r>
              <a:rPr sz="1050" b="1" i="0">
                <a:solidFill>
                  <a:srgbClr val="1C1C1C"/>
                </a:solidFill>
                <a:latin typeface="Arial"/>
              </a:rPr>
              <a:t>DukanWala</a:t>
            </a:r>
          </a:p>
        </p:txBody>
      </p:sp>
      <p:sp>
        <p:nvSpPr>
          <p:cNvPr id="41" name="TextBox 40"/>
          <p:cNvSpPr txBox="1"/>
          <p:nvPr/>
        </p:nvSpPr>
        <p:spPr>
          <a:xfrm>
            <a:off x="2734056" y="4846320"/>
            <a:ext cx="134416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5B6675"/>
                </a:solidFill>
                <a:latin typeface="Arial"/>
              </a:rPr>
              <a:t>Small</a:t>
            </a:r>
          </a:p>
        </p:txBody>
      </p:sp>
      <p:sp>
        <p:nvSpPr>
          <p:cNvPr id="42" name="TextBox 41"/>
          <p:cNvSpPr txBox="1"/>
          <p:nvPr/>
        </p:nvSpPr>
        <p:spPr>
          <a:xfrm>
            <a:off x="4151376" y="4846320"/>
            <a:ext cx="152704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B3261E"/>
                </a:solidFill>
                <a:latin typeface="Arial"/>
              </a:rPr>
              <a:t>No</a:t>
            </a:r>
          </a:p>
        </p:txBody>
      </p:sp>
      <p:sp>
        <p:nvSpPr>
          <p:cNvPr id="43" name="TextBox 42"/>
          <p:cNvSpPr txBox="1"/>
          <p:nvPr/>
        </p:nvSpPr>
        <p:spPr>
          <a:xfrm>
            <a:off x="5751576" y="4846320"/>
            <a:ext cx="138988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B3261E"/>
                </a:solidFill>
                <a:latin typeface="Arial"/>
              </a:rPr>
              <a:t>No</a:t>
            </a:r>
          </a:p>
        </p:txBody>
      </p:sp>
      <p:sp>
        <p:nvSpPr>
          <p:cNvPr id="44" name="TextBox 43"/>
          <p:cNvSpPr txBox="1"/>
          <p:nvPr/>
        </p:nvSpPr>
        <p:spPr>
          <a:xfrm>
            <a:off x="7214616" y="4846320"/>
            <a:ext cx="143560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B3261E"/>
                </a:solidFill>
                <a:latin typeface="Arial"/>
              </a:rPr>
              <a:t>No</a:t>
            </a:r>
          </a:p>
        </p:txBody>
      </p:sp>
      <p:sp>
        <p:nvSpPr>
          <p:cNvPr id="45" name="TextBox 44"/>
          <p:cNvSpPr txBox="1"/>
          <p:nvPr/>
        </p:nvSpPr>
        <p:spPr>
          <a:xfrm>
            <a:off x="8723376" y="4846320"/>
            <a:ext cx="2414016" cy="438912"/>
          </a:xfrm>
          <a:prstGeom prst="rect">
            <a:avLst/>
          </a:prstGeom>
          <a:noFill/>
        </p:spPr>
        <p:txBody>
          <a:bodyPr wrap="square" lIns="0" rIns="0" tIns="0" bIns="0" anchor="t">
            <a:spAutoFit/>
          </a:bodyPr>
          <a:lstStyle/>
          <a:p>
            <a:pPr>
              <a:lnSpc>
                <a:spcPct val="122000"/>
              </a:lnSpc>
              <a:spcBef>
                <a:spcPts val="0"/>
              </a:spcBef>
              <a:spcAft>
                <a:spcPts val="0"/>
              </a:spcAft>
            </a:pPr>
            <a:r>
              <a:rPr sz="880" b="0" i="0">
                <a:solidFill>
                  <a:srgbClr val="5B6675"/>
                </a:solidFill>
                <a:latin typeface="Arial"/>
              </a:rPr>
              <a:t>Shared defaulter alerts — the adversarial inverse</a:t>
            </a:r>
          </a:p>
        </p:txBody>
      </p:sp>
      <p:sp>
        <p:nvSpPr>
          <p:cNvPr id="46" name="Rectangle 45"/>
          <p:cNvSpPr/>
          <p:nvPr/>
        </p:nvSpPr>
        <p:spPr>
          <a:xfrm>
            <a:off x="566928" y="5285232"/>
            <a:ext cx="11057839" cy="7620"/>
          </a:xfrm>
          <a:prstGeom prst="rect">
            <a:avLst/>
          </a:prstGeom>
          <a:solidFill>
            <a:srgbClr val="D9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85216" y="5358384"/>
            <a:ext cx="2075688" cy="438912"/>
          </a:xfrm>
          <a:prstGeom prst="rect">
            <a:avLst/>
          </a:prstGeom>
          <a:noFill/>
        </p:spPr>
        <p:txBody>
          <a:bodyPr wrap="square" lIns="0" rIns="0" tIns="0" bIns="0" anchor="t">
            <a:spAutoFit/>
          </a:bodyPr>
          <a:lstStyle/>
          <a:p>
            <a:pPr>
              <a:lnSpc>
                <a:spcPct val="116000"/>
              </a:lnSpc>
              <a:spcBef>
                <a:spcPts val="0"/>
              </a:spcBef>
              <a:spcAft>
                <a:spcPts val="0"/>
              </a:spcAft>
            </a:pPr>
            <a:r>
              <a:rPr sz="1050" b="1" i="0">
                <a:solidFill>
                  <a:srgbClr val="1C1C1C"/>
                </a:solidFill>
                <a:latin typeface="Arial"/>
              </a:rPr>
              <a:t>“Done” app</a:t>
            </a:r>
          </a:p>
        </p:txBody>
      </p:sp>
      <p:sp>
        <p:nvSpPr>
          <p:cNvPr id="48" name="TextBox 47"/>
          <p:cNvSpPr txBox="1"/>
          <p:nvPr/>
        </p:nvSpPr>
        <p:spPr>
          <a:xfrm>
            <a:off x="2734056" y="5358384"/>
            <a:ext cx="134416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5B6675"/>
                </a:solidFill>
                <a:latin typeface="Arial"/>
              </a:rPr>
              <a:t>100+ installs</a:t>
            </a:r>
          </a:p>
        </p:txBody>
      </p:sp>
      <p:sp>
        <p:nvSpPr>
          <p:cNvPr id="49" name="TextBox 48"/>
          <p:cNvSpPr txBox="1"/>
          <p:nvPr/>
        </p:nvSpPr>
        <p:spPr>
          <a:xfrm>
            <a:off x="4151376" y="5358384"/>
            <a:ext cx="152704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1E7E34"/>
                </a:solidFill>
                <a:latin typeface="Arial"/>
              </a:rPr>
              <a:t>Yes</a:t>
            </a:r>
          </a:p>
        </p:txBody>
      </p:sp>
      <p:sp>
        <p:nvSpPr>
          <p:cNvPr id="50" name="TextBox 49"/>
          <p:cNvSpPr txBox="1"/>
          <p:nvPr/>
        </p:nvSpPr>
        <p:spPr>
          <a:xfrm>
            <a:off x="5751576" y="5358384"/>
            <a:ext cx="138988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1E7E34"/>
                </a:solidFill>
                <a:latin typeface="Arial"/>
              </a:rPr>
              <a:t>Yes — OTP/PIN</a:t>
            </a:r>
          </a:p>
        </p:txBody>
      </p:sp>
      <p:sp>
        <p:nvSpPr>
          <p:cNvPr id="51" name="TextBox 50"/>
          <p:cNvSpPr txBox="1"/>
          <p:nvPr/>
        </p:nvSpPr>
        <p:spPr>
          <a:xfrm>
            <a:off x="7214616" y="5358384"/>
            <a:ext cx="1435608" cy="438912"/>
          </a:xfrm>
          <a:prstGeom prst="rect">
            <a:avLst/>
          </a:prstGeom>
          <a:noFill/>
        </p:spPr>
        <p:txBody>
          <a:bodyPr wrap="square" lIns="0" rIns="0" tIns="0" bIns="0" anchor="t">
            <a:spAutoFit/>
          </a:bodyPr>
          <a:lstStyle/>
          <a:p>
            <a:pPr>
              <a:lnSpc>
                <a:spcPct val="120000"/>
              </a:lnSpc>
              <a:spcBef>
                <a:spcPts val="0"/>
              </a:spcBef>
              <a:spcAft>
                <a:spcPts val="0"/>
              </a:spcAft>
            </a:pPr>
            <a:r>
              <a:rPr sz="950" b="0" i="0">
                <a:solidFill>
                  <a:srgbClr val="B3261E"/>
                </a:solidFill>
                <a:latin typeface="Arial"/>
              </a:rPr>
              <a:t>No</a:t>
            </a:r>
          </a:p>
        </p:txBody>
      </p:sp>
      <p:sp>
        <p:nvSpPr>
          <p:cNvPr id="52" name="TextBox 51"/>
          <p:cNvSpPr txBox="1"/>
          <p:nvPr/>
        </p:nvSpPr>
        <p:spPr>
          <a:xfrm>
            <a:off x="8723376" y="5358384"/>
            <a:ext cx="2414016" cy="438912"/>
          </a:xfrm>
          <a:prstGeom prst="rect">
            <a:avLst/>
          </a:prstGeom>
          <a:noFill/>
        </p:spPr>
        <p:txBody>
          <a:bodyPr wrap="square" lIns="0" rIns="0" tIns="0" bIns="0" anchor="t">
            <a:spAutoFit/>
          </a:bodyPr>
          <a:lstStyle/>
          <a:p>
            <a:pPr>
              <a:lnSpc>
                <a:spcPct val="122000"/>
              </a:lnSpc>
              <a:spcBef>
                <a:spcPts val="0"/>
              </a:spcBef>
              <a:spcAft>
                <a:spcPts val="0"/>
              </a:spcAft>
            </a:pPr>
            <a:r>
              <a:rPr sz="880" b="0" i="0">
                <a:solidFill>
                  <a:srgbClr val="5B6675"/>
                </a:solidFill>
                <a:latin typeface="Arial"/>
              </a:rPr>
              <a:t>Built the mechanic. No distribution, so nobody saw it</a:t>
            </a:r>
          </a:p>
        </p:txBody>
      </p:sp>
      <p:sp>
        <p:nvSpPr>
          <p:cNvPr id="53" name="Rectangle 52"/>
          <p:cNvSpPr/>
          <p:nvPr/>
        </p:nvSpPr>
        <p:spPr>
          <a:xfrm>
            <a:off x="566928" y="5797296"/>
            <a:ext cx="11057839" cy="7620"/>
          </a:xfrm>
          <a:prstGeom prst="rect">
            <a:avLst/>
          </a:prstGeom>
          <a:solidFill>
            <a:srgbClr val="D9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493776" y="5779008"/>
            <a:ext cx="11204143" cy="530352"/>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85216" y="5870448"/>
            <a:ext cx="2075688" cy="438912"/>
          </a:xfrm>
          <a:prstGeom prst="rect">
            <a:avLst/>
          </a:prstGeom>
          <a:noFill/>
        </p:spPr>
        <p:txBody>
          <a:bodyPr wrap="square" lIns="0" rIns="0" tIns="0" bIns="0" anchor="t">
            <a:spAutoFit/>
          </a:bodyPr>
          <a:lstStyle/>
          <a:p>
            <a:pPr>
              <a:lnSpc>
                <a:spcPct val="116000"/>
              </a:lnSpc>
              <a:spcBef>
                <a:spcPts val="0"/>
              </a:spcBef>
              <a:spcAft>
                <a:spcPts val="0"/>
              </a:spcAft>
            </a:pPr>
            <a:r>
              <a:rPr sz="1050" b="1" i="0">
                <a:solidFill>
                  <a:srgbClr val="002970"/>
                </a:solidFill>
                <a:latin typeface="Arial"/>
              </a:rPr>
              <a:t>BAHI</a:t>
            </a:r>
          </a:p>
        </p:txBody>
      </p:sp>
      <p:sp>
        <p:nvSpPr>
          <p:cNvPr id="56" name="TextBox 55"/>
          <p:cNvSpPr txBox="1"/>
          <p:nvPr/>
        </p:nvSpPr>
        <p:spPr>
          <a:xfrm>
            <a:off x="2734056" y="5870448"/>
            <a:ext cx="1344168" cy="438912"/>
          </a:xfrm>
          <a:prstGeom prst="rect">
            <a:avLst/>
          </a:prstGeom>
          <a:noFill/>
        </p:spPr>
        <p:txBody>
          <a:bodyPr wrap="square" lIns="0" rIns="0" tIns="0" bIns="0" anchor="t">
            <a:spAutoFit/>
          </a:bodyPr>
          <a:lstStyle/>
          <a:p>
            <a:pPr>
              <a:lnSpc>
                <a:spcPct val="120000"/>
              </a:lnSpc>
              <a:spcBef>
                <a:spcPts val="0"/>
              </a:spcBef>
              <a:spcAft>
                <a:spcPts val="0"/>
              </a:spcAft>
            </a:pPr>
            <a:r>
              <a:rPr sz="950" b="1" i="0">
                <a:solidFill>
                  <a:srgbClr val="5B6675"/>
                </a:solidFill>
                <a:latin typeface="Arial"/>
              </a:rPr>
              <a:t>—</a:t>
            </a:r>
          </a:p>
        </p:txBody>
      </p:sp>
      <p:sp>
        <p:nvSpPr>
          <p:cNvPr id="57" name="TextBox 56"/>
          <p:cNvSpPr txBox="1"/>
          <p:nvPr/>
        </p:nvSpPr>
        <p:spPr>
          <a:xfrm>
            <a:off x="4151376" y="5870448"/>
            <a:ext cx="1527048" cy="438912"/>
          </a:xfrm>
          <a:prstGeom prst="rect">
            <a:avLst/>
          </a:prstGeom>
          <a:noFill/>
        </p:spPr>
        <p:txBody>
          <a:bodyPr wrap="square" lIns="0" rIns="0" tIns="0" bIns="0" anchor="t">
            <a:spAutoFit/>
          </a:bodyPr>
          <a:lstStyle/>
          <a:p>
            <a:pPr>
              <a:lnSpc>
                <a:spcPct val="120000"/>
              </a:lnSpc>
              <a:spcBef>
                <a:spcPts val="0"/>
              </a:spcBef>
              <a:spcAft>
                <a:spcPts val="0"/>
              </a:spcAft>
            </a:pPr>
            <a:r>
              <a:rPr sz="950" b="1" i="0">
                <a:solidFill>
                  <a:srgbClr val="5B6675"/>
                </a:solidFill>
                <a:latin typeface="Arial"/>
              </a:rPr>
              <a:t>Inside Paytm</a:t>
            </a:r>
          </a:p>
        </p:txBody>
      </p:sp>
      <p:sp>
        <p:nvSpPr>
          <p:cNvPr id="58" name="TextBox 57"/>
          <p:cNvSpPr txBox="1"/>
          <p:nvPr/>
        </p:nvSpPr>
        <p:spPr>
          <a:xfrm>
            <a:off x="5751576" y="5870448"/>
            <a:ext cx="1389888" cy="438912"/>
          </a:xfrm>
          <a:prstGeom prst="rect">
            <a:avLst/>
          </a:prstGeom>
          <a:noFill/>
        </p:spPr>
        <p:txBody>
          <a:bodyPr wrap="square" lIns="0" rIns="0" tIns="0" bIns="0" anchor="t">
            <a:spAutoFit/>
          </a:bodyPr>
          <a:lstStyle/>
          <a:p>
            <a:pPr>
              <a:lnSpc>
                <a:spcPct val="120000"/>
              </a:lnSpc>
              <a:spcBef>
                <a:spcPts val="0"/>
              </a:spcBef>
              <a:spcAft>
                <a:spcPts val="0"/>
              </a:spcAft>
            </a:pPr>
            <a:r>
              <a:rPr sz="950" b="1" i="0">
                <a:solidFill>
                  <a:srgbClr val="1E7E34"/>
                </a:solidFill>
                <a:latin typeface="Arial"/>
              </a:rPr>
              <a:t>Yes</a:t>
            </a:r>
          </a:p>
        </p:txBody>
      </p:sp>
      <p:sp>
        <p:nvSpPr>
          <p:cNvPr id="59" name="TextBox 58"/>
          <p:cNvSpPr txBox="1"/>
          <p:nvPr/>
        </p:nvSpPr>
        <p:spPr>
          <a:xfrm>
            <a:off x="7214616" y="5870448"/>
            <a:ext cx="1435608" cy="438912"/>
          </a:xfrm>
          <a:prstGeom prst="rect">
            <a:avLst/>
          </a:prstGeom>
          <a:noFill/>
        </p:spPr>
        <p:txBody>
          <a:bodyPr wrap="square" lIns="0" rIns="0" tIns="0" bIns="0" anchor="t">
            <a:spAutoFit/>
          </a:bodyPr>
          <a:lstStyle/>
          <a:p>
            <a:pPr>
              <a:lnSpc>
                <a:spcPct val="120000"/>
              </a:lnSpc>
              <a:spcBef>
                <a:spcPts val="0"/>
              </a:spcBef>
              <a:spcAft>
                <a:spcPts val="0"/>
              </a:spcAft>
            </a:pPr>
            <a:r>
              <a:rPr sz="950" b="1" i="0">
                <a:solidFill>
                  <a:srgbClr val="1E7E34"/>
                </a:solidFill>
                <a:latin typeface="Arial"/>
              </a:rPr>
              <a:t>Yes</a:t>
            </a:r>
          </a:p>
        </p:txBody>
      </p:sp>
      <p:sp>
        <p:nvSpPr>
          <p:cNvPr id="60" name="TextBox 59"/>
          <p:cNvSpPr txBox="1"/>
          <p:nvPr/>
        </p:nvSpPr>
        <p:spPr>
          <a:xfrm>
            <a:off x="8723376" y="5870448"/>
            <a:ext cx="2414016" cy="438912"/>
          </a:xfrm>
          <a:prstGeom prst="rect">
            <a:avLst/>
          </a:prstGeom>
          <a:noFill/>
        </p:spPr>
        <p:txBody>
          <a:bodyPr wrap="square" lIns="0" rIns="0" tIns="0" bIns="0" anchor="t">
            <a:spAutoFit/>
          </a:bodyPr>
          <a:lstStyle/>
          <a:p>
            <a:pPr>
              <a:lnSpc>
                <a:spcPct val="122000"/>
              </a:lnSpc>
              <a:spcBef>
                <a:spcPts val="0"/>
              </a:spcBef>
              <a:spcAft>
                <a:spcPts val="0"/>
              </a:spcAft>
            </a:pPr>
            <a:r>
              <a:rPr sz="880" b="0" i="0">
                <a:solidFill>
                  <a:srgbClr val="5B6675"/>
                </a:solidFill>
                <a:latin typeface="Arial"/>
              </a:rPr>
              <a:t>Both halves already installed on both phones</a:t>
            </a:r>
          </a:p>
        </p:txBody>
      </p:sp>
      <p:sp>
        <p:nvSpPr>
          <p:cNvPr id="61" name="TextBox 60"/>
          <p:cNvSpPr txBox="1"/>
          <p:nvPr/>
        </p:nvSpPr>
        <p:spPr>
          <a:xfrm>
            <a:off x="566928" y="6455664"/>
            <a:ext cx="11057839" cy="237744"/>
          </a:xfrm>
          <a:prstGeom prst="rect">
            <a:avLst/>
          </a:prstGeom>
          <a:noFill/>
        </p:spPr>
        <p:txBody>
          <a:bodyPr wrap="square" lIns="0" rIns="0" tIns="0" bIns="0" anchor="t">
            <a:spAutoFit/>
          </a:bodyPr>
          <a:lstStyle/>
          <a:p>
            <a:pPr>
              <a:lnSpc>
                <a:spcPct val="125000"/>
              </a:lnSpc>
              <a:spcBef>
                <a:spcPts val="0"/>
              </a:spcBef>
              <a:spcAft>
                <a:spcPts val="0"/>
              </a:spcAft>
            </a:pPr>
            <a:r>
              <a:rPr sz="850" b="0" i="0">
                <a:solidFill>
                  <a:srgbClr val="5B6675"/>
                </a:solidFill>
                <a:latin typeface="Arial"/>
              </a:rPr>
              <a:t>Read from Google Play listings, company sites and FAQ pages, September 2026. Splitwise declined the same confirmation mechanic in 2015 as “a hassle” — for splitting dinner bills. For a debt someone else recorded against your name, the calculation is different.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pPr>
              <a:lnSpc>
                <a:spcPct val="134000"/>
              </a:lnSpc>
              <a:spcBef>
                <a:spcPts val="0"/>
              </a:spcBef>
              <a:spcAft>
                <a:spcPts val="0"/>
              </a:spcAft>
            </a:pPr>
            <a:r>
              <a:rPr sz="950" b="1" i="0" spc="140">
                <a:solidFill>
                  <a:srgbClr val="0077A8"/>
                </a:solidFill>
                <a:latin typeface="Arial"/>
              </a:rPr>
              <a:t>WHAT RUNS ON 3 OCTOBER</a:t>
            </a:r>
          </a:p>
        </p:txBody>
      </p:sp>
      <p:sp>
        <p:nvSpPr>
          <p:cNvPr id="4" name="TextBox 3"/>
          <p:cNvSpPr txBox="1"/>
          <p:nvPr/>
        </p:nvSpPr>
        <p:spPr>
          <a:xfrm>
            <a:off x="566928" y="640080"/>
            <a:ext cx="11057839" cy="841248"/>
          </a:xfrm>
          <a:prstGeom prst="rect">
            <a:avLst/>
          </a:prstGeom>
          <a:noFill/>
        </p:spPr>
        <p:txBody>
          <a:bodyPr wrap="square" lIns="0" rIns="0" tIns="0" bIns="0" anchor="t">
            <a:spAutoFit/>
          </a:bodyPr>
          <a:lstStyle/>
          <a:p>
            <a:pPr>
              <a:lnSpc>
                <a:spcPct val="106000"/>
              </a:lnSpc>
              <a:spcBef>
                <a:spcPts val="0"/>
              </a:spcBef>
              <a:spcAft>
                <a:spcPts val="0"/>
              </a:spcAft>
            </a:pPr>
            <a:r>
              <a:rPr sz="3000" b="1" i="0">
                <a:solidFill>
                  <a:srgbClr val="002970"/>
                </a:solidFill>
                <a:latin typeface="Arial"/>
              </a:rPr>
              <a:t>Forty seconds, zero typing, and a loop that closes.</a:t>
            </a:r>
          </a:p>
        </p:txBody>
      </p:sp>
      <p:sp>
        <p:nvSpPr>
          <p:cNvPr id="5" name="TextBox 4"/>
          <p:cNvSpPr txBox="1"/>
          <p:nvPr/>
        </p:nvSpPr>
        <p:spPr>
          <a:xfrm>
            <a:off x="566928" y="1554480"/>
            <a:ext cx="10424160" cy="713232"/>
          </a:xfrm>
          <a:prstGeom prst="rect">
            <a:avLst/>
          </a:prstGeom>
          <a:noFill/>
        </p:spPr>
        <p:txBody>
          <a:bodyPr wrap="square" lIns="0" rIns="0" tIns="0" bIns="0" anchor="t">
            <a:spAutoFit/>
          </a:bodyPr>
          <a:lstStyle/>
          <a:p>
            <a:pPr>
              <a:lnSpc>
                <a:spcPct val="138000"/>
              </a:lnSpc>
              <a:spcBef>
                <a:spcPts val="0"/>
              </a:spcBef>
              <a:spcAft>
                <a:spcPts val="0"/>
              </a:spcAft>
            </a:pPr>
            <a:r>
              <a:rPr sz="1250" b="0" i="0">
                <a:solidFill>
                  <a:srgbClr val="5B6675"/>
                </a:solidFill>
                <a:latin typeface="Arial"/>
              </a:rPr>
              <a:t>Built inside the eight hours, on synthetic data that is labelled synthetic on every screen, and designed to keep working when the venue wifi does not.</a:t>
            </a:r>
          </a:p>
        </p:txBody>
      </p:sp>
      <p:sp>
        <p:nvSpPr>
          <p:cNvPr id="6" name="Rounded Rectangle 5"/>
          <p:cNvSpPr/>
          <p:nvPr/>
        </p:nvSpPr>
        <p:spPr>
          <a:xfrm>
            <a:off x="566928"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The demo</a:t>
            </a:r>
          </a:p>
        </p:txBody>
      </p:sp>
      <p:sp>
        <p:nvSpPr>
          <p:cNvPr id="9" name="TextBox 8"/>
          <p:cNvSpPr txBox="1"/>
          <p:nvPr/>
        </p:nvSpPr>
        <p:spPr>
          <a:xfrm>
            <a:off x="749808"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1. The shopkeeper speaks an entry to the Soundbox.</a:t>
            </a:r>
          </a:p>
          <a:p>
            <a:pPr>
              <a:lnSpc>
                <a:spcPct val="132000"/>
              </a:lnSpc>
              <a:spcBef>
                <a:spcPts val="0"/>
              </a:spcBef>
              <a:spcAft>
                <a:spcPts val="500"/>
              </a:spcAft>
            </a:pPr>
            <a:r>
              <a:rPr sz="950" b="1" i="0">
                <a:solidFill>
                  <a:srgbClr val="1C1C1C"/>
                </a:solidFill>
                <a:latin typeface="Arial"/>
              </a:rPr>
              <a:t>2. A real phone on the judges’ table buzzes.</a:t>
            </a:r>
          </a:p>
          <a:p>
            <a:pPr>
              <a:lnSpc>
                <a:spcPct val="132000"/>
              </a:lnSpc>
              <a:spcBef>
                <a:spcPts val="0"/>
              </a:spcBef>
              <a:spcAft>
                <a:spcPts val="500"/>
              </a:spcAft>
            </a:pPr>
            <a:r>
              <a:rPr sz="950" b="1" i="0">
                <a:solidFill>
                  <a:srgbClr val="1C1C1C"/>
                </a:solidFill>
                <a:latin typeface="Arial"/>
              </a:rPr>
              <a:t>3. A judge taps Confirm.</a:t>
            </a:r>
          </a:p>
          <a:p>
            <a:pPr>
              <a:lnSpc>
                <a:spcPct val="132000"/>
              </a:lnSpc>
              <a:spcBef>
                <a:spcPts val="0"/>
              </a:spcBef>
              <a:spcAft>
                <a:spcPts val="500"/>
              </a:spcAft>
            </a:pPr>
            <a:r>
              <a:rPr sz="950" b="1" i="0">
                <a:solidFill>
                  <a:srgbClr val="1C1C1C"/>
                </a:solidFill>
                <a:latin typeface="Arial"/>
              </a:rPr>
              <a:t>4. Both ledgers update in front of them, inside one 2-second tick.</a:t>
            </a:r>
          </a:p>
          <a:p>
            <a:pPr>
              <a:lnSpc>
                <a:spcPct val="132000"/>
              </a:lnSpc>
              <a:spcBef>
                <a:spcPts val="0"/>
              </a:spcBef>
              <a:spcAft>
                <a:spcPts val="500"/>
              </a:spcAft>
            </a:pPr>
            <a:r>
              <a:rPr sz="950" b="1" i="0">
                <a:solidFill>
                  <a:srgbClr val="1C1C1C"/>
                </a:solidFill>
                <a:latin typeface="Arial"/>
              </a:rPr>
              <a:t>5. “Do not chase Sharma before day 7 — he has paid on day 9 for two years. Four of thirty-eight get a message tomorrow.”</a:t>
            </a:r>
          </a:p>
          <a:p>
            <a:pPr>
              <a:lnSpc>
                <a:spcPct val="132000"/>
              </a:lnSpc>
              <a:spcBef>
                <a:spcPts val="0"/>
              </a:spcBef>
              <a:spcAft>
                <a:spcPts val="500"/>
              </a:spcAft>
            </a:pPr>
            <a:r>
              <a:rPr sz="950" b="0" i="0">
                <a:solidFill>
                  <a:srgbClr val="5B6675"/>
                </a:solidFill>
                <a:latin typeface="Arial"/>
              </a:rPr>
              <a:t>No typing at any point. The judge holds one half of the product.</a:t>
            </a:r>
          </a:p>
        </p:txBody>
      </p:sp>
      <p:sp>
        <p:nvSpPr>
          <p:cNvPr id="10" name="Rounded Rectangle 9"/>
          <p:cNvSpPr/>
          <p:nvPr/>
        </p:nvSpPr>
        <p:spPr>
          <a:xfrm>
            <a:off x="3386251"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69131"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9131"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What is real</a:t>
            </a:r>
          </a:p>
        </p:txBody>
      </p:sp>
      <p:sp>
        <p:nvSpPr>
          <p:cNvPr id="13" name="TextBox 12"/>
          <p:cNvSpPr txBox="1"/>
          <p:nvPr/>
        </p:nvSpPr>
        <p:spPr>
          <a:xfrm>
            <a:off x="3569131"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0" i="0">
                <a:solidFill>
                  <a:srgbClr val="5B6675"/>
                </a:solidFill>
                <a:latin typeface="Arial"/>
              </a:rPr>
              <a:t>The voice capture and the rule-based parse.</a:t>
            </a:r>
          </a:p>
          <a:p>
            <a:pPr>
              <a:lnSpc>
                <a:spcPct val="132000"/>
              </a:lnSpc>
              <a:spcBef>
                <a:spcPts val="0"/>
              </a:spcBef>
              <a:spcAft>
                <a:spcPts val="500"/>
              </a:spcAft>
            </a:pPr>
            <a:r>
              <a:rPr sz="950" b="0" i="0">
                <a:solidFill>
                  <a:srgbClr val="5B6675"/>
                </a:solidFill>
                <a:latin typeface="Arial"/>
              </a:rPr>
              <a:t>The confirmation round-trip between two devices.</a:t>
            </a:r>
          </a:p>
          <a:p>
            <a:pPr>
              <a:lnSpc>
                <a:spcPct val="132000"/>
              </a:lnSpc>
              <a:spcBef>
                <a:spcPts val="0"/>
              </a:spcBef>
              <a:spcAft>
                <a:spcPts val="500"/>
              </a:spcAft>
            </a:pPr>
            <a:r>
              <a:rPr sz="950" b="0" i="0">
                <a:solidFill>
                  <a:srgbClr val="5B6675"/>
                </a:solidFill>
                <a:latin typeface="Arial"/>
              </a:rPr>
              <a:t>The ledger, the state machine, and the dispute path.</a:t>
            </a:r>
          </a:p>
          <a:p>
            <a:pPr>
              <a:lnSpc>
                <a:spcPct val="132000"/>
              </a:lnSpc>
              <a:spcBef>
                <a:spcPts val="0"/>
              </a:spcBef>
              <a:spcAft>
                <a:spcPts val="500"/>
              </a:spcAft>
            </a:pPr>
            <a:r>
              <a:rPr sz="950" b="1" i="0">
                <a:solidFill>
                  <a:srgbClr val="1C1C1C"/>
                </a:solidFill>
                <a:latin typeface="Arial"/>
              </a:rPr>
              <a:t>The rhythm arithmetic — median gap per customer, from that customer’s own settled history.</a:t>
            </a:r>
          </a:p>
          <a:p>
            <a:pPr>
              <a:lnSpc>
                <a:spcPct val="132000"/>
              </a:lnSpc>
              <a:spcBef>
                <a:spcPts val="0"/>
              </a:spcBef>
              <a:spcAft>
                <a:spcPts val="500"/>
              </a:spcAft>
            </a:pPr>
            <a:r>
              <a:rPr sz="950" b="0" i="0">
                <a:solidFill>
                  <a:srgbClr val="5B6675"/>
                </a:solidFill>
                <a:latin typeface="Arial"/>
              </a:rPr>
              <a:t>The expiry rule, including refusing to prompt past the limitation line.</a:t>
            </a:r>
          </a:p>
          <a:p>
            <a:pPr>
              <a:lnSpc>
                <a:spcPct val="132000"/>
              </a:lnSpc>
              <a:spcBef>
                <a:spcPts val="0"/>
              </a:spcBef>
              <a:spcAft>
                <a:spcPts val="500"/>
              </a:spcAft>
            </a:pPr>
            <a:r>
              <a:rPr sz="950" b="1" i="0">
                <a:solidFill>
                  <a:srgbClr val="1C1C1C"/>
                </a:solidFill>
                <a:latin typeface="Arial"/>
              </a:rPr>
              <a:t>Every figure on every screen is computed from the data. None is written into the copy.</a:t>
            </a:r>
          </a:p>
        </p:txBody>
      </p:sp>
      <p:sp>
        <p:nvSpPr>
          <p:cNvPr id="14" name="Rounded Rectangle 13"/>
          <p:cNvSpPr/>
          <p:nvPr/>
        </p:nvSpPr>
        <p:spPr>
          <a:xfrm>
            <a:off x="6205574"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88454"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8454"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What is mocked, and labelled</a:t>
            </a:r>
          </a:p>
        </p:txBody>
      </p:sp>
      <p:sp>
        <p:nvSpPr>
          <p:cNvPr id="17" name="TextBox 16"/>
          <p:cNvSpPr txBox="1"/>
          <p:nvPr/>
        </p:nvSpPr>
        <p:spPr>
          <a:xfrm>
            <a:off x="6388454"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0" i="0">
                <a:solidFill>
                  <a:srgbClr val="5B6675"/>
                </a:solidFill>
                <a:latin typeface="Arial"/>
              </a:rPr>
              <a:t>One shop, 60 udhaar customers, six months of entries and repayments with believable per-person rhythms. Generated the night before, deterministically.</a:t>
            </a:r>
          </a:p>
          <a:p>
            <a:pPr>
              <a:lnSpc>
                <a:spcPct val="132000"/>
              </a:lnSpc>
              <a:spcBef>
                <a:spcPts val="0"/>
              </a:spcBef>
              <a:spcAft>
                <a:spcPts val="500"/>
              </a:spcAft>
            </a:pPr>
            <a:r>
              <a:rPr sz="950" b="0" i="0">
                <a:solidFill>
                  <a:srgbClr val="5B6675"/>
                </a:solidFill>
                <a:latin typeface="Arial"/>
              </a:rPr>
              <a:t>No real UPI. No real Soundbox hardware — a browser microphone stands in, and we say so.</a:t>
            </a:r>
          </a:p>
          <a:p>
            <a:pPr>
              <a:lnSpc>
                <a:spcPct val="132000"/>
              </a:lnSpc>
              <a:spcBef>
                <a:spcPts val="0"/>
              </a:spcBef>
              <a:spcAft>
                <a:spcPts val="500"/>
              </a:spcAft>
            </a:pPr>
            <a:r>
              <a:rPr sz="950" b="0" i="0">
                <a:solidFill>
                  <a:srgbClr val="5B6675"/>
                </a:solidFill>
                <a:latin typeface="Arial"/>
              </a:rPr>
              <a:t>No auth, no second shop.</a:t>
            </a:r>
          </a:p>
          <a:p>
            <a:pPr>
              <a:lnSpc>
                <a:spcPct val="132000"/>
              </a:lnSpc>
              <a:spcBef>
                <a:spcPts val="0"/>
              </a:spcBef>
              <a:spcAft>
                <a:spcPts val="500"/>
              </a:spcAft>
            </a:pPr>
            <a:r>
              <a:rPr sz="950" b="1" i="0">
                <a:solidFill>
                  <a:srgbClr val="1C1C1C"/>
                </a:solidFill>
                <a:latin typeface="Arial"/>
              </a:rPr>
              <a:t>Every screen carries a synthetic-data label. We would rather declare it than be asked.</a:t>
            </a:r>
          </a:p>
        </p:txBody>
      </p:sp>
      <p:sp>
        <p:nvSpPr>
          <p:cNvPr id="18" name="Rounded Rectangle 17"/>
          <p:cNvSpPr/>
          <p:nvPr/>
        </p:nvSpPr>
        <p:spPr>
          <a:xfrm>
            <a:off x="9024897" y="2286000"/>
            <a:ext cx="2599867" cy="4059936"/>
          </a:xfrm>
          <a:prstGeom prst="roundRect">
            <a:avLst>
              <a:gd name="adj" fmla="val 5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07777" y="2468880"/>
            <a:ext cx="310896" cy="31750"/>
          </a:xfrm>
          <a:prstGeom prst="rect">
            <a:avLst/>
          </a:prstGeom>
          <a:solidFill>
            <a:srgbClr val="00B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7777" y="2587752"/>
            <a:ext cx="2234107" cy="365760"/>
          </a:xfrm>
          <a:prstGeom prst="rect">
            <a:avLst/>
          </a:prstGeom>
          <a:noFill/>
        </p:spPr>
        <p:txBody>
          <a:bodyPr wrap="square" lIns="0" rIns="0" tIns="0" bIns="0" anchor="t">
            <a:spAutoFit/>
          </a:bodyPr>
          <a:lstStyle/>
          <a:p>
            <a:pPr>
              <a:lnSpc>
                <a:spcPct val="114000"/>
              </a:lnSpc>
              <a:spcBef>
                <a:spcPts val="0"/>
              </a:spcBef>
              <a:spcAft>
                <a:spcPts val="0"/>
              </a:spcAft>
            </a:pPr>
            <a:r>
              <a:rPr sz="1250" b="1" i="0">
                <a:solidFill>
                  <a:srgbClr val="002970"/>
                </a:solidFill>
                <a:latin typeface="Arial"/>
              </a:rPr>
              <a:t>How it survives the room</a:t>
            </a:r>
          </a:p>
        </p:txBody>
      </p:sp>
      <p:sp>
        <p:nvSpPr>
          <p:cNvPr id="21" name="TextBox 20"/>
          <p:cNvSpPr txBox="1"/>
          <p:nvPr/>
        </p:nvSpPr>
        <p:spPr>
          <a:xfrm>
            <a:off x="9207777" y="2962656"/>
            <a:ext cx="2234107" cy="3200400"/>
          </a:xfrm>
          <a:prstGeom prst="rect">
            <a:avLst/>
          </a:prstGeom>
          <a:noFill/>
        </p:spPr>
        <p:txBody>
          <a:bodyPr wrap="square" lIns="0" rIns="0" tIns="0" bIns="0" anchor="t">
            <a:spAutoFit/>
          </a:bodyPr>
          <a:lstStyle/>
          <a:p>
            <a:pPr>
              <a:lnSpc>
                <a:spcPct val="132000"/>
              </a:lnSpc>
              <a:spcBef>
                <a:spcPts val="0"/>
              </a:spcBef>
              <a:spcAft>
                <a:spcPts val="500"/>
              </a:spcAft>
            </a:pPr>
            <a:r>
              <a:rPr sz="950" b="1" i="0">
                <a:solidFill>
                  <a:srgbClr val="1C1C1C"/>
                </a:solidFill>
                <a:latin typeface="Arial"/>
              </a:rPr>
              <a:t>Deployed publicly before the day, so the judge’s phone reaches us over its own mobile data and never touches venue wifi.</a:t>
            </a:r>
          </a:p>
          <a:p>
            <a:pPr>
              <a:lnSpc>
                <a:spcPct val="132000"/>
              </a:lnSpc>
              <a:spcBef>
                <a:spcPts val="0"/>
              </a:spcBef>
              <a:spcAft>
                <a:spcPts val="500"/>
              </a:spcAft>
            </a:pPr>
            <a:r>
              <a:rPr sz="950" b="0" i="0">
                <a:solidFill>
                  <a:srgbClr val="5B6675"/>
                </a:solidFill>
                <a:latin typeface="Arial"/>
              </a:rPr>
              <a:t>Every spoken line cached to disk. SARVAM_OFFLINE defaults on.</a:t>
            </a:r>
          </a:p>
          <a:p>
            <a:pPr>
              <a:lnSpc>
                <a:spcPct val="132000"/>
              </a:lnSpc>
              <a:spcBef>
                <a:spcPts val="0"/>
              </a:spcBef>
              <a:spcAft>
                <a:spcPts val="500"/>
              </a:spcAft>
            </a:pPr>
            <a:r>
              <a:rPr sz="950" b="1" i="0">
                <a:solidFill>
                  <a:srgbClr val="1C1C1C"/>
                </a:solidFill>
                <a:latin typeface="Arial"/>
              </a:rPr>
              <a:t>Frozen at hour five, with a backup video recorded while it still works.</a:t>
            </a:r>
          </a:p>
          <a:p>
            <a:pPr>
              <a:lnSpc>
                <a:spcPct val="132000"/>
              </a:lnSpc>
              <a:spcBef>
                <a:spcPts val="0"/>
              </a:spcBef>
              <a:spcAft>
                <a:spcPts val="500"/>
              </a:spcAft>
            </a:pPr>
            <a:r>
              <a:rPr sz="950" b="1" i="0">
                <a:solidFill>
                  <a:srgbClr val="1C1C1C"/>
                </a:solidFill>
                <a:latin typeface="Arial"/>
              </a:rPr>
              <a:t>No hardcoded shortcuts. Change a repayment date in the database and the reminder day moves. We will hand you the laptop and let you try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